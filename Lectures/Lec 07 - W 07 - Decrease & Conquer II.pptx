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0"/>
  </p:notesMasterIdLst>
  <p:sldIdLst>
    <p:sldId id="256" r:id="rId2"/>
    <p:sldId id="257" r:id="rId3"/>
    <p:sldId id="346" r:id="rId4"/>
    <p:sldId id="354" r:id="rId5"/>
    <p:sldId id="356" r:id="rId6"/>
    <p:sldId id="353" r:id="rId7"/>
    <p:sldId id="355" r:id="rId8"/>
    <p:sldId id="347" r:id="rId9"/>
    <p:sldId id="357" r:id="rId10"/>
    <p:sldId id="358" r:id="rId11"/>
    <p:sldId id="359" r:id="rId12"/>
    <p:sldId id="361" r:id="rId13"/>
    <p:sldId id="349" r:id="rId14"/>
    <p:sldId id="362" r:id="rId15"/>
    <p:sldId id="363" r:id="rId16"/>
    <p:sldId id="350" r:id="rId17"/>
    <p:sldId id="364" r:id="rId18"/>
    <p:sldId id="36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9" d="100"/>
          <a:sy n="69" d="100"/>
        </p:scale>
        <p:origin x="76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ar Hossam" userId="1865a26e0f50c12e" providerId="LiveId" clId="{C2B84A39-BD6B-436C-8745-674175183BE6}"/>
    <pc:docChg chg="modSld">
      <pc:chgData name="Omar Hossam" userId="1865a26e0f50c12e" providerId="LiveId" clId="{C2B84A39-BD6B-436C-8745-674175183BE6}" dt="2026-04-28T22:03:43.512" v="0" actId="1076"/>
      <pc:docMkLst>
        <pc:docMk/>
      </pc:docMkLst>
      <pc:sldChg chg="modSp mod">
        <pc:chgData name="Omar Hossam" userId="1865a26e0f50c12e" providerId="LiveId" clId="{C2B84A39-BD6B-436C-8745-674175183BE6}" dt="2026-04-28T22:03:43.512" v="0" actId="1076"/>
        <pc:sldMkLst>
          <pc:docMk/>
          <pc:sldMk cId="2876887770" sldId="365"/>
        </pc:sldMkLst>
        <pc:picChg chg="mod">
          <ac:chgData name="Omar Hossam" userId="1865a26e0f50c12e" providerId="LiveId" clId="{C2B84A39-BD6B-436C-8745-674175183BE6}" dt="2026-04-28T22:03:43.512" v="0" actId="1076"/>
          <ac:picMkLst>
            <pc:docMk/>
            <pc:sldMk cId="2876887770" sldId="365"/>
            <ac:picMk id="7" creationId="{B404DA10-D0CF-CA37-13DD-3D760BE6DD9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52ECC-1B11-423C-B09A-13D0289A9C7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26EFB-E3F6-4F64-9528-97A47048D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4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6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63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40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5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1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0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34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49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37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78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42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AE456-DA79-9895-19B2-CBCA5A8A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Autofit/>
          </a:bodyPr>
          <a:lstStyle/>
          <a:p>
            <a:r>
              <a:rPr lang="en-US" sz="3600" dirty="0"/>
              <a:t>Computing Algorithms</a:t>
            </a:r>
            <a:br>
              <a:rPr lang="en-US" sz="3600" dirty="0"/>
            </a:br>
            <a:r>
              <a:rPr lang="en-US" sz="3600" dirty="0"/>
              <a:t>Lecture 7:</a:t>
            </a:r>
            <a:br>
              <a:rPr lang="en-US" sz="3600" dirty="0"/>
            </a:br>
            <a:r>
              <a:rPr lang="en-US" sz="3600" dirty="0"/>
              <a:t>Decrease and Conquer 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83053-DBC8-A47D-72F0-B866CFBE5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r>
              <a:rPr lang="en-US" dirty="0"/>
              <a:t>By: Dr. Mohamed Moheeb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94A22F1-6EB7-DAD1-49EB-40097999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22" r="27944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0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8632-A97F-2592-E5E1-57A965B0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1E22B-CE58-F133-934B-D7163601B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Generating permutation </a:t>
            </a:r>
          </a:p>
          <a:p>
            <a:pPr lvl="0"/>
            <a:r>
              <a:rPr lang="en-US" dirty="0"/>
              <a:t>Generating subsets</a:t>
            </a:r>
          </a:p>
          <a:p>
            <a:pPr lvl="0"/>
            <a:r>
              <a:rPr lang="en-US" dirty="0"/>
              <a:t>Binary search </a:t>
            </a:r>
          </a:p>
          <a:p>
            <a:pPr lvl="0"/>
            <a:r>
              <a:rPr lang="en-US" dirty="0"/>
              <a:t>Russian peasant multiplication </a:t>
            </a:r>
          </a:p>
          <a:p>
            <a:pPr lvl="0"/>
            <a:r>
              <a:rPr lang="en-US" dirty="0"/>
              <a:t>Josephus problem</a:t>
            </a:r>
          </a:p>
        </p:txBody>
      </p:sp>
    </p:spTree>
    <p:extLst>
      <p:ext uri="{BB962C8B-B14F-4D97-AF65-F5344CB8AC3E}">
        <p14:creationId xmlns:p14="http://schemas.microsoft.com/office/powerpoint/2010/main" val="19201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0EC46-FF09-5C09-DC90-0FF1044A9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5F7B-E7CD-700D-66DE-07406174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Generating Permutation</a:t>
            </a: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9EDDD50A-1398-C44F-F014-9607D99A4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1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3017-E7E4-8546-E2F3-921AC3C5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Minimal-change Requirement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EEB21-D014-7BF2-59F2-7B171BF1CD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 Let’s make a permutation of 3 using this algorithm </a:t>
            </a:r>
          </a:p>
          <a:p>
            <a:r>
              <a:rPr lang="en-US" dirty="0"/>
              <a:t>It starts with the first element and then swaps the next element from left to right or right to left till the whole permutation is created.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EF6DD1D-8F3A-A40B-4921-728DFB120F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39841" y="2468881"/>
            <a:ext cx="5438501" cy="334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5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BC71E2-ED15-2C9B-18C7-1A6E84ADA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Johnson Trotter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F20A56-7F4D-43DD-EFB9-66705AD7DD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633472"/>
            <a:ext cx="5384801" cy="3566159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F266F4E-E0D7-A7B2-4F41-C514698EAC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843520" y="2804160"/>
            <a:ext cx="2306320" cy="8464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517B19-A1DE-AEC1-8771-B4D2E911C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520" y="3483293"/>
            <a:ext cx="2306320" cy="10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77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0EAEF5-35DE-EC77-2B64-B24916C4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Lexicographic permutation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3B7E0E-5B60-902A-2F73-EE9339E01E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5435008" cy="356616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8A65D-5D4F-12C7-4D6D-CA0F65ABF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50928" y="2606040"/>
            <a:ext cx="1697312" cy="3566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123 132</a:t>
            </a:r>
          </a:p>
          <a:p>
            <a:pPr marL="0" indent="0">
              <a:buNone/>
            </a:pPr>
            <a:r>
              <a:rPr lang="en-US" sz="2800" dirty="0"/>
              <a:t>213  231</a:t>
            </a:r>
          </a:p>
          <a:p>
            <a:pPr marL="0" indent="0">
              <a:buNone/>
            </a:pPr>
            <a:r>
              <a:rPr lang="en-US" sz="2800" dirty="0"/>
              <a:t>312  321</a:t>
            </a:r>
          </a:p>
        </p:txBody>
      </p:sp>
    </p:spTree>
    <p:extLst>
      <p:ext uri="{BB962C8B-B14F-4D97-AF65-F5344CB8AC3E}">
        <p14:creationId xmlns:p14="http://schemas.microsoft.com/office/powerpoint/2010/main" val="62075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BF58-DEFA-1881-1327-4586F627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A4F01-BD9D-744D-DC49-AA99296B1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Permutation problem is an expensive problem, as explained before, it costs O(n!) To create the permutation of size n</a:t>
            </a:r>
          </a:p>
          <a:p>
            <a:r>
              <a:rPr lang="en-US" dirty="0"/>
              <a:t>By using the decrease and conquer, this cost can be reduced; it will still be O(n!), but the actual execution time is lower because the algorithm generates each new permutation using a single </a:t>
            </a:r>
            <a:r>
              <a:rPr lang="en-US" b="1" dirty="0"/>
              <a:t>swap</a:t>
            </a:r>
            <a:r>
              <a:rPr lang="en-US" dirty="0"/>
              <a:t> rather than rebuilding the entire sequence.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62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74AC-551B-EA7C-D6AF-A44307BC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A5CD6-C95A-54B5-04CA-1C5C209E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Generating Subset</a:t>
            </a: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7DF1329B-5819-FD78-47D6-5E58DD581D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8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CD6C1-0536-7A30-28F1-1CC6D300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Bottum-up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AC793D-4658-7FD6-ECC0-8BBA22B3F8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20363" y="2307772"/>
            <a:ext cx="5533437" cy="341811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B039A0-F1A9-46EE-BE14-91DB6445B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4928" y="2468881"/>
            <a:ext cx="4490586" cy="3566160"/>
          </a:xfrm>
        </p:spPr>
        <p:txBody>
          <a:bodyPr/>
          <a:lstStyle/>
          <a:p>
            <a:r>
              <a:rPr lang="en-US" dirty="0"/>
              <a:t>It starts with an empty set and one by one adds a new element to all the generated subsets until this point.</a:t>
            </a:r>
          </a:p>
        </p:txBody>
      </p:sp>
    </p:spTree>
    <p:extLst>
      <p:ext uri="{BB962C8B-B14F-4D97-AF65-F5344CB8AC3E}">
        <p14:creationId xmlns:p14="http://schemas.microsoft.com/office/powerpoint/2010/main" val="22726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C197B-6CD4-B38A-1594-50692401A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A9A53-B74D-DB94-70B0-1F7A60F84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Representation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789CD7-FB02-269A-74C3-4A2CE84A1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4928" y="2468881"/>
            <a:ext cx="8605386" cy="1493166"/>
          </a:xfrm>
        </p:spPr>
        <p:txBody>
          <a:bodyPr/>
          <a:lstStyle/>
          <a:p>
            <a:r>
              <a:rPr lang="en-US" dirty="0"/>
              <a:t>This is the simplest way to create a list of binary numbers till the value n </a:t>
            </a:r>
          </a:p>
          <a:p>
            <a:r>
              <a:rPr lang="en-US" dirty="0"/>
              <a:t>Then you replace the occurrence of the value of 1 by the equivalent element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C20AB6-E7D3-D56F-B343-4CEAB378C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14" y="4541875"/>
            <a:ext cx="8229600" cy="149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16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6E400-A220-DEF7-3845-2906D9CE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Reflect </a:t>
            </a:r>
            <a:r>
              <a:rPr lang="en-US" dirty="0"/>
              <a:t>Gray code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D97FA6-A35D-056C-3D8D-C614E18547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80" y="2633472"/>
            <a:ext cx="5455920" cy="356616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3B09A0F-19B4-7CCB-2C62-28091F7427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14457" y="3712030"/>
            <a:ext cx="4920343" cy="82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7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8F5E-0162-C3C0-E769-0FAF8594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subset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74710-ABB5-7E4F-DD0D-73F6A049C7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Both the brute force and decrease and conquer algorithms have a complexity of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), but the decrease and conquer is proven slightly faster empirically.</a:t>
                </a:r>
              </a:p>
              <a:p>
                <a:r>
                  <a:rPr lang="en-US" dirty="0"/>
                  <a:t>As it doesn’t require a lot of time to create the binary representation, 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because there must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elements.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74710-ABB5-7E4F-DD0D-73F6A049C7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0704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1441-977C-ECBC-F8C1-C2B0F966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0F90-17E2-38F2-57DF-F83EFF9C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Binary Search</a:t>
            </a: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3F8E9B7F-422E-B96A-6956-289CD02CAC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0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D00838-09D4-91A6-F3BA-83C3DAA4F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35B5AC5-09CF-0CA0-0885-3FDF2D9DA6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5358808" cy="3566159"/>
          </a:xfrm>
          <a:prstGeom prst="rect">
            <a:avLst/>
          </a:prstGeom>
        </p:spPr>
      </p:pic>
      <p:pic>
        <p:nvPicPr>
          <p:cNvPr id="1026" name="Picture 2" descr="Binary Search - JavaScript">
            <a:extLst>
              <a:ext uri="{FF2B5EF4-FFF2-40B4-BE49-F238E27FC236}">
                <a16:creationId xmlns:a16="http://schemas.microsoft.com/office/drawing/2014/main" id="{6E640E2E-C670-D50A-96B1-FD087D8F2A7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0" y="2774220"/>
            <a:ext cx="5213350" cy="328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019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A937-EB94-D0F5-699B-5A661A1B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51A4A1B-4801-DE78-96C7-0D15B1ECA1A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This is clear example about decrease by constant value </a:t>
                </a:r>
              </a:p>
              <a:p>
                <a:r>
                  <a:rPr lang="en-US" dirty="0"/>
                  <a:t>T(n)= T(n/2) +1 , T(1)=1</a:t>
                </a:r>
              </a:p>
              <a:p>
                <a:r>
                  <a:rPr lang="en-US" dirty="0"/>
                  <a:t>T(n/2)=T(n/4)+1</a:t>
                </a:r>
              </a:p>
              <a:p>
                <a:r>
                  <a:rPr lang="en-US" dirty="0"/>
                  <a:t>T(n/4)=T(n/8)+1</a:t>
                </a:r>
              </a:p>
              <a:p>
                <a:r>
                  <a:rPr lang="en-US" dirty="0"/>
                  <a:t>T(n)=T(n/4) +2</a:t>
                </a:r>
              </a:p>
              <a:p>
                <a:r>
                  <a:rPr lang="en-US" dirty="0"/>
                  <a:t>T(n)=T(n/8)+3 </a:t>
                </a:r>
              </a:p>
              <a:p>
                <a:r>
                  <a:rPr lang="en-US" dirty="0"/>
                  <a:t>T(n)=T(n/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51A4A1B-4801-DE78-96C7-0D15B1ECA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702" t="-855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CCBB371-5268-7AC1-C9CC-9A82C9F8274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n/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T(n)= T(1)+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= 1+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CCBB371-5268-7AC1-C9CC-9A82C9F827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702" t="-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6190E1-3607-09D7-8F28-0C9319242BCF}"/>
                  </a:ext>
                </a:extLst>
              </p:cNvPr>
              <p:cNvSpPr txBox="1"/>
              <p:nvPr/>
            </p:nvSpPr>
            <p:spPr>
              <a:xfrm>
                <a:off x="10099040" y="5347899"/>
                <a:ext cx="9814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6190E1-3607-09D7-8F28-0C9319242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040" y="5347899"/>
                <a:ext cx="981487" cy="276999"/>
              </a:xfrm>
              <a:prstGeom prst="rect">
                <a:avLst/>
              </a:prstGeom>
              <a:blipFill>
                <a:blip r:embed="rId4"/>
                <a:stretch>
                  <a:fillRect l="-4969" r="-7453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37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E7EC6-2AB0-7495-5698-E31232ED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93B78-05AF-EDA8-491C-2B7C134AB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Russian peasant Multiplication </a:t>
            </a:r>
            <a:br>
              <a:rPr lang="en-US" sz="5400" dirty="0"/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CAF8B32F-47A7-4885-410C-CC4EB34970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42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3F15-7008-9B82-09ED-0D997B22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Russian peasant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4CA98-46D6-6721-DE3B-65FA749D9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for multiplying two positive integers called multiplication `a la russe or the Russian peasant method. Which is also divided by a constant factor</a:t>
            </a:r>
          </a:p>
          <a:p>
            <a:r>
              <a:rPr lang="en-US" dirty="0"/>
              <a:t> Let n and m be positive integers whose product we want to compute, and let us measure the instance size by the value of n. </a:t>
            </a:r>
          </a:p>
          <a:p>
            <a:r>
              <a:rPr lang="en-US" dirty="0"/>
              <a:t>if n is even, an instance of half the size has to deal with n/2 </a:t>
            </a:r>
          </a:p>
          <a:p>
            <a:r>
              <a:rPr lang="en-US" dirty="0"/>
              <a:t>we have an obvious formula relating the solution to the problem’s larger instance to the solution to the smaller one  (n . m = n/2 . 2m)</a:t>
            </a:r>
          </a:p>
          <a:p>
            <a:r>
              <a:rPr lang="en-US" dirty="0"/>
              <a:t>For odd numbers (</a:t>
            </a:r>
            <a:r>
              <a:rPr lang="pt-BR" dirty="0"/>
              <a:t>n . m= n−1/ 2 . 2m +m).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726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0D5FE-BC48-91E7-BC2F-EE15A5777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Russian peasant Multiplication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04DA10-D0CF-CA37-13DD-3D760BE6DD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094809"/>
            <a:ext cx="6187441" cy="37307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55BCE7-4A75-8C86-7E95-996BDF181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94320" y="2633472"/>
            <a:ext cx="3636688" cy="3566160"/>
          </a:xfrm>
        </p:spPr>
        <p:txBody>
          <a:bodyPr/>
          <a:lstStyle/>
          <a:p>
            <a:r>
              <a:rPr lang="en-US" dirty="0"/>
              <a:t> This algorithm works in the same manner as the binary search, which makes it have the same time complexity 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231D34-2AE2-BC75-BD85-32616FCCBDD2}"/>
                  </a:ext>
                </a:extLst>
              </p:cNvPr>
              <p:cNvSpPr txBox="1"/>
              <p:nvPr/>
            </p:nvSpPr>
            <p:spPr>
              <a:xfrm>
                <a:off x="8197776" y="4195757"/>
                <a:ext cx="9814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231D34-2AE2-BC75-BD85-32616FCCB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776" y="4195757"/>
                <a:ext cx="981487" cy="276999"/>
              </a:xfrm>
              <a:prstGeom prst="rect">
                <a:avLst/>
              </a:prstGeom>
              <a:blipFill>
                <a:blip r:embed="rId3"/>
                <a:stretch>
                  <a:fillRect l="-4969" r="-7453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88777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14476</TotalTime>
  <Words>556</Words>
  <Application>Microsoft Office PowerPoint</Application>
  <PresentationFormat>Widescreen</PresentationFormat>
  <Paragraphs>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Cambria Math</vt:lpstr>
      <vt:lpstr>Grandview Display</vt:lpstr>
      <vt:lpstr>DashVTI</vt:lpstr>
      <vt:lpstr>Computing Algorithms Lecture 7: Decrease and Conquer part 2</vt:lpstr>
      <vt:lpstr>Agenda</vt:lpstr>
      <vt:lpstr>Generating Permutation   </vt:lpstr>
      <vt:lpstr>Minimal-change Requirement</vt:lpstr>
      <vt:lpstr>Johnson Trotter </vt:lpstr>
      <vt:lpstr>Lexicographic permutation </vt:lpstr>
      <vt:lpstr>Permutation</vt:lpstr>
      <vt:lpstr>Generating Subset   </vt:lpstr>
      <vt:lpstr>Bottum-up algorithm</vt:lpstr>
      <vt:lpstr>Binary Representation </vt:lpstr>
      <vt:lpstr>Binary Reflect Gray code </vt:lpstr>
      <vt:lpstr>Generating subset</vt:lpstr>
      <vt:lpstr>Binary Search   </vt:lpstr>
      <vt:lpstr>Binary search</vt:lpstr>
      <vt:lpstr>Binary Search  </vt:lpstr>
      <vt:lpstr>Russian peasant Multiplication     </vt:lpstr>
      <vt:lpstr>Russian peasant Multiplication</vt:lpstr>
      <vt:lpstr>Russian peasant Multiplication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Moheeb</dc:creator>
  <cp:lastModifiedBy>Omar Hossam</cp:lastModifiedBy>
  <cp:revision>82</cp:revision>
  <dcterms:created xsi:type="dcterms:W3CDTF">2026-01-25T09:41:58Z</dcterms:created>
  <dcterms:modified xsi:type="dcterms:W3CDTF">2026-04-28T22:03:52Z</dcterms:modified>
</cp:coreProperties>
</file>