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38"/>
  </p:notesMasterIdLst>
  <p:sldIdLst>
    <p:sldId id="256" r:id="rId2"/>
    <p:sldId id="257" r:id="rId3"/>
    <p:sldId id="346" r:id="rId4"/>
    <p:sldId id="347" r:id="rId5"/>
    <p:sldId id="348" r:id="rId6"/>
    <p:sldId id="377" r:id="rId7"/>
    <p:sldId id="378" r:id="rId8"/>
    <p:sldId id="379" r:id="rId9"/>
    <p:sldId id="370" r:id="rId10"/>
    <p:sldId id="380" r:id="rId11"/>
    <p:sldId id="381" r:id="rId12"/>
    <p:sldId id="371" r:id="rId13"/>
    <p:sldId id="382" r:id="rId14"/>
    <p:sldId id="383" r:id="rId15"/>
    <p:sldId id="384" r:id="rId16"/>
    <p:sldId id="385" r:id="rId17"/>
    <p:sldId id="387" r:id="rId18"/>
    <p:sldId id="386" r:id="rId19"/>
    <p:sldId id="372" r:id="rId20"/>
    <p:sldId id="389" r:id="rId21"/>
    <p:sldId id="388" r:id="rId22"/>
    <p:sldId id="373" r:id="rId23"/>
    <p:sldId id="390" r:id="rId24"/>
    <p:sldId id="391" r:id="rId25"/>
    <p:sldId id="392" r:id="rId26"/>
    <p:sldId id="393" r:id="rId27"/>
    <p:sldId id="374" r:id="rId28"/>
    <p:sldId id="395" r:id="rId29"/>
    <p:sldId id="396" r:id="rId30"/>
    <p:sldId id="375" r:id="rId31"/>
    <p:sldId id="397" r:id="rId32"/>
    <p:sldId id="376" r:id="rId33"/>
    <p:sldId id="398" r:id="rId34"/>
    <p:sldId id="399" r:id="rId35"/>
    <p:sldId id="400" r:id="rId36"/>
    <p:sldId id="40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608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4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52ECC-1B11-423C-B09A-13D0289A9C7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26EFB-E3F6-4F64-9528-97A47048D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4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4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7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8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E456-DA79-9895-19B2-CBCA5A8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554037"/>
            <a:ext cx="4670661" cy="3030842"/>
          </a:xfrm>
        </p:spPr>
        <p:txBody>
          <a:bodyPr>
            <a:noAutofit/>
          </a:bodyPr>
          <a:lstStyle/>
          <a:p>
            <a:r>
              <a:rPr lang="en-US" sz="3600" dirty="0"/>
              <a:t>Computing Algorithms</a:t>
            </a:r>
            <a:br>
              <a:rPr lang="en-US" sz="3600" dirty="0"/>
            </a:br>
            <a:r>
              <a:rPr lang="en-US" sz="3600" dirty="0"/>
              <a:t>Lecture 13:</a:t>
            </a:r>
            <a:br>
              <a:rPr lang="en-US" sz="3600" dirty="0"/>
            </a:br>
            <a:r>
              <a:rPr lang="en-US" sz="3600" dirty="0"/>
              <a:t>Dynamic Programming / Greedy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83053-DBC8-A47D-72F0-B866CFBE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By: Dr. Mohamed Moheeb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A22F1-6EB7-DAD1-49EB-4009799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2" r="2794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8632-A97F-2592-E5E1-57A965B0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22B-CE58-F133-934B-D7163601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 to dynamic programming</a:t>
            </a:r>
          </a:p>
          <a:p>
            <a:r>
              <a:rPr lang="en-US" dirty="0"/>
              <a:t>Basic problems</a:t>
            </a:r>
          </a:p>
          <a:p>
            <a:r>
              <a:rPr lang="en-US" dirty="0"/>
              <a:t>Knapsack problem</a:t>
            </a:r>
          </a:p>
          <a:p>
            <a:r>
              <a:rPr lang="en-US" dirty="0"/>
              <a:t>Warshall’s and Floyd’s Algorithms</a:t>
            </a:r>
          </a:p>
          <a:p>
            <a:r>
              <a:rPr lang="en-US" dirty="0"/>
              <a:t>Introduction to Greedy algorithm</a:t>
            </a:r>
          </a:p>
          <a:p>
            <a:r>
              <a:rPr lang="en-US" dirty="0"/>
              <a:t>Prim’s Algorithm</a:t>
            </a:r>
          </a:p>
          <a:p>
            <a:r>
              <a:rPr lang="en-US" dirty="0"/>
              <a:t>Kruskal’s Algorithm</a:t>
            </a:r>
          </a:p>
          <a:p>
            <a:r>
              <a:rPr lang="en-US" dirty="0"/>
              <a:t>Dijkstra’s Algorithm</a:t>
            </a:r>
          </a:p>
          <a:p>
            <a:r>
              <a:rPr lang="en-US" dirty="0"/>
              <a:t>Huffman Trees and Condes</a:t>
            </a:r>
          </a:p>
        </p:txBody>
      </p:sp>
    </p:spTree>
    <p:extLst>
      <p:ext uri="{BB962C8B-B14F-4D97-AF65-F5344CB8AC3E}">
        <p14:creationId xmlns:p14="http://schemas.microsoft.com/office/powerpoint/2010/main" val="19201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EC46-FF09-5C09-DC90-0FF1044A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5F7B-E7CD-700D-66DE-07406174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Introduction 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9EDDD50A-1398-C44F-F014-9607D99A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1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C14A-F286-2FFF-A898-A5F850A4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Dynamic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0FD3-6104-0B87-54F7-8A190490B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Solve Once, Reuse Often:</a:t>
            </a:r>
            <a:r>
              <a:rPr lang="en-US" dirty="0"/>
              <a:t> Break complex problems into simpler, overlapping subproblems and ensure each is solved only once to eliminate computational redundancy.</a:t>
            </a:r>
          </a:p>
          <a:p>
            <a:r>
              <a:rPr lang="en-US" b="1" dirty="0"/>
              <a:t>Trade Space for Time:</a:t>
            </a:r>
            <a:r>
              <a:rPr lang="en-US" dirty="0"/>
              <a:t> Use </a:t>
            </a:r>
            <a:r>
              <a:rPr lang="en-US" b="1" dirty="0"/>
              <a:t>Memorization</a:t>
            </a:r>
            <a:r>
              <a:rPr lang="en-US" dirty="0"/>
              <a:t> (storing results in a table) to transform slow, exponential-time algorithms into fast, linear or polynomial-time solutions. </a:t>
            </a:r>
          </a:p>
          <a:p>
            <a:r>
              <a:rPr lang="en-US" b="1" dirty="0"/>
              <a:t>Optimal Substructure:</a:t>
            </a:r>
            <a:r>
              <a:rPr lang="en-US" dirty="0"/>
              <a:t> Identify patterns where a global optimal solution can be built directly from the optimal solutions of its smaller sub-parts.</a:t>
            </a:r>
          </a:p>
        </p:txBody>
      </p:sp>
    </p:spTree>
    <p:extLst>
      <p:ext uri="{BB962C8B-B14F-4D97-AF65-F5344CB8AC3E}">
        <p14:creationId xmlns:p14="http://schemas.microsoft.com/office/powerpoint/2010/main" val="1600845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5256A-B3F5-F6B3-A781-CE05B608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A1CE-6D86-59F8-24C4-994B218A1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Basic Problems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5DB30F11-D281-1C24-3B4F-538F9E5F1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0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1AC6-751F-0774-DF1A-177A7165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Coin- Row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726A6-5E66-8714-6602-B50C7F65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Coin-row problem There is a row of n coins whose values are some positive integers c1,c2,...,</a:t>
            </a:r>
            <a:r>
              <a:rPr lang="en-US" dirty="0" err="1"/>
              <a:t>cn</a:t>
            </a:r>
            <a:r>
              <a:rPr lang="en-US" dirty="0"/>
              <a:t>, not necessarily distinct.</a:t>
            </a:r>
          </a:p>
          <a:p>
            <a:r>
              <a:rPr lang="en-US" dirty="0"/>
              <a:t> The goal is to pick up the maximum amount of money subject to the constraint that no two coins adjacent in the initial row can be picked up.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E4CCA-8380-403B-5ECB-82805CC13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92" y="4802495"/>
            <a:ext cx="10220367" cy="136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6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9330-4932-20E8-E8BD-14A36F3A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Coin Row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EAC65F-5DA5-D36A-CB37-9F95D6A23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992" y="2468881"/>
            <a:ext cx="9232816" cy="358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57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A6A76-62DE-BAE1-FEB7-37AB789E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02C74-E74C-ACFC-70D8-14493754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Coin Row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D71B0-9173-A551-45B0-70A70011F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34" y="2288696"/>
            <a:ext cx="3381645" cy="1287624"/>
          </a:xfr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Solving the coin-row problem by dynamic programming for the coin row 5, 1, 2, 10, 6, 2</a:t>
            </a:r>
            <a:r>
              <a:rPr lang="en-US" sz="1400" b="1" cap="all" spc="300" dirty="0"/>
              <a:t>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4B357F4-371A-408E-F98E-76B66066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1031001"/>
            <a:ext cx="6379796" cy="529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3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7DF1-F7C4-1997-68E8-412A798A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1601-9781-450E-9279-4CD29F807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Knapsack Problem</a:t>
            </a: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0105E047-2F08-2E3E-7108-2B173A0B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172B-C90F-4754-805D-3E3253ED0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4E81D4-92AE-9E00-67FC-D2BE4CFA2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928" y="2885440"/>
            <a:ext cx="4704080" cy="2804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116428-1963-ADDE-06FA-AE4556218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920" y="3063856"/>
            <a:ext cx="4704080" cy="132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8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8169-0396-CBF7-62C2-DC9F4E03E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Problem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805EDD-DC7C-6819-F608-3E2CFB3E0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79" y="2123440"/>
            <a:ext cx="5618481" cy="39624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40594B3-3A9B-11DF-C912-6DF0F244A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090" y="2055461"/>
            <a:ext cx="3754990" cy="826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D967C-FF83-BA4D-5955-32A139490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161" y="2991134"/>
            <a:ext cx="4185919" cy="309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21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4E70-FAF1-F8DC-CBC3-97DCA0DC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A8AA-44EB-7877-4BE2-C41D974F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Warshall’s and Floyd’s Algorithms</a:t>
            </a: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95E2B6E9-B484-181D-3A64-AC226F644B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4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1203-D45C-72A7-18F3-DD93682A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Warshall’s</a:t>
            </a:r>
            <a:r>
              <a:rPr lang="en-US" dirty="0"/>
              <a:t> Algorithm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C8E28E-A56F-AF5B-61E4-C76F6D1CE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63" y="2347784"/>
            <a:ext cx="7858896" cy="418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52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AA950-5F4B-6D10-7452-EF630B38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CEAF-40D0-D3B1-E7EA-ED35DCC2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Warshall’s</a:t>
            </a:r>
            <a:r>
              <a:rPr lang="en-US" dirty="0"/>
              <a:t>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09E080-45EF-2583-5EA8-2BB29CB65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097" y="2538566"/>
            <a:ext cx="6032844" cy="359664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8198D9F-8D10-3AD1-8498-3B107CF02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19923"/>
            <a:ext cx="4434703" cy="226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05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8D43C-3517-A352-009F-3C05B83C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F649-4928-0543-FE43-756AB0A07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Warshall’s</a:t>
            </a:r>
            <a:r>
              <a:rPr lang="en-US" dirty="0"/>
              <a:t> Algorithm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F4E9D7-A113-8EC9-8BCA-E79D5DA49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11" y="2108199"/>
            <a:ext cx="10423610" cy="45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0F1B-A450-6E1D-0A4A-AA1E7872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EB9CE-E2F4-3CF4-94AD-7E3D6F98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Warshall’s</a:t>
            </a:r>
            <a:r>
              <a:rPr lang="en-US" dirty="0"/>
              <a:t>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ADAAFD-FF02-70D8-FF83-F48FFE136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097" y="2538566"/>
            <a:ext cx="6032844" cy="359664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A14B20B-AB1F-5BE7-A2F8-E0CAEF52A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19923"/>
            <a:ext cx="4434703" cy="226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52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A405-2114-CC4D-A6F7-B1FFBA43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1607B-F1AA-9101-FFA7-5AA6E8C2F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2640"/>
            <a:ext cx="11551920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15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985C-9DF5-2F8F-AE12-7E675A38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Algorithm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39FE13-5A08-B4BD-978D-32C1D0E54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2940908"/>
            <a:ext cx="7125264" cy="33239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152EF3-ECEE-6FA2-4458-F07A162FA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45" y="2730843"/>
            <a:ext cx="4331920" cy="275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23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1C4DC-F5B3-A55F-6C44-6E36E082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5ABD-4801-6254-9940-C4D37B4A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dirty="0"/>
              <a:t>I</a:t>
            </a: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ntroduction</a:t>
            </a: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6DBCE832-4FAE-C42E-D294-3C9F7E961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7C8F-39CA-66A6-7254-4C98ADE8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CB191-163E-BBAF-EEB9-99569E876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greedy algorithm builds a solution piece by piece, choosing the next piece based on a specific </a:t>
            </a:r>
            <a:r>
              <a:rPr lang="en-US" b="1" dirty="0"/>
              <a:t>greedy heuristic</a:t>
            </a:r>
            <a:r>
              <a:rPr lang="en-US" dirty="0"/>
              <a:t>. At any given stage, the algorithm manages three sets:</a:t>
            </a:r>
          </a:p>
          <a:p>
            <a:r>
              <a:rPr lang="en-US" b="1" dirty="0"/>
              <a:t>Candidate Set:</a:t>
            </a:r>
            <a:r>
              <a:rPr lang="en-US" dirty="0"/>
              <a:t> The collection of choices from which a solution is created.</a:t>
            </a:r>
          </a:p>
          <a:p>
            <a:r>
              <a:rPr lang="en-US" b="1" dirty="0"/>
              <a:t>Selection Function:</a:t>
            </a:r>
            <a:r>
              <a:rPr lang="en-US" dirty="0"/>
              <a:t> Identifies the best candidate to be added to the solution.</a:t>
            </a:r>
          </a:p>
          <a:p>
            <a:r>
              <a:rPr lang="en-US" b="1" dirty="0"/>
              <a:t>Feasibility Function:</a:t>
            </a:r>
            <a:r>
              <a:rPr lang="en-US" dirty="0"/>
              <a:t> Determines if a candidate can be used to contribute to the final solution without violating constraints.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59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F902-CE36-2E6D-113E-D2267B42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1C7E4-55C6-E71F-9786-42044D993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greedy algorithm to yield a mathematically </a:t>
            </a:r>
            <a:r>
              <a:rPr lang="en-US" i="1" dirty="0"/>
              <a:t>exact</a:t>
            </a:r>
            <a:r>
              <a:rPr lang="en-US" dirty="0"/>
              <a:t> and globally optimal solution, the problem must possess two key properties:</a:t>
            </a:r>
          </a:p>
          <a:p>
            <a:pPr lvl="1"/>
            <a:r>
              <a:rPr lang="en-US" b="1" dirty="0"/>
              <a:t>Greedy Choice Property:</a:t>
            </a:r>
            <a:r>
              <a:rPr lang="en-US" dirty="0"/>
              <a:t> A global optimum can be arrived at by selecting a local optimum. In other words, choices made in the past do not affect the choices needed in the future.</a:t>
            </a:r>
          </a:p>
          <a:p>
            <a:pPr lvl="1"/>
            <a:r>
              <a:rPr lang="en-US" b="1" dirty="0"/>
              <a:t>Optimal Substructure:</a:t>
            </a:r>
            <a:r>
              <a:rPr lang="en-US" dirty="0"/>
              <a:t> An optimal solution to the problem contains within it optimal solutions to its subproblems.</a:t>
            </a:r>
          </a:p>
          <a:p>
            <a:pPr marL="265176" lvl="1" indent="0">
              <a:buNone/>
            </a:pPr>
            <a:r>
              <a:rPr lang="en-US" dirty="0"/>
              <a:t>Example: Coin change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489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A932-A0DD-3EAE-5CE0-962FA2A5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925D-A11D-67EF-3379-3F06947A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Prim’s Algorithm</a:t>
            </a: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74007B98-7635-9238-D1A5-A9DD7514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0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262C-594E-AD0C-52D0-E9F46A3E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3480E-D606-F472-B187-E53D6AB7A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spanning tree of an undirected connected graph is its connected a cyclic subgraph (i.e., a tree) that contains all the vertices of the graph. </a:t>
            </a:r>
          </a:p>
          <a:p>
            <a:r>
              <a:rPr lang="en-US" dirty="0"/>
              <a:t>If such a graph has weights assigned to its edges, a minimum spanning tree is its spanning tree of the smallest weight, where the weight of a tree is defined as the sum of the weights on all its edges. </a:t>
            </a:r>
          </a:p>
          <a:p>
            <a:r>
              <a:rPr lang="en-US" dirty="0"/>
              <a:t>The minimum spanning tree problem is the problem of finding a minimum spanning tree for a given weighted connected graph.</a:t>
            </a:r>
          </a:p>
        </p:txBody>
      </p:sp>
    </p:spTree>
    <p:extLst>
      <p:ext uri="{BB962C8B-B14F-4D97-AF65-F5344CB8AC3E}">
        <p14:creationId xmlns:p14="http://schemas.microsoft.com/office/powerpoint/2010/main" val="1888483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182-F065-255D-585D-07780FB6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3BF8FF-EAC8-CAFC-ACF0-E3BD0EA8B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2702560"/>
            <a:ext cx="10525760" cy="335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85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E357C-D2CF-E3DB-0F1A-C120829A8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EE6E60-D9B5-9CD9-582A-7CFE7DEB2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280" y="2468881"/>
            <a:ext cx="10261599" cy="4307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17992A-3943-A9C6-67FF-664F7D192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560" y="487680"/>
            <a:ext cx="6116319" cy="198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79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12DD-ECF3-C7FD-020B-70DBC5C1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8C2D-7BC6-9B86-7A81-D28DD40F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Prim’s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B683C-3933-1F0A-F7CE-56DB0BF9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560" y="487680"/>
            <a:ext cx="6116319" cy="198120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3772E-3B0A-3253-095A-710728D71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8E8C5F-6085-7B3A-B697-2EDA4CF9F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514552"/>
            <a:ext cx="10810240" cy="368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72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5287-699C-6E0C-BA45-677DBF2B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2761-F18B-0B26-3AAF-19A82496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Kruskal’s Algorithm</a:t>
            </a: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4E083B3C-68C1-5EB6-A52F-04FDE804C4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7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96A74-EC27-A914-ED79-BF647BC3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2EB1-C23B-0B8C-E7D0-5734AF9D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43BC9-3B1D-A823-8EC1-11A501580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487680"/>
            <a:ext cx="5862319" cy="198120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E38906-8ADE-3C4C-F68A-6B93588D5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2320" y="2468882"/>
            <a:ext cx="10546080" cy="427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25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834E2-DD91-657E-F6E4-462DF5A6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AC76-B628-97C7-B354-9CC79037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D30B9-72A1-75E6-DE69-995E7F69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487680"/>
            <a:ext cx="5862319" cy="198120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8BAB6F-F8CB-1710-2767-DB892F123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800" y="2733040"/>
            <a:ext cx="10464208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04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6A16-EF6C-A48E-9D52-E0A71865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C293-0CCC-2824-0DAA-A81C368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Dijkstra’s Algorithm</a:t>
            </a: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208EF608-9673-6F32-4894-930FA06FA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4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0220-85FD-D06D-7434-7B411E4D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BF80B9-508C-DFAD-79F2-674864B92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520" y="2214880"/>
            <a:ext cx="10545487" cy="4643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76E37E-9CC1-4EDC-F5A3-464B833D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880" y="166625"/>
            <a:ext cx="4135120" cy="224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00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482DC-C935-2412-D59B-34FF0665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DFBB-1B99-68D6-EAE9-AF58D078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Huffman Trees and Codes</a:t>
            </a: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2BE0B23C-C1DC-3885-4CA3-FC7F0C8A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4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3351-74A2-9444-7796-FCCA8524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Huffman’s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FA1BB9-4A58-A48C-FF29-F61976ED4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79" y="2706130"/>
            <a:ext cx="10890929" cy="366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308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B6A3-110E-3297-DBCE-E66E37720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Huffman’s Algorithm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116086-231E-6D89-0A9F-1A8DB3EC8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318" y="2928552"/>
            <a:ext cx="9514704" cy="168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4577-459C-0AF2-54BE-715D57EC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Huffman’s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09EF6E-13D5-D9DB-C30D-0E50AEC70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4930" y="98854"/>
            <a:ext cx="7438767" cy="675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71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EF54-E215-DC48-C14B-01F441EB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A7AAC-DF34-278F-5F07-B66992EA0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US" dirty="0"/>
              <a:t> DAD is encoded as 011101</a:t>
            </a:r>
          </a:p>
          <a:p>
            <a:pPr marL="285750" indent="-285750"/>
            <a:r>
              <a:rPr lang="en-US" dirty="0"/>
              <a:t>10011011011101 is decoded as BAD_AD. </a:t>
            </a:r>
          </a:p>
          <a:p>
            <a:pPr marL="285750" indent="-285750"/>
            <a:r>
              <a:rPr lang="en-US" dirty="0"/>
              <a:t>With the occurrence frequencies given and the codeword lengths obtained, the average number of bits per symbol in this code is 2 . 0.35+3.0.1+2.0.2+2.0.2+3.0.15=2.25. </a:t>
            </a:r>
          </a:p>
          <a:p>
            <a:pPr marL="285750" indent="-285750"/>
            <a:r>
              <a:rPr lang="en-US" dirty="0"/>
              <a:t>Had we used a fixed-length encoding for the same alphabet, we would have to use at least 3 bits per each symbol. </a:t>
            </a:r>
          </a:p>
          <a:p>
            <a:pPr marL="285750" indent="-285750"/>
            <a:r>
              <a:rPr lang="en-US" dirty="0"/>
              <a:t>Thus, for this toy example, Huffman’s code achieves the compression ratio a standard measure of a compression algorithm’s effectiveness—of(3− 2.25)/3. 100%=25%.</a:t>
            </a:r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24BA7EB-CDFB-10D0-DB37-B2E6CA16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352" y="565180"/>
            <a:ext cx="4693161" cy="161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6120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17296</TotalTime>
  <Words>645</Words>
  <Application>Microsoft Office PowerPoint</Application>
  <PresentationFormat>Widescreen</PresentationFormat>
  <Paragraphs>68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Arial</vt:lpstr>
      <vt:lpstr>Grandview Display</vt:lpstr>
      <vt:lpstr>DashVTI</vt:lpstr>
      <vt:lpstr>Computing Algorithms Lecture 13: Dynamic Programming / Greedy Algorithm</vt:lpstr>
      <vt:lpstr>Agenda</vt:lpstr>
      <vt:lpstr>Introduction    </vt:lpstr>
      <vt:lpstr>Introduction of Dynamic programming</vt:lpstr>
      <vt:lpstr>Basic Problems  </vt:lpstr>
      <vt:lpstr>Coin- Row problem</vt:lpstr>
      <vt:lpstr>Coin Row</vt:lpstr>
      <vt:lpstr>Coin Row</vt:lpstr>
      <vt:lpstr> Knapsack Problem</vt:lpstr>
      <vt:lpstr>Knapsack Problem</vt:lpstr>
      <vt:lpstr>Knapsack Problem</vt:lpstr>
      <vt:lpstr> Warshall’s and Floyd’s Algorithms</vt:lpstr>
      <vt:lpstr>Warshall’s Algorithm</vt:lpstr>
      <vt:lpstr>Warshall’s Algorithm</vt:lpstr>
      <vt:lpstr>Warshall’s Algorithm</vt:lpstr>
      <vt:lpstr>Warshall’s Algorithm</vt:lpstr>
      <vt:lpstr>Floyd’s Algorithm</vt:lpstr>
      <vt:lpstr>Floyd’s Algorithm</vt:lpstr>
      <vt:lpstr> Introduction</vt:lpstr>
      <vt:lpstr>Introduction to Geedy Algorithm</vt:lpstr>
      <vt:lpstr>Introduction to Geedy Algorithm</vt:lpstr>
      <vt:lpstr> Prim’s Algorithm</vt:lpstr>
      <vt:lpstr>Minimum Spanning Tree</vt:lpstr>
      <vt:lpstr>Minimum Spanning Tree</vt:lpstr>
      <vt:lpstr>Prim’s Algorithm</vt:lpstr>
      <vt:lpstr>Prim’s Algorithm</vt:lpstr>
      <vt:lpstr> Kruskal’s Algorithm</vt:lpstr>
      <vt:lpstr>Kruskal’s Algorithm</vt:lpstr>
      <vt:lpstr>Kruskal’s Algorithm</vt:lpstr>
      <vt:lpstr> Dijkstra’s Algorithm</vt:lpstr>
      <vt:lpstr>Dijkstra’s Algorithm</vt:lpstr>
      <vt:lpstr> Huffman Trees and Codes</vt:lpstr>
      <vt:lpstr>Huffman’s Algorithm</vt:lpstr>
      <vt:lpstr>Huffman’s Algorithm </vt:lpstr>
      <vt:lpstr>Huffman’s Tree</vt:lpstr>
      <vt:lpstr>Huffman’s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Moheeb</dc:creator>
  <cp:lastModifiedBy>Mohamed Moheeb</cp:lastModifiedBy>
  <cp:revision>99</cp:revision>
  <dcterms:created xsi:type="dcterms:W3CDTF">2026-01-25T09:41:58Z</dcterms:created>
  <dcterms:modified xsi:type="dcterms:W3CDTF">2026-05-19T06:20:49Z</dcterms:modified>
</cp:coreProperties>
</file>