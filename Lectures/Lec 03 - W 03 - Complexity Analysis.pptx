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2" r:id="rId16"/>
    <p:sldId id="271" r:id="rId17"/>
    <p:sldId id="273" r:id="rId18"/>
    <p:sldId id="274" r:id="rId19"/>
    <p:sldId id="276" r:id="rId20"/>
    <p:sldId id="277" r:id="rId21"/>
    <p:sldId id="279" r:id="rId22"/>
    <p:sldId id="278" r:id="rId23"/>
    <p:sldId id="280" r:id="rId24"/>
    <p:sldId id="281" r:id="rId25"/>
    <p:sldId id="282" r:id="rId26"/>
    <p:sldId id="283" r:id="rId27"/>
    <p:sldId id="284" r:id="rId28"/>
    <p:sldId id="285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E5D2B10-96CB-4036-9718-DA4670CDEF4F}" type="doc">
      <dgm:prSet loTypeId="urn:microsoft.com/office/officeart/2005/8/layout/chevron1" loCatId="process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5D679500-D701-4C4D-AC20-8443C0E8FB89}">
      <dgm:prSet phldrT="[Text]" phldr="0"/>
      <dgm:spPr/>
      <dgm:t>
        <a:bodyPr/>
        <a:lstStyle/>
        <a:p>
          <a:r>
            <a:rPr lang="en-US" dirty="0"/>
            <a:t>Setup</a:t>
          </a:r>
        </a:p>
      </dgm:t>
    </dgm:pt>
    <dgm:pt modelId="{344E5C82-829C-49B2-B0DF-F25DD39D3DAD}" type="parTrans" cxnId="{C214A606-F7D8-481F-80D9-4E6E2B1CF966}">
      <dgm:prSet/>
      <dgm:spPr/>
      <dgm:t>
        <a:bodyPr/>
        <a:lstStyle/>
        <a:p>
          <a:endParaRPr lang="en-US"/>
        </a:p>
      </dgm:t>
    </dgm:pt>
    <dgm:pt modelId="{59C7086D-200F-4AC0-95B1-109F7D4928DC}" type="sibTrans" cxnId="{C214A606-F7D8-481F-80D9-4E6E2B1CF966}">
      <dgm:prSet/>
      <dgm:spPr/>
      <dgm:t>
        <a:bodyPr/>
        <a:lstStyle/>
        <a:p>
          <a:endParaRPr lang="en-US"/>
        </a:p>
      </dgm:t>
    </dgm:pt>
    <dgm:pt modelId="{1B0B67D3-5A7B-48CF-91BA-11824A163310}">
      <dgm:prSet phldrT="[Text]" phldr="0"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Implementation of the algorithm</a:t>
          </a:r>
        </a:p>
      </dgm:t>
    </dgm:pt>
    <dgm:pt modelId="{B4F7A4CC-652A-48D1-AF6C-1904839B5F44}" type="parTrans" cxnId="{3482F764-BB86-45FD-B189-3D0EFAD2392F}">
      <dgm:prSet/>
      <dgm:spPr/>
      <dgm:t>
        <a:bodyPr/>
        <a:lstStyle/>
        <a:p>
          <a:endParaRPr lang="en-US"/>
        </a:p>
      </dgm:t>
    </dgm:pt>
    <dgm:pt modelId="{F5B51A0B-18E0-4DAF-B4FE-91369CCF5D44}" type="sibTrans" cxnId="{3482F764-BB86-45FD-B189-3D0EFAD2392F}">
      <dgm:prSet/>
      <dgm:spPr/>
      <dgm:t>
        <a:bodyPr/>
        <a:lstStyle/>
        <a:p>
          <a:endParaRPr lang="en-US"/>
        </a:p>
      </dgm:t>
    </dgm:pt>
    <dgm:pt modelId="{083B9C71-FA85-475F-A004-468DC08DA7EA}">
      <dgm:prSet phldrT="[Text]" phldr="0"/>
      <dgm:spPr/>
      <dgm:t>
        <a:bodyPr/>
        <a:lstStyle/>
        <a:p>
          <a:r>
            <a:rPr lang="en-US" dirty="0"/>
            <a:t>Data collection</a:t>
          </a:r>
        </a:p>
      </dgm:t>
    </dgm:pt>
    <dgm:pt modelId="{C9C968EB-2A03-4773-80F2-BC316D07E3F6}" type="parTrans" cxnId="{0AFACF86-5E96-4EEE-A24D-22257F83100E}">
      <dgm:prSet/>
      <dgm:spPr/>
      <dgm:t>
        <a:bodyPr/>
        <a:lstStyle/>
        <a:p>
          <a:endParaRPr lang="en-US"/>
        </a:p>
      </dgm:t>
    </dgm:pt>
    <dgm:pt modelId="{C8AD9291-C6AC-4933-AC52-180523AC0B9A}" type="sibTrans" cxnId="{0AFACF86-5E96-4EEE-A24D-22257F83100E}">
      <dgm:prSet/>
      <dgm:spPr/>
      <dgm:t>
        <a:bodyPr/>
        <a:lstStyle/>
        <a:p>
          <a:endParaRPr lang="en-US"/>
        </a:p>
      </dgm:t>
    </dgm:pt>
    <dgm:pt modelId="{1B45BEF7-9054-44B5-9EE1-360BC41C2CC2}">
      <dgm:prSet phldrT="[Text]" phldr="0"/>
      <dgm:spPr/>
      <dgm:t>
        <a:bodyPr/>
        <a:lstStyle/>
        <a:p>
          <a:r>
            <a:rPr lang="en-US" dirty="0"/>
            <a:t>Execution time </a:t>
          </a:r>
        </a:p>
      </dgm:t>
    </dgm:pt>
    <dgm:pt modelId="{4A572E8B-6DA6-4372-9E46-D2358B226C93}" type="parTrans" cxnId="{5AD0EB9C-ADCD-4C16-95AE-90F68B9C6262}">
      <dgm:prSet/>
      <dgm:spPr/>
      <dgm:t>
        <a:bodyPr/>
        <a:lstStyle/>
        <a:p>
          <a:endParaRPr lang="en-US"/>
        </a:p>
      </dgm:t>
    </dgm:pt>
    <dgm:pt modelId="{4B5B4209-8C32-4FA8-8491-532807FFFC7B}" type="sibTrans" cxnId="{5AD0EB9C-ADCD-4C16-95AE-90F68B9C6262}">
      <dgm:prSet/>
      <dgm:spPr/>
      <dgm:t>
        <a:bodyPr/>
        <a:lstStyle/>
        <a:p>
          <a:endParaRPr lang="en-US"/>
        </a:p>
      </dgm:t>
    </dgm:pt>
    <dgm:pt modelId="{6174A0C5-E740-4BFF-AB87-6AFEA71BD269}">
      <dgm:prSet phldrT="[Text]" phldr="0"/>
      <dgm:spPr/>
      <dgm:t>
        <a:bodyPr/>
        <a:lstStyle/>
        <a:p>
          <a:r>
            <a:rPr lang="en-US" dirty="0"/>
            <a:t>Visual analysis</a:t>
          </a:r>
        </a:p>
      </dgm:t>
    </dgm:pt>
    <dgm:pt modelId="{A59E934C-39B7-4A00-9AF0-52586EBBCBD8}" type="parTrans" cxnId="{88915522-294A-453E-9D1B-6B6EDDE89E1E}">
      <dgm:prSet/>
      <dgm:spPr/>
      <dgm:t>
        <a:bodyPr/>
        <a:lstStyle/>
        <a:p>
          <a:endParaRPr lang="en-US"/>
        </a:p>
      </dgm:t>
    </dgm:pt>
    <dgm:pt modelId="{9FA3CF63-89FD-4B44-9CDB-841CD58518CE}" type="sibTrans" cxnId="{88915522-294A-453E-9D1B-6B6EDDE89E1E}">
      <dgm:prSet/>
      <dgm:spPr/>
      <dgm:t>
        <a:bodyPr/>
        <a:lstStyle/>
        <a:p>
          <a:endParaRPr lang="en-US"/>
        </a:p>
      </dgm:t>
    </dgm:pt>
    <dgm:pt modelId="{0B984DCA-27D3-4D57-BABD-A34672D27DC9}">
      <dgm:prSet phldrT="[Text]" phldr="0"/>
      <dgm:spPr/>
      <dgm:t>
        <a:bodyPr/>
        <a:lstStyle/>
        <a:p>
          <a:r>
            <a:rPr lang="en-US" dirty="0"/>
            <a:t>X-axis is n </a:t>
          </a:r>
        </a:p>
      </dgm:t>
    </dgm:pt>
    <dgm:pt modelId="{CFEA2225-D144-493C-B0EF-27EE408AB769}" type="parTrans" cxnId="{46C6EBDD-62BB-4070-A5A1-8A07FB9B75E3}">
      <dgm:prSet/>
      <dgm:spPr/>
      <dgm:t>
        <a:bodyPr/>
        <a:lstStyle/>
        <a:p>
          <a:endParaRPr lang="en-US"/>
        </a:p>
      </dgm:t>
    </dgm:pt>
    <dgm:pt modelId="{3DE2616B-1214-4C40-A841-34191B6042C1}" type="sibTrans" cxnId="{46C6EBDD-62BB-4070-A5A1-8A07FB9B75E3}">
      <dgm:prSet/>
      <dgm:spPr/>
      <dgm:t>
        <a:bodyPr/>
        <a:lstStyle/>
        <a:p>
          <a:endParaRPr lang="en-US"/>
        </a:p>
      </dgm:t>
    </dgm:pt>
    <dgm:pt modelId="{4DB0389D-A93C-4ABF-8E45-A675EC970A5B}">
      <dgm:prSet phldrT="[Text]" phldr="0"/>
      <dgm:spPr/>
      <dgm:t>
        <a:bodyPr/>
        <a:lstStyle/>
        <a:p>
          <a:r>
            <a:rPr lang="en-US" dirty="0"/>
            <a:t>Operation count</a:t>
          </a:r>
        </a:p>
      </dgm:t>
    </dgm:pt>
    <dgm:pt modelId="{5AAEA861-8D79-4EF0-B854-5D5CBF78476C}" type="parTrans" cxnId="{C6CDE1CC-10BD-464B-9501-628F2C74D676}">
      <dgm:prSet/>
      <dgm:spPr/>
      <dgm:t>
        <a:bodyPr/>
        <a:lstStyle/>
        <a:p>
          <a:endParaRPr lang="en-US"/>
        </a:p>
      </dgm:t>
    </dgm:pt>
    <dgm:pt modelId="{DA8E041C-E168-419F-B74B-DC2039EBD6A9}" type="sibTrans" cxnId="{C6CDE1CC-10BD-464B-9501-628F2C74D676}">
      <dgm:prSet/>
      <dgm:spPr/>
      <dgm:t>
        <a:bodyPr/>
        <a:lstStyle/>
        <a:p>
          <a:endParaRPr lang="en-US"/>
        </a:p>
      </dgm:t>
    </dgm:pt>
    <dgm:pt modelId="{BC2D76B2-B1C3-4CEC-B724-BF02D1796681}">
      <dgm:prSet phldrT="[Text]" phldr="0"/>
      <dgm:spPr/>
      <dgm:t>
        <a:bodyPr/>
        <a:lstStyle/>
        <a:p>
          <a:r>
            <a:rPr lang="en-US" dirty="0"/>
            <a:t>Y-axis is time or count</a:t>
          </a:r>
        </a:p>
      </dgm:t>
    </dgm:pt>
    <dgm:pt modelId="{ED668BB3-1C8B-410B-94B0-8CC81CE5D3D9}" type="parTrans" cxnId="{13C64379-E1DA-46BF-8117-EE4562B53752}">
      <dgm:prSet/>
      <dgm:spPr/>
      <dgm:t>
        <a:bodyPr/>
        <a:lstStyle/>
        <a:p>
          <a:endParaRPr lang="en-US"/>
        </a:p>
      </dgm:t>
    </dgm:pt>
    <dgm:pt modelId="{F5521DAE-DE3D-4743-8215-571E92CE461A}" type="sibTrans" cxnId="{13C64379-E1DA-46BF-8117-EE4562B53752}">
      <dgm:prSet/>
      <dgm:spPr/>
      <dgm:t>
        <a:bodyPr/>
        <a:lstStyle/>
        <a:p>
          <a:endParaRPr lang="en-US"/>
        </a:p>
      </dgm:t>
    </dgm:pt>
    <dgm:pt modelId="{3D59D1FE-B624-42BB-B4BA-5BE56DF9D269}">
      <dgm:prSet/>
      <dgm:spPr/>
      <dgm:t>
        <a:bodyPr/>
        <a:lstStyle/>
        <a:p>
          <a:r>
            <a:rPr lang="en-US" dirty="0"/>
            <a:t>comparison</a:t>
          </a:r>
        </a:p>
      </dgm:t>
    </dgm:pt>
    <dgm:pt modelId="{1201D9E3-5B04-435C-B23D-8AF9293F5CA1}" type="parTrans" cxnId="{33ABDDF5-480A-41EF-B3C8-3AEFDA5A7484}">
      <dgm:prSet/>
      <dgm:spPr/>
      <dgm:t>
        <a:bodyPr/>
        <a:lstStyle/>
        <a:p>
          <a:endParaRPr lang="en-US"/>
        </a:p>
      </dgm:t>
    </dgm:pt>
    <dgm:pt modelId="{4EA4251D-0E6D-467E-939C-BA40AA57C9B6}" type="sibTrans" cxnId="{33ABDDF5-480A-41EF-B3C8-3AEFDA5A7484}">
      <dgm:prSet/>
      <dgm:spPr/>
      <dgm:t>
        <a:bodyPr/>
        <a:lstStyle/>
        <a:p>
          <a:endParaRPr lang="en-US"/>
        </a:p>
      </dgm:t>
    </dgm:pt>
    <dgm:pt modelId="{05A70F58-3078-4BF3-94D8-630C0037757B}">
      <dgm:prSet/>
      <dgm:spPr/>
      <dgm:t>
        <a:bodyPr/>
        <a:lstStyle/>
        <a:p>
          <a:r>
            <a:rPr lang="en-US" dirty="0"/>
            <a:t>Compare with mathematical analysis if available</a:t>
          </a:r>
        </a:p>
      </dgm:t>
    </dgm:pt>
    <dgm:pt modelId="{7701FE17-CF5B-42EF-A0D1-13B874FF0D3A}" type="parTrans" cxnId="{BA35B292-D919-4162-A8C2-4759AEFB8950}">
      <dgm:prSet/>
      <dgm:spPr/>
      <dgm:t>
        <a:bodyPr/>
        <a:lstStyle/>
        <a:p>
          <a:endParaRPr lang="en-US"/>
        </a:p>
      </dgm:t>
    </dgm:pt>
    <dgm:pt modelId="{05C5DB49-3005-4242-B5F9-79977741F960}" type="sibTrans" cxnId="{BA35B292-D919-4162-A8C2-4759AEFB8950}">
      <dgm:prSet/>
      <dgm:spPr/>
      <dgm:t>
        <a:bodyPr/>
        <a:lstStyle/>
        <a:p>
          <a:endParaRPr lang="en-US"/>
        </a:p>
      </dgm:t>
    </dgm:pt>
    <dgm:pt modelId="{C6258664-FFFB-4A56-A63F-CB9EAEF7576F}">
      <dgm:prSet phldrT="[Text]" phldr="0"/>
      <dgm:spPr/>
      <dgm:t>
        <a:bodyPr/>
        <a:lstStyle/>
        <a:p>
          <a:r>
            <a:rPr lang="en-US" dirty="0"/>
            <a:t>Set parameters</a:t>
          </a:r>
        </a:p>
      </dgm:t>
    </dgm:pt>
    <dgm:pt modelId="{668D7D5E-9300-4092-A2A6-DA40C30833E5}" type="parTrans" cxnId="{C56F473B-3922-4127-8CED-C60ADED216C5}">
      <dgm:prSet/>
      <dgm:spPr/>
      <dgm:t>
        <a:bodyPr/>
        <a:lstStyle/>
        <a:p>
          <a:endParaRPr lang="en-US"/>
        </a:p>
      </dgm:t>
    </dgm:pt>
    <dgm:pt modelId="{642D62F0-BD54-4289-8CE2-B3EDC68D2059}" type="sibTrans" cxnId="{C56F473B-3922-4127-8CED-C60ADED216C5}">
      <dgm:prSet/>
      <dgm:spPr/>
      <dgm:t>
        <a:bodyPr/>
        <a:lstStyle/>
        <a:p>
          <a:endParaRPr lang="en-US"/>
        </a:p>
      </dgm:t>
    </dgm:pt>
    <dgm:pt modelId="{D79A4CA5-9E8E-497B-A5B2-12B81164699A}" type="pres">
      <dgm:prSet presAssocID="{1E5D2B10-96CB-4036-9718-DA4670CDEF4F}" presName="Name0" presStyleCnt="0">
        <dgm:presLayoutVars>
          <dgm:dir/>
          <dgm:animLvl val="lvl"/>
          <dgm:resizeHandles val="exact"/>
        </dgm:presLayoutVars>
      </dgm:prSet>
      <dgm:spPr/>
    </dgm:pt>
    <dgm:pt modelId="{2889C5AD-1AF0-407B-9093-ABF46B60A038}" type="pres">
      <dgm:prSet presAssocID="{5D679500-D701-4C4D-AC20-8443C0E8FB89}" presName="composite" presStyleCnt="0"/>
      <dgm:spPr/>
    </dgm:pt>
    <dgm:pt modelId="{CD65187C-178B-4E06-8182-2B7C7A437A0A}" type="pres">
      <dgm:prSet presAssocID="{5D679500-D701-4C4D-AC20-8443C0E8FB89}" presName="par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F6A2678B-5D0C-47A4-9913-2F0D9E7B8837}" type="pres">
      <dgm:prSet presAssocID="{5D679500-D701-4C4D-AC20-8443C0E8FB89}" presName="desTx" presStyleLbl="revTx" presStyleIdx="0" presStyleCnt="4">
        <dgm:presLayoutVars>
          <dgm:bulletEnabled val="1"/>
        </dgm:presLayoutVars>
      </dgm:prSet>
      <dgm:spPr/>
    </dgm:pt>
    <dgm:pt modelId="{7E2F9743-B306-46A8-858C-5693650A7199}" type="pres">
      <dgm:prSet presAssocID="{59C7086D-200F-4AC0-95B1-109F7D4928DC}" presName="space" presStyleCnt="0"/>
      <dgm:spPr/>
    </dgm:pt>
    <dgm:pt modelId="{7F573949-D1A6-4197-BBAA-5F5A1D88A6B3}" type="pres">
      <dgm:prSet presAssocID="{083B9C71-FA85-475F-A004-468DC08DA7EA}" presName="composite" presStyleCnt="0"/>
      <dgm:spPr/>
    </dgm:pt>
    <dgm:pt modelId="{7A474487-106E-45FC-9B06-FE1654C10346}" type="pres">
      <dgm:prSet presAssocID="{083B9C71-FA85-475F-A004-468DC08DA7EA}" presName="par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821E9DC2-DB43-4348-BD70-1BF7213A8CD6}" type="pres">
      <dgm:prSet presAssocID="{083B9C71-FA85-475F-A004-468DC08DA7EA}" presName="desTx" presStyleLbl="revTx" presStyleIdx="1" presStyleCnt="4">
        <dgm:presLayoutVars>
          <dgm:bulletEnabled val="1"/>
        </dgm:presLayoutVars>
      </dgm:prSet>
      <dgm:spPr/>
    </dgm:pt>
    <dgm:pt modelId="{DD4D661F-17A8-4106-AE77-00B47224F70B}" type="pres">
      <dgm:prSet presAssocID="{C8AD9291-C6AC-4933-AC52-180523AC0B9A}" presName="space" presStyleCnt="0"/>
      <dgm:spPr/>
    </dgm:pt>
    <dgm:pt modelId="{EF214038-19BA-4C64-A4F4-99597E4D4EB7}" type="pres">
      <dgm:prSet presAssocID="{6174A0C5-E740-4BFF-AB87-6AFEA71BD269}" presName="composite" presStyleCnt="0"/>
      <dgm:spPr/>
    </dgm:pt>
    <dgm:pt modelId="{97A60FAE-4327-45EC-977A-ADF3D2D47293}" type="pres">
      <dgm:prSet presAssocID="{6174A0C5-E740-4BFF-AB87-6AFEA71BD269}" presName="par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6D06DAEE-9FEE-4F57-89F0-BBEB832E0584}" type="pres">
      <dgm:prSet presAssocID="{6174A0C5-E740-4BFF-AB87-6AFEA71BD269}" presName="desTx" presStyleLbl="revTx" presStyleIdx="2" presStyleCnt="4">
        <dgm:presLayoutVars>
          <dgm:bulletEnabled val="1"/>
        </dgm:presLayoutVars>
      </dgm:prSet>
      <dgm:spPr/>
    </dgm:pt>
    <dgm:pt modelId="{A797F7C6-F025-49D8-8BA7-7602B6C54967}" type="pres">
      <dgm:prSet presAssocID="{9FA3CF63-89FD-4B44-9CDB-841CD58518CE}" presName="space" presStyleCnt="0"/>
      <dgm:spPr/>
    </dgm:pt>
    <dgm:pt modelId="{57C9174D-EB5F-4D61-B5C2-2065B30A9469}" type="pres">
      <dgm:prSet presAssocID="{3D59D1FE-B624-42BB-B4BA-5BE56DF9D269}" presName="composite" presStyleCnt="0"/>
      <dgm:spPr/>
    </dgm:pt>
    <dgm:pt modelId="{DD65EF06-ED3B-4ED0-99E5-BA9DDB7D278F}" type="pres">
      <dgm:prSet presAssocID="{3D59D1FE-B624-42BB-B4BA-5BE56DF9D269}" presName="parTx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A806EC64-786C-4D9E-8756-27C834CB6456}" type="pres">
      <dgm:prSet presAssocID="{3D59D1FE-B624-42BB-B4BA-5BE56DF9D269}" presName="desTx" presStyleLbl="revTx" presStyleIdx="3" presStyleCnt="4">
        <dgm:presLayoutVars>
          <dgm:bulletEnabled val="1"/>
        </dgm:presLayoutVars>
      </dgm:prSet>
      <dgm:spPr/>
    </dgm:pt>
  </dgm:ptLst>
  <dgm:cxnLst>
    <dgm:cxn modelId="{C214A606-F7D8-481F-80D9-4E6E2B1CF966}" srcId="{1E5D2B10-96CB-4036-9718-DA4670CDEF4F}" destId="{5D679500-D701-4C4D-AC20-8443C0E8FB89}" srcOrd="0" destOrd="0" parTransId="{344E5C82-829C-49B2-B0DF-F25DD39D3DAD}" sibTransId="{59C7086D-200F-4AC0-95B1-109F7D4928DC}"/>
    <dgm:cxn modelId="{88915522-294A-453E-9D1B-6B6EDDE89E1E}" srcId="{1E5D2B10-96CB-4036-9718-DA4670CDEF4F}" destId="{6174A0C5-E740-4BFF-AB87-6AFEA71BD269}" srcOrd="2" destOrd="0" parTransId="{A59E934C-39B7-4A00-9AF0-52586EBBCBD8}" sibTransId="{9FA3CF63-89FD-4B44-9CDB-841CD58518CE}"/>
    <dgm:cxn modelId="{C56F473B-3922-4127-8CED-C60ADED216C5}" srcId="{5D679500-D701-4C4D-AC20-8443C0E8FB89}" destId="{C6258664-FFFB-4A56-A63F-CB9EAEF7576F}" srcOrd="1" destOrd="0" parTransId="{668D7D5E-9300-4092-A2A6-DA40C30833E5}" sibTransId="{642D62F0-BD54-4289-8CE2-B3EDC68D2059}"/>
    <dgm:cxn modelId="{A5C8AB40-CFF5-4386-94A6-B554F829E58B}" type="presOf" srcId="{3D59D1FE-B624-42BB-B4BA-5BE56DF9D269}" destId="{DD65EF06-ED3B-4ED0-99E5-BA9DDB7D278F}" srcOrd="0" destOrd="0" presId="urn:microsoft.com/office/officeart/2005/8/layout/chevron1"/>
    <dgm:cxn modelId="{3482F764-BB86-45FD-B189-3D0EFAD2392F}" srcId="{5D679500-D701-4C4D-AC20-8443C0E8FB89}" destId="{1B0B67D3-5A7B-48CF-91BA-11824A163310}" srcOrd="0" destOrd="0" parTransId="{B4F7A4CC-652A-48D1-AF6C-1904839B5F44}" sibTransId="{F5B51A0B-18E0-4DAF-B4FE-91369CCF5D44}"/>
    <dgm:cxn modelId="{D1017D47-F1C3-4CE3-B57C-EF5F372B80C4}" type="presOf" srcId="{1B45BEF7-9054-44B5-9EE1-360BC41C2CC2}" destId="{821E9DC2-DB43-4348-BD70-1BF7213A8CD6}" srcOrd="0" destOrd="0" presId="urn:microsoft.com/office/officeart/2005/8/layout/chevron1"/>
    <dgm:cxn modelId="{B312DD75-4BFF-4B87-A27E-0215CD2611D3}" type="presOf" srcId="{05A70F58-3078-4BF3-94D8-630C0037757B}" destId="{A806EC64-786C-4D9E-8756-27C834CB6456}" srcOrd="0" destOrd="0" presId="urn:microsoft.com/office/officeart/2005/8/layout/chevron1"/>
    <dgm:cxn modelId="{13C64379-E1DA-46BF-8117-EE4562B53752}" srcId="{6174A0C5-E740-4BFF-AB87-6AFEA71BD269}" destId="{BC2D76B2-B1C3-4CEC-B724-BF02D1796681}" srcOrd="1" destOrd="0" parTransId="{ED668BB3-1C8B-410B-94B0-8CC81CE5D3D9}" sibTransId="{F5521DAE-DE3D-4743-8215-571E92CE461A}"/>
    <dgm:cxn modelId="{51BCA883-423F-4C59-BE37-DC2920C93CC0}" type="presOf" srcId="{1E5D2B10-96CB-4036-9718-DA4670CDEF4F}" destId="{D79A4CA5-9E8E-497B-A5B2-12B81164699A}" srcOrd="0" destOrd="0" presId="urn:microsoft.com/office/officeart/2005/8/layout/chevron1"/>
    <dgm:cxn modelId="{8FF47684-CD1F-44C8-8360-4A8EA9FCE695}" type="presOf" srcId="{6174A0C5-E740-4BFF-AB87-6AFEA71BD269}" destId="{97A60FAE-4327-45EC-977A-ADF3D2D47293}" srcOrd="0" destOrd="0" presId="urn:microsoft.com/office/officeart/2005/8/layout/chevron1"/>
    <dgm:cxn modelId="{0AFACF86-5E96-4EEE-A24D-22257F83100E}" srcId="{1E5D2B10-96CB-4036-9718-DA4670CDEF4F}" destId="{083B9C71-FA85-475F-A004-468DC08DA7EA}" srcOrd="1" destOrd="0" parTransId="{C9C968EB-2A03-4773-80F2-BC316D07E3F6}" sibTransId="{C8AD9291-C6AC-4933-AC52-180523AC0B9A}"/>
    <dgm:cxn modelId="{3EBA788C-BFB1-45BA-B949-A89D29471669}" type="presOf" srcId="{0B984DCA-27D3-4D57-BABD-A34672D27DC9}" destId="{6D06DAEE-9FEE-4F57-89F0-BBEB832E0584}" srcOrd="0" destOrd="0" presId="urn:microsoft.com/office/officeart/2005/8/layout/chevron1"/>
    <dgm:cxn modelId="{2ED4C38F-830B-4EA4-ADFB-11E9F3E4DCD8}" type="presOf" srcId="{C6258664-FFFB-4A56-A63F-CB9EAEF7576F}" destId="{F6A2678B-5D0C-47A4-9913-2F0D9E7B8837}" srcOrd="0" destOrd="1" presId="urn:microsoft.com/office/officeart/2005/8/layout/chevron1"/>
    <dgm:cxn modelId="{BA35B292-D919-4162-A8C2-4759AEFB8950}" srcId="{3D59D1FE-B624-42BB-B4BA-5BE56DF9D269}" destId="{05A70F58-3078-4BF3-94D8-630C0037757B}" srcOrd="0" destOrd="0" parTransId="{7701FE17-CF5B-42EF-A0D1-13B874FF0D3A}" sibTransId="{05C5DB49-3005-4242-B5F9-79977741F960}"/>
    <dgm:cxn modelId="{3896659B-696A-4F00-A490-C47FFAF25E7B}" type="presOf" srcId="{1B0B67D3-5A7B-48CF-91BA-11824A163310}" destId="{F6A2678B-5D0C-47A4-9913-2F0D9E7B8837}" srcOrd="0" destOrd="0" presId="urn:microsoft.com/office/officeart/2005/8/layout/chevron1"/>
    <dgm:cxn modelId="{5AD0EB9C-ADCD-4C16-95AE-90F68B9C6262}" srcId="{083B9C71-FA85-475F-A004-468DC08DA7EA}" destId="{1B45BEF7-9054-44B5-9EE1-360BC41C2CC2}" srcOrd="0" destOrd="0" parTransId="{4A572E8B-6DA6-4372-9E46-D2358B226C93}" sibTransId="{4B5B4209-8C32-4FA8-8491-532807FFFC7B}"/>
    <dgm:cxn modelId="{86C39BB1-33A6-4FFC-873D-E539AB19B869}" type="presOf" srcId="{4DB0389D-A93C-4ABF-8E45-A675EC970A5B}" destId="{821E9DC2-DB43-4348-BD70-1BF7213A8CD6}" srcOrd="0" destOrd="1" presId="urn:microsoft.com/office/officeart/2005/8/layout/chevron1"/>
    <dgm:cxn modelId="{C6CDE1CC-10BD-464B-9501-628F2C74D676}" srcId="{083B9C71-FA85-475F-A004-468DC08DA7EA}" destId="{4DB0389D-A93C-4ABF-8E45-A675EC970A5B}" srcOrd="1" destOrd="0" parTransId="{5AAEA861-8D79-4EF0-B854-5D5CBF78476C}" sibTransId="{DA8E041C-E168-419F-B74B-DC2039EBD6A9}"/>
    <dgm:cxn modelId="{B0140BD4-A91C-4588-AC43-4BCE515A4139}" type="presOf" srcId="{083B9C71-FA85-475F-A004-468DC08DA7EA}" destId="{7A474487-106E-45FC-9B06-FE1654C10346}" srcOrd="0" destOrd="0" presId="urn:microsoft.com/office/officeart/2005/8/layout/chevron1"/>
    <dgm:cxn modelId="{46C6EBDD-62BB-4070-A5A1-8A07FB9B75E3}" srcId="{6174A0C5-E740-4BFF-AB87-6AFEA71BD269}" destId="{0B984DCA-27D3-4D57-BABD-A34672D27DC9}" srcOrd="0" destOrd="0" parTransId="{CFEA2225-D144-493C-B0EF-27EE408AB769}" sibTransId="{3DE2616B-1214-4C40-A841-34191B6042C1}"/>
    <dgm:cxn modelId="{CB6F1DE1-D923-4943-B1B9-69F1C4EEBF37}" type="presOf" srcId="{BC2D76B2-B1C3-4CEC-B724-BF02D1796681}" destId="{6D06DAEE-9FEE-4F57-89F0-BBEB832E0584}" srcOrd="0" destOrd="1" presId="urn:microsoft.com/office/officeart/2005/8/layout/chevron1"/>
    <dgm:cxn modelId="{33ABDDF5-480A-41EF-B3C8-3AEFDA5A7484}" srcId="{1E5D2B10-96CB-4036-9718-DA4670CDEF4F}" destId="{3D59D1FE-B624-42BB-B4BA-5BE56DF9D269}" srcOrd="3" destOrd="0" parTransId="{1201D9E3-5B04-435C-B23D-8AF9293F5CA1}" sibTransId="{4EA4251D-0E6D-467E-939C-BA40AA57C9B6}"/>
    <dgm:cxn modelId="{808DE2FA-BF77-4AEC-9577-3AD13A7E009B}" type="presOf" srcId="{5D679500-D701-4C4D-AC20-8443C0E8FB89}" destId="{CD65187C-178B-4E06-8182-2B7C7A437A0A}" srcOrd="0" destOrd="0" presId="urn:microsoft.com/office/officeart/2005/8/layout/chevron1"/>
    <dgm:cxn modelId="{97045698-1C83-45E1-8E1A-9AF16A061FF7}" type="presParOf" srcId="{D79A4CA5-9E8E-497B-A5B2-12B81164699A}" destId="{2889C5AD-1AF0-407B-9093-ABF46B60A038}" srcOrd="0" destOrd="0" presId="urn:microsoft.com/office/officeart/2005/8/layout/chevron1"/>
    <dgm:cxn modelId="{54D88090-0593-4AA3-A8AC-9C01E10B260C}" type="presParOf" srcId="{2889C5AD-1AF0-407B-9093-ABF46B60A038}" destId="{CD65187C-178B-4E06-8182-2B7C7A437A0A}" srcOrd="0" destOrd="0" presId="urn:microsoft.com/office/officeart/2005/8/layout/chevron1"/>
    <dgm:cxn modelId="{59A343A2-ED20-409D-98B6-8825A051CE03}" type="presParOf" srcId="{2889C5AD-1AF0-407B-9093-ABF46B60A038}" destId="{F6A2678B-5D0C-47A4-9913-2F0D9E7B8837}" srcOrd="1" destOrd="0" presId="urn:microsoft.com/office/officeart/2005/8/layout/chevron1"/>
    <dgm:cxn modelId="{2D3CC4ED-62E2-4CD0-B6DC-5F3F4DDB51CC}" type="presParOf" srcId="{D79A4CA5-9E8E-497B-A5B2-12B81164699A}" destId="{7E2F9743-B306-46A8-858C-5693650A7199}" srcOrd="1" destOrd="0" presId="urn:microsoft.com/office/officeart/2005/8/layout/chevron1"/>
    <dgm:cxn modelId="{045F520C-CE5C-46E3-AFAB-09B29FDDB501}" type="presParOf" srcId="{D79A4CA5-9E8E-497B-A5B2-12B81164699A}" destId="{7F573949-D1A6-4197-BBAA-5F5A1D88A6B3}" srcOrd="2" destOrd="0" presId="urn:microsoft.com/office/officeart/2005/8/layout/chevron1"/>
    <dgm:cxn modelId="{6E5BD024-9AC2-4D5D-A8CC-3986D428AD87}" type="presParOf" srcId="{7F573949-D1A6-4197-BBAA-5F5A1D88A6B3}" destId="{7A474487-106E-45FC-9B06-FE1654C10346}" srcOrd="0" destOrd="0" presId="urn:microsoft.com/office/officeart/2005/8/layout/chevron1"/>
    <dgm:cxn modelId="{AC4518B6-E572-4B5E-A106-943D2F6339B1}" type="presParOf" srcId="{7F573949-D1A6-4197-BBAA-5F5A1D88A6B3}" destId="{821E9DC2-DB43-4348-BD70-1BF7213A8CD6}" srcOrd="1" destOrd="0" presId="urn:microsoft.com/office/officeart/2005/8/layout/chevron1"/>
    <dgm:cxn modelId="{C6490B9A-0CE2-4980-80F9-AC174A4E45D0}" type="presParOf" srcId="{D79A4CA5-9E8E-497B-A5B2-12B81164699A}" destId="{DD4D661F-17A8-4106-AE77-00B47224F70B}" srcOrd="3" destOrd="0" presId="urn:microsoft.com/office/officeart/2005/8/layout/chevron1"/>
    <dgm:cxn modelId="{624B766D-29F7-4CB4-991F-375802AC2199}" type="presParOf" srcId="{D79A4CA5-9E8E-497B-A5B2-12B81164699A}" destId="{EF214038-19BA-4C64-A4F4-99597E4D4EB7}" srcOrd="4" destOrd="0" presId="urn:microsoft.com/office/officeart/2005/8/layout/chevron1"/>
    <dgm:cxn modelId="{42D07400-A7A5-49F3-A37A-4384CEAB3D15}" type="presParOf" srcId="{EF214038-19BA-4C64-A4F4-99597E4D4EB7}" destId="{97A60FAE-4327-45EC-977A-ADF3D2D47293}" srcOrd="0" destOrd="0" presId="urn:microsoft.com/office/officeart/2005/8/layout/chevron1"/>
    <dgm:cxn modelId="{04538AA2-1C52-4374-9EFC-EA7DD7A12C8E}" type="presParOf" srcId="{EF214038-19BA-4C64-A4F4-99597E4D4EB7}" destId="{6D06DAEE-9FEE-4F57-89F0-BBEB832E0584}" srcOrd="1" destOrd="0" presId="urn:microsoft.com/office/officeart/2005/8/layout/chevron1"/>
    <dgm:cxn modelId="{56089DCA-CAAA-454D-867B-E18CD4CE90E2}" type="presParOf" srcId="{D79A4CA5-9E8E-497B-A5B2-12B81164699A}" destId="{A797F7C6-F025-49D8-8BA7-7602B6C54967}" srcOrd="5" destOrd="0" presId="urn:microsoft.com/office/officeart/2005/8/layout/chevron1"/>
    <dgm:cxn modelId="{1729851D-76A6-4603-863F-F9A54C27A6F6}" type="presParOf" srcId="{D79A4CA5-9E8E-497B-A5B2-12B81164699A}" destId="{57C9174D-EB5F-4D61-B5C2-2065B30A9469}" srcOrd="6" destOrd="0" presId="urn:microsoft.com/office/officeart/2005/8/layout/chevron1"/>
    <dgm:cxn modelId="{85A356DB-1A48-4492-AC42-FA596A5A6BF9}" type="presParOf" srcId="{57C9174D-EB5F-4D61-B5C2-2065B30A9469}" destId="{DD65EF06-ED3B-4ED0-99E5-BA9DDB7D278F}" srcOrd="0" destOrd="0" presId="urn:microsoft.com/office/officeart/2005/8/layout/chevron1"/>
    <dgm:cxn modelId="{F8B8A280-391D-4C3E-B94E-53FB65346107}" type="presParOf" srcId="{57C9174D-EB5F-4D61-B5C2-2065B30A9469}" destId="{A806EC64-786C-4D9E-8756-27C834CB6456}" srcOrd="1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65187C-178B-4E06-8182-2B7C7A437A0A}">
      <dsp:nvSpPr>
        <dsp:cNvPr id="0" name=""/>
        <dsp:cNvSpPr/>
      </dsp:nvSpPr>
      <dsp:spPr>
        <a:xfrm>
          <a:off x="4929" y="532421"/>
          <a:ext cx="2882267" cy="1152906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Setup</a:t>
          </a:r>
        </a:p>
      </dsp:txBody>
      <dsp:txXfrm>
        <a:off x="581382" y="532421"/>
        <a:ext cx="1729361" cy="1152906"/>
      </dsp:txXfrm>
    </dsp:sp>
    <dsp:sp modelId="{F6A2678B-5D0C-47A4-9913-2F0D9E7B8837}">
      <dsp:nvSpPr>
        <dsp:cNvPr id="0" name=""/>
        <dsp:cNvSpPr/>
      </dsp:nvSpPr>
      <dsp:spPr>
        <a:xfrm>
          <a:off x="4929" y="1829441"/>
          <a:ext cx="2305813" cy="1377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400" kern="1200" dirty="0"/>
            <a:t>Implementation of the algorithm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Set parameters</a:t>
          </a:r>
        </a:p>
      </dsp:txBody>
      <dsp:txXfrm>
        <a:off x="4929" y="1829441"/>
        <a:ext cx="2305813" cy="1377000"/>
      </dsp:txXfrm>
    </dsp:sp>
    <dsp:sp modelId="{7A474487-106E-45FC-9B06-FE1654C10346}">
      <dsp:nvSpPr>
        <dsp:cNvPr id="0" name=""/>
        <dsp:cNvSpPr/>
      </dsp:nvSpPr>
      <dsp:spPr>
        <a:xfrm>
          <a:off x="2671197" y="532421"/>
          <a:ext cx="2882267" cy="1152906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Data collection</a:t>
          </a:r>
        </a:p>
      </dsp:txBody>
      <dsp:txXfrm>
        <a:off x="3247650" y="532421"/>
        <a:ext cx="1729361" cy="1152906"/>
      </dsp:txXfrm>
    </dsp:sp>
    <dsp:sp modelId="{821E9DC2-DB43-4348-BD70-1BF7213A8CD6}">
      <dsp:nvSpPr>
        <dsp:cNvPr id="0" name=""/>
        <dsp:cNvSpPr/>
      </dsp:nvSpPr>
      <dsp:spPr>
        <a:xfrm>
          <a:off x="2671197" y="1829441"/>
          <a:ext cx="2305813" cy="1377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Execution time 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Operation count</a:t>
          </a:r>
        </a:p>
      </dsp:txBody>
      <dsp:txXfrm>
        <a:off x="2671197" y="1829441"/>
        <a:ext cx="2305813" cy="1377000"/>
      </dsp:txXfrm>
    </dsp:sp>
    <dsp:sp modelId="{97A60FAE-4327-45EC-977A-ADF3D2D47293}">
      <dsp:nvSpPr>
        <dsp:cNvPr id="0" name=""/>
        <dsp:cNvSpPr/>
      </dsp:nvSpPr>
      <dsp:spPr>
        <a:xfrm>
          <a:off x="5337464" y="532421"/>
          <a:ext cx="2882267" cy="1152906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Visual analysis</a:t>
          </a:r>
        </a:p>
      </dsp:txBody>
      <dsp:txXfrm>
        <a:off x="5913917" y="532421"/>
        <a:ext cx="1729361" cy="1152906"/>
      </dsp:txXfrm>
    </dsp:sp>
    <dsp:sp modelId="{6D06DAEE-9FEE-4F57-89F0-BBEB832E0584}">
      <dsp:nvSpPr>
        <dsp:cNvPr id="0" name=""/>
        <dsp:cNvSpPr/>
      </dsp:nvSpPr>
      <dsp:spPr>
        <a:xfrm>
          <a:off x="5337464" y="1829441"/>
          <a:ext cx="2305813" cy="1377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X-axis is n 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Y-axis is time or count</a:t>
          </a:r>
        </a:p>
      </dsp:txBody>
      <dsp:txXfrm>
        <a:off x="5337464" y="1829441"/>
        <a:ext cx="2305813" cy="1377000"/>
      </dsp:txXfrm>
    </dsp:sp>
    <dsp:sp modelId="{DD65EF06-ED3B-4ED0-99E5-BA9DDB7D278F}">
      <dsp:nvSpPr>
        <dsp:cNvPr id="0" name=""/>
        <dsp:cNvSpPr/>
      </dsp:nvSpPr>
      <dsp:spPr>
        <a:xfrm>
          <a:off x="8003731" y="532421"/>
          <a:ext cx="2882267" cy="1152906"/>
        </a:xfrm>
        <a:prstGeom prst="chevron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32004" rIns="32004" bIns="32004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comparison</a:t>
          </a:r>
        </a:p>
      </dsp:txBody>
      <dsp:txXfrm>
        <a:off x="8580184" y="532421"/>
        <a:ext cx="1729361" cy="1152906"/>
      </dsp:txXfrm>
    </dsp:sp>
    <dsp:sp modelId="{A806EC64-786C-4D9E-8756-27C834CB6456}">
      <dsp:nvSpPr>
        <dsp:cNvPr id="0" name=""/>
        <dsp:cNvSpPr/>
      </dsp:nvSpPr>
      <dsp:spPr>
        <a:xfrm>
          <a:off x="8003731" y="1829441"/>
          <a:ext cx="2305813" cy="1377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Compare with mathematical analysis if available</a:t>
          </a:r>
        </a:p>
      </dsp:txBody>
      <dsp:txXfrm>
        <a:off x="8003731" y="1829441"/>
        <a:ext cx="2305813" cy="1377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463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633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7403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57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2/18/2026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414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2/18/2026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808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2/18/2026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344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499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2/18/2026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374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63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6789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2/18/2026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4423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04" r:id="rId6"/>
    <p:sldLayoutId id="2147483700" r:id="rId7"/>
    <p:sldLayoutId id="2147483701" r:id="rId8"/>
    <p:sldLayoutId id="2147483702" r:id="rId9"/>
    <p:sldLayoutId id="2147483703" r:id="rId10"/>
    <p:sldLayoutId id="2147483705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FD1D2CD-954D-4C4D-B505-05EAD159B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EAE456-DA79-9895-19B2-CBCA5A8A71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600"/>
            <a:ext cx="4670661" cy="3030842"/>
          </a:xfrm>
        </p:spPr>
        <p:txBody>
          <a:bodyPr>
            <a:noAutofit/>
          </a:bodyPr>
          <a:lstStyle/>
          <a:p>
            <a:r>
              <a:rPr lang="en-US" sz="3600" dirty="0"/>
              <a:t>Computing Algorithms</a:t>
            </a:r>
            <a:br>
              <a:rPr lang="en-US" sz="3600" dirty="0"/>
            </a:br>
            <a:r>
              <a:rPr lang="en-US" sz="3600" dirty="0"/>
              <a:t>Lecture 3:</a:t>
            </a:r>
            <a:br>
              <a:rPr lang="en-US" sz="3600" dirty="0"/>
            </a:br>
            <a:r>
              <a:rPr lang="en-US" sz="3600" dirty="0"/>
              <a:t>Fundamentals of the Analysis of Algorithm Efficiency part 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383053-DBC8-A47D-72F0-B866CFBE53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4670660" cy="1287887"/>
          </a:xfrm>
        </p:spPr>
        <p:txBody>
          <a:bodyPr>
            <a:normAutofit/>
          </a:bodyPr>
          <a:lstStyle/>
          <a:p>
            <a:r>
              <a:rPr lang="en-US" dirty="0"/>
              <a:t>By: Dr. Mohamed Moheeb 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132AEA7-A24A-45A9-BF8F-D0AFF34DF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805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594A22F1-6EB7-DAD1-49EB-4009799932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422" r="27944" b="-1"/>
          <a:stretch>
            <a:fillRect/>
          </a:stretch>
        </p:blipFill>
        <p:spPr>
          <a:xfrm>
            <a:off x="6515100" y="10"/>
            <a:ext cx="567690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403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F88632-A97F-2592-E5E1-57A965B04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1E22B-CE58-F133-934B-D7163601B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Mathematical Analysis of Non-recursive Algorithms</a:t>
            </a:r>
          </a:p>
          <a:p>
            <a:r>
              <a:rPr lang="en-US" sz="2400" dirty="0"/>
              <a:t>Mathematical Analysis of Recursive Algorithm</a:t>
            </a:r>
          </a:p>
          <a:p>
            <a:r>
              <a:rPr lang="en-US" sz="2400" dirty="0"/>
              <a:t>Empirical Analysis of Algorithms</a:t>
            </a:r>
          </a:p>
        </p:txBody>
      </p:sp>
    </p:spTree>
    <p:extLst>
      <p:ext uri="{BB962C8B-B14F-4D97-AF65-F5344CB8AC3E}">
        <p14:creationId xmlns:p14="http://schemas.microsoft.com/office/powerpoint/2010/main" val="192019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CFD1D2CD-954D-4C4D-B505-05EAD159B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D429E3-8814-9358-053E-1C57F72F0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117" y="952500"/>
            <a:ext cx="4555188" cy="352425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6000" dirty="0"/>
              <a:t>Mathematical Analysis of Non-recursive Algorithms</a:t>
            </a:r>
            <a:br>
              <a:rPr lang="en-US" sz="6000" dirty="0"/>
            </a:br>
            <a:br>
              <a:rPr lang="en-US" sz="5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58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2D508B3-A66C-833E-D929-8DC211635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2088" y="4882722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 descr="Pipette adding DNA sample to a petri dish">
            <a:extLst>
              <a:ext uri="{FF2B5EF4-FFF2-40B4-BE49-F238E27FC236}">
                <a16:creationId xmlns:a16="http://schemas.microsoft.com/office/drawing/2014/main" id="{55785B06-4CCA-7B40-0C2B-5666DD8708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6" r="23646"/>
          <a:stretch>
            <a:fillRect/>
          </a:stretch>
        </p:blipFill>
        <p:spPr>
          <a:xfrm>
            <a:off x="5261956" y="10"/>
            <a:ext cx="693004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075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4A46ABC-AA0A-12D9-E473-0E970B45E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Mathematical Analysis of Non-recursive Algorithms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BF80FE13-8A80-80B1-DB74-8E9DB9552A9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660992" y="2633472"/>
            <a:ext cx="5359726" cy="356616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F5C4BF89-88ED-88B2-73DB-D3E77F9D3887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/>
              <a:lstStyle/>
              <a:p>
                <a:r>
                  <a:rPr lang="en-US" dirty="0"/>
                  <a:t>T(n)=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  <m:e>
                        <m:nary>
                          <m:naryPr>
                            <m:chr m:val="∑"/>
                            <m:limLoc m:val="undOvr"/>
                            <m:grow m:val="on"/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nary>
                      </m:e>
                    </m:nary>
                  </m:oMath>
                </a14:m>
                <a:r>
                  <a:rPr lang="en-US" dirty="0"/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grow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1 </m:t>
                        </m:r>
                      </m:e>
                    </m:nary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= (First +Last)size /2 </a:t>
                </a:r>
              </a:p>
              <a:p>
                <a:pPr marL="0" indent="0">
                  <a:buNone/>
                </a:pPr>
                <a:r>
                  <a:rPr lang="en-US" dirty="0"/>
                  <a:t>= (n+1)(n-1)/2</a:t>
                </a:r>
              </a:p>
              <a:p>
                <a:pPr marL="0" indent="0">
                  <a:buNone/>
                </a:pPr>
                <a:r>
                  <a:rPr lang="en-US" dirty="0"/>
                  <a:t>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−1)/2 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F5C4BF89-88ED-88B2-73DB-D3E77F9D38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12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ight Bracket 8">
            <a:extLst>
              <a:ext uri="{FF2B5EF4-FFF2-40B4-BE49-F238E27FC236}">
                <a16:creationId xmlns:a16="http://schemas.microsoft.com/office/drawing/2014/main" id="{083046EE-0E1D-19E8-7E47-258F531A70ED}"/>
              </a:ext>
            </a:extLst>
          </p:cNvPr>
          <p:cNvSpPr/>
          <p:nvPr/>
        </p:nvSpPr>
        <p:spPr>
          <a:xfrm>
            <a:off x="3483429" y="5268686"/>
            <a:ext cx="76200" cy="446314"/>
          </a:xfrm>
          <a:prstGeom prst="rightBracket">
            <a:avLst/>
          </a:prstGeom>
          <a:solidFill>
            <a:schemeClr val="bg1"/>
          </a:solidFill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CF5451F-E9DF-400F-5B87-B040C56A8DF2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3559629" y="5491843"/>
            <a:ext cx="413657" cy="0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AB0FD1F-30BD-E9F2-FF29-08B1321FEBA1}"/>
              </a:ext>
            </a:extLst>
          </p:cNvPr>
          <p:cNvSpPr txBox="1"/>
          <p:nvPr/>
        </p:nvSpPr>
        <p:spPr>
          <a:xfrm>
            <a:off x="4125686" y="5399314"/>
            <a:ext cx="1747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comparison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19B87DD-593B-F1EE-FF33-6F470E4D8085}"/>
              </a:ext>
            </a:extLst>
          </p:cNvPr>
          <p:cNvSpPr txBox="1"/>
          <p:nvPr/>
        </p:nvSpPr>
        <p:spPr>
          <a:xfrm>
            <a:off x="8763000" y="3928017"/>
            <a:ext cx="2478389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First = (n-1-i+1) where </a:t>
            </a:r>
            <a:r>
              <a:rPr lang="en-US" dirty="0" err="1"/>
              <a:t>i</a:t>
            </a:r>
            <a:r>
              <a:rPr lang="en-US" dirty="0"/>
              <a:t>=0 = n</a:t>
            </a:r>
          </a:p>
          <a:p>
            <a:r>
              <a:rPr lang="en-US" dirty="0"/>
              <a:t>Last= (n-1-i+1) where </a:t>
            </a:r>
            <a:r>
              <a:rPr lang="en-US" dirty="0" err="1"/>
              <a:t>i</a:t>
            </a:r>
            <a:r>
              <a:rPr lang="en-US" dirty="0"/>
              <a:t>=n-2 = (n-1-(n-2)+1)=(n-1-n+2)=1</a:t>
            </a:r>
          </a:p>
          <a:p>
            <a:r>
              <a:rPr lang="en-US" dirty="0"/>
              <a:t>Size= n-2-0+1= n-1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3D7E66D-69D4-81C5-0047-460671296CCD}"/>
                  </a:ext>
                </a:extLst>
              </p:cNvPr>
              <p:cNvSpPr txBox="1"/>
              <p:nvPr/>
            </p:nvSpPr>
            <p:spPr>
              <a:xfrm>
                <a:off x="7514897" y="5399314"/>
                <a:ext cx="8022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l-GR" dirty="0"/>
                  <a:t>Θ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3D7E66D-69D4-81C5-0047-460671296C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4897" y="5399314"/>
                <a:ext cx="802248" cy="369332"/>
              </a:xfrm>
              <a:prstGeom prst="rect">
                <a:avLst/>
              </a:prstGeom>
              <a:blipFill>
                <a:blip r:embed="rId4"/>
                <a:stretch>
                  <a:fillRect l="-6870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2145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59D54-FF1D-8B3F-8973-551B75A4F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22E6C-8B1A-0D03-49B1-97AE88FB4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431" y="1224642"/>
            <a:ext cx="4555188" cy="3524250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6000" dirty="0"/>
              <a:t>Mathematical Analysis of Recursive Algorithms</a:t>
            </a:r>
            <a:br>
              <a:rPr lang="en-US" sz="6000" dirty="0"/>
            </a:br>
            <a:br>
              <a:rPr lang="en-US" sz="5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5800" b="1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5" name="Picture 14" descr="Pipette adding DNA sample to a petri dish">
            <a:extLst>
              <a:ext uri="{FF2B5EF4-FFF2-40B4-BE49-F238E27FC236}">
                <a16:creationId xmlns:a16="http://schemas.microsoft.com/office/drawing/2014/main" id="{6237CFDB-C53E-DCA7-D5C2-4132983040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6" r="23646"/>
          <a:stretch>
            <a:fillRect/>
          </a:stretch>
        </p:blipFill>
        <p:spPr>
          <a:xfrm>
            <a:off x="5261956" y="10"/>
            <a:ext cx="693004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399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3588CE-8B7A-C446-CA9F-1457A41AF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Analysis of Recursive Algorithms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FF5418E-CE36-3775-AC11-9F0E8E5409C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59971" y="2468881"/>
            <a:ext cx="4201886" cy="3463833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48E3AB4-33B5-AA25-B2F3-2FAE7E06D3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65371" y="2633472"/>
            <a:ext cx="5998029" cy="3566160"/>
          </a:xfrm>
        </p:spPr>
        <p:txBody>
          <a:bodyPr/>
          <a:lstStyle/>
          <a:p>
            <a:r>
              <a:rPr lang="en-US" dirty="0"/>
              <a:t>For recursive algorithm depends on creating a recurrent relationship</a:t>
            </a:r>
          </a:p>
          <a:p>
            <a:r>
              <a:rPr lang="en-US" dirty="0"/>
              <a:t>F(n)= F(n-1) +1 </a:t>
            </a:r>
            <a:r>
              <a:rPr lang="en-US" sz="1800" dirty="0"/>
              <a:t>(1 is the number of basic operation)</a:t>
            </a:r>
          </a:p>
          <a:p>
            <a:r>
              <a:rPr lang="en-US" sz="1800" dirty="0"/>
              <a:t>The stopping condition:</a:t>
            </a:r>
          </a:p>
          <a:p>
            <a:r>
              <a:rPr lang="en-US" sz="1800" dirty="0"/>
              <a:t>F(0) = 0 (as there is no multiplication)</a:t>
            </a:r>
          </a:p>
          <a:p>
            <a:endParaRPr lang="en-US" dirty="0"/>
          </a:p>
        </p:txBody>
      </p:sp>
      <p:sp>
        <p:nvSpPr>
          <p:cNvPr id="8" name="Right Bracket 7">
            <a:extLst>
              <a:ext uri="{FF2B5EF4-FFF2-40B4-BE49-F238E27FC236}">
                <a16:creationId xmlns:a16="http://schemas.microsoft.com/office/drawing/2014/main" id="{861B22F4-BBF7-992A-81BA-BE463A310038}"/>
              </a:ext>
            </a:extLst>
          </p:cNvPr>
          <p:cNvSpPr/>
          <p:nvPr/>
        </p:nvSpPr>
        <p:spPr>
          <a:xfrm>
            <a:off x="3886200" y="5236028"/>
            <a:ext cx="76200" cy="446314"/>
          </a:xfrm>
          <a:prstGeom prst="rightBracket">
            <a:avLst/>
          </a:prstGeom>
          <a:solidFill>
            <a:schemeClr val="bg1"/>
          </a:solidFill>
          <a:ln w="38100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3AE7223-A70D-E499-4202-567795BA8E05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3962400" y="5459185"/>
            <a:ext cx="413657" cy="0"/>
          </a:xfrm>
          <a:prstGeom prst="straightConnector1">
            <a:avLst/>
          </a:prstGeom>
          <a:ln w="381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E02B34C-621F-7541-9F5D-49D9D32E318F}"/>
              </a:ext>
            </a:extLst>
          </p:cNvPr>
          <p:cNvSpPr txBox="1"/>
          <p:nvPr/>
        </p:nvSpPr>
        <p:spPr>
          <a:xfrm>
            <a:off x="4394992" y="5236028"/>
            <a:ext cx="1747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 multiplication</a:t>
            </a:r>
          </a:p>
        </p:txBody>
      </p:sp>
    </p:spTree>
    <p:extLst>
      <p:ext uri="{BB962C8B-B14F-4D97-AF65-F5344CB8AC3E}">
        <p14:creationId xmlns:p14="http://schemas.microsoft.com/office/powerpoint/2010/main" val="1784851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8F9F16-A5C3-9698-52D0-2CACF3C8E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solve the recurrent relationship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6241556-32ED-95C3-1B3E-70DAF584F1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fontAlgn="t">
                  <a:lnSpc>
                    <a:spcPts val="1500"/>
                  </a:lnSpc>
                </a:pPr>
                <a:r>
                  <a:rPr lang="en-US" dirty="0"/>
                  <a:t>First Expand the recurrence to observe a </a:t>
                </a:r>
                <a:r>
                  <a:rPr lang="en-US" b="1" dirty="0"/>
                  <a:t>pattern</a:t>
                </a:r>
              </a:p>
              <a:p>
                <a:r>
                  <a:rPr lang="en-US" dirty="0"/>
                  <a:t>Second Identify the </a:t>
                </a:r>
                <a:r>
                  <a:rPr lang="en-US" b="1" dirty="0"/>
                  <a:t>stopping condition </a:t>
                </a:r>
                <a:r>
                  <a:rPr lang="en-US" dirty="0"/>
                  <a:t>and assume it is equal to </a:t>
                </a:r>
                <a:r>
                  <a:rPr lang="en-US" b="1" dirty="0"/>
                  <a:t>pattern</a:t>
                </a:r>
              </a:p>
              <a:p>
                <a:r>
                  <a:rPr lang="en-US" dirty="0"/>
                  <a:t>Third Substitute the </a:t>
                </a:r>
                <a:r>
                  <a:rPr lang="en-US" b="1" dirty="0"/>
                  <a:t>depth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back into the </a:t>
                </a:r>
                <a:r>
                  <a:rPr lang="en-US" b="1" dirty="0"/>
                  <a:t>pattern form.</a:t>
                </a:r>
              </a:p>
              <a:p>
                <a:endParaRPr lang="en-US" dirty="0">
                  <a:latin typeface="Segoe UI" panose="020B0502040204020203" pitchFamily="34" charset="0"/>
                </a:endParaRPr>
              </a:p>
              <a:p>
                <a:endParaRPr lang="en-US" dirty="0">
                  <a:latin typeface="Segoe UI" panose="020B0502040204020203" pitchFamily="34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16241556-32ED-95C3-1B3E-70DAF584F1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36" t="-32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0386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999AA-AA9C-C175-7DB5-F0242539B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Expand the recurrence to observe a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1CD93-A2C7-5010-2CC2-DDAE29F2D14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F(n)= F(n-1) +1= or we can rewrite to be a function of time T(n)= T(n-1) +1 eq.(1)</a:t>
            </a:r>
          </a:p>
          <a:p>
            <a:r>
              <a:rPr lang="en-US" dirty="0"/>
              <a:t>T(n-1)= T(n-2) +1 eq.(2) because every time we call the function 1 basic operation is invoked</a:t>
            </a:r>
          </a:p>
          <a:p>
            <a:r>
              <a:rPr lang="en-US" dirty="0"/>
              <a:t>T(n-2)= T(n-3) +1 (3)</a:t>
            </a:r>
          </a:p>
          <a:p>
            <a:r>
              <a:rPr lang="en-US" dirty="0"/>
              <a:t>We can substitute  T(n-1) from equation 1 by equation 2 </a:t>
            </a:r>
          </a:p>
          <a:p>
            <a:pPr lvl="1"/>
            <a:r>
              <a:rPr lang="en-US" dirty="0"/>
              <a:t>T(n)=T(n-1) +1</a:t>
            </a:r>
          </a:p>
          <a:p>
            <a:pPr marL="265176" lvl="1" indent="0">
              <a:buNone/>
            </a:pPr>
            <a:endParaRPr lang="en-US" dirty="0"/>
          </a:p>
          <a:p>
            <a:pPr lvl="1"/>
            <a:r>
              <a:rPr lang="en-US" dirty="0"/>
              <a:t>T(n)=T(n-2) +1 +1 (4)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680897C-55D7-7222-59F6-3932D1C7FC5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We can also substitute T(n-2) from equation 3 by equation 4</a:t>
            </a:r>
          </a:p>
          <a:p>
            <a:pPr lvl="1"/>
            <a:r>
              <a:rPr lang="en-US" dirty="0"/>
              <a:t>T(n)=T(n-2) +1 +1</a:t>
            </a:r>
          </a:p>
          <a:p>
            <a:pPr marL="265176" lvl="1" indent="0">
              <a:buNone/>
            </a:pPr>
            <a:endParaRPr lang="en-US" dirty="0"/>
          </a:p>
          <a:p>
            <a:pPr lvl="1"/>
            <a:r>
              <a:rPr lang="en-US" dirty="0"/>
              <a:t>T(n)=T(n-3) +1 +1 +1 (5)</a:t>
            </a:r>
          </a:p>
          <a:p>
            <a:r>
              <a:rPr lang="en-US" dirty="0"/>
              <a:t>We can check the pattern that when </a:t>
            </a:r>
          </a:p>
          <a:p>
            <a:pPr lvl="1"/>
            <a:r>
              <a:rPr lang="en-US" dirty="0"/>
              <a:t>T(n-1) then +1</a:t>
            </a:r>
          </a:p>
          <a:p>
            <a:pPr lvl="1"/>
            <a:r>
              <a:rPr lang="en-US" dirty="0"/>
              <a:t>T(n-2) then +2</a:t>
            </a:r>
          </a:p>
          <a:p>
            <a:pPr lvl="1"/>
            <a:r>
              <a:rPr lang="en-US" dirty="0"/>
              <a:t>T(n-3) then +3</a:t>
            </a:r>
          </a:p>
          <a:p>
            <a:r>
              <a:rPr lang="en-US" dirty="0"/>
              <a:t>The pattern can be written as :</a:t>
            </a:r>
          </a:p>
          <a:p>
            <a:pPr marL="0" indent="0">
              <a:buNone/>
            </a:pPr>
            <a:r>
              <a:rPr lang="en-US" dirty="0"/>
              <a:t>   T(n)=T(n-k) +k</a:t>
            </a:r>
          </a:p>
          <a:p>
            <a:pPr marL="265176" lvl="1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1089A7-9641-CB15-7770-2EF5F4094389}"/>
              </a:ext>
            </a:extLst>
          </p:cNvPr>
          <p:cNvSpPr/>
          <p:nvPr/>
        </p:nvSpPr>
        <p:spPr>
          <a:xfrm>
            <a:off x="1600197" y="5497282"/>
            <a:ext cx="838203" cy="3374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44350D-0DCE-2AA4-CE52-6E377C03AB82}"/>
              </a:ext>
            </a:extLst>
          </p:cNvPr>
          <p:cNvSpPr/>
          <p:nvPr/>
        </p:nvSpPr>
        <p:spPr>
          <a:xfrm>
            <a:off x="1643742" y="4881587"/>
            <a:ext cx="511630" cy="3374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5854CB0-40DF-F4D8-5A57-740BAA4A7EF3}"/>
              </a:ext>
            </a:extLst>
          </p:cNvPr>
          <p:cNvCxnSpPr>
            <a:cxnSpLocks/>
            <a:stCxn id="5" idx="2"/>
            <a:endCxn id="4" idx="0"/>
          </p:cNvCxnSpPr>
          <p:nvPr/>
        </p:nvCxnSpPr>
        <p:spPr>
          <a:xfrm>
            <a:off x="1899557" y="5219044"/>
            <a:ext cx="119742" cy="278238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3253A11-A181-3ED2-9EB7-F876B5F8AEE9}"/>
              </a:ext>
            </a:extLst>
          </p:cNvPr>
          <p:cNvSpPr/>
          <p:nvPr/>
        </p:nvSpPr>
        <p:spPr>
          <a:xfrm>
            <a:off x="7326078" y="3842654"/>
            <a:ext cx="838203" cy="3374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3D4F3F-07F2-923C-F584-36B940909654}"/>
              </a:ext>
            </a:extLst>
          </p:cNvPr>
          <p:cNvSpPr/>
          <p:nvPr/>
        </p:nvSpPr>
        <p:spPr>
          <a:xfrm>
            <a:off x="7315193" y="3237845"/>
            <a:ext cx="511630" cy="3374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B202E54-E276-20B7-1309-FB724613AF6B}"/>
              </a:ext>
            </a:extLst>
          </p:cNvPr>
          <p:cNvCxnSpPr>
            <a:cxnSpLocks/>
            <a:stCxn id="14" idx="2"/>
            <a:endCxn id="13" idx="0"/>
          </p:cNvCxnSpPr>
          <p:nvPr/>
        </p:nvCxnSpPr>
        <p:spPr>
          <a:xfrm>
            <a:off x="7571008" y="3575302"/>
            <a:ext cx="174172" cy="26735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0129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2B030-3663-B445-5B91-C864F2320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Identify the stopping condition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BCEFB-5891-38FF-6647-54D24499FED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Given that the general pattern is </a:t>
            </a:r>
          </a:p>
          <a:p>
            <a:pPr lvl="1"/>
            <a:r>
              <a:rPr lang="en-US" dirty="0"/>
              <a:t>T(n)=T(n-k) +k </a:t>
            </a:r>
          </a:p>
          <a:p>
            <a:pPr lvl="1"/>
            <a:r>
              <a:rPr lang="en-US" dirty="0"/>
              <a:t>Given that the T(n-k) will decrease till it reach the stopping condition T(0)=0</a:t>
            </a:r>
          </a:p>
          <a:p>
            <a:r>
              <a:rPr lang="en-US" dirty="0"/>
              <a:t>Assume that T(n-k)=T(0)=0</a:t>
            </a:r>
          </a:p>
          <a:p>
            <a:pPr lvl="1"/>
            <a:r>
              <a:rPr lang="en-US" dirty="0"/>
              <a:t>Since function T( value 1) = T( value 2) then the two values must be equal each other </a:t>
            </a:r>
          </a:p>
          <a:p>
            <a:pPr lvl="1"/>
            <a:r>
              <a:rPr lang="en-US" dirty="0"/>
              <a:t>Then value1=value2 </a:t>
            </a:r>
          </a:p>
          <a:p>
            <a:pPr lvl="1"/>
            <a:r>
              <a:rPr lang="en-US" dirty="0"/>
              <a:t>Then n-k=0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F8A593-C122-B09A-60CF-D2A530FA08A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n-k=0</a:t>
            </a:r>
          </a:p>
          <a:p>
            <a:r>
              <a:rPr lang="en-US" dirty="0"/>
              <a:t>Then k = n</a:t>
            </a:r>
          </a:p>
        </p:txBody>
      </p:sp>
    </p:spTree>
    <p:extLst>
      <p:ext uri="{BB962C8B-B14F-4D97-AF65-F5344CB8AC3E}">
        <p14:creationId xmlns:p14="http://schemas.microsoft.com/office/powerpoint/2010/main" val="3008760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6421315-5F8A-D561-D975-846CBD04575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dirty="0"/>
                  <a:t>Substitute the depth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en-US" dirty="0"/>
                  <a:t> back into the pattern form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6421315-5F8A-D561-D975-846CBD0457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679" t="-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8025176-9F01-9CE8-A11F-FF3060134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Since k=n-1</a:t>
            </a:r>
          </a:p>
          <a:p>
            <a:r>
              <a:rPr lang="en-US" dirty="0"/>
              <a:t>In pattern T(n)=T(n-k) +k substitute with k=n</a:t>
            </a:r>
          </a:p>
          <a:p>
            <a:r>
              <a:rPr lang="en-US" dirty="0"/>
              <a:t>T(n)= T(n-(n-1)) +k =T(0)+ n </a:t>
            </a:r>
          </a:p>
          <a:p>
            <a:r>
              <a:rPr lang="en-US" dirty="0"/>
              <a:t>Since T(0)= 0 then by substitute in pervious equation </a:t>
            </a:r>
          </a:p>
          <a:p>
            <a:r>
              <a:rPr lang="en-US" dirty="0"/>
              <a:t>T(n)= 0 + n</a:t>
            </a:r>
          </a:p>
          <a:p>
            <a:r>
              <a:rPr lang="en-US" dirty="0"/>
              <a:t>T(n)= n 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E070C1-3000-0939-E9B0-66DE95E85B99}"/>
                  </a:ext>
                </a:extLst>
              </p:cNvPr>
              <p:cNvSpPr txBox="1"/>
              <p:nvPr/>
            </p:nvSpPr>
            <p:spPr>
              <a:xfrm>
                <a:off x="5293752" y="5486399"/>
                <a:ext cx="8022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l-GR" dirty="0"/>
                  <a:t>Θ</a:t>
                </a:r>
                <a:r>
                  <a:rPr lang="en-US" dirty="0"/>
                  <a:t>(n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E070C1-3000-0939-E9B0-66DE95E85B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3752" y="5486399"/>
                <a:ext cx="802248" cy="369332"/>
              </a:xfrm>
              <a:prstGeom prst="rect">
                <a:avLst/>
              </a:prstGeom>
              <a:blipFill>
                <a:blip r:embed="rId3"/>
                <a:stretch>
                  <a:fillRect l="-6061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91875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249059-05C3-5F0F-85D0-1326918C4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8EB57-BB3D-0EA5-C52C-ECAB207EAB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T(n)= 2T(n-1) eq.(1)    T(1)=1</a:t>
            </a:r>
          </a:p>
          <a:p>
            <a:r>
              <a:rPr lang="en-US" dirty="0"/>
              <a:t>T(n-1)=2T(n-2)  eq.(2)</a:t>
            </a:r>
          </a:p>
          <a:p>
            <a:r>
              <a:rPr lang="en-US" dirty="0"/>
              <a:t>T(n-2)=2T(n-3)  eq.(3) </a:t>
            </a:r>
          </a:p>
          <a:p>
            <a:r>
              <a:rPr lang="en-US" dirty="0"/>
              <a:t>substitute T(n-1) with 2T(n-2)</a:t>
            </a:r>
          </a:p>
          <a:p>
            <a:r>
              <a:rPr lang="en-US" dirty="0"/>
              <a:t>T(n)= 2(2T(n-2)) eq. (4)</a:t>
            </a:r>
          </a:p>
          <a:p>
            <a:r>
              <a:rPr lang="en-US" dirty="0"/>
              <a:t>Substitute T(n-2) with 2T(n-3)</a:t>
            </a:r>
          </a:p>
          <a:p>
            <a:r>
              <a:rPr lang="en-US" dirty="0"/>
              <a:t>T(n)= 2(2(2T(n-3))) eq.(5)</a:t>
            </a:r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B1E5812-DFD3-4D8B-970E-96F0CC1C73C7}"/>
                  </a:ext>
                </a:extLst>
              </p:cNvPr>
              <p:cNvSpPr txBox="1"/>
              <p:nvPr/>
            </p:nvSpPr>
            <p:spPr>
              <a:xfrm>
                <a:off x="7514897" y="5399314"/>
                <a:ext cx="8022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l-GR" dirty="0"/>
                  <a:t>Θ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B1E5812-DFD3-4D8B-970E-96F0CC1C73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4897" y="5399314"/>
                <a:ext cx="802248" cy="369332"/>
              </a:xfrm>
              <a:prstGeom prst="rect">
                <a:avLst/>
              </a:prstGeom>
              <a:blipFill>
                <a:blip r:embed="rId2"/>
                <a:stretch>
                  <a:fillRect l="-6870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39066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15E7B-9C7B-A68D-251F-434FF28B0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1C69A-1A2E-366A-06AC-EE8E2ACE9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CEEF75-E624-F31B-F3D3-0E429CF7DE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In equation 1 : T(n)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−1)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In equation 4: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d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In equation 5: T(n)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−3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We can get the general pattern as T(n)=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Then we assume that T(n-k) = T(1)=1 then </a:t>
                </a:r>
              </a:p>
              <a:p>
                <a:r>
                  <a:rPr lang="en-US" dirty="0"/>
                  <a:t>n-k=1  </a:t>
                </a:r>
              </a:p>
              <a:p>
                <a:r>
                  <a:rPr lang="en-US" dirty="0"/>
                  <a:t>-k=1-n X multiple -1 then</a:t>
                </a:r>
              </a:p>
              <a:p>
                <a:r>
                  <a:rPr lang="en-US" dirty="0"/>
                  <a:t>k=n-1 </a:t>
                </a:r>
              </a:p>
              <a:p>
                <a:pPr marL="0" indent="0">
                  <a:buNone/>
                </a:pPr>
                <a:r>
                  <a:rPr lang="en-US" dirty="0"/>
                  <a:t> then by substitute in general equation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CEEF75-E624-F31B-F3D3-0E429CF7DE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36" t="-5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88022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0647F-F4AE-BC62-D4C8-AC606AA8A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FDC6D-3CBF-C859-2BE4-BD95B456F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FB29A9-5120-4ABA-BEC2-34404CB39C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   T(1)=1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=2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. 1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FB29A9-5120-4ABA-BEC2-34404CB39C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2A23188-A18D-AB09-8662-AE49546E96D9}"/>
                  </a:ext>
                </a:extLst>
              </p:cNvPr>
              <p:cNvSpPr txBox="1"/>
              <p:nvPr/>
            </p:nvSpPr>
            <p:spPr>
              <a:xfrm>
                <a:off x="4717269" y="4231886"/>
                <a:ext cx="8022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l-GR" dirty="0"/>
                  <a:t>Θ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32A23188-A18D-AB09-8662-AE49546E96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7269" y="4231886"/>
                <a:ext cx="802248" cy="369332"/>
              </a:xfrm>
              <a:prstGeom prst="rect">
                <a:avLst/>
              </a:prstGeom>
              <a:blipFill>
                <a:blip r:embed="rId3"/>
                <a:stretch>
                  <a:fillRect l="-6870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6882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3B943-A997-CDC2-59F3-C84B3A90F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8544B-B205-6640-FD26-8AB88F52C5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9A297-6C27-B46D-EA6A-4685C12E90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T(n)= T(n/2) +1 eq.(1)    T(1)=1</a:t>
            </a:r>
          </a:p>
          <a:p>
            <a:r>
              <a:rPr lang="en-US" dirty="0"/>
              <a:t>T(n/2)=T(n/4) +1  eq.(2)</a:t>
            </a:r>
          </a:p>
          <a:p>
            <a:r>
              <a:rPr lang="en-US" dirty="0"/>
              <a:t>T(n/4)=T(n/8) +1  eq.(3) </a:t>
            </a:r>
          </a:p>
          <a:p>
            <a:r>
              <a:rPr lang="en-US" dirty="0"/>
              <a:t>substitute T(n/2) with  T(n/4)+1</a:t>
            </a:r>
          </a:p>
          <a:p>
            <a:r>
              <a:rPr lang="en-US" dirty="0"/>
              <a:t>T(n)=  T(n/4) +1 +1 eq. (4)</a:t>
            </a:r>
          </a:p>
          <a:p>
            <a:r>
              <a:rPr lang="en-US" dirty="0"/>
              <a:t>Substitute T(n/4) with T(n/8) +1</a:t>
            </a:r>
          </a:p>
          <a:p>
            <a:r>
              <a:rPr lang="en-US" dirty="0"/>
              <a:t>T(n)= T(n/8) +1+1+1 eq.(5)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13428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69BC8-9430-8411-22CB-C706B2560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2A2AC-74B4-E4D7-70AE-4DF2DE2FF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101634"/>
            <a:ext cx="10890929" cy="1097280"/>
          </a:xfrm>
        </p:spPr>
        <p:txBody>
          <a:bodyPr/>
          <a:lstStyle/>
          <a:p>
            <a:r>
              <a:rPr lang="en-US" dirty="0"/>
              <a:t>Example 3: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82B6D7-08D0-8510-5829-A542D5F346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80" y="2198914"/>
                <a:ext cx="10890928" cy="4430486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In equation 1 : T(n) 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+1 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In equation 4: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latin typeface="Cambria Math" panose="02040503050406030204" pitchFamily="18" charset="0"/>
                      </a:rPr>
                      <m:t>T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d>
                    <m:r>
                      <a:rPr lang="en-US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/4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+2=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In equation 5: T(n)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/8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+3=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We can get the general pattern as T(n)=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Then we assume that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= T(1)=1 then 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1  preform cross multiplication   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US" dirty="0"/>
                  <a:t>  preform log rule</a:t>
                </a:r>
              </a:p>
              <a:p>
                <a:r>
                  <a:rPr lang="en-US" dirty="0"/>
                  <a:t>k=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func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 then by substitute in general equation T(n)=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E82B6D7-08D0-8510-5829-A542D5F346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80" y="2198914"/>
                <a:ext cx="10890928" cy="4430486"/>
              </a:xfrm>
              <a:blipFill>
                <a:blip r:embed="rId2"/>
                <a:stretch>
                  <a:fillRect l="-3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89998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92D00-AE1B-C51C-8DBC-71C0D2735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888C6-601B-10BB-EF3A-A4102A2A7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09DEB7-2381-E6A2-B886-5F952C98E6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T(n)=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func>
                                  <m:func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sSub>
                                      <m:sSubPr>
                                        <m:ctrlP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b="0" i="0" dirty="0" smtClean="0">
                                            <a:latin typeface="Cambria Math" panose="02040503050406030204" pitchFamily="18" charset="0"/>
                                          </a:rPr>
                                          <m:t>log</m:t>
                                        </m:r>
                                      </m:e>
                                      <m:sub>
                                        <m:r>
                                          <a:rPr lang="en-US" b="0" i="1" dirty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fName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</m:sup>
                            </m:sSup>
                          </m:den>
                        </m:f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 </a:t>
                </a:r>
              </a:p>
              <a:p>
                <a:r>
                  <a:rPr lang="en-US" dirty="0"/>
                  <a:t>T(n)=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func>
                      <m:func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dirty="0"/>
                  <a:t>   T(1)=1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=1+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09DEB7-2381-E6A2-B886-5F952C98E6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5F5D86B-D852-9945-32C8-EE439F429C8C}"/>
                  </a:ext>
                </a:extLst>
              </p:cNvPr>
              <p:cNvSpPr txBox="1"/>
              <p:nvPr/>
            </p:nvSpPr>
            <p:spPr>
              <a:xfrm>
                <a:off x="6361011" y="4155686"/>
                <a:ext cx="12045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l-GR" dirty="0"/>
                  <a:t>Θ</a:t>
                </a:r>
                <a:r>
                  <a:rPr lang="en-US" dirty="0"/>
                  <a:t>(logn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5F5D86B-D852-9945-32C8-EE439F429C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1011" y="4155686"/>
                <a:ext cx="1204559" cy="369332"/>
              </a:xfrm>
              <a:prstGeom prst="rect">
                <a:avLst/>
              </a:prstGeom>
              <a:blipFill>
                <a:blip r:embed="rId3"/>
                <a:stretch>
                  <a:fillRect l="-4040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80349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8AAA5-4498-432F-65F5-10B23098E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B30CED-BF44-B918-8ADB-84C850EDE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4: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9825D9-1594-C8CC-A3EC-BCD2553F78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T(n)= T(n-1) +n eq.(1)    T(1)=1</a:t>
            </a:r>
          </a:p>
          <a:p>
            <a:r>
              <a:rPr lang="en-US" dirty="0"/>
              <a:t>T(n-1)=T(n-2) +n-1  eq.(2)</a:t>
            </a:r>
          </a:p>
          <a:p>
            <a:r>
              <a:rPr lang="en-US" dirty="0"/>
              <a:t>T(n-2)=T(n-3) +n-2  eq.(3) </a:t>
            </a:r>
          </a:p>
          <a:p>
            <a:r>
              <a:rPr lang="en-US" dirty="0"/>
              <a:t>substitute T(n-1) with  T(n-2)+ n-1</a:t>
            </a:r>
          </a:p>
          <a:p>
            <a:r>
              <a:rPr lang="en-US" dirty="0"/>
              <a:t>T(n)=  T(n-2) +n-1 +n eq. (4)</a:t>
            </a:r>
          </a:p>
          <a:p>
            <a:r>
              <a:rPr lang="en-US" dirty="0"/>
              <a:t>Substitute T(n-2) with T(n-3) +n-2</a:t>
            </a:r>
          </a:p>
          <a:p>
            <a:r>
              <a:rPr lang="en-US" dirty="0"/>
              <a:t>T(n)= T(n-3) +n-2+n-1+n eq.(5)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3973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C0409-2869-8253-8659-C8A71F729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789C5-1410-F87B-430D-F51692028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101634"/>
            <a:ext cx="10890929" cy="1097280"/>
          </a:xfrm>
        </p:spPr>
        <p:txBody>
          <a:bodyPr/>
          <a:lstStyle/>
          <a:p>
            <a:r>
              <a:rPr lang="en-US" dirty="0"/>
              <a:t>Example 4: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792670-EC23-1E3B-D679-BE944A861B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0080" y="2198914"/>
                <a:ext cx="10890928" cy="443048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/>
                  <a:t>We can see from the equation that n is reduced by 1 with every call of T(n) </a:t>
                </a:r>
              </a:p>
              <a:p>
                <a:pPr marL="0" indent="0">
                  <a:buNone/>
                </a:pPr>
                <a:r>
                  <a:rPr lang="en-US" sz="2400" dirty="0"/>
                  <a:t>Then we assume that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= T(1)=1, then </a:t>
                </a:r>
              </a:p>
              <a:p>
                <a:r>
                  <a:rPr lang="en-US" sz="2400" dirty="0"/>
                  <a:t>So we can rewrite T(n)= 1…… +T(n-3) +n-2+n-1+n </a:t>
                </a:r>
              </a:p>
              <a:p>
                <a:r>
                  <a:rPr lang="en-US" sz="2400" dirty="0"/>
                  <a:t>So this is a sequence is where the first= 1, last = n, and size=n</a:t>
                </a:r>
              </a:p>
              <a:p>
                <a:r>
                  <a:rPr lang="en-US" sz="2400" dirty="0"/>
                  <a:t>T(n)=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1+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 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792670-EC23-1E3B-D679-BE944A861B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0080" y="2198914"/>
                <a:ext cx="10890928" cy="4430486"/>
              </a:xfrm>
              <a:blipFill>
                <a:blip r:embed="rId2"/>
                <a:stretch>
                  <a:fillRect l="-839" t="-5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E38822B-26CA-95E9-FC96-6D8D3B49385E}"/>
                  </a:ext>
                </a:extLst>
              </p:cNvPr>
              <p:cNvSpPr txBox="1"/>
              <p:nvPr/>
            </p:nvSpPr>
            <p:spPr>
              <a:xfrm>
                <a:off x="4608411" y="5387034"/>
                <a:ext cx="12045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l-GR" dirty="0"/>
                  <a:t>Θ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E38822B-26CA-95E9-FC96-6D8D3B4938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8411" y="5387034"/>
                <a:ext cx="1204559" cy="369332"/>
              </a:xfrm>
              <a:prstGeom prst="rect">
                <a:avLst/>
              </a:prstGeom>
              <a:blipFill>
                <a:blip r:embed="rId3"/>
                <a:stretch>
                  <a:fillRect l="-4545" t="-10000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97097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7BAD4-6AB7-A2F5-CBC7-2BA2AF726F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5 (hard)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3F530-5BCD-971F-C0C9-711A5AF433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T(n)=T(n/2) + n  eq.(1),  T(1)=1</a:t>
            </a:r>
          </a:p>
          <a:p>
            <a:r>
              <a:rPr lang="en-US" dirty="0"/>
              <a:t>T(n/2)= T(n/4) + n/2  eq.(2)</a:t>
            </a:r>
          </a:p>
          <a:p>
            <a:r>
              <a:rPr lang="en-US" dirty="0"/>
              <a:t>T(n/4)= T(n/8) + n/4  eq.(3)</a:t>
            </a:r>
          </a:p>
          <a:p>
            <a:r>
              <a:rPr lang="en-US" dirty="0"/>
              <a:t>substitute T(n/2) with  T(n/4)+ n/2</a:t>
            </a:r>
          </a:p>
          <a:p>
            <a:r>
              <a:rPr lang="en-US" dirty="0"/>
              <a:t>T(n)=T(n/4) +n/2 +n  eq.(4)</a:t>
            </a:r>
          </a:p>
          <a:p>
            <a:r>
              <a:rPr lang="en-US" dirty="0"/>
              <a:t>substitute T(n/4) with  T(n/8)+ n/4</a:t>
            </a:r>
          </a:p>
          <a:p>
            <a:r>
              <a:rPr lang="en-US" dirty="0"/>
              <a:t>T(n)=T(n/8) + n/4 + n/2 + n eq. (5)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8718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A6BAE-1FC8-C9E2-A7A1-522ACC4FC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A4236-A04A-39D4-8B2E-F166CB809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5 (hard)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76755E-980F-8A8E-172E-413F01C4D7B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Rewrite equations 1, 4 and 5 </a:t>
                </a:r>
              </a:p>
              <a:p>
                <a:r>
                  <a:rPr lang="en-US" dirty="0"/>
                  <a:t>T(n)= T(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) 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 eq.(1)</a:t>
                </a:r>
              </a:p>
              <a:p>
                <a:r>
                  <a:rPr lang="en-US" dirty="0"/>
                  <a:t> T(n)=T(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/>
                  <a:t>)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or T(n)=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dirty="0"/>
                          <m:t>T</m:t>
                        </m:r>
                        <m:r>
                          <m:rPr>
                            <m:nor/>
                          </m:rPr>
                          <a:rPr lang="en-US" dirty="0"/>
                          <m:t>(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nor/>
                          </m:rPr>
                          <a:rPr lang="en-US" dirty="0"/>
                          <m:t>)</m:t>
                        </m:r>
                        <m:r>
                          <m:rPr>
                            <m:nor/>
                          </m:rPr>
                          <a:rPr lang="en-US" b="0" i="0" dirty="0" smtClean="0"/>
                          <m:t>+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(2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eq.(4)</a:t>
                </a:r>
              </a:p>
              <a:p>
                <a:r>
                  <a:rPr lang="en-US" dirty="0"/>
                  <a:t>T(n)=T(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/>
                  <a:t>)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/>
                  <a:t>  or T(n)=T(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/>
                  <a:t>) + n(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eq. (5)</a:t>
                </a:r>
              </a:p>
              <a:p>
                <a:r>
                  <a:rPr lang="en-US" dirty="0"/>
                  <a:t>The general pattern T(n)=  T(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/>
                  <a:t>)+ n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(1+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+…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Let’s take the left hand-side expression on it own which clearly a geometric sequence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76755E-980F-8A8E-172E-413F01C4D7B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36" t="-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03140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135A8-2E27-4E4D-ABE3-426A5255E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8670B-8F03-FEA1-27D4-E9C34B10C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5 (hard)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45FC67-DEA0-5F2D-BED6-C3A37CCA65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T(n)=  T(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/>
                  <a:t>)+ n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(1+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+…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Where we can apply the geometric sequence rule:</a:t>
                </a:r>
              </a:p>
              <a:p>
                <a:pPr marL="0" indent="0">
                  <a:buNone/>
                </a:pPr>
                <a:r>
                  <a:rPr lang="en-US" dirty="0"/>
                  <a:t>a=1, r=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n-US" dirty="0"/>
                  <a:t> and size= k</a:t>
                </a:r>
              </a:p>
              <a:p>
                <a:r>
                  <a:rPr lang="en-US" dirty="0"/>
                  <a:t>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1.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num>
                      <m:den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=2(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T(n)=  T(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/>
                  <a:t>)+ n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1−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= T(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/>
                  <a:t>)+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(1−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))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T(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/>
                  <a:t>)+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745FC67-DEA0-5F2D-BED6-C3A37CCA65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3642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D6814-68B9-94C0-5036-9A40A27BD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33B86-417B-041F-E320-1C4FC0CAF1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5 (hard)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BCFB03-FDBC-E46E-6319-64E6DA4D66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Assume that T(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dirty="0"/>
                  <a:t>)=T(1)=1 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perform cross multiplication</a:t>
                </a:r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 apply log rule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endParaRPr lang="en-US" b="0" dirty="0"/>
              </a:p>
              <a:p>
                <a:r>
                  <a:rPr lang="en-US" b="0" dirty="0"/>
                  <a:t>Then we can </a:t>
                </a:r>
                <a:r>
                  <a:rPr lang="en-US" dirty="0"/>
                  <a:t>substitute in the general pattern with the value of k </a:t>
                </a:r>
              </a:p>
              <a:p>
                <a:r>
                  <a:rPr lang="en-US" dirty="0"/>
                  <a:t>T(n)=T(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func>
                          </m:sup>
                        </m:sSup>
                      </m:den>
                    </m:f>
                  </m:oMath>
                </a14:m>
                <a:r>
                  <a:rPr lang="en-US" dirty="0"/>
                  <a:t>)+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func>
                              <m:func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func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   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func>
                          <m:func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sup>
                    </m:sSup>
                  </m:oMath>
                </a14:m>
                <a:r>
                  <a:rPr lang="en-US" dirty="0"/>
                  <a:t>= n)</a:t>
                </a:r>
              </a:p>
              <a:p>
                <a:r>
                  <a:rPr lang="en-US" dirty="0"/>
                  <a:t>T(n)= T(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dirty="0"/>
                  <a:t>)+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dirty="0"/>
                  <a:t>= T(1)+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=1+2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−2=2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dirty="0"/>
                  <a:t> 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b="0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EBCFB03-FDBC-E46E-6319-64E6DA4D66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24" t="-3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8932595-D441-4FEE-A597-EC0142761E5E}"/>
                  </a:ext>
                </a:extLst>
              </p:cNvPr>
              <p:cNvSpPr txBox="1"/>
              <p:nvPr/>
            </p:nvSpPr>
            <p:spPr>
              <a:xfrm>
                <a:off x="9125982" y="5407543"/>
                <a:ext cx="12045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l-GR" dirty="0"/>
                  <a:t>Θ</a:t>
                </a:r>
                <a:r>
                  <a:rPr lang="en-US" dirty="0"/>
                  <a:t>(n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8932595-D441-4FEE-A597-EC0142761E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5982" y="5407543"/>
                <a:ext cx="1204559" cy="369332"/>
              </a:xfrm>
              <a:prstGeom prst="rect">
                <a:avLst/>
              </a:prstGeom>
              <a:blipFill>
                <a:blip r:embed="rId3"/>
                <a:stretch>
                  <a:fillRect l="-4040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29884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4089B0-8E74-E745-A9DB-BD89823CB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CFD1D2CD-954D-4C4D-B505-05EAD159B2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178280-7C97-F1A6-2AA1-DD32FE3C3D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117" y="952500"/>
            <a:ext cx="4124557" cy="352425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Empirical Analysis of Algorithms</a:t>
            </a:r>
            <a:br>
              <a:rPr lang="en-US" sz="41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41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br>
              <a:rPr lang="en-US" sz="41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4100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2D508B3-A66C-833E-D929-8DC211635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2088" y="4882722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An example of a molecular structure">
            <a:extLst>
              <a:ext uri="{FF2B5EF4-FFF2-40B4-BE49-F238E27FC236}">
                <a16:creationId xmlns:a16="http://schemas.microsoft.com/office/drawing/2014/main" id="{8338A08D-98AC-1068-C3C0-CA8D3B02915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264" r="15263" b="-1"/>
          <a:stretch>
            <a:fillRect/>
          </a:stretch>
        </p:blipFill>
        <p:spPr>
          <a:xfrm>
            <a:off x="5261956" y="10"/>
            <a:ext cx="693004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476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874EA-8639-E4D1-1452-70A8909C7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Empirical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F5D19A-5617-5A56-DE29-9CBC822353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Empirical analysis involves "testing it in the real world." Rather than examining the Mathematical analysis alone, you execute the code and observe the actual outcomes.</a:t>
            </a:r>
          </a:p>
        </p:txBody>
      </p:sp>
    </p:spTree>
    <p:extLst>
      <p:ext uri="{BB962C8B-B14F-4D97-AF65-F5344CB8AC3E}">
        <p14:creationId xmlns:p14="http://schemas.microsoft.com/office/powerpoint/2010/main" val="396287128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5E1AB-C9F7-7035-4B26-973DA6ABC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Empirical Analysis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9961F-40D5-C7F8-D724-734E158E55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Sometimes math says an algorithm is fast, but "hidden constants" (like memory access or overhead) make it slow in practice.</a:t>
            </a:r>
          </a:p>
          <a:p>
            <a:r>
              <a:rPr lang="en-US" dirty="0"/>
              <a:t>Sometimes you can use Empirical Analysis to prove the mathematical analysis of the algorithm is correct.</a:t>
            </a:r>
          </a:p>
          <a:p>
            <a:r>
              <a:rPr lang="en-US" dirty="0"/>
              <a:t>Lastly, in some cases, mathematical analysis for algorithms has proved to be very difficult to analyze with precision and certainty.  </a:t>
            </a:r>
          </a:p>
        </p:txBody>
      </p:sp>
    </p:spTree>
    <p:extLst>
      <p:ext uri="{BB962C8B-B14F-4D97-AF65-F5344CB8AC3E}">
        <p14:creationId xmlns:p14="http://schemas.microsoft.com/office/powerpoint/2010/main" val="6969524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C438A-09BC-36C0-DAF5-325FF1B9F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 empirical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DDF04-EA3A-D843-AD7A-C6B5B635F6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1"/>
            <a:ext cx="10890928" cy="3879623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/>
              <a:t>Prepare a program implementing the algorithm (or algorithms) for experimentation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Decide on characteristics of the input sample (its range, size, and so on).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Generate a sample of inputs.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Decide on the efficiency metric M to be measured and the measurement unit(an operation count vs. a time unit).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Run the algorithm (or algorithms) on the sample's inputs and record the data observed.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Analyze the data obtained.</a:t>
            </a:r>
          </a:p>
        </p:txBody>
      </p:sp>
    </p:spTree>
    <p:extLst>
      <p:ext uri="{BB962C8B-B14F-4D97-AF65-F5344CB8AC3E}">
        <p14:creationId xmlns:p14="http://schemas.microsoft.com/office/powerpoint/2010/main" val="17287959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6AEF93-D70A-BD4B-C2E3-D388BD6D3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BDA151C-5770-45E4-AAFF-59E7F40386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74BC83-131E-E16C-2E31-7CCBA7095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570750"/>
            <a:ext cx="10890929" cy="1387934"/>
          </a:xfrm>
        </p:spPr>
        <p:txBody>
          <a:bodyPr anchor="b">
            <a:normAutofit/>
          </a:bodyPr>
          <a:lstStyle/>
          <a:p>
            <a:r>
              <a:rPr lang="en-US" dirty="0"/>
              <a:t>Perform empirical analysis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62D3963-2153-4637-96E6-E31BD2CE5D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2307479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D3086D9-A307-0424-2105-035389F693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234500"/>
              </p:ext>
            </p:extLst>
          </p:nvPr>
        </p:nvGraphicFramePr>
        <p:xfrm>
          <a:off x="640079" y="2559050"/>
          <a:ext cx="10890929" cy="37388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570546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67F869-BC8B-0D39-DB0F-FB37AE9D3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573" y="1371600"/>
            <a:ext cx="3250069" cy="269686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/>
              <a:t>Empirical Analysis Example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CED01B4-40F2-4CAE-8062-1D4CE8454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2835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8438BD-B306-7AD3-87D5-CF85C3844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4723" y="239488"/>
            <a:ext cx="7311848" cy="59980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88A6810-A5D6-1799-9B44-BF7A347F3FF3}"/>
              </a:ext>
            </a:extLst>
          </p:cNvPr>
          <p:cNvSpPr txBox="1"/>
          <p:nvPr/>
        </p:nvSpPr>
        <p:spPr>
          <a:xfrm>
            <a:off x="5793690" y="6239979"/>
            <a:ext cx="48148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Book: Introduction to the Design and Analysis of Algorithms </a:t>
            </a:r>
          </a:p>
        </p:txBody>
      </p:sp>
    </p:spTree>
    <p:extLst>
      <p:ext uri="{BB962C8B-B14F-4D97-AF65-F5344CB8AC3E}">
        <p14:creationId xmlns:p14="http://schemas.microsoft.com/office/powerpoint/2010/main" val="552011881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6655</TotalTime>
  <Words>1967</Words>
  <Application>Microsoft Office PowerPoint</Application>
  <PresentationFormat>Widescreen</PresentationFormat>
  <Paragraphs>195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Cambria Math</vt:lpstr>
      <vt:lpstr>Grandview Display</vt:lpstr>
      <vt:lpstr>Segoe UI</vt:lpstr>
      <vt:lpstr>DashVTI</vt:lpstr>
      <vt:lpstr>Computing Algorithms Lecture 3: Fundamentals of the Analysis of Algorithm Efficiency part 2</vt:lpstr>
      <vt:lpstr>Agenda</vt:lpstr>
      <vt:lpstr>Mathematical Analysis of Non-recursive Algorithms  </vt:lpstr>
      <vt:lpstr>Mathematical Analysis of Non-recursive Algorithms</vt:lpstr>
      <vt:lpstr>Mathematical Analysis of Recursive Algorithms  </vt:lpstr>
      <vt:lpstr>Mathematical Analysis of Recursive Algorithms</vt:lpstr>
      <vt:lpstr>How to solve the recurrent relationship</vt:lpstr>
      <vt:lpstr>Expand the recurrence to observe a pattern</vt:lpstr>
      <vt:lpstr>Identify the stopping condition</vt:lpstr>
      <vt:lpstr>Substitute the depth k back into the pattern form</vt:lpstr>
      <vt:lpstr>Example 2:</vt:lpstr>
      <vt:lpstr>Example 2:</vt:lpstr>
      <vt:lpstr>Example 2:</vt:lpstr>
      <vt:lpstr>Example 3:</vt:lpstr>
      <vt:lpstr>Example 3:</vt:lpstr>
      <vt:lpstr>Example 3:</vt:lpstr>
      <vt:lpstr>Example 4:</vt:lpstr>
      <vt:lpstr>Example 4:</vt:lpstr>
      <vt:lpstr>Example 5 (hard)</vt:lpstr>
      <vt:lpstr>Example 5 (hard)</vt:lpstr>
      <vt:lpstr>Example 5 (hard)</vt:lpstr>
      <vt:lpstr>Example 5 (hard)</vt:lpstr>
      <vt:lpstr>Empirical Analysis of Algorithms   </vt:lpstr>
      <vt:lpstr>What is Empirical Analysis</vt:lpstr>
      <vt:lpstr>Why use Empirical Analysis </vt:lpstr>
      <vt:lpstr>Perform empirical analysis</vt:lpstr>
      <vt:lpstr>Perform empirical analysis</vt:lpstr>
      <vt:lpstr>Empirical Analysis Example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Mohamed Moheeb</dc:creator>
  <cp:lastModifiedBy>Mohamed Moheeb</cp:lastModifiedBy>
  <cp:revision>40</cp:revision>
  <dcterms:created xsi:type="dcterms:W3CDTF">2026-01-25T09:41:58Z</dcterms:created>
  <dcterms:modified xsi:type="dcterms:W3CDTF">2026-02-18T15:12:23Z</dcterms:modified>
</cp:coreProperties>
</file>