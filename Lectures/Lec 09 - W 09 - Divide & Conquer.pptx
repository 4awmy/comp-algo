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83"/>
  </p:notesMasterIdLst>
  <p:sldIdLst>
    <p:sldId id="256" r:id="rId2"/>
    <p:sldId id="257" r:id="rId3"/>
    <p:sldId id="346" r:id="rId4"/>
    <p:sldId id="354" r:id="rId5"/>
    <p:sldId id="366" r:id="rId6"/>
    <p:sldId id="356" r:id="rId7"/>
    <p:sldId id="368" r:id="rId8"/>
    <p:sldId id="367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5" r:id="rId43"/>
    <p:sldId id="402" r:id="rId44"/>
    <p:sldId id="403" r:id="rId45"/>
    <p:sldId id="404" r:id="rId46"/>
    <p:sldId id="406" r:id="rId47"/>
    <p:sldId id="407" r:id="rId48"/>
    <p:sldId id="408" r:id="rId49"/>
    <p:sldId id="409" r:id="rId50"/>
    <p:sldId id="410" r:id="rId51"/>
    <p:sldId id="411" r:id="rId52"/>
    <p:sldId id="412" r:id="rId53"/>
    <p:sldId id="413" r:id="rId54"/>
    <p:sldId id="414" r:id="rId55"/>
    <p:sldId id="415" r:id="rId56"/>
    <p:sldId id="416" r:id="rId57"/>
    <p:sldId id="417" r:id="rId58"/>
    <p:sldId id="418" r:id="rId59"/>
    <p:sldId id="419" r:id="rId60"/>
    <p:sldId id="420" r:id="rId61"/>
    <p:sldId id="421" r:id="rId62"/>
    <p:sldId id="422" r:id="rId63"/>
    <p:sldId id="423" r:id="rId64"/>
    <p:sldId id="424" r:id="rId65"/>
    <p:sldId id="425" r:id="rId66"/>
    <p:sldId id="426" r:id="rId67"/>
    <p:sldId id="427" r:id="rId68"/>
    <p:sldId id="428" r:id="rId69"/>
    <p:sldId id="429" r:id="rId70"/>
    <p:sldId id="430" r:id="rId71"/>
    <p:sldId id="431" r:id="rId72"/>
    <p:sldId id="432" r:id="rId73"/>
    <p:sldId id="355" r:id="rId74"/>
    <p:sldId id="347" r:id="rId75"/>
    <p:sldId id="357" r:id="rId76"/>
    <p:sldId id="433" r:id="rId77"/>
    <p:sldId id="434" r:id="rId78"/>
    <p:sldId id="435" r:id="rId79"/>
    <p:sldId id="436" r:id="rId80"/>
    <p:sldId id="437" r:id="rId81"/>
    <p:sldId id="438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08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4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52ECC-1B11-423C-B09A-13D0289A9C73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26EFB-E3F6-4F64-9528-97A47048D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4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3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4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1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0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4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37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8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AE456-DA79-9895-19B2-CBCA5A8A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554037"/>
            <a:ext cx="4670661" cy="3030842"/>
          </a:xfrm>
        </p:spPr>
        <p:txBody>
          <a:bodyPr>
            <a:noAutofit/>
          </a:bodyPr>
          <a:lstStyle/>
          <a:p>
            <a:r>
              <a:rPr lang="en-US" sz="3600" dirty="0"/>
              <a:t>Computing Algorithms</a:t>
            </a:r>
            <a:br>
              <a:rPr lang="en-US" sz="3600" dirty="0"/>
            </a:br>
            <a:r>
              <a:rPr lang="en-US" sz="3600"/>
              <a:t>Lecture 9:</a:t>
            </a:r>
            <a:br>
              <a:rPr lang="en-US" sz="3600" dirty="0"/>
            </a:br>
            <a:r>
              <a:rPr lang="en-US" sz="3600" dirty="0"/>
              <a:t>Divide and Conquer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83053-DBC8-A47D-72F0-B866CFBE5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By: Dr. Mohamed Moheeb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4A22F1-6EB7-DAD1-49EB-40097999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2" r="27944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8632-A97F-2592-E5E1-57A965B0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E22B-CE58-F133-934B-D7163601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Merge sort</a:t>
            </a:r>
          </a:p>
          <a:p>
            <a:r>
              <a:rPr lang="en-US" dirty="0"/>
              <a:t>Quick sort</a:t>
            </a:r>
          </a:p>
          <a:p>
            <a:r>
              <a:rPr lang="en-US" dirty="0"/>
              <a:t>Binary tree traversal </a:t>
            </a:r>
          </a:p>
        </p:txBody>
      </p:sp>
    </p:spTree>
    <p:extLst>
      <p:ext uri="{BB962C8B-B14F-4D97-AF65-F5344CB8AC3E}">
        <p14:creationId xmlns:p14="http://schemas.microsoft.com/office/powerpoint/2010/main" val="19201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EC46-FF09-5C09-DC90-0FF1044A9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5F7B-E7CD-700D-66DE-07406174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Introduction 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9EDDD50A-1398-C44F-F014-9607D99A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1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3017-E7E4-8546-E2F3-921AC3C5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Divide and Conquer?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EEB21-D014-7BF2-59F2-7B171BF1C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10890928" cy="356616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/>
              <a:t>Divide and Conquer is an algorithm design paradigm based on multi-branched recursion.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/>
              <a:t>It works by breaking down a problem into three distinct steps: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/>
          </a:p>
          <a:p>
            <a:pPr marL="722376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lang="en-US" altLang="en-US" dirty="0"/>
              <a:t>Divide: Break the given problem into smaller sub-problems of the same type.</a:t>
            </a:r>
          </a:p>
          <a:p>
            <a:pPr marL="722376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lang="en-US" altLang="en-US" dirty="0"/>
              <a:t>Conquer: Recursively solve these sub-problems. (If the sub-problem is small enough, solve it directly as a base case).</a:t>
            </a:r>
          </a:p>
          <a:p>
            <a:pPr marL="722376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</a:pPr>
            <a:r>
              <a:rPr lang="en-US" altLang="en-US" dirty="0"/>
              <a:t>Combine: Appropriately combine the answers of the sub-problems to get the exact solution to the original problem.</a:t>
            </a:r>
          </a:p>
        </p:txBody>
      </p:sp>
    </p:spTree>
    <p:extLst>
      <p:ext uri="{BB962C8B-B14F-4D97-AF65-F5344CB8AC3E}">
        <p14:creationId xmlns:p14="http://schemas.microsoft.com/office/powerpoint/2010/main" val="162625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C095-27F4-DDA5-5558-83CA11D7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8D3A-D7E6-60AF-7F9C-B788D9BD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Merge sort  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7FCF4E75-110E-8CB7-8668-ADC8ADF55B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3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BC71E2-ED15-2C9B-18C7-1A6E84AD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65CA-C2C1-7308-92C2-7E4CBCB0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10890928" cy="3566160"/>
          </a:xfrm>
        </p:spPr>
        <p:txBody>
          <a:bodyPr/>
          <a:lstStyle/>
          <a:p>
            <a:r>
              <a:rPr lang="en-US" dirty="0"/>
              <a:t>Merge Sort continuously cuts the array in half until it cannot be divided further (arrays of 1 element). </a:t>
            </a:r>
          </a:p>
          <a:p>
            <a:r>
              <a:rPr lang="en-US" dirty="0"/>
              <a:t>Then, it repeatedly merges the sub-lists to produce new sorted sub-lists until there is only one sorted list remaining.</a:t>
            </a:r>
          </a:p>
        </p:txBody>
      </p:sp>
    </p:spTree>
    <p:extLst>
      <p:ext uri="{BB962C8B-B14F-4D97-AF65-F5344CB8AC3E}">
        <p14:creationId xmlns:p14="http://schemas.microsoft.com/office/powerpoint/2010/main" val="261157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DADD-11DC-5A54-53E9-D062C853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347CD-0900-F2AD-593F-8C39BBFD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BE8A60-8524-2E64-4030-B51590118D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468881"/>
            <a:ext cx="5212080" cy="3931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ACEDC6-0B76-1975-6924-35F3C937336A}"/>
              </a:ext>
            </a:extLst>
          </p:cNvPr>
          <p:cNvSpPr txBox="1"/>
          <p:nvPr/>
        </p:nvSpPr>
        <p:spPr>
          <a:xfrm>
            <a:off x="5893985" y="2323515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Let’s trace Merge Sort on a given array of size n=5.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Initial Array: [ 38, 27, 43, 3, 9 ]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 first condition check if the size of array is equal to 1 or not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 array will be divided into two parts from A[0…1] in new array B= [38,27]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 second part is from A[2…..4] in new array C=[43,3,9]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Note that the array B has index starting from 0 till 2-1 and C has  an index staring from 0 till 3-1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 </a:t>
            </a:r>
            <a:r>
              <a:rPr lang="en-US" altLang="en-US" dirty="0" err="1"/>
              <a:t>mergesort</a:t>
            </a:r>
            <a:r>
              <a:rPr lang="en-US" altLang="en-US" dirty="0"/>
              <a:t>() function is called again with array B ( this is the divide process)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Another note this is a recursive function so when we finish the </a:t>
            </a:r>
            <a:r>
              <a:rPr lang="en-US" altLang="en-US" dirty="0" err="1"/>
              <a:t>mergesort</a:t>
            </a:r>
            <a:r>
              <a:rPr lang="en-US" altLang="en-US" dirty="0"/>
              <a:t>(B) we will continue with </a:t>
            </a:r>
            <a:r>
              <a:rPr lang="en-US" altLang="en-US" dirty="0" err="1"/>
              <a:t>mergesort</a:t>
            </a:r>
            <a:r>
              <a:rPr lang="en-US" altLang="en-US" dirty="0"/>
              <a:t>(C) second part of the array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D3987B-066E-2168-7424-6DFFF62A27DC}"/>
              </a:ext>
            </a:extLst>
          </p:cNvPr>
          <p:cNvCxnSpPr/>
          <p:nvPr/>
        </p:nvCxnSpPr>
        <p:spPr>
          <a:xfrm>
            <a:off x="640079" y="524256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89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7D22-C31F-ADDE-51D5-583BE0C8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1BBD82-D73B-ED16-6C62-74CE2282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567414-4F56-EF33-71F5-F44ABFE0BF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consider applying the merge on array </a:t>
            </a:r>
            <a:r>
              <a:rPr lang="en-US" altLang="en-US" dirty="0"/>
              <a:t>B= [38,27]</a:t>
            </a:r>
          </a:p>
          <a:p>
            <a:r>
              <a:rPr lang="en-US" altLang="en-US" dirty="0"/>
              <a:t>First let’s check if the size is greater than 1 which is equal 2 </a:t>
            </a:r>
          </a:p>
          <a:p>
            <a:r>
              <a:rPr lang="en-US" altLang="en-US" dirty="0"/>
              <a:t>we divide it into two parts B and C to avoid confusion let call it B1 and C1</a:t>
            </a:r>
          </a:p>
          <a:p>
            <a:r>
              <a:rPr lang="en-US" altLang="en-US" dirty="0"/>
              <a:t>B1=[38] and C1=[27]</a:t>
            </a:r>
          </a:p>
          <a:p>
            <a:r>
              <a:rPr lang="en-US" altLang="en-US" dirty="0"/>
              <a:t>We are going to call </a:t>
            </a:r>
            <a:r>
              <a:rPr lang="en-US" altLang="en-US" dirty="0" err="1"/>
              <a:t>mergesort</a:t>
            </a:r>
            <a:r>
              <a:rPr lang="en-US" altLang="en-US" dirty="0"/>
              <a:t>(B1)  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6E6827-2DCB-24F3-179A-2292220F88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4947921" cy="400303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B69507-9801-A4A4-6FFB-7D4E2611F1AC}"/>
              </a:ext>
            </a:extLst>
          </p:cNvPr>
          <p:cNvCxnSpPr/>
          <p:nvPr/>
        </p:nvCxnSpPr>
        <p:spPr>
          <a:xfrm>
            <a:off x="640079" y="53136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558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55AC0-3DF7-CB14-1D4F-F4703055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790005-C00C-9A46-B487-29EAD162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1A4EC5-D396-D06D-B832-B32E1E8595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consider applying the merge on array </a:t>
            </a:r>
            <a:r>
              <a:rPr lang="en-US" altLang="en-US" dirty="0"/>
              <a:t>B1=[38] </a:t>
            </a:r>
          </a:p>
          <a:p>
            <a:r>
              <a:rPr lang="en-US" altLang="en-US" dirty="0"/>
              <a:t>First let’s check if the size is greater than 1 which is equal 1 we return to the pervious call.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A27ED9-058B-512E-84F7-1D5D9C9021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4947921" cy="400303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7EA51CE-F435-036A-F82E-261F72619E57}"/>
              </a:ext>
            </a:extLst>
          </p:cNvPr>
          <p:cNvCxnSpPr/>
          <p:nvPr/>
        </p:nvCxnSpPr>
        <p:spPr>
          <a:xfrm>
            <a:off x="284478" y="42976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851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165B5-A01C-4E5E-EB99-56FC3C27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9FEB51-A1C5-3035-66B6-A3527C49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701AC6-2266-1C16-562F-A6EE1C5F22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are back to the call where we called merge sort on </a:t>
            </a:r>
            <a:r>
              <a:rPr lang="en-US" altLang="en-US" dirty="0"/>
              <a:t>B= [38,27]</a:t>
            </a:r>
          </a:p>
          <a:p>
            <a:r>
              <a:rPr lang="en-US" altLang="en-US" dirty="0"/>
              <a:t>Where we have two arrays B1=[38] and C1=[27]</a:t>
            </a:r>
          </a:p>
          <a:p>
            <a:r>
              <a:rPr lang="en-US" altLang="en-US" dirty="0"/>
              <a:t>We are going to call </a:t>
            </a:r>
            <a:r>
              <a:rPr lang="en-US" altLang="en-US" dirty="0" err="1"/>
              <a:t>mergesort</a:t>
            </a:r>
            <a:r>
              <a:rPr lang="en-US" altLang="en-US" dirty="0"/>
              <a:t>(C1)  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85EF9C-5EA6-0F3F-81F4-CD2D6457C7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4947921" cy="400303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123F82-23E5-FA59-6AB6-E7C09B1FEC7C}"/>
              </a:ext>
            </a:extLst>
          </p:cNvPr>
          <p:cNvCxnSpPr/>
          <p:nvPr/>
        </p:nvCxnSpPr>
        <p:spPr>
          <a:xfrm>
            <a:off x="599439" y="56591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9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FA8F0-1186-46E6-2304-138CDF2C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AC91F-918D-0972-C8F7-E4AA17CAD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8783BF-92C7-E1AA-CDC6-F1007AD5D0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consider applying the merge on array C</a:t>
            </a:r>
            <a:r>
              <a:rPr lang="en-US" altLang="en-US" dirty="0"/>
              <a:t>1=[27] </a:t>
            </a:r>
          </a:p>
          <a:p>
            <a:r>
              <a:rPr lang="en-US" altLang="en-US" dirty="0"/>
              <a:t>First let’s check if the size is greater than 1 which is equal 1 we return to the pervious call.</a:t>
            </a:r>
          </a:p>
          <a:p>
            <a:pPr marL="0" indent="0">
              <a:buNone/>
            </a:pPr>
            <a:r>
              <a:rPr lang="en-US" altLang="en-US" dirty="0"/>
              <a:t> 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0ABA5C-A77C-5451-1EBC-A74B23C561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4947921" cy="400303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9B2E786-2822-A4BB-4573-13B45379AAB8}"/>
              </a:ext>
            </a:extLst>
          </p:cNvPr>
          <p:cNvCxnSpPr/>
          <p:nvPr/>
        </p:nvCxnSpPr>
        <p:spPr>
          <a:xfrm>
            <a:off x="284478" y="42875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443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E46CB-76FB-06AC-5B1B-0C0BE278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09AEE4-D47F-84C0-2F8B-4FBE6FC2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C70F09-5667-B4E4-6334-CC29C426B5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are back to the call where we called merge sort on </a:t>
            </a:r>
            <a:r>
              <a:rPr lang="en-US" altLang="en-US" dirty="0"/>
              <a:t>B= [38,27]</a:t>
            </a:r>
          </a:p>
          <a:p>
            <a:r>
              <a:rPr lang="en-US" altLang="en-US" dirty="0"/>
              <a:t>Where we have two arrays B1=[38] and C1=[27]</a:t>
            </a:r>
          </a:p>
          <a:p>
            <a:r>
              <a:rPr lang="en-US" altLang="en-US" dirty="0"/>
              <a:t>We now finished the calls for </a:t>
            </a:r>
            <a:r>
              <a:rPr lang="en-US" altLang="en-US" dirty="0" err="1"/>
              <a:t>mergesort</a:t>
            </a:r>
            <a:r>
              <a:rPr lang="en-US" altLang="en-US" dirty="0"/>
              <a:t>() for both C1 and  B1 (divide)</a:t>
            </a:r>
          </a:p>
          <a:p>
            <a:r>
              <a:rPr lang="en-US" altLang="en-US" dirty="0"/>
              <a:t>We are going to call Merge(B,C,A) or in this call Merge(B1,C1,B)  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CD3052-F047-09CF-378E-A27883E1BD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4947921" cy="400303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3D8B07-4524-409A-A5CB-CF0A315ABB1B}"/>
              </a:ext>
            </a:extLst>
          </p:cNvPr>
          <p:cNvCxnSpPr/>
          <p:nvPr/>
        </p:nvCxnSpPr>
        <p:spPr>
          <a:xfrm>
            <a:off x="548639" y="60147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A0B9-F513-32E9-0046-6F1F7903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B860BF-0C44-B12B-6DD2-420DC462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3AA30E-54FF-F1F1-ADDD-F0D05D518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249680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In this function p is the size of array B and q is the size of array C and A size is </a:t>
            </a:r>
            <a:r>
              <a:rPr lang="en-US" dirty="0" err="1"/>
              <a:t>p+q</a:t>
            </a:r>
            <a:endParaRPr lang="en-US" dirty="0"/>
          </a:p>
          <a:p>
            <a:r>
              <a:rPr lang="en-US" altLang="en-US" dirty="0"/>
              <a:t>The index </a:t>
            </a:r>
            <a:r>
              <a:rPr lang="en-US" altLang="en-US" dirty="0" err="1"/>
              <a:t>i</a:t>
            </a:r>
            <a:r>
              <a:rPr lang="en-US" altLang="en-US" dirty="0"/>
              <a:t> is for B array, j is for C array and k is for A array.</a:t>
            </a:r>
          </a:p>
          <a:p>
            <a:r>
              <a:rPr lang="en-US" altLang="en-US" dirty="0"/>
              <a:t>in this call B is B1, C is C1 and A is B</a:t>
            </a:r>
          </a:p>
          <a:p>
            <a:r>
              <a:rPr lang="en-US" altLang="en-US" dirty="0"/>
              <a:t>To avoid confusion let’s call the arrays B1 and C1 and A</a:t>
            </a:r>
          </a:p>
          <a:p>
            <a:r>
              <a:rPr lang="en-US" altLang="en-US" dirty="0"/>
              <a:t>Where we have two arrays B1=[38] and C1=[27]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36031D8-9718-F897-4AD9-15478AB744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C13F12-5865-8FC0-5F9D-8356A208C91E}"/>
              </a:ext>
            </a:extLst>
          </p:cNvPr>
          <p:cNvCxnSpPr/>
          <p:nvPr/>
        </p:nvCxnSpPr>
        <p:spPr>
          <a:xfrm>
            <a:off x="305393" y="37795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1EFBF7-1A3C-6ACB-6018-7E42690A2F76}"/>
              </a:ext>
            </a:extLst>
          </p:cNvPr>
          <p:cNvSpPr txBox="1"/>
          <p:nvPr/>
        </p:nvSpPr>
        <p:spPr>
          <a:xfrm>
            <a:off x="10515600" y="490583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349715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6F69-97B1-745D-0808-42BD8B0B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0EAB6-25F7-CD7C-7B26-1E488EE1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7278E0-E439-D44E-4D41-F9D0E5EA5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249680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The while condition check if any index of I or j exceeds the </a:t>
            </a:r>
            <a:r>
              <a:rPr lang="en-US" dirty="0" err="1"/>
              <a:t>the</a:t>
            </a:r>
            <a:r>
              <a:rPr lang="en-US" dirty="0"/>
              <a:t> size of p and q</a:t>
            </a:r>
          </a:p>
          <a:p>
            <a:r>
              <a:rPr lang="en-US" dirty="0"/>
              <a:t>Where </a:t>
            </a:r>
            <a:r>
              <a:rPr lang="en-US" dirty="0" err="1"/>
              <a:t>i</a:t>
            </a:r>
            <a:r>
              <a:rPr lang="en-US" dirty="0"/>
              <a:t> is less than 1 and j is less than q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D3BF551-43DD-9D08-05C8-7CFB200B55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002C7B-579E-BD24-7A1F-2C5A385C9225}"/>
              </a:ext>
            </a:extLst>
          </p:cNvPr>
          <p:cNvCxnSpPr/>
          <p:nvPr/>
        </p:nvCxnSpPr>
        <p:spPr>
          <a:xfrm>
            <a:off x="305393" y="40436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630A18-C34D-DF53-F333-C8F1A7F8ECB9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2554611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96EE-0814-310C-30B8-82FD9E39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8485DC-D4B5-18D2-451E-B95FFCEAC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48DB96-9DF1-B760-8856-02A36F02F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38400"/>
            <a:ext cx="5212080" cy="3761232"/>
          </a:xfrm>
        </p:spPr>
        <p:txBody>
          <a:bodyPr>
            <a:normAutofit/>
          </a:bodyPr>
          <a:lstStyle/>
          <a:p>
            <a:r>
              <a:rPr lang="en-US" altLang="en-US" dirty="0"/>
              <a:t>B1=[38] and C1=[27]</a:t>
            </a:r>
          </a:p>
          <a:p>
            <a:r>
              <a:rPr lang="en-US" dirty="0"/>
              <a:t>Let check the condition if B[0] &lt; C[0] or 38&lt;27 which is false we move to the else part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3DD143C-DB5A-38A3-6952-81D0218173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06E8AD-726D-62D5-E6CA-57BD19463A11}"/>
              </a:ext>
            </a:extLst>
          </p:cNvPr>
          <p:cNvCxnSpPr/>
          <p:nvPr/>
        </p:nvCxnSpPr>
        <p:spPr>
          <a:xfrm>
            <a:off x="467953" y="43586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CEDAC1-09F9-0087-FD6D-118BD591AD7A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1159265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82B-BAB8-C348-12EB-5551BF2D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21919E-0B69-F546-33B1-ECA9F1C5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E1A930-85D7-EBB7-DDBA-362B88AE2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38400"/>
            <a:ext cx="5212080" cy="3761232"/>
          </a:xfrm>
        </p:spPr>
        <p:txBody>
          <a:bodyPr>
            <a:normAutofit/>
          </a:bodyPr>
          <a:lstStyle/>
          <a:p>
            <a:r>
              <a:rPr lang="en-US" altLang="en-US" dirty="0"/>
              <a:t>B1=[38] and C1=[27]</a:t>
            </a:r>
          </a:p>
          <a:p>
            <a:r>
              <a:rPr lang="en-US" altLang="en-US" dirty="0"/>
              <a:t>A[0]= 27 and then we increment j index by 1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9AAFA09-8D0B-6197-88D8-4E8D5FCFF0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D1CE47-05F7-0F50-CDD9-F4FF441BDBFF}"/>
              </a:ext>
            </a:extLst>
          </p:cNvPr>
          <p:cNvCxnSpPr/>
          <p:nvPr/>
        </p:nvCxnSpPr>
        <p:spPr>
          <a:xfrm>
            <a:off x="467953" y="492760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D49C48-8D10-3665-5C7B-EA86D6EB87C2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142806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9F3A5-643D-E251-A562-664483D0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803F4E-CE6D-9F5E-C36F-14F002EFD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ED1E5C-D12E-3563-9FE3-0E7C5AFF2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38400"/>
            <a:ext cx="5212080" cy="3761232"/>
          </a:xfrm>
        </p:spPr>
        <p:txBody>
          <a:bodyPr>
            <a:normAutofit/>
          </a:bodyPr>
          <a:lstStyle/>
          <a:p>
            <a:r>
              <a:rPr lang="en-US" altLang="en-US" dirty="0"/>
              <a:t>B1=[38] and C1=[27]   A=[27,  ]</a:t>
            </a:r>
          </a:p>
          <a:p>
            <a:r>
              <a:rPr lang="en-US" altLang="en-US" dirty="0"/>
              <a:t>then we increment k index by 1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7051796-C25E-F3FA-7D7A-9A958661B4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EF27AB-66FD-230A-DBBC-D908D852ED37}"/>
              </a:ext>
            </a:extLst>
          </p:cNvPr>
          <p:cNvCxnSpPr/>
          <p:nvPr/>
        </p:nvCxnSpPr>
        <p:spPr>
          <a:xfrm>
            <a:off x="467953" y="52019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D21035E-47FD-6B58-C26E-1E95C62B1046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3749747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67E0-0399-3C54-46F9-4D38FD0B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82DBAC-FA3A-7FEF-9321-D4B78D4B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7F351C-7971-7B49-5CF6-C913C6305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38400"/>
            <a:ext cx="5212080" cy="3761232"/>
          </a:xfrm>
        </p:spPr>
        <p:txBody>
          <a:bodyPr>
            <a:normAutofit/>
          </a:bodyPr>
          <a:lstStyle/>
          <a:p>
            <a:r>
              <a:rPr lang="en-US" altLang="en-US" dirty="0"/>
              <a:t>Recheck the condition the j is equal to q so we move to next step after the while loop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EC485D-856C-C800-5B40-6A5BB24D80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BFBD94-EB62-F257-D078-0B5C26F82070}"/>
              </a:ext>
            </a:extLst>
          </p:cNvPr>
          <p:cNvCxnSpPr/>
          <p:nvPr/>
        </p:nvCxnSpPr>
        <p:spPr>
          <a:xfrm>
            <a:off x="305393" y="40538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320327-3486-3B3B-63FD-98C583DBF22D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632758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28B3-6ABC-6E91-7C2D-9BD55654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C9E1D7-15C5-0DCB-5991-54938DAA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799B0C-E405-9599-C3A9-DCDA69597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310640"/>
            <a:ext cx="5212080" cy="4888992"/>
          </a:xfrm>
        </p:spPr>
        <p:txBody>
          <a:bodyPr>
            <a:normAutofit/>
          </a:bodyPr>
          <a:lstStyle/>
          <a:p>
            <a:r>
              <a:rPr lang="en-US" altLang="en-US" dirty="0"/>
              <a:t>This part is to copy the remaining elements from either array B or C to array A</a:t>
            </a:r>
          </a:p>
          <a:p>
            <a:r>
              <a:rPr lang="en-US" altLang="en-US" dirty="0"/>
              <a:t>If </a:t>
            </a:r>
            <a:r>
              <a:rPr lang="en-US" altLang="en-US" dirty="0" err="1"/>
              <a:t>i</a:t>
            </a:r>
            <a:r>
              <a:rPr lang="en-US" altLang="en-US" dirty="0"/>
              <a:t> is equal to p this means that the remaining elements is in array C and else the remaining elements are in array B </a:t>
            </a:r>
          </a:p>
          <a:p>
            <a:r>
              <a:rPr lang="en-US" altLang="en-US" dirty="0"/>
              <a:t>In in our case now, </a:t>
            </a:r>
            <a:r>
              <a:rPr lang="en-US" altLang="en-US" dirty="0" err="1"/>
              <a:t>i</a:t>
            </a:r>
            <a:r>
              <a:rPr lang="en-US" altLang="en-US" dirty="0"/>
              <a:t> is not equal to p so we move to the else part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00ED72E-4732-C821-3854-09A48B8325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248313-CDCD-8B20-6CA5-C5B3133C1A2B}"/>
              </a:ext>
            </a:extLst>
          </p:cNvPr>
          <p:cNvCxnSpPr/>
          <p:nvPr/>
        </p:nvCxnSpPr>
        <p:spPr>
          <a:xfrm>
            <a:off x="152993" y="55067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8848A6-7B57-77E6-7609-6B0CC0856EC9}"/>
              </a:ext>
            </a:extLst>
          </p:cNvPr>
          <p:cNvSpPr txBox="1"/>
          <p:nvPr/>
        </p:nvSpPr>
        <p:spPr>
          <a:xfrm>
            <a:off x="9873743" y="3975914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689009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865DD-BD7E-CEA9-0263-7732FE2F3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222F7E-F878-FD44-9289-BE42DD97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528872-74AF-581C-3E3B-0298DFCDB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049806"/>
            <a:ext cx="5212080" cy="5149826"/>
          </a:xfrm>
        </p:spPr>
        <p:txBody>
          <a:bodyPr>
            <a:normAutofit/>
          </a:bodyPr>
          <a:lstStyle/>
          <a:p>
            <a:r>
              <a:rPr lang="en-US" altLang="en-US" dirty="0"/>
              <a:t>B1=[38] and C1=[27]   A=[27,  ]</a:t>
            </a:r>
          </a:p>
          <a:p>
            <a:r>
              <a:rPr lang="en-US" altLang="en-US" dirty="0"/>
              <a:t>We copy elements from Array B1 starting from index </a:t>
            </a:r>
            <a:r>
              <a:rPr lang="en-US" altLang="en-US" dirty="0" err="1"/>
              <a:t>i</a:t>
            </a:r>
            <a:r>
              <a:rPr lang="en-US" altLang="en-US" dirty="0"/>
              <a:t>=0 till p-1=0 to the remaining parts of array A staring form k=1 till the end of array p+q-1=1+1-1=1 So A[1..1]=B1[0…0] </a:t>
            </a:r>
          </a:p>
          <a:p>
            <a:r>
              <a:rPr lang="en-US" altLang="en-US" dirty="0"/>
              <a:t> final array A=[27,38]</a:t>
            </a:r>
          </a:p>
          <a:p>
            <a:r>
              <a:rPr lang="en-US" altLang="en-US" dirty="0"/>
              <a:t>In latest stages it will be clearer</a:t>
            </a:r>
          </a:p>
          <a:p>
            <a:r>
              <a:rPr lang="en-US" altLang="en-US" dirty="0"/>
              <a:t>Note A=B=[27,38]</a:t>
            </a:r>
          </a:p>
          <a:p>
            <a:r>
              <a:rPr lang="en-US" altLang="en-US" dirty="0"/>
              <a:t>We now finished Merge of B is the last line in the </a:t>
            </a:r>
            <a:r>
              <a:rPr lang="en-US" altLang="en-US" dirty="0" err="1"/>
              <a:t>mergesort</a:t>
            </a:r>
            <a:r>
              <a:rPr lang="en-US" altLang="en-US" dirty="0"/>
              <a:t>(B) function  where do we go now ? </a:t>
            </a:r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6623ECC-7C56-B5A7-F0BA-A248606CAA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916A09-450B-E897-91D5-152A7E65C8E6}"/>
              </a:ext>
            </a:extLst>
          </p:cNvPr>
          <p:cNvCxnSpPr/>
          <p:nvPr/>
        </p:nvCxnSpPr>
        <p:spPr>
          <a:xfrm>
            <a:off x="153587" y="60655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E04F86-80C7-C102-303B-27B45EB0C4B4}"/>
              </a:ext>
            </a:extLst>
          </p:cNvPr>
          <p:cNvSpPr txBox="1"/>
          <p:nvPr/>
        </p:nvSpPr>
        <p:spPr>
          <a:xfrm>
            <a:off x="10474366" y="286034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1232414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AF35-D359-2AD8-115C-DD0FF166D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C7908A-68FB-DCCC-5232-7EAA35A6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A7AE33-906C-6E85-12EC-B2D6235AF4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468881"/>
            <a:ext cx="5212080" cy="3931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7F1F82-0DE8-7B56-0E65-DB89F80651E1}"/>
              </a:ext>
            </a:extLst>
          </p:cNvPr>
          <p:cNvSpPr txBox="1"/>
          <p:nvPr/>
        </p:nvSpPr>
        <p:spPr>
          <a:xfrm>
            <a:off x="5893985" y="23235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Initial Array: A= [ 38, 27, 43, 3, 9 ]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new array B= [27,38]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Now it is C turn = [43,3,9]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F37342-6B75-C7AA-A738-FAA55981DB16}"/>
              </a:ext>
            </a:extLst>
          </p:cNvPr>
          <p:cNvCxnSpPr/>
          <p:nvPr/>
        </p:nvCxnSpPr>
        <p:spPr>
          <a:xfrm>
            <a:off x="640079" y="559816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781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CB6B1-16DE-F73D-5957-F01E312B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BDD0F-5641-07D0-7B61-B3A1E6C4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B86261-3C5C-2CB1-2636-073EF7374B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E75E0A-5FD1-FD37-BCF8-89985BDF16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en-US" dirty="0"/>
              <a:t>= [43,3,9]and its size is larger than 1</a:t>
            </a:r>
          </a:p>
          <a:p>
            <a:r>
              <a:rPr lang="en-US" altLang="en-US" dirty="0"/>
              <a:t>Let’s divide it into two arrays B and C or let’s call them B2 and C2</a:t>
            </a:r>
          </a:p>
          <a:p>
            <a:r>
              <a:rPr lang="en-US" altLang="en-US" dirty="0"/>
              <a:t>B2=[43]</a:t>
            </a:r>
          </a:p>
          <a:p>
            <a:r>
              <a:rPr lang="en-US" altLang="en-US" dirty="0"/>
              <a:t>C2=[3,9]</a:t>
            </a:r>
          </a:p>
          <a:p>
            <a:r>
              <a:rPr lang="en-US" altLang="en-US" dirty="0"/>
              <a:t>Let’s call the </a:t>
            </a:r>
            <a:r>
              <a:rPr lang="en-US" altLang="en-US" dirty="0" err="1"/>
              <a:t>mergesort</a:t>
            </a:r>
            <a:r>
              <a:rPr lang="en-US" altLang="en-US" dirty="0"/>
              <a:t>(B2)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E2EF2D-1D54-DE52-A8C2-A188EAE28D2D}"/>
              </a:ext>
            </a:extLst>
          </p:cNvPr>
          <p:cNvCxnSpPr/>
          <p:nvPr/>
        </p:nvCxnSpPr>
        <p:spPr>
          <a:xfrm>
            <a:off x="558798" y="528320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931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75E33-8891-6AF5-FA82-892B2EDA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83033E-0D9E-79F3-80C7-CCE9B715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CB57B2D-5837-E6A4-CEDD-59EFAFA3A4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41B8B-9FDE-BA9C-61C2-2E896B0926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B2=[43] and its size is equal to 1</a:t>
            </a:r>
          </a:p>
          <a:p>
            <a:r>
              <a:rPr lang="en-US" altLang="en-US" dirty="0"/>
              <a:t>We return to the pervious recursive call 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A6F46C-9E82-645E-3437-444C3EDF15CA}"/>
              </a:ext>
            </a:extLst>
          </p:cNvPr>
          <p:cNvCxnSpPr/>
          <p:nvPr/>
        </p:nvCxnSpPr>
        <p:spPr>
          <a:xfrm>
            <a:off x="264157" y="42570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403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1035-FA59-F6E8-3D19-27660AB5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FBE107-DD00-9B19-A6A9-ED162955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64CAAC-E80B-5C8E-75DB-36E7C97AA8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1AE376-90B2-DC81-23A1-015220E841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en-US" dirty="0"/>
              <a:t>= [43,3,9]  B2=[43] C2=[3,9]</a:t>
            </a:r>
          </a:p>
          <a:p>
            <a:r>
              <a:rPr lang="en-US" altLang="en-US" dirty="0"/>
              <a:t>It the turn to call the </a:t>
            </a:r>
            <a:r>
              <a:rPr lang="en-US" altLang="en-US" dirty="0" err="1"/>
              <a:t>mergesort</a:t>
            </a:r>
            <a:r>
              <a:rPr lang="en-US" altLang="en-US" dirty="0"/>
              <a:t>(C2)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1DE375-4ABD-2466-CBDE-FDC8609CC02C}"/>
              </a:ext>
            </a:extLst>
          </p:cNvPr>
          <p:cNvCxnSpPr/>
          <p:nvPr/>
        </p:nvCxnSpPr>
        <p:spPr>
          <a:xfrm>
            <a:off x="558798" y="55778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552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7DC5-FD70-EDD9-EEEB-3744C8EA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C9FA44-71E9-91BC-73E5-D542711F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31F74B-033A-7D46-91B7-C70FBBE2DE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605E73-6B4E-E02A-E9A3-BCA82BEA79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C2</a:t>
            </a:r>
            <a:r>
              <a:rPr lang="en-US" altLang="en-US" dirty="0"/>
              <a:t>= [3,9]and its size is larger than 1</a:t>
            </a:r>
          </a:p>
          <a:p>
            <a:r>
              <a:rPr lang="en-US" altLang="en-US" dirty="0"/>
              <a:t>Let’s divide it into two arrays B and C or let’s call them B3 and C3</a:t>
            </a:r>
          </a:p>
          <a:p>
            <a:r>
              <a:rPr lang="en-US" altLang="en-US" dirty="0"/>
              <a:t>B3=[3]</a:t>
            </a:r>
          </a:p>
          <a:p>
            <a:r>
              <a:rPr lang="en-US" altLang="en-US" dirty="0"/>
              <a:t>C3=[9]</a:t>
            </a:r>
          </a:p>
          <a:p>
            <a:r>
              <a:rPr lang="en-US" altLang="en-US" dirty="0"/>
              <a:t>Let’s call the </a:t>
            </a:r>
            <a:r>
              <a:rPr lang="en-US" altLang="en-US" dirty="0" err="1"/>
              <a:t>mergesort</a:t>
            </a:r>
            <a:r>
              <a:rPr lang="en-US" altLang="en-US" dirty="0"/>
              <a:t>(B3)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D8DBB-889D-8479-8CAC-DCB7A422E967}"/>
              </a:ext>
            </a:extLst>
          </p:cNvPr>
          <p:cNvCxnSpPr/>
          <p:nvPr/>
        </p:nvCxnSpPr>
        <p:spPr>
          <a:xfrm>
            <a:off x="558798" y="528320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249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A034-1688-96B0-6FCA-7B9DA544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905F90-93CC-EDC8-53EF-882A9C36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D1761B-FB7B-AF5F-630E-98B6BFCA52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0953E2-B9CA-D8F3-D80F-2770763874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B3=[3] and its size is equal to 1</a:t>
            </a:r>
          </a:p>
          <a:p>
            <a:r>
              <a:rPr lang="en-US" altLang="en-US" dirty="0"/>
              <a:t>We return to the pervious recursive call 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383523-175E-58D0-8134-8A240D6586E6}"/>
              </a:ext>
            </a:extLst>
          </p:cNvPr>
          <p:cNvCxnSpPr/>
          <p:nvPr/>
        </p:nvCxnSpPr>
        <p:spPr>
          <a:xfrm>
            <a:off x="264157" y="42570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511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2395D-CE8D-4468-6055-ED138890E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40E0F9-97E7-AC10-2C87-36AC46EF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B343CF-5D89-99FC-E826-FD22D71B92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3AD9C8-E34F-4B38-D78A-1F1397DFBA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C2</a:t>
            </a:r>
            <a:r>
              <a:rPr lang="en-US" altLang="en-US" dirty="0"/>
              <a:t>= [3,9]  B3=[3] C3=[9]</a:t>
            </a:r>
          </a:p>
          <a:p>
            <a:r>
              <a:rPr lang="en-US" altLang="en-US" dirty="0"/>
              <a:t>Let’s call the </a:t>
            </a:r>
            <a:r>
              <a:rPr lang="en-US" altLang="en-US" dirty="0" err="1"/>
              <a:t>mergesort</a:t>
            </a:r>
            <a:r>
              <a:rPr lang="en-US" altLang="en-US" dirty="0"/>
              <a:t>(C3)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91E0A0-20E3-5A27-F378-98713E11DBB4}"/>
              </a:ext>
            </a:extLst>
          </p:cNvPr>
          <p:cNvCxnSpPr/>
          <p:nvPr/>
        </p:nvCxnSpPr>
        <p:spPr>
          <a:xfrm>
            <a:off x="507998" y="55778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552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9F57F-0D83-0ED4-CB84-E528C4A7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304371-32F6-3342-5B00-E129E758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776D9C-56B7-6B53-E588-AB6F30EBE7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3476DE-2607-8043-E3CD-B34EB0B9A1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C3=[9] and its size is equal to 1</a:t>
            </a:r>
          </a:p>
          <a:p>
            <a:r>
              <a:rPr lang="en-US" altLang="en-US" dirty="0"/>
              <a:t>We return to the pervious recursive call 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1B39A0-9DE7-4CDA-5F0F-3200CA88A61F}"/>
              </a:ext>
            </a:extLst>
          </p:cNvPr>
          <p:cNvCxnSpPr/>
          <p:nvPr/>
        </p:nvCxnSpPr>
        <p:spPr>
          <a:xfrm>
            <a:off x="264157" y="42570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064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052CB-C616-8B21-FDF6-38B7D509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C3A392-827E-E722-B1B8-EAE02EAD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9A048A-0DE3-7669-7664-7E407BEF36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58A7E3-ABAE-8DF7-1B07-60ADB4C94A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C2</a:t>
            </a:r>
            <a:r>
              <a:rPr lang="en-US" altLang="en-US" dirty="0"/>
              <a:t>= [3,9]  B3=[3] C3=[9]</a:t>
            </a:r>
          </a:p>
          <a:p>
            <a:r>
              <a:rPr lang="en-US" altLang="en-US" dirty="0"/>
              <a:t>We reached the Merge part which means that we finished the divide part and we need to conquer using merge(B3,C3,C2) 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D28B44-7806-E2EE-B6A8-D2407C50866A}"/>
              </a:ext>
            </a:extLst>
          </p:cNvPr>
          <p:cNvCxnSpPr/>
          <p:nvPr/>
        </p:nvCxnSpPr>
        <p:spPr>
          <a:xfrm>
            <a:off x="568958" y="59232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871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AD34E-5BAF-88ED-C34F-62337E3F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0A3367-237E-5328-79A4-6C8CD0E6E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29FBBB-1D0B-3140-2A56-58AFAFC99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249680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in this call B is B3, C is C3and A is C2</a:t>
            </a:r>
          </a:p>
          <a:p>
            <a:r>
              <a:rPr lang="en-US" altLang="en-US" dirty="0"/>
              <a:t>To avoid confusion let’s call the arrays B3 and C3 and A</a:t>
            </a:r>
          </a:p>
          <a:p>
            <a:r>
              <a:rPr lang="en-US" altLang="en-US" dirty="0"/>
              <a:t>Where we have two arrays B3=[3] and C3=[9]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E3614EF-5CCD-079C-AA04-818EFC9165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A59444-C229-3292-4C6F-5F6DECA28347}"/>
              </a:ext>
            </a:extLst>
          </p:cNvPr>
          <p:cNvCxnSpPr/>
          <p:nvPr/>
        </p:nvCxnSpPr>
        <p:spPr>
          <a:xfrm>
            <a:off x="305393" y="37795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B1289A8-8849-13B3-7561-56D2F503EA01}"/>
              </a:ext>
            </a:extLst>
          </p:cNvPr>
          <p:cNvSpPr txBox="1"/>
          <p:nvPr/>
        </p:nvSpPr>
        <p:spPr>
          <a:xfrm>
            <a:off x="10515600" y="490583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4120603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D9C2-1E1E-3C16-334F-4D00D1E9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7A808-FDD8-D384-42A7-97902A935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382A39-1511-6FBA-F666-0F71D315D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249680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The while condition check if any index of I or j exceeds the </a:t>
            </a:r>
            <a:r>
              <a:rPr lang="en-US" dirty="0" err="1"/>
              <a:t>the</a:t>
            </a:r>
            <a:r>
              <a:rPr lang="en-US" dirty="0"/>
              <a:t> size of p and q</a:t>
            </a:r>
          </a:p>
          <a:p>
            <a:r>
              <a:rPr lang="en-US" dirty="0"/>
              <a:t>Where </a:t>
            </a:r>
            <a:r>
              <a:rPr lang="en-US" dirty="0" err="1"/>
              <a:t>i</a:t>
            </a:r>
            <a:r>
              <a:rPr lang="en-US" dirty="0"/>
              <a:t> is less than 1 and j is less than q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3E1AABD-2A4F-02DD-BF6C-1EEFE5A3CB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A0B36E-E2F2-8DAA-2858-89E67542BF21}"/>
              </a:ext>
            </a:extLst>
          </p:cNvPr>
          <p:cNvCxnSpPr/>
          <p:nvPr/>
        </p:nvCxnSpPr>
        <p:spPr>
          <a:xfrm>
            <a:off x="305393" y="40436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8DF21E-C5C8-66C9-2E85-1AAEC3F65AE8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2468502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6384-DD20-22E3-827B-6E49E39E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265E8F-37B6-3DE4-8FC9-BC0540EB5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C498A4-2CAE-B47D-A8BD-130F2C2CC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38400"/>
            <a:ext cx="5212080" cy="3761232"/>
          </a:xfrm>
        </p:spPr>
        <p:txBody>
          <a:bodyPr>
            <a:normAutofit/>
          </a:bodyPr>
          <a:lstStyle/>
          <a:p>
            <a:r>
              <a:rPr lang="en-US" altLang="en-US" dirty="0"/>
              <a:t>B3=[3] and C3=[9]</a:t>
            </a:r>
          </a:p>
          <a:p>
            <a:r>
              <a:rPr lang="en-US" dirty="0"/>
              <a:t>Let check the condition if B[0] &lt; C[0] or 3&lt;9 which is true.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9825075-D5C1-C677-9ABE-9A7B73F1C5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DC24B4-0257-EBEF-967A-16AF62882D1E}"/>
              </a:ext>
            </a:extLst>
          </p:cNvPr>
          <p:cNvCxnSpPr/>
          <p:nvPr/>
        </p:nvCxnSpPr>
        <p:spPr>
          <a:xfrm>
            <a:off x="467953" y="43586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45AC7C0-142B-3560-71F6-1C52EB9AEF49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3673410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2C4A6-475B-F7EF-6204-CB7BF904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16BA7F-2679-2DCE-B713-0208C061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6CB7F5-94D7-B55A-F089-D5D59AAC7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38400"/>
            <a:ext cx="5212080" cy="3761232"/>
          </a:xfrm>
        </p:spPr>
        <p:txBody>
          <a:bodyPr>
            <a:normAutofit/>
          </a:bodyPr>
          <a:lstStyle/>
          <a:p>
            <a:r>
              <a:rPr lang="en-US" altLang="en-US" dirty="0"/>
              <a:t>B3=[3] and C1=[9]</a:t>
            </a:r>
          </a:p>
          <a:p>
            <a:r>
              <a:rPr lang="en-US" altLang="en-US" dirty="0"/>
              <a:t>A[0]= 3 and then we increment </a:t>
            </a:r>
            <a:r>
              <a:rPr lang="en-US" altLang="en-US" dirty="0" err="1"/>
              <a:t>i</a:t>
            </a:r>
            <a:r>
              <a:rPr lang="en-US" altLang="en-US" dirty="0"/>
              <a:t> index by 1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D7A34B3-DBD5-4A87-7276-82DCF8177A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AF00B9-45B0-D19C-7D1A-E8A39179DD2E}"/>
              </a:ext>
            </a:extLst>
          </p:cNvPr>
          <p:cNvCxnSpPr/>
          <p:nvPr/>
        </p:nvCxnSpPr>
        <p:spPr>
          <a:xfrm>
            <a:off x="833713" y="46431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CBB406-3118-0BC3-7B4C-8FE6D9F249B1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475756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7C99-BEC7-BEF2-FBCD-C067857A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7200B9-56BB-CDE8-AFBC-5A7A284CB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264758-E556-B109-9EFB-F119543BE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38400"/>
            <a:ext cx="5212080" cy="3761232"/>
          </a:xfrm>
        </p:spPr>
        <p:txBody>
          <a:bodyPr>
            <a:normAutofit/>
          </a:bodyPr>
          <a:lstStyle/>
          <a:p>
            <a:r>
              <a:rPr lang="en-US" altLang="en-US" dirty="0"/>
              <a:t>B1=[3] and C1=[9]   A=[3,  ]</a:t>
            </a:r>
          </a:p>
          <a:p>
            <a:r>
              <a:rPr lang="en-US" altLang="en-US" dirty="0"/>
              <a:t>then we increment k index by 1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09749E2-93DD-73FD-E4B3-8C3433A715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8FC130-8006-486D-076C-41058335E711}"/>
              </a:ext>
            </a:extLst>
          </p:cNvPr>
          <p:cNvCxnSpPr/>
          <p:nvPr/>
        </p:nvCxnSpPr>
        <p:spPr>
          <a:xfrm>
            <a:off x="467953" y="52019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C4A7F97-C5AD-58B2-BCEB-B9D8B5458F16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3706039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D9B35-5DCD-16C5-C367-77FCAB10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0A87D2-C43E-E580-D3D6-7B2BB626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ABD855-C9E8-C4FE-AD6F-16033A5A8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438400"/>
            <a:ext cx="5212080" cy="3761232"/>
          </a:xfrm>
        </p:spPr>
        <p:txBody>
          <a:bodyPr>
            <a:normAutofit/>
          </a:bodyPr>
          <a:lstStyle/>
          <a:p>
            <a:r>
              <a:rPr lang="en-US" altLang="en-US" dirty="0"/>
              <a:t>Recheck the condition the </a:t>
            </a:r>
            <a:r>
              <a:rPr lang="en-US" altLang="en-US" dirty="0" err="1"/>
              <a:t>i</a:t>
            </a:r>
            <a:r>
              <a:rPr lang="en-US" altLang="en-US" dirty="0"/>
              <a:t> is equal to p so we move to next step after the while loop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B52FC17-55C0-AF99-A76A-52D718E6BF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497F40-3530-F85E-6CED-36D95708129E}"/>
              </a:ext>
            </a:extLst>
          </p:cNvPr>
          <p:cNvCxnSpPr/>
          <p:nvPr/>
        </p:nvCxnSpPr>
        <p:spPr>
          <a:xfrm>
            <a:off x="305393" y="40538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2D38BC-0004-8C28-FB3B-C72D6772BB6F}"/>
              </a:ext>
            </a:extLst>
          </p:cNvPr>
          <p:cNvSpPr txBox="1"/>
          <p:nvPr/>
        </p:nvSpPr>
        <p:spPr>
          <a:xfrm>
            <a:off x="8768080" y="4407991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402429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6CE79-44C2-A51E-1CED-07650C6E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203BD5-F9E0-55E6-F14F-B846849D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ED1D6E-703A-E56E-3E8E-936D5FA2B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310640"/>
            <a:ext cx="5212080" cy="4888992"/>
          </a:xfrm>
        </p:spPr>
        <p:txBody>
          <a:bodyPr>
            <a:normAutofit/>
          </a:bodyPr>
          <a:lstStyle/>
          <a:p>
            <a:r>
              <a:rPr lang="en-US" altLang="en-US" dirty="0"/>
              <a:t>This part is to copy the remaining elements from either array B or C to array A</a:t>
            </a:r>
          </a:p>
          <a:p>
            <a:r>
              <a:rPr lang="en-US" altLang="en-US" dirty="0"/>
              <a:t>If </a:t>
            </a:r>
            <a:r>
              <a:rPr lang="en-US" altLang="en-US" dirty="0" err="1"/>
              <a:t>i</a:t>
            </a:r>
            <a:r>
              <a:rPr lang="en-US" altLang="en-US" dirty="0"/>
              <a:t> is equal to p this means that the remaining elements is in array C and else the remaining elements are in array B </a:t>
            </a:r>
          </a:p>
          <a:p>
            <a:r>
              <a:rPr lang="en-US" altLang="en-US" dirty="0"/>
              <a:t>In in our case now, </a:t>
            </a:r>
            <a:r>
              <a:rPr lang="en-US" altLang="en-US" dirty="0" err="1"/>
              <a:t>i</a:t>
            </a:r>
            <a:r>
              <a:rPr lang="en-US" altLang="en-US" dirty="0"/>
              <a:t> is equal to p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4468341-7544-B931-8367-1611B5D0BD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848E97-6337-066A-01B0-AFD8C53BE939}"/>
              </a:ext>
            </a:extLst>
          </p:cNvPr>
          <p:cNvCxnSpPr/>
          <p:nvPr/>
        </p:nvCxnSpPr>
        <p:spPr>
          <a:xfrm>
            <a:off x="152993" y="55067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D83AEF-0F80-B449-6651-043BC1A4F41F}"/>
              </a:ext>
            </a:extLst>
          </p:cNvPr>
          <p:cNvSpPr txBox="1"/>
          <p:nvPr/>
        </p:nvSpPr>
        <p:spPr>
          <a:xfrm>
            <a:off x="9873743" y="3975914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986022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1CC2-54D8-8396-1EB2-1D6A5431B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9304FE-E811-752F-D2A4-395C655E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8" y="1049806"/>
            <a:ext cx="10890929" cy="1097280"/>
          </a:xfrm>
        </p:spPr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7AD78-50BE-88D7-B0EB-E5C19F4C8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049806"/>
            <a:ext cx="5212080" cy="5149826"/>
          </a:xfrm>
        </p:spPr>
        <p:txBody>
          <a:bodyPr>
            <a:normAutofit/>
          </a:bodyPr>
          <a:lstStyle/>
          <a:p>
            <a:r>
              <a:rPr lang="en-US" altLang="en-US" dirty="0"/>
              <a:t>B3=[3] and C3=[9]   A=[3,  ]</a:t>
            </a:r>
          </a:p>
          <a:p>
            <a:r>
              <a:rPr lang="en-US" altLang="en-US" dirty="0"/>
              <a:t>We copy elements from Array C3 starting from index j=0 till q-1=0 to the remaining parts of array A staring form k=1 till the end of array p+q-1=1+1-1=1 So A[1..1]=C3[0…0] </a:t>
            </a:r>
          </a:p>
          <a:p>
            <a:r>
              <a:rPr lang="en-US" altLang="en-US" dirty="0"/>
              <a:t> final array A=[3,9]</a:t>
            </a:r>
          </a:p>
          <a:p>
            <a:r>
              <a:rPr lang="en-US" altLang="en-US" dirty="0"/>
              <a:t>In latest stages it will be clearer</a:t>
            </a:r>
          </a:p>
          <a:p>
            <a:r>
              <a:rPr lang="en-US" altLang="en-US" dirty="0"/>
              <a:t>Note A=C3=[3,9]</a:t>
            </a:r>
          </a:p>
          <a:p>
            <a:r>
              <a:rPr lang="en-US" altLang="en-US" dirty="0"/>
              <a:t>We now finished Merge of C2.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25B4DC7-47AC-192A-7040-909C4DC1A4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FD6C69-4B8A-C8C0-B8EE-2AC0007B8F5E}"/>
              </a:ext>
            </a:extLst>
          </p:cNvPr>
          <p:cNvCxnSpPr/>
          <p:nvPr/>
        </p:nvCxnSpPr>
        <p:spPr>
          <a:xfrm>
            <a:off x="559987" y="584200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1EA36A-4249-4C97-2F25-CD9D07462ABB}"/>
              </a:ext>
            </a:extLst>
          </p:cNvPr>
          <p:cNvSpPr txBox="1"/>
          <p:nvPr/>
        </p:nvSpPr>
        <p:spPr>
          <a:xfrm>
            <a:off x="10474366" y="286034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q=1</a:t>
            </a:r>
          </a:p>
        </p:txBody>
      </p:sp>
    </p:spTree>
    <p:extLst>
      <p:ext uri="{BB962C8B-B14F-4D97-AF65-F5344CB8AC3E}">
        <p14:creationId xmlns:p14="http://schemas.microsoft.com/office/powerpoint/2010/main" val="2435715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E486E-C37B-3385-F7F2-9B75272E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30D262-2E4B-E282-6245-1013409C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2BF24F-13AF-44B2-4E48-74A77F86BF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9" y="2468881"/>
            <a:ext cx="5212080" cy="390143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78A6A3-7B51-5E01-0037-38AFD30DE0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en-US" dirty="0"/>
              <a:t>= [43,3,9]  B2=[43] C2=[3,9]</a:t>
            </a:r>
          </a:p>
          <a:p>
            <a:r>
              <a:rPr lang="en-US" altLang="en-US" dirty="0"/>
              <a:t>Now after finishing C2 merge we are back to this recursive call </a:t>
            </a:r>
          </a:p>
          <a:p>
            <a:r>
              <a:rPr lang="en-US" altLang="en-US" dirty="0"/>
              <a:t>Now it time to merge B2 and C2 to produce the sorted C</a:t>
            </a:r>
          </a:p>
          <a:p>
            <a:r>
              <a:rPr lang="en-US" altLang="en-US" dirty="0"/>
              <a:t>We call Merge(B2,C2,C)</a:t>
            </a:r>
          </a:p>
          <a:p>
            <a:pPr marL="0" indent="0">
              <a:buNone/>
            </a:pPr>
            <a:r>
              <a:rPr lang="en-US" altLang="en-US" dirty="0"/>
              <a:t> 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375BCE-BC26-DF68-5813-60C517620F85}"/>
              </a:ext>
            </a:extLst>
          </p:cNvPr>
          <p:cNvCxnSpPr/>
          <p:nvPr/>
        </p:nvCxnSpPr>
        <p:spPr>
          <a:xfrm>
            <a:off x="548638" y="59131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987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1E80-0216-12E4-3D66-A9F426DC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7121FF-02C5-2731-390A-22D32DAE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CE0453-B604-B500-D1CA-A0275EFAC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in this call B is B2, C is C2 and A is C</a:t>
            </a:r>
          </a:p>
          <a:p>
            <a:r>
              <a:rPr lang="en-US" altLang="en-US" dirty="0"/>
              <a:t>To avoid confusion let’s call the arrays B3 and C3 and A</a:t>
            </a:r>
          </a:p>
          <a:p>
            <a:r>
              <a:rPr lang="en-US" altLang="en-US" dirty="0"/>
              <a:t>Where we have two arrays B2=[43] and C3=[3,9]</a:t>
            </a:r>
          </a:p>
          <a:p>
            <a:r>
              <a:rPr lang="en-US" altLang="en-US" dirty="0"/>
              <a:t>Let’s move a let bit faster follow the arrow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947A806-2ACB-9E9A-A0BF-E4D8CD05E7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F61D32-E06B-57AC-A99A-7CE7AD2154C1}"/>
              </a:ext>
            </a:extLst>
          </p:cNvPr>
          <p:cNvCxnSpPr/>
          <p:nvPr/>
        </p:nvCxnSpPr>
        <p:spPr>
          <a:xfrm>
            <a:off x="305393" y="37795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E5C216-E4E6-6DB1-5C43-A8706D512222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2889478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6BACF-870C-62D5-3A4B-BE240A30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04DB6A-C33F-6D18-0ADD-9699B83F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A64F31-5AA4-DC65-BF2C-8C7858540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</a:t>
            </a:r>
          </a:p>
          <a:p>
            <a:r>
              <a:rPr lang="en-US" dirty="0" err="1"/>
              <a:t>i</a:t>
            </a:r>
            <a:r>
              <a:rPr lang="en-US" dirty="0"/>
              <a:t>&lt;p (0&lt;1) and j&lt;p (0&lt;2) true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9CFF353-4892-29AB-64D8-D69CA96DD9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F9803A-6813-A1B9-A376-37542DD31DD9}"/>
              </a:ext>
            </a:extLst>
          </p:cNvPr>
          <p:cNvCxnSpPr/>
          <p:nvPr/>
        </p:nvCxnSpPr>
        <p:spPr>
          <a:xfrm>
            <a:off x="284478" y="40436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DB1EDE-1FE1-52EC-9AE8-1795F87C5EE2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2630848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482F-E280-87E4-BC3D-94F4C477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5B4FC5-DAAB-E62F-9EAA-ADE13092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AE0A40-9768-1C01-308A-6C0360AEA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 , ]</a:t>
            </a:r>
          </a:p>
          <a:p>
            <a:r>
              <a:rPr lang="en-US" dirty="0"/>
              <a:t>A[0]=C[0] =3</a:t>
            </a:r>
          </a:p>
          <a:p>
            <a:r>
              <a:rPr lang="en-US" dirty="0"/>
              <a:t>j+1=1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C498A8C-0354-FBCC-B936-12942A5D1C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8AA852-12F6-D0FC-2400-48DE03758527}"/>
              </a:ext>
            </a:extLst>
          </p:cNvPr>
          <p:cNvCxnSpPr/>
          <p:nvPr/>
        </p:nvCxnSpPr>
        <p:spPr>
          <a:xfrm>
            <a:off x="487678" y="493776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A051B4F-EC0A-4A50-539C-9F0A3F5BED5F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15743572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CC9FB-F6AA-B675-ACA7-87A4194A6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4569EB-AC01-8D75-E1A5-7A1A7A782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8521CB-F698-7851-2212-7FEA7DC12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 , ]</a:t>
            </a:r>
          </a:p>
          <a:p>
            <a:r>
              <a:rPr lang="en-US" dirty="0"/>
              <a:t>k+1=1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5228A27-709A-3CAB-FCAD-EBF54205F6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B4351D-91F7-FE97-9CEB-9B63B567AE24}"/>
              </a:ext>
            </a:extLst>
          </p:cNvPr>
          <p:cNvCxnSpPr/>
          <p:nvPr/>
        </p:nvCxnSpPr>
        <p:spPr>
          <a:xfrm>
            <a:off x="528318" y="52120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845D3B2-6051-0C1B-302A-84F5A9B01C1C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30466955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325CA-CA7D-4590-0F43-796F0DA5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7D5B25-F81C-F295-30D7-C30973C50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97E47B-7CD2-CFE1-2BC3-D3A0BD95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 , ]</a:t>
            </a:r>
          </a:p>
          <a:p>
            <a:r>
              <a:rPr lang="en-US" dirty="0" err="1"/>
              <a:t>i</a:t>
            </a:r>
            <a:r>
              <a:rPr lang="en-US" dirty="0"/>
              <a:t>&lt;p (0&lt;1) and j&lt;p (1&lt;2) true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8C746AA-34CC-37A9-35F4-D876555788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41C8DC-3266-A449-CCBC-F218CEFAA60C}"/>
              </a:ext>
            </a:extLst>
          </p:cNvPr>
          <p:cNvCxnSpPr/>
          <p:nvPr/>
        </p:nvCxnSpPr>
        <p:spPr>
          <a:xfrm>
            <a:off x="284478" y="40436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A5D4F1-9234-D62A-1023-BBE0B45A7F09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38549068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276F-1B37-1B1E-88CE-85BC430F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A9FDFB-BE10-1C85-FFD4-73BBFDF6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6757B-4C9A-A285-AAA5-E883503D7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 , ]</a:t>
            </a:r>
          </a:p>
          <a:p>
            <a:r>
              <a:rPr lang="en-US" dirty="0"/>
              <a:t>B[0]&lt;=C[1] or 43&lt;=9 which is false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74324ED-EC34-9F0E-3E04-49175B24F0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DCD100-6CE7-6BEF-A004-8D008B88F753}"/>
              </a:ext>
            </a:extLst>
          </p:cNvPr>
          <p:cNvCxnSpPr/>
          <p:nvPr/>
        </p:nvCxnSpPr>
        <p:spPr>
          <a:xfrm>
            <a:off x="497838" y="43484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D523BE5-DB89-F639-E675-B67C793CE596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35574491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6B81E-64E8-CFC4-F1FA-E24DCF6E4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C43F60-41AC-EB21-A64C-36D299D0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ABEA48-848D-E294-9E87-1D8FCBA34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9 , ]</a:t>
            </a:r>
          </a:p>
          <a:p>
            <a:r>
              <a:rPr lang="en-US" dirty="0"/>
              <a:t>A[1]=C[1]=9</a:t>
            </a:r>
          </a:p>
          <a:p>
            <a:r>
              <a:rPr lang="en-US" dirty="0"/>
              <a:t>j+1=2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B228A9D-3628-ADBC-EC85-71B358D569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177AEF-3C87-9F1C-6C88-FDA6DC68ACA0}"/>
              </a:ext>
            </a:extLst>
          </p:cNvPr>
          <p:cNvCxnSpPr/>
          <p:nvPr/>
        </p:nvCxnSpPr>
        <p:spPr>
          <a:xfrm>
            <a:off x="640079" y="492760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FA7A34B-84BF-C9A4-7475-F9BE0AF768C3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10701654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EA47-FB6D-41BE-FA62-A201C7D2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0A3D5-2313-69B4-00F3-206D1F6A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FED2FF-1534-3AAE-2D09-67060DA1A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9 , ]</a:t>
            </a:r>
          </a:p>
          <a:p>
            <a:r>
              <a:rPr lang="en-US" dirty="0"/>
              <a:t>k+1=2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749267D-7AD0-0637-9E75-57E29D88D2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CD33FB-FE10-1917-A3E9-9E36F1E0D653}"/>
              </a:ext>
            </a:extLst>
          </p:cNvPr>
          <p:cNvCxnSpPr/>
          <p:nvPr/>
        </p:nvCxnSpPr>
        <p:spPr>
          <a:xfrm>
            <a:off x="558799" y="519176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4CE5B5F-B3CC-7F3B-5C68-27535D50DC5A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3412102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31D3-8408-1E33-969A-51C10720B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ECE5EA-952E-5F1E-2821-F3B15115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E446B9-FB5D-EBBE-4F91-AE9A2952F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9 , ]</a:t>
            </a:r>
          </a:p>
          <a:p>
            <a:r>
              <a:rPr lang="en-US" dirty="0" err="1"/>
              <a:t>i</a:t>
            </a:r>
            <a:r>
              <a:rPr lang="en-US" dirty="0"/>
              <a:t>&lt;p (0&lt;1) and j&lt;p (2&lt;2) false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A1EF47E-895E-AFF6-F466-E5B4DD1E3E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73D6B7-EDD2-B9EF-0666-4B1DE676CBDE}"/>
              </a:ext>
            </a:extLst>
          </p:cNvPr>
          <p:cNvCxnSpPr/>
          <p:nvPr/>
        </p:nvCxnSpPr>
        <p:spPr>
          <a:xfrm>
            <a:off x="305393" y="405384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940838C-139D-0DE4-FFFE-A1BBAAC9F561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16523487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286C-45A7-F292-295F-F16DC69A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A8A11E-7B02-646A-C633-028B1A79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7B4426-7776-91AC-5819-74F7751F7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9 , ]</a:t>
            </a:r>
          </a:p>
          <a:p>
            <a:r>
              <a:rPr lang="en-US" dirty="0" err="1"/>
              <a:t>i</a:t>
            </a:r>
            <a:r>
              <a:rPr lang="en-US" dirty="0"/>
              <a:t>=p  is false 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6A075D9-02A4-29CD-06D1-FB320EC6DB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0022E6-5301-94F6-F016-D6A52BD99AA8}"/>
              </a:ext>
            </a:extLst>
          </p:cNvPr>
          <p:cNvCxnSpPr/>
          <p:nvPr/>
        </p:nvCxnSpPr>
        <p:spPr>
          <a:xfrm>
            <a:off x="305393" y="55067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9F33BD-8FD5-383A-66DD-DC79D2988B79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17583709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2D172-3175-F330-5B3D-933BBA39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859B46-EF21-4628-8083-3982DAA49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B049DD-F31C-8C95-AFD5-ACA178E02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dirty="0"/>
              <a:t>B2=[43] C2=[3,9] A=[3, 9 , 43 ]</a:t>
            </a:r>
          </a:p>
          <a:p>
            <a:r>
              <a:rPr lang="en-US" altLang="en-US" dirty="0"/>
              <a:t>Copy from B2[</a:t>
            </a:r>
            <a:r>
              <a:rPr lang="en-US" altLang="en-US" dirty="0" err="1"/>
              <a:t>i</a:t>
            </a:r>
            <a:r>
              <a:rPr lang="en-US" altLang="en-US" dirty="0"/>
              <a:t>….p-1] to A[k….p+q-1]</a:t>
            </a:r>
          </a:p>
          <a:p>
            <a:r>
              <a:rPr lang="en-US" altLang="en-US" dirty="0"/>
              <a:t>A[2..2]=B2[0…0]</a:t>
            </a:r>
          </a:p>
          <a:p>
            <a:r>
              <a:rPr lang="en-US" dirty="0"/>
              <a:t>Now we finished the merge of C which is equal to A in this function call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7C03B94-6272-0192-0234-D1531FE53F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8E2646-478F-F63B-92D8-0775A8ABEE72}"/>
              </a:ext>
            </a:extLst>
          </p:cNvPr>
          <p:cNvCxnSpPr/>
          <p:nvPr/>
        </p:nvCxnSpPr>
        <p:spPr>
          <a:xfrm>
            <a:off x="285667" y="610616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894AFC7-F1F7-FF9E-9380-36999161943E}"/>
              </a:ext>
            </a:extLst>
          </p:cNvPr>
          <p:cNvSpPr txBox="1"/>
          <p:nvPr/>
        </p:nvSpPr>
        <p:spPr>
          <a:xfrm>
            <a:off x="9692640" y="4223463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p=1</a:t>
            </a:r>
          </a:p>
          <a:p>
            <a:r>
              <a:rPr lang="en-US" dirty="0"/>
              <a:t>q=2</a:t>
            </a:r>
          </a:p>
        </p:txBody>
      </p:sp>
    </p:spTree>
    <p:extLst>
      <p:ext uri="{BB962C8B-B14F-4D97-AF65-F5344CB8AC3E}">
        <p14:creationId xmlns:p14="http://schemas.microsoft.com/office/powerpoint/2010/main" val="40748790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A355C-EB4B-A2F4-A235-075BC7E2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6D0CAB-BAF6-E453-6617-5DC26295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67AF22-1AE8-AF33-2FA6-FBE3361E12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468881"/>
            <a:ext cx="5212080" cy="3931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072180-3846-097A-8A55-9BFD67D891D9}"/>
              </a:ext>
            </a:extLst>
          </p:cNvPr>
          <p:cNvSpPr txBox="1"/>
          <p:nvPr/>
        </p:nvSpPr>
        <p:spPr>
          <a:xfrm>
            <a:off x="5893985" y="23235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We are back to this call function where B= [27,38] and new C is equal to [3,9,43]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We call for the last time Merge(B,C,A)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23A2E1-30D0-3BA1-B6FE-3292E7E10293}"/>
              </a:ext>
            </a:extLst>
          </p:cNvPr>
          <p:cNvCxnSpPr/>
          <p:nvPr/>
        </p:nvCxnSpPr>
        <p:spPr>
          <a:xfrm>
            <a:off x="660992" y="595376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81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B3C0-E56F-A5A5-BC34-597075C8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73E0C0-95F9-246D-4B82-49923000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161ACF-6DB9-92F9-6CE9-66294C7B1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5DE47CF-1D84-0425-B590-5908D54D8E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CBE42A-8129-A279-419B-18483437C599}"/>
              </a:ext>
            </a:extLst>
          </p:cNvPr>
          <p:cNvCxnSpPr/>
          <p:nvPr/>
        </p:nvCxnSpPr>
        <p:spPr>
          <a:xfrm>
            <a:off x="305393" y="37795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FBAE04A-78B7-2830-9740-FB3FAA0A925F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26487469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8F52-A792-9FEC-EF9C-08368C6F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322F6A-57AA-AC71-59F0-ED4DB123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F1C700-29F7-53EB-98A5-971F17B07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,   ,   ,  ,  ]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 &lt; p (0&lt;2) and j&lt;q (0&lt;3) true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061D1A3-1BC2-8F38-45FC-DE123746A5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7F2D7E-7E12-A170-3824-04D9643A4F78}"/>
              </a:ext>
            </a:extLst>
          </p:cNvPr>
          <p:cNvCxnSpPr/>
          <p:nvPr/>
        </p:nvCxnSpPr>
        <p:spPr>
          <a:xfrm>
            <a:off x="284478" y="404368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221ECC-AE78-B684-0D44-CB3C9790026A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2991209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A6FB-AD1F-592F-CCB2-90B9EA82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DAAF98-2CC9-BB6E-E883-1D902C16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EEE957-E658-4C92-3A1E-90B78B714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,   ,   ,  ,  ]</a:t>
            </a:r>
          </a:p>
          <a:p>
            <a:r>
              <a:rPr lang="en-US" altLang="en-US" dirty="0"/>
              <a:t>B[0]&lt;=C[0] (27&lt;3) false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6AA8CCC-A719-722A-3459-B398B0300C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B70900-6FF9-5CA2-D8B4-CC29EA5635D9}"/>
              </a:ext>
            </a:extLst>
          </p:cNvPr>
          <p:cNvCxnSpPr/>
          <p:nvPr/>
        </p:nvCxnSpPr>
        <p:spPr>
          <a:xfrm>
            <a:off x="518158" y="4338320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015D29-2AD2-5E8B-369B-537AB10A05B2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j=0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9213934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A693-E15A-1382-63C3-737742CA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E61AEE-9B7E-02CA-5C50-CE070C5A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0E4634-6F6E-4BDA-3ED2-4331AC792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  ,   ,  ,  ]</a:t>
            </a:r>
          </a:p>
          <a:p>
            <a:r>
              <a:rPr lang="en-US" altLang="en-US" dirty="0"/>
              <a:t>A[0]=C[0]=3</a:t>
            </a:r>
          </a:p>
          <a:p>
            <a:r>
              <a:rPr lang="en-US" altLang="en-US" dirty="0"/>
              <a:t>j+1=1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FE3D64A-56AF-6390-EB35-51E1A375B3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0BA2D8-9FF1-8D7A-39D0-6D5EED3B79B8}"/>
              </a:ext>
            </a:extLst>
          </p:cNvPr>
          <p:cNvCxnSpPr/>
          <p:nvPr/>
        </p:nvCxnSpPr>
        <p:spPr>
          <a:xfrm>
            <a:off x="528318" y="4941016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33636FB-CC92-9710-17CF-E8173947E97C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k=0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34181291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92E00-A74E-1764-15D0-74614123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035C78-ECB4-EA03-CD51-A805CA80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FD896D-3A8E-4BF9-BA51-8A38C0BAB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  ,   ,  ,  ]</a:t>
            </a:r>
          </a:p>
          <a:p>
            <a:r>
              <a:rPr lang="en-US" altLang="en-US" dirty="0"/>
              <a:t>k+1=1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C0C966A-4F35-C17F-758A-76B44DF861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295516-9C2E-0F72-8A43-5F08DC9EC656}"/>
              </a:ext>
            </a:extLst>
          </p:cNvPr>
          <p:cNvCxnSpPr/>
          <p:nvPr/>
        </p:nvCxnSpPr>
        <p:spPr>
          <a:xfrm>
            <a:off x="528318" y="5205176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0EA042-0181-F9B3-8515-11312B7FCCCD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31396865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A5FFB-D1B7-DD80-C925-7B1E6735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AA8EB5-739F-883B-CE36-F57C629B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E77D12-B72A-BD16-5FE5-FDACE15F1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  ,   ,  ,  ]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 &lt; p (0&lt;2) and j&lt;q (1&lt;3) true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5B4B97F-9D1C-0986-3E7A-DA4CD3A56E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ADA442-013F-F348-A14E-CE256FC1E467}"/>
              </a:ext>
            </a:extLst>
          </p:cNvPr>
          <p:cNvCxnSpPr/>
          <p:nvPr/>
        </p:nvCxnSpPr>
        <p:spPr>
          <a:xfrm>
            <a:off x="284478" y="4046936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A091CE5-C6C9-E70A-B181-2AEC5EA2A50A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22725109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F902-1255-08A6-6B3B-A89BBC59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2D4BD3-936D-4B0C-F44F-07B0C110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2AA0A9-FD04-0E45-B744-9A0701A24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  ,   ,  ,  ]</a:t>
            </a:r>
          </a:p>
          <a:p>
            <a:r>
              <a:rPr lang="en-US" altLang="en-US" dirty="0"/>
              <a:t>B[0]&lt;=C[1] (27&lt;9) false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B60B266-26AE-596B-FDE4-DA821E4C51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6AFB77-6CBE-4F65-BADC-186F1C60EF91}"/>
              </a:ext>
            </a:extLst>
          </p:cNvPr>
          <p:cNvCxnSpPr/>
          <p:nvPr/>
        </p:nvCxnSpPr>
        <p:spPr>
          <a:xfrm>
            <a:off x="326306" y="4361896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503F60-D1A5-D3B9-84BE-E01FA3311C50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j=1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5651957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07C6-E6B1-8D98-36CC-EBE9B910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D2DEB1-6DD0-BEC0-F0BE-C910F90B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8848C1-BC66-0005-62F2-B4A1EED72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  ,  ,  ]</a:t>
            </a:r>
          </a:p>
          <a:p>
            <a:r>
              <a:rPr lang="en-US" altLang="en-US" dirty="0"/>
              <a:t>A[1]=C[1]=9</a:t>
            </a:r>
          </a:p>
          <a:p>
            <a:r>
              <a:rPr lang="en-US" altLang="en-US" dirty="0"/>
              <a:t>j+1=2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88290F8-D566-2304-68AD-8EBA2441DC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32C8BF-4B59-6A61-0A76-7A4A48BB3BE1}"/>
              </a:ext>
            </a:extLst>
          </p:cNvPr>
          <p:cNvCxnSpPr/>
          <p:nvPr/>
        </p:nvCxnSpPr>
        <p:spPr>
          <a:xfrm>
            <a:off x="478706" y="494427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31DEE6-81DE-DBAC-81C5-5C8763F6ECF2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k=1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5014729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A1F92-DAE5-44B1-619F-E1B11E3E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A42DD2-0D25-133D-A3A8-411D5865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2C74F7-68BB-6F88-EAE1-E9FD5CA70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  ,  ,  ]</a:t>
            </a:r>
          </a:p>
          <a:p>
            <a:r>
              <a:rPr lang="en-US" altLang="en-US" dirty="0"/>
              <a:t>k+1=2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57ED940-F320-B81D-6F04-6328293112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10C9EC-847A-CDBE-EF18-82FC167EAE65}"/>
              </a:ext>
            </a:extLst>
          </p:cNvPr>
          <p:cNvCxnSpPr/>
          <p:nvPr/>
        </p:nvCxnSpPr>
        <p:spPr>
          <a:xfrm>
            <a:off x="509186" y="518811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AF2F054-1395-97B3-7159-85D3A21507AC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k=2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0304337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15A8B-93FA-08C2-64ED-A4132947F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775C45-5F33-04FA-303A-633764A7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5B8E8D-76C8-00C7-33F4-C35744A4C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  ,  ,  ]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 &lt; p (0&lt;2) and j&lt;q (2&lt;3) true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5A84DB8-9FBF-CC9D-FBEC-C3B8944B31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8AD858-D0BF-E30B-A8D2-8320DE9ECBD6}"/>
              </a:ext>
            </a:extLst>
          </p:cNvPr>
          <p:cNvCxnSpPr/>
          <p:nvPr/>
        </p:nvCxnSpPr>
        <p:spPr>
          <a:xfrm>
            <a:off x="305393" y="405019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CEA77A9-5228-9680-FB28-00384CAF8A5D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k=2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3587560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C8FD-BBC7-40CB-2562-B7245B51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6C7F37-2EE4-8B1F-82B5-668DED7D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2DD6AE-DEE2-35A0-8291-7447CB1C2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  ,  ,  ]</a:t>
            </a:r>
          </a:p>
          <a:p>
            <a:r>
              <a:rPr lang="en-US" altLang="en-US" dirty="0"/>
              <a:t>B[0]&lt;=C[2] (27&lt;43)  true</a:t>
            </a:r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345F17B-D1C7-11BE-729B-F9F0EEDAEC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DBB80E-2236-FCBB-4608-A2165D8EC7A9}"/>
              </a:ext>
            </a:extLst>
          </p:cNvPr>
          <p:cNvCxnSpPr/>
          <p:nvPr/>
        </p:nvCxnSpPr>
        <p:spPr>
          <a:xfrm>
            <a:off x="508593" y="438547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97A8B4-4748-4A48-6C68-25AACE89C5FA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=0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k=2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3809186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4392F-A7E6-DB52-0867-610481D8D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696135-889E-27F2-BB23-33D6B4A0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59317-089C-ECA4-7F2F-3A8CB0554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,  ]</a:t>
            </a:r>
          </a:p>
          <a:p>
            <a:r>
              <a:rPr lang="en-US" altLang="en-US" dirty="0"/>
              <a:t>A[2]=B[0]=27</a:t>
            </a:r>
          </a:p>
          <a:p>
            <a:r>
              <a:rPr lang="en-US" altLang="en-US" dirty="0"/>
              <a:t>i+1=1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CCF052C-D1A5-19EC-BF19-ECFE1D48E7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7CCF29-10F7-39C7-CDD2-0E69E63D4BC0}"/>
              </a:ext>
            </a:extLst>
          </p:cNvPr>
          <p:cNvCxnSpPr/>
          <p:nvPr/>
        </p:nvCxnSpPr>
        <p:spPr>
          <a:xfrm>
            <a:off x="660994" y="465979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FFA9A2-8E97-CA3D-6C43-8E9ADA52E690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k=2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1233893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325CB-C5E0-600D-057A-D1E35E04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6F3DC2-32E0-4BF0-BCC1-D99C0FF59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A74728-1BD5-2E07-4F47-90CACB099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,  ]</a:t>
            </a:r>
          </a:p>
          <a:p>
            <a:r>
              <a:rPr lang="en-US" altLang="en-US" dirty="0"/>
              <a:t>A[2]=B[0]=27</a:t>
            </a:r>
          </a:p>
          <a:p>
            <a:r>
              <a:rPr lang="en-US" altLang="en-US" dirty="0"/>
              <a:t>k+1=3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082858-A2D5-7D99-4C38-68CEDBF002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015E81-15D0-A450-BFEC-24713DF6AED1}"/>
              </a:ext>
            </a:extLst>
          </p:cNvPr>
          <p:cNvCxnSpPr/>
          <p:nvPr/>
        </p:nvCxnSpPr>
        <p:spPr>
          <a:xfrm>
            <a:off x="386078" y="519827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A97D4B4-0AB3-EEA6-BCFC-A93269B92E5D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k=3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41816421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EA9B-F35B-4905-56F8-1B8A0992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E4C5E-1947-E532-EACA-85109F29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943EB-EE32-C081-C934-AF16BA429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,  ]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 &lt; p (1&lt;2) and j&lt;q (2&lt;3) true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F8D33FF-4D31-5D04-C138-C0AF68D993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96C71A-AE96-7DFF-5731-833749BB38E6}"/>
              </a:ext>
            </a:extLst>
          </p:cNvPr>
          <p:cNvCxnSpPr/>
          <p:nvPr/>
        </p:nvCxnSpPr>
        <p:spPr>
          <a:xfrm>
            <a:off x="284478" y="405019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ED00974-36C7-E7B6-C91C-86428F04E6CF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k=3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23788578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4A89-331B-9772-1DFA-54CF6588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AF7D80-9408-8E48-EF09-88C20B87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CE362D-A771-3EBA-95AA-E576E232B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,  ]</a:t>
            </a:r>
          </a:p>
          <a:p>
            <a:r>
              <a:rPr lang="en-US" altLang="en-US" dirty="0"/>
              <a:t>B[1]&lt;=C[2] (38&lt;43)  true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0D44CF6-B14F-18F0-F72C-B5553B8ED7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9C322E-7D4C-CD71-3886-AB9CEC1767C6}"/>
              </a:ext>
            </a:extLst>
          </p:cNvPr>
          <p:cNvCxnSpPr/>
          <p:nvPr/>
        </p:nvCxnSpPr>
        <p:spPr>
          <a:xfrm>
            <a:off x="548638" y="436515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96AE91-ED07-86A8-1326-5987672EB602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k=3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38824138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72EB-05D2-14B8-4962-1A6868FD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39838-8FB5-25C8-1730-09315DC5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729617-CF1A-05F8-64BE-2852E57C8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38,  ]</a:t>
            </a:r>
          </a:p>
          <a:p>
            <a:r>
              <a:rPr lang="en-US" altLang="en-US" dirty="0"/>
              <a:t>A[3]=B[1]=38</a:t>
            </a:r>
          </a:p>
          <a:p>
            <a:r>
              <a:rPr lang="en-US" altLang="en-US" dirty="0"/>
              <a:t>i+1=2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70CF869-A55B-01CB-770A-8A170466DA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8C2FA0-933F-4922-89F1-763A8EBA4129}"/>
              </a:ext>
            </a:extLst>
          </p:cNvPr>
          <p:cNvCxnSpPr/>
          <p:nvPr/>
        </p:nvCxnSpPr>
        <p:spPr>
          <a:xfrm>
            <a:off x="873758" y="464963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18F9C72-0863-0DB7-E49A-92ECA427B8BF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=2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k=3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5265932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0815-BA55-B4C6-C7FE-4E7BFE17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8BC705-58DA-DD63-B337-6E93F4C1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1C7341-FA3A-FD57-9834-9A970CB5F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38,  ]</a:t>
            </a:r>
          </a:p>
          <a:p>
            <a:r>
              <a:rPr lang="en-US" altLang="en-US" dirty="0"/>
              <a:t>k+1=4</a:t>
            </a:r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93BD14F-70A3-03EE-5DD8-2AC9CCBAF9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CEB1CE-BA07-0E43-B315-A08A42B2B697}"/>
              </a:ext>
            </a:extLst>
          </p:cNvPr>
          <p:cNvCxnSpPr/>
          <p:nvPr/>
        </p:nvCxnSpPr>
        <p:spPr>
          <a:xfrm>
            <a:off x="518158" y="516779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6BB6AFB-478B-A4D0-79E9-79B06258A3B7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=2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k=4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31693952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988D-DDB4-8593-87A1-29F1E6AC1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0DC64D-0354-5B0E-FC98-69CDEF6E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30B3BC-9F2C-3680-9A00-FF1F4F6F1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38,  ]</a:t>
            </a:r>
          </a:p>
          <a:p>
            <a:r>
              <a:rPr lang="en-US" altLang="en-US" dirty="0"/>
              <a:t>k+1=4</a:t>
            </a:r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E35B618-773F-99BA-0EA4-6328A8A742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F001C9-AB81-556E-8910-32B851692A6C}"/>
              </a:ext>
            </a:extLst>
          </p:cNvPr>
          <p:cNvCxnSpPr/>
          <p:nvPr/>
        </p:nvCxnSpPr>
        <p:spPr>
          <a:xfrm>
            <a:off x="518158" y="516779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08AEB4-C76A-1211-DED0-D8EE5D898AAA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=2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k=4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9314194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82A8-A491-64AA-C985-DDA79A06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E650F3-B992-890D-E698-ECC389CDF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70297C-6638-18E0-7CBB-7214EB2E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38,  ]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 &lt; p (2&lt;2) and j&lt;q (2&lt;3) false</a:t>
            </a:r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E92FA6B-86F4-4D0A-D969-E8FF8A3DA6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CE0FE33-0D7D-B6E9-1B80-BEC4EA3D9803}"/>
              </a:ext>
            </a:extLst>
          </p:cNvPr>
          <p:cNvCxnSpPr/>
          <p:nvPr/>
        </p:nvCxnSpPr>
        <p:spPr>
          <a:xfrm>
            <a:off x="284478" y="406035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DF1F7F-B0BD-5453-8CBA-62FB78DCC02C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=2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k=4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6100260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97A5D-2605-8375-A5F6-318C8D08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CB99C-ABE9-9FC0-2A35-A26088E8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7099E9-A757-A01C-B88B-B65D2301F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38,  ]</a:t>
            </a:r>
          </a:p>
          <a:p>
            <a:r>
              <a:rPr lang="en-US" altLang="en-US" dirty="0" err="1"/>
              <a:t>i</a:t>
            </a:r>
            <a:r>
              <a:rPr lang="en-US" altLang="en-US" dirty="0"/>
              <a:t>=p (2=2) </a:t>
            </a:r>
            <a:r>
              <a:rPr lang="en-US" altLang="en-US" dirty="0" err="1"/>
              <a:t>ture</a:t>
            </a:r>
            <a:r>
              <a:rPr lang="en-US" altLang="en-US" dirty="0"/>
              <a:t>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EF65454-98C4-2922-E151-0EEB7D9B47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90EF8C-89B5-EC63-0870-602AF6FDAC34}"/>
              </a:ext>
            </a:extLst>
          </p:cNvPr>
          <p:cNvCxnSpPr/>
          <p:nvPr/>
        </p:nvCxnSpPr>
        <p:spPr>
          <a:xfrm>
            <a:off x="284478" y="549291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A06813-E258-A0A6-9EA4-87E05AF4E75A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=2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k=4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12786388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CA91-8670-1DB7-829A-44B43E3E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648081-EB83-7264-4E91-60A015F3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2AC4D2-A0C8-0E31-E4BB-5677522F0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8674" y="1748487"/>
            <a:ext cx="5212080" cy="4949952"/>
          </a:xfrm>
        </p:spPr>
        <p:txBody>
          <a:bodyPr>
            <a:normAutofit/>
          </a:bodyPr>
          <a:lstStyle/>
          <a:p>
            <a:r>
              <a:rPr lang="en-US" altLang="en-US" dirty="0"/>
              <a:t>B= [27,38] C=[3,9,43] A=[ 3, 9  , 27  ,  38,  43]</a:t>
            </a:r>
          </a:p>
          <a:p>
            <a:r>
              <a:rPr lang="en-US" altLang="en-US" dirty="0"/>
              <a:t>Copy C[2….2] to A[4…..4] </a:t>
            </a:r>
          </a:p>
          <a:p>
            <a:r>
              <a:rPr lang="en-US" altLang="en-US" dirty="0"/>
              <a:t>Now the Array is sorted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211B873-E275-1DDC-C6AC-5EEB627D39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4" y="2184401"/>
            <a:ext cx="5212079" cy="42367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B11483-174F-8C40-BDB6-8BE6FAF52938}"/>
              </a:ext>
            </a:extLst>
          </p:cNvPr>
          <p:cNvCxnSpPr/>
          <p:nvPr/>
        </p:nvCxnSpPr>
        <p:spPr>
          <a:xfrm>
            <a:off x="335872" y="5828192"/>
            <a:ext cx="71120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B859BF3-C88F-F7CA-E084-64FC4C1D2C04}"/>
              </a:ext>
            </a:extLst>
          </p:cNvPr>
          <p:cNvSpPr txBox="1"/>
          <p:nvPr/>
        </p:nvSpPr>
        <p:spPr>
          <a:xfrm>
            <a:off x="10007600" y="4941016"/>
            <a:ext cx="120904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r>
              <a:rPr lang="en-US" dirty="0" err="1"/>
              <a:t>i</a:t>
            </a:r>
            <a:r>
              <a:rPr lang="en-US" dirty="0"/>
              <a:t>=2</a:t>
            </a:r>
          </a:p>
          <a:p>
            <a:r>
              <a:rPr lang="en-US" dirty="0"/>
              <a:t>j=2</a:t>
            </a:r>
          </a:p>
          <a:p>
            <a:r>
              <a:rPr lang="en-US" dirty="0"/>
              <a:t>k=4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q=3</a:t>
            </a:r>
          </a:p>
        </p:txBody>
      </p:sp>
    </p:spTree>
    <p:extLst>
      <p:ext uri="{BB962C8B-B14F-4D97-AF65-F5344CB8AC3E}">
        <p14:creationId xmlns:p14="http://schemas.microsoft.com/office/powerpoint/2010/main" val="23945969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875CD2-0217-C125-1578-235EEF05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Merge sort (recap)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A2ABE7-4D3B-7C0B-9927-3695DF0E06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60" y="966978"/>
            <a:ext cx="5484813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483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BF58-DEFA-1881-1327-4586F627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time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4F01-BD9D-744D-DC49-AA99296B1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divide part the main array of size n is divided into two equal arrays </a:t>
            </a:r>
          </a:p>
          <a:p>
            <a:r>
              <a:rPr lang="en-US" dirty="0"/>
              <a:t>In the conquer array you almost makes n comparisons in total so the recurrent relationship can be written as follows</a:t>
            </a:r>
          </a:p>
          <a:p>
            <a:pPr lvl="1"/>
            <a:r>
              <a:rPr lang="en-US" dirty="0"/>
              <a:t>T(n)=2T(n/2) +n T(1)=1</a:t>
            </a:r>
          </a:p>
          <a:p>
            <a:r>
              <a:rPr lang="en-US" dirty="0"/>
              <a:t>After solving it the T(n)= n + n log(n) which is </a:t>
            </a:r>
            <a:r>
              <a:rPr lang="el-GR" dirty="0"/>
              <a:t>θ</a:t>
            </a:r>
            <a:r>
              <a:rPr lang="en-US" dirty="0"/>
              <a:t>(</a:t>
            </a:r>
            <a:r>
              <a:rPr lang="en-US" dirty="0" err="1"/>
              <a:t>nlogn</a:t>
            </a:r>
            <a:r>
              <a:rPr lang="en-US" dirty="0"/>
              <a:t>)</a:t>
            </a:r>
          </a:p>
          <a:p>
            <a:r>
              <a:rPr lang="en-US" dirty="0"/>
              <a:t>This is faster than other sorting algorithms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620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74AC-551B-EA7C-D6AF-A44307BC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5CD6-C95A-54B5-04CA-1C5C209E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Quick Sort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7DF1329B-5819-FD78-47D6-5E58DD581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8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CD6C1-0536-7A30-28F1-1CC6D300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039A0-F1A9-46EE-BE14-91DB6445B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4928" y="2468881"/>
            <a:ext cx="8413072" cy="35661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 is very similar to  merge sort </a:t>
            </a:r>
          </a:p>
          <a:p>
            <a:r>
              <a:rPr lang="en-US" dirty="0"/>
              <a:t>It depends on selecting an element called the pivot</a:t>
            </a:r>
          </a:p>
          <a:p>
            <a:r>
              <a:rPr lang="en-US" dirty="0"/>
              <a:t>The pivot is used as an anchor where all the elements smaller than should be one it left and bigger than on its right</a:t>
            </a:r>
          </a:p>
          <a:p>
            <a:r>
              <a:rPr lang="en-US" dirty="0"/>
              <a:t>The pivot is where the array will be divided in the next iteration. </a:t>
            </a:r>
          </a:p>
          <a:p>
            <a:r>
              <a:rPr lang="en-US" dirty="0"/>
              <a:t>It uses the same array but it always keep track of the start and end of each part by using two indices L and R</a:t>
            </a:r>
          </a:p>
          <a:p>
            <a:r>
              <a:rPr lang="en-US" dirty="0"/>
              <a:t>Now it is your turn please trace this array </a:t>
            </a:r>
            <a:r>
              <a:rPr lang="en-US" altLang="en-US" dirty="0"/>
              <a:t>[ 38, 27, 43, 3, 9 ]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4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03A9-C790-84EC-3FD3-89B0912F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24B4-F431-B70E-CE0E-3045E534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6F2C92-9A2A-6F88-C043-0B806E7F95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8000" y="2468882"/>
            <a:ext cx="5212080" cy="321055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26DB1BC-D020-FE50-89B0-8D17BEA18A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8286" y="1788160"/>
            <a:ext cx="5384801" cy="476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104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6731-EF94-C709-C7A7-1ED5D1A8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93F32-50F2-E8A7-5E93-223D7E246A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Average Case:</a:t>
            </a:r>
          </a:p>
          <a:p>
            <a:pPr marL="0" indent="0">
              <a:buNone/>
            </a:pPr>
            <a:r>
              <a:rPr lang="en-US" dirty="0"/>
              <a:t>T(n)= 2T(n/2) +n T(1)=1</a:t>
            </a:r>
          </a:p>
          <a:p>
            <a:pPr marL="0" indent="0">
              <a:buNone/>
            </a:pPr>
            <a:r>
              <a:rPr lang="en-US" dirty="0"/>
              <a:t>Which leads to the same answer as merge sort </a:t>
            </a:r>
            <a:r>
              <a:rPr lang="el-GR" dirty="0"/>
              <a:t>θ</a:t>
            </a:r>
            <a:r>
              <a:rPr lang="en-US" dirty="0"/>
              <a:t>(</a:t>
            </a:r>
            <a:r>
              <a:rPr lang="en-US" dirty="0" err="1"/>
              <a:t>nlogn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B2906D8-8B63-31B1-59CF-993000909E9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Worst Case Happens if an array is sorted in descending or ascending order</a:t>
                </a:r>
              </a:p>
              <a:p>
                <a:r>
                  <a:rPr lang="en-US" dirty="0"/>
                  <a:t>This leads to algorithm sorting an array element by element in n iteration were </a:t>
                </a:r>
                <a:r>
                  <a:rPr lang="el-GR" dirty="0"/>
                  <a:t>θ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Please apply quick sort on this array [10,5,3,1]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B2906D8-8B63-31B1-59CF-993000909E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02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6018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F93B-D197-6280-C690-41F34859D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1695-5230-6211-FA04-2646442F4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4670661" cy="303084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Binary Tree Traversal 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9384CFBD-D973-410B-76C5-F9BC70614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95" r="245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7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6B22-7E04-97D3-2FE9-D7B2C6F4D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4251-14BC-E435-DAC7-FEF71385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 Traversal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62BFDF-6911-2D2C-9F4E-91639DDE1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4928" y="2468880"/>
            <a:ext cx="10069152" cy="4084319"/>
          </a:xfrm>
        </p:spPr>
        <p:txBody>
          <a:bodyPr>
            <a:normAutofit/>
          </a:bodyPr>
          <a:lstStyle/>
          <a:p>
            <a:r>
              <a:rPr lang="en-US" dirty="0"/>
              <a:t>It one of important topic in divide and conquer it is used in different application such as compliers (parse trees) and filing system</a:t>
            </a:r>
          </a:p>
          <a:p>
            <a:r>
              <a:rPr lang="en-US" dirty="0"/>
              <a:t>Tree traversal is the process of visiting each node in a tree data structure, exactly once, in a systematic manner</a:t>
            </a:r>
          </a:p>
          <a:p>
            <a:r>
              <a:rPr lang="en-US" dirty="0"/>
              <a:t>It has three different types methods:</a:t>
            </a:r>
          </a:p>
          <a:p>
            <a:pPr lvl="1"/>
            <a:r>
              <a:rPr lang="en-US" dirty="0"/>
              <a:t> Preorder:  the root is visited before the left and right subtrees are visited (in that order).</a:t>
            </a:r>
          </a:p>
          <a:p>
            <a:pPr lvl="1"/>
            <a:r>
              <a:rPr lang="en-US" dirty="0" err="1"/>
              <a:t>Inorder</a:t>
            </a:r>
            <a:r>
              <a:rPr lang="en-US" dirty="0"/>
              <a:t>: the root is visited after visiting its left subtree but before visiting the right subtree.</a:t>
            </a:r>
          </a:p>
          <a:p>
            <a:pPr lvl="1"/>
            <a:r>
              <a:rPr lang="en-US" dirty="0" err="1"/>
              <a:t>Postorder</a:t>
            </a:r>
            <a:r>
              <a:rPr lang="en-US" dirty="0"/>
              <a:t>: the root is visited after visiting the left and right subtrees (in that order).</a:t>
            </a:r>
          </a:p>
        </p:txBody>
      </p:sp>
    </p:spTree>
    <p:extLst>
      <p:ext uri="{BB962C8B-B14F-4D97-AF65-F5344CB8AC3E}">
        <p14:creationId xmlns:p14="http://schemas.microsoft.com/office/powerpoint/2010/main" val="29694527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1575-978D-043A-CB2D-91AB957A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6013-854E-98A2-7F20-A8587585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 Traversal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1569E6-9F07-F078-EFFC-C4DCB99845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12240" y="2306320"/>
            <a:ext cx="9062720" cy="357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618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CA8F8-9768-5622-AE6F-066E3BB53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912B-E209-9D93-7EE1-22982B3F1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 Traversal time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9FE41-A1A7-1403-916E-74B9C2CE3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4928" y="2468880"/>
            <a:ext cx="10069152" cy="4084319"/>
          </a:xfrm>
        </p:spPr>
        <p:txBody>
          <a:bodyPr>
            <a:normAutofit/>
          </a:bodyPr>
          <a:lstStyle/>
          <a:p>
            <a:r>
              <a:rPr lang="en-US" dirty="0"/>
              <a:t>All three traversals visit nodes of a binary tree recursively, i.e., by visiting the tree’s root and its left and right subtrees until they visit all of the nodes. </a:t>
            </a:r>
          </a:p>
          <a:p>
            <a:r>
              <a:rPr lang="en-US" dirty="0"/>
              <a:t>Since they have to cover all the nodes its time complexity is </a:t>
            </a:r>
            <a:r>
              <a:rPr lang="el-GR" dirty="0"/>
              <a:t>θ</a:t>
            </a:r>
            <a:r>
              <a:rPr lang="en-US"/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168130616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14739</TotalTime>
  <Words>3841</Words>
  <Application>Microsoft Office PowerPoint</Application>
  <PresentationFormat>Widescreen</PresentationFormat>
  <Paragraphs>593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6" baseType="lpstr">
      <vt:lpstr>Aptos</vt:lpstr>
      <vt:lpstr>Arial</vt:lpstr>
      <vt:lpstr>Cambria Math</vt:lpstr>
      <vt:lpstr>Grandview Display</vt:lpstr>
      <vt:lpstr>DashVTI</vt:lpstr>
      <vt:lpstr>Computing Algorithms Lecture 9: Divide and Conquer </vt:lpstr>
      <vt:lpstr>Agenda</vt:lpstr>
      <vt:lpstr>Introduction    </vt:lpstr>
      <vt:lpstr>What is Divide and Conquer?</vt:lpstr>
      <vt:lpstr>Merge sort     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 (recap)</vt:lpstr>
      <vt:lpstr>Merge sort time Analysis </vt:lpstr>
      <vt:lpstr>Quick Sort   </vt:lpstr>
      <vt:lpstr>Quick Sort </vt:lpstr>
      <vt:lpstr>Quick Sort </vt:lpstr>
      <vt:lpstr>Quick sort Analysis</vt:lpstr>
      <vt:lpstr>Binary Tree Traversal    </vt:lpstr>
      <vt:lpstr>Binary Tree Traversal </vt:lpstr>
      <vt:lpstr>Binary Tree Traversal </vt:lpstr>
      <vt:lpstr>Binary Tree Traversal time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Moheeb</dc:creator>
  <cp:lastModifiedBy>Mohamed Moheeb</cp:lastModifiedBy>
  <cp:revision>88</cp:revision>
  <dcterms:created xsi:type="dcterms:W3CDTF">2026-01-25T09:41:58Z</dcterms:created>
  <dcterms:modified xsi:type="dcterms:W3CDTF">2026-04-14T08:37:26Z</dcterms:modified>
</cp:coreProperties>
</file>