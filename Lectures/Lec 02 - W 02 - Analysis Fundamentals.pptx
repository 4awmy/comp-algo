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9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8" r:id="rId20"/>
    <p:sldId id="280" r:id="rId21"/>
    <p:sldId id="281" r:id="rId22"/>
    <p:sldId id="279" r:id="rId23"/>
    <p:sldId id="282" r:id="rId24"/>
    <p:sldId id="275" r:id="rId25"/>
    <p:sldId id="283" r:id="rId26"/>
    <p:sldId id="284" r:id="rId27"/>
    <p:sldId id="276" r:id="rId28"/>
    <p:sldId id="277" r:id="rId29"/>
    <p:sldId id="285" r:id="rId30"/>
    <p:sldId id="287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6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3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40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1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0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4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9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7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78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42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AE456-DA79-9895-19B2-CBCA5A8A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Autofit/>
          </a:bodyPr>
          <a:lstStyle/>
          <a:p>
            <a:r>
              <a:rPr lang="en-US" sz="3600" dirty="0"/>
              <a:t>Computing Algorithms</a:t>
            </a:r>
            <a:br>
              <a:rPr lang="en-US" sz="3600" dirty="0"/>
            </a:br>
            <a:r>
              <a:rPr lang="en-US" sz="3600" dirty="0"/>
              <a:t>Lecture 2:</a:t>
            </a:r>
            <a:br>
              <a:rPr lang="en-US" sz="3600" dirty="0"/>
            </a:br>
            <a:r>
              <a:rPr lang="en-US" sz="3600" dirty="0"/>
              <a:t>Fundamentals of the Analysis of Algorithm Efficiency 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83053-DBC8-A47D-72F0-B866CFBE5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en-US" dirty="0"/>
              <a:t>By: Dr. Mohamed Moheeb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94A22F1-6EB7-DAD1-49EB-40097999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22" r="27944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0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8632-A97F-2592-E5E1-57A965B0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E22B-CE58-F133-934B-D7163601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Analysis Framework</a:t>
            </a:r>
          </a:p>
          <a:p>
            <a:r>
              <a:rPr lang="en-US" sz="2400" dirty="0"/>
              <a:t>Asymptotic Notations and basic efficiency Classes</a:t>
            </a:r>
          </a:p>
        </p:txBody>
      </p:sp>
    </p:spTree>
    <p:extLst>
      <p:ext uri="{BB962C8B-B14F-4D97-AF65-F5344CB8AC3E}">
        <p14:creationId xmlns:p14="http://schemas.microsoft.com/office/powerpoint/2010/main" val="19201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429E3-8814-9358-053E-1C57F72F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Analysis Framework</a:t>
            </a:r>
            <a:b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8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ipette adding DNA sample to a petri dish">
            <a:extLst>
              <a:ext uri="{FF2B5EF4-FFF2-40B4-BE49-F238E27FC236}">
                <a16:creationId xmlns:a16="http://schemas.microsoft.com/office/drawing/2014/main" id="{55785B06-4CCA-7B40-0C2B-5666DD87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" r="23646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7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9B9C-35A7-76AA-8BDA-B18DEAE1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Analysis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9847-1035-B1C2-08F4-128D801C5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algorithm is measured using two types of efficiency</a:t>
            </a:r>
          </a:p>
          <a:p>
            <a:pPr lvl="1"/>
            <a:r>
              <a:rPr lang="en-US" sz="2000" dirty="0"/>
              <a:t>Time efficiency (time complexity)</a:t>
            </a:r>
          </a:p>
          <a:p>
            <a:pPr lvl="1"/>
            <a:r>
              <a:rPr lang="en-US" sz="2000" dirty="0"/>
              <a:t>Space efficiency (space complexity) </a:t>
            </a:r>
          </a:p>
          <a:p>
            <a:r>
              <a:rPr lang="en-US" sz="2400" dirty="0"/>
              <a:t>Note: In the early days of computers, space complexity was a major concern as much as time, but nowadays it is not as large, as hardware capabilities are available.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74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E8C0-185E-CEE4-D047-8DB55999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Input’s size effect on complexity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1DB03-DA1A-1F20-AA25-BEC331549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468881"/>
            <a:ext cx="10890929" cy="398004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There is no doubt that the input size influences the time or space complexity of an algorithm.</a:t>
            </a:r>
          </a:p>
          <a:p>
            <a:r>
              <a:rPr lang="en-US" sz="2400" dirty="0"/>
              <a:t>Example:</a:t>
            </a:r>
          </a:p>
          <a:p>
            <a:pPr lvl="1"/>
            <a:r>
              <a:rPr lang="en-US" sz="2000" dirty="0"/>
              <a:t>Sorting an array of 10 elements will take less time and space than sorting an array of 1000 elements.</a:t>
            </a:r>
          </a:p>
          <a:p>
            <a:pPr lvl="1"/>
            <a:r>
              <a:rPr lang="en-US" sz="2000" dirty="0"/>
              <a:t>Searching for an element in an array of 10 elements will take less time and space than searching in an array of 50 elements. </a:t>
            </a:r>
          </a:p>
          <a:p>
            <a:r>
              <a:rPr lang="en-US" sz="2400" dirty="0"/>
              <a:t>Since the input size of the algorithm is an important aspect of measuring complexity, this leads to another question: how to measure an input’s size.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02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124E0-E976-B046-A202-CC8DAC1E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an input’s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F0B1A-26FA-CC7F-7346-D7BA6C75A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45895"/>
            <a:ext cx="10890928" cy="4219073"/>
          </a:xfrm>
        </p:spPr>
        <p:txBody>
          <a:bodyPr>
            <a:normAutofit fontScale="62500" lnSpcReduction="20000"/>
          </a:bodyPr>
          <a:lstStyle/>
          <a:p>
            <a:r>
              <a:rPr lang="en-US" sz="4000" dirty="0"/>
              <a:t>The input size depends on the nature of the algorithm being implemented.</a:t>
            </a:r>
          </a:p>
          <a:p>
            <a:r>
              <a:rPr lang="en-US" sz="4000" dirty="0"/>
              <a:t>Example :</a:t>
            </a:r>
          </a:p>
          <a:p>
            <a:pPr lvl="1"/>
            <a:r>
              <a:rPr lang="en-US" sz="4000" dirty="0"/>
              <a:t>Finding max in array -&gt; input size is the array size</a:t>
            </a:r>
          </a:p>
          <a:p>
            <a:pPr lvl="1"/>
            <a:r>
              <a:rPr lang="en-US" sz="4000" dirty="0"/>
              <a:t>Matrix multiplication -&gt; is the number of elements in the two matrices</a:t>
            </a:r>
          </a:p>
          <a:p>
            <a:pPr lvl="1"/>
            <a:r>
              <a:rPr lang="en-US" sz="4000" dirty="0"/>
              <a:t>Binary number addition -&gt; number of bits being added</a:t>
            </a:r>
          </a:p>
          <a:p>
            <a:pPr lvl="1"/>
            <a:r>
              <a:rPr lang="en-US" sz="4000" dirty="0"/>
              <a:t> Graph-related algorithm -&gt;  is determined by the size of vertices or vertices and edges, if the adjacency list is used.</a:t>
            </a:r>
          </a:p>
          <a:p>
            <a:r>
              <a:rPr lang="en-US" sz="4000" dirty="0"/>
              <a:t>Therefore, it is logical to investigate an algorithm’s efficiency as a function of some parameter n, indicating the algorithm’s input size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1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8CD93-1E4B-87E4-7BD1-648DFE744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56457-33B0-A300-655D-F23CC7D8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for Measuring Running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2EC74-6A5E-96F2-FF69-15C546964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Please give an example of how to measure the algorithm in terms of time.</a:t>
            </a:r>
          </a:p>
          <a:p>
            <a:r>
              <a:rPr lang="en-US" sz="2800" dirty="0"/>
              <a:t> One obvious way is to use milliseconds or seconds.</a:t>
            </a:r>
          </a:p>
          <a:p>
            <a:r>
              <a:rPr lang="en-US" sz="2800" dirty="0"/>
              <a:t>One drawback is that the speed of the implementation will depend on how powerful the computer used is </a:t>
            </a:r>
          </a:p>
        </p:txBody>
      </p:sp>
    </p:spTree>
    <p:extLst>
      <p:ext uri="{BB962C8B-B14F-4D97-AF65-F5344CB8AC3E}">
        <p14:creationId xmlns:p14="http://schemas.microsoft.com/office/powerpoint/2010/main" val="131323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DAFA-E519-441B-CD28-F0DCCA4C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for Measuring Running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CEEB0-95E3-5FF4-A9D5-D3F044A02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383971"/>
            <a:ext cx="10890928" cy="4273503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Another way is to count the number of times each of the algorithm’s operations is executed.</a:t>
            </a:r>
          </a:p>
          <a:p>
            <a:r>
              <a:rPr lang="en-US" sz="2800" dirty="0"/>
              <a:t>This approach is both excessively difficult and usually unnecessary.</a:t>
            </a:r>
          </a:p>
          <a:p>
            <a:r>
              <a:rPr lang="en-US" sz="2800" dirty="0"/>
              <a:t>The best approach is to count the most important operation of the algorithm with is called the </a:t>
            </a:r>
            <a:r>
              <a:rPr lang="en-US" sz="2800" b="1" dirty="0">
                <a:solidFill>
                  <a:srgbClr val="FF0000"/>
                </a:solidFill>
              </a:rPr>
              <a:t>basic operation</a:t>
            </a:r>
            <a:r>
              <a:rPr lang="en-US" sz="2800" dirty="0"/>
              <a:t>. </a:t>
            </a:r>
          </a:p>
          <a:p>
            <a:r>
              <a:rPr lang="en-US" sz="2800" dirty="0"/>
              <a:t>It is not hard to identify that the </a:t>
            </a:r>
            <a:r>
              <a:rPr lang="en-US" sz="2800" b="1" dirty="0">
                <a:solidFill>
                  <a:srgbClr val="FF0000"/>
                </a:solidFill>
              </a:rPr>
              <a:t>basic operation </a:t>
            </a:r>
            <a:r>
              <a:rPr lang="en-US" sz="2800" dirty="0"/>
              <a:t>of an algorithm is usually the most time-consuming operation in the algorithm’s innermost loop.</a:t>
            </a:r>
          </a:p>
        </p:txBody>
      </p:sp>
    </p:spTree>
    <p:extLst>
      <p:ext uri="{BB962C8B-B14F-4D97-AF65-F5344CB8AC3E}">
        <p14:creationId xmlns:p14="http://schemas.microsoft.com/office/powerpoint/2010/main" val="3797196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C6719-0D99-521C-727A-CD261C3E8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Basic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FE1A5-DB81-CDA0-7DE6-388887631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The basic operations are arithmetic operations arranged in order of time-consuming:</a:t>
            </a:r>
          </a:p>
          <a:p>
            <a:pPr lvl="1"/>
            <a:r>
              <a:rPr lang="en-US" sz="2600" dirty="0"/>
              <a:t>Division/modules / or %</a:t>
            </a:r>
          </a:p>
          <a:p>
            <a:pPr lvl="1"/>
            <a:r>
              <a:rPr lang="en-US" sz="2800" dirty="0"/>
              <a:t>Multiplication * </a:t>
            </a:r>
          </a:p>
          <a:p>
            <a:pPr lvl="1"/>
            <a:r>
              <a:rPr lang="en-US" sz="2400" dirty="0"/>
              <a:t>Addition +</a:t>
            </a:r>
          </a:p>
          <a:p>
            <a:pPr lvl="1"/>
            <a:r>
              <a:rPr lang="en-US" sz="2400" dirty="0"/>
              <a:t>Subtraction - </a:t>
            </a:r>
          </a:p>
          <a:p>
            <a:pPr lvl="1"/>
            <a:r>
              <a:rPr lang="en-US" sz="2400" dirty="0"/>
              <a:t>Comparison  &lt;, &gt;, ==, != , &lt;=, &gt;=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1E2835-13A9-CE41-5BA6-8BF45C9EE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64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538F5-E1E3-C138-036D-AB966C9A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 Example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0377A-DD52-59E7-40E6-48E4308B63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to n-1 do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x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x+4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7BC3A14-26AC-3BFF-4840-EE662CA9EA1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Basic operation: addition </a:t>
                </a:r>
              </a:p>
              <a:p>
                <a:r>
                  <a:rPr lang="en-US" dirty="0"/>
                  <a:t>How many times it was executed :</a:t>
                </a:r>
              </a:p>
              <a:p>
                <a:pPr marL="265176" lvl="1" indent="0">
                  <a:buNone/>
                </a:pPr>
                <a:r>
                  <a:rPr lang="en-US" dirty="0"/>
                  <a:t>T(n)=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−1 −0+1)∗1=</m:t>
                        </m:r>
                      </m:e>
                    </m:nary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7BC3A14-26AC-3BFF-4840-EE662CA9EA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02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ket 5">
            <a:extLst>
              <a:ext uri="{FF2B5EF4-FFF2-40B4-BE49-F238E27FC236}">
                <a16:creationId xmlns:a16="http://schemas.microsoft.com/office/drawing/2014/main" id="{C1640B44-B1FD-9BB2-5806-9370D450EC2E}"/>
              </a:ext>
            </a:extLst>
          </p:cNvPr>
          <p:cNvSpPr/>
          <p:nvPr/>
        </p:nvSpPr>
        <p:spPr>
          <a:xfrm>
            <a:off x="2242457" y="3145971"/>
            <a:ext cx="337457" cy="468086"/>
          </a:xfrm>
          <a:prstGeom prst="rightBracket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BC1C39-3F38-35EA-788C-070B9E5E4416}"/>
              </a:ext>
            </a:extLst>
          </p:cNvPr>
          <p:cNvCxnSpPr/>
          <p:nvPr/>
        </p:nvCxnSpPr>
        <p:spPr>
          <a:xfrm>
            <a:off x="2579914" y="3429000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5649064-9C5A-5F62-26B6-53154AFFECAE}"/>
              </a:ext>
            </a:extLst>
          </p:cNvPr>
          <p:cNvSpPr txBox="1"/>
          <p:nvPr/>
        </p:nvSpPr>
        <p:spPr>
          <a:xfrm>
            <a:off x="3418114" y="3145981"/>
            <a:ext cx="224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basic operation</a:t>
            </a:r>
          </a:p>
        </p:txBody>
      </p:sp>
    </p:spTree>
    <p:extLst>
      <p:ext uri="{BB962C8B-B14F-4D97-AF65-F5344CB8AC3E}">
        <p14:creationId xmlns:p14="http://schemas.microsoft.com/office/powerpoint/2010/main" val="297225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ED2DF-37EB-7CF4-0B5C-0C9DF440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F683-1F0D-B8A0-EA13-659E2D5F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 Example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7F281-622E-B389-F856-3DF8027B60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to n-1 do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x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x+4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x*4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z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z+2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DA51727-0ACB-BB51-38C0-10AA033959D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Basic operation: multiplication </a:t>
                </a:r>
              </a:p>
              <a:p>
                <a:r>
                  <a:rPr lang="en-US" dirty="0"/>
                  <a:t>How many times was it executed :</a:t>
                </a:r>
              </a:p>
              <a:p>
                <a:pPr marL="265176" lvl="1" indent="0">
                  <a:buNone/>
                </a:pPr>
                <a:r>
                  <a:rPr lang="en-US" dirty="0"/>
                  <a:t>T(n)=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−1 −0+1)∗1=</m:t>
                        </m:r>
                      </m:e>
                    </m:nary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DA51727-0ACB-BB51-38C0-10AA033959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02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ket 5">
            <a:extLst>
              <a:ext uri="{FF2B5EF4-FFF2-40B4-BE49-F238E27FC236}">
                <a16:creationId xmlns:a16="http://schemas.microsoft.com/office/drawing/2014/main" id="{80AC6C78-4ADE-F964-0C73-FC71E66A1635}"/>
              </a:ext>
            </a:extLst>
          </p:cNvPr>
          <p:cNvSpPr/>
          <p:nvPr/>
        </p:nvSpPr>
        <p:spPr>
          <a:xfrm>
            <a:off x="2438400" y="3593592"/>
            <a:ext cx="141514" cy="412351"/>
          </a:xfrm>
          <a:prstGeom prst="rightBracket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B6B252-BA3B-DEAD-D31F-A5460DA452D6}"/>
              </a:ext>
            </a:extLst>
          </p:cNvPr>
          <p:cNvCxnSpPr/>
          <p:nvPr/>
        </p:nvCxnSpPr>
        <p:spPr>
          <a:xfrm>
            <a:off x="2579914" y="3766457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5E8D84E-8C4D-B2FB-B831-A196068032FB}"/>
              </a:ext>
            </a:extLst>
          </p:cNvPr>
          <p:cNvSpPr txBox="1"/>
          <p:nvPr/>
        </p:nvSpPr>
        <p:spPr>
          <a:xfrm>
            <a:off x="3407228" y="3581791"/>
            <a:ext cx="224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basic operations</a:t>
            </a:r>
          </a:p>
        </p:txBody>
      </p:sp>
    </p:spTree>
    <p:extLst>
      <p:ext uri="{BB962C8B-B14F-4D97-AF65-F5344CB8AC3E}">
        <p14:creationId xmlns:p14="http://schemas.microsoft.com/office/powerpoint/2010/main" val="58524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9186-B443-0D1C-2531-659C8FBE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D08E-75AA-6274-4F6A-F7466EEC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 Example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C604E-3972-2697-23FC-B72A47F90F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(A[0….n-1])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to n-1 do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0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  A[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&gt; 15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x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A[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]-2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 s + A[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return s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A037196-766F-6CD0-83B2-0EFD1E6508D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Basic operation: comparison</a:t>
                </a:r>
              </a:p>
              <a:p>
                <a:r>
                  <a:rPr lang="en-US" dirty="0"/>
                  <a:t>How many times was it executed :</a:t>
                </a:r>
              </a:p>
              <a:p>
                <a:pPr marL="265176" lvl="1" indent="0">
                  <a:buNone/>
                </a:pPr>
                <a:r>
                  <a:rPr lang="en-US" dirty="0"/>
                  <a:t>T(n)=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−1 −0+1)∗1=</m:t>
                        </m:r>
                      </m:e>
                    </m:nary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:pPr marL="265176" lvl="1" indent="0">
                  <a:buNone/>
                </a:pPr>
                <a:endParaRPr lang="en-US" dirty="0"/>
              </a:p>
              <a:p>
                <a:pPr marL="265176" lvl="1" indent="0">
                  <a:buNone/>
                </a:pPr>
                <a:r>
                  <a:rPr lang="en-US" b="1" dirty="0"/>
                  <a:t>Note:</a:t>
                </a:r>
                <a:r>
                  <a:rPr lang="en-US" dirty="0"/>
                  <a:t> you can only compare algorithms that solve the same problem for example compare a sorting algorithm with a searching algorithm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A037196-766F-6CD0-83B2-0EFD1E650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02" t="-171" r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ket 5">
            <a:extLst>
              <a:ext uri="{FF2B5EF4-FFF2-40B4-BE49-F238E27FC236}">
                <a16:creationId xmlns:a16="http://schemas.microsoft.com/office/drawing/2014/main" id="{0D2753A1-02BD-8B4B-3A6A-1C7838716175}"/>
              </a:ext>
            </a:extLst>
          </p:cNvPr>
          <p:cNvSpPr/>
          <p:nvPr/>
        </p:nvSpPr>
        <p:spPr>
          <a:xfrm>
            <a:off x="2634342" y="4125684"/>
            <a:ext cx="337457" cy="468086"/>
          </a:xfrm>
          <a:prstGeom prst="rightBracket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A7C03C-4953-2AE4-78CE-CCCCD98570B7}"/>
              </a:ext>
            </a:extLst>
          </p:cNvPr>
          <p:cNvCxnSpPr/>
          <p:nvPr/>
        </p:nvCxnSpPr>
        <p:spPr>
          <a:xfrm>
            <a:off x="2971799" y="4408713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CE52705-EC29-CD9E-474E-BA1B06F83A73}"/>
              </a:ext>
            </a:extLst>
          </p:cNvPr>
          <p:cNvSpPr txBox="1"/>
          <p:nvPr/>
        </p:nvSpPr>
        <p:spPr>
          <a:xfrm>
            <a:off x="3657599" y="4175061"/>
            <a:ext cx="224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basic operation</a:t>
            </a:r>
          </a:p>
        </p:txBody>
      </p:sp>
    </p:spTree>
    <p:extLst>
      <p:ext uri="{BB962C8B-B14F-4D97-AF65-F5344CB8AC3E}">
        <p14:creationId xmlns:p14="http://schemas.microsoft.com/office/powerpoint/2010/main" val="2303814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F52A-F94A-C709-3DD7-89B3B4C9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725B-6C9E-77E0-2347-2E0B6DA2E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 Example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548D8-0D71-DE71-EC78-B2F4CA50D4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to n-1 do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j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 0 to n-1 do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x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 x+1 *2 % 10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89D3A5D-9098-2516-8CC1-BC9B4FB1F42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Basic operation: division and multiplication</a:t>
                </a:r>
              </a:p>
              <a:p>
                <a:r>
                  <a:rPr lang="en-US" dirty="0"/>
                  <a:t>How many times was it executed :</a:t>
                </a:r>
              </a:p>
              <a:p>
                <a:pPr marL="265176" lvl="1" indent="0">
                  <a:buNone/>
                </a:pPr>
                <a:r>
                  <a:rPr lang="en-US" dirty="0"/>
                  <a:t>T(n)=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/>
                            <m:aln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/>
                                <m:aln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−1 −0+1</m:t>
                                </m:r>
                              </m:e>
                            </m:d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∗2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b="0" dirty="0"/>
              </a:p>
              <a:p>
                <a:pPr marL="265176" lvl="1" indent="0">
                  <a:buNone/>
                </a:pPr>
                <a:endParaRPr lang="en-US" dirty="0"/>
              </a:p>
              <a:p>
                <a:pPr marL="265176" lvl="1" indent="0">
                  <a:buNone/>
                </a:pPr>
                <a:r>
                  <a:rPr lang="en-US" dirty="0"/>
                  <a:t>T(n) is running time of algorithm used to calculate the time complexity given the input parameter n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89D3A5D-9098-2516-8CC1-BC9B4FB1F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02" t="-171" r="-234" b="-2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ket 5">
            <a:extLst>
              <a:ext uri="{FF2B5EF4-FFF2-40B4-BE49-F238E27FC236}">
                <a16:creationId xmlns:a16="http://schemas.microsoft.com/office/drawing/2014/main" id="{817F901E-7F7B-DEA6-0ADB-D388B397827B}"/>
              </a:ext>
            </a:extLst>
          </p:cNvPr>
          <p:cNvSpPr/>
          <p:nvPr/>
        </p:nvSpPr>
        <p:spPr>
          <a:xfrm>
            <a:off x="4201882" y="3624940"/>
            <a:ext cx="337457" cy="468086"/>
          </a:xfrm>
          <a:prstGeom prst="rightBracket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6C5BD4-C169-A6D4-37AF-28D80D5EBFD6}"/>
              </a:ext>
            </a:extLst>
          </p:cNvPr>
          <p:cNvSpPr txBox="1"/>
          <p:nvPr/>
        </p:nvSpPr>
        <p:spPr>
          <a:xfrm>
            <a:off x="3761010" y="4416552"/>
            <a:ext cx="224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basic operation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32FE546-6111-F4CF-7332-B65B23DEE2CD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10800000" flipH="1" flipV="1">
            <a:off x="4539339" y="3858982"/>
            <a:ext cx="342900" cy="557569"/>
          </a:xfrm>
          <a:prstGeom prst="bentConnector4">
            <a:avLst>
              <a:gd name="adj1" fmla="val 149206"/>
              <a:gd name="adj2" fmla="val 70988"/>
            </a:avLst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829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2885E-54DB-8734-D1D3-E57C9A33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Growth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ED9DC3-0AF8-9DED-A970-6133263ED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Order of growth describes how an algorithm’s running time increases as the input size n becomes large. (It ignores small details and focuses only on long‑term behavior.)</a:t>
            </a:r>
          </a:p>
          <a:p>
            <a:r>
              <a:rPr lang="en-US" sz="2400" dirty="0"/>
              <a:t>It ignores constants and lower‑order terms, focusing only on the dominant part of the running time. (Because for large inputs, only the highest‑growing term matters.)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9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04FB-4ED0-91C7-EEDA-5A7507D49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Growth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DE2A93-C637-3196-98A8-4C50DB07CD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+4 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+2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Let’s set the value of n=100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+4 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+2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= 1000000 + 4(10000) +100 +2 </a:t>
                </a:r>
              </a:p>
              <a:p>
                <a:r>
                  <a:rPr lang="en-US" dirty="0"/>
                  <a:t>Let’s set another  value of n=1000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+4 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+2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= 1000000000 + 4(1000000) +1000 +2</a:t>
                </a:r>
              </a:p>
              <a:p>
                <a:r>
                  <a:rPr lang="en-US" dirty="0"/>
                  <a:t>You can see that n with the highest order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one that is most affected by the increase in the n value, where the other orders can have a small effect specially that there values are very small and can be ignored when evaluating an algorithm</a:t>
                </a:r>
              </a:p>
              <a:p>
                <a:r>
                  <a:rPr lang="en-US" dirty="0"/>
                  <a:t>The order of growth for this example is g(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DE2A93-C637-3196-98A8-4C50DB07C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4" r="-616" b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830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6A830-5C62-3B9A-4E66-3B7C277A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B9E0-1B8D-334C-2E97-E40772CA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Growth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CE439F-BFE5-2C9E-589E-6B772AD49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89EE1-8602-BAA5-7BFA-92E4D6B9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29" y="2666961"/>
            <a:ext cx="8403771" cy="30806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CB504C-E82E-7CEB-A773-2AE19EE305BE}"/>
              </a:ext>
            </a:extLst>
          </p:cNvPr>
          <p:cNvSpPr txBox="1"/>
          <p:nvPr/>
        </p:nvSpPr>
        <p:spPr>
          <a:xfrm>
            <a:off x="3296665" y="5781146"/>
            <a:ext cx="4814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Book: Introduction to the Design and Analysis of Algorithms </a:t>
            </a:r>
          </a:p>
        </p:txBody>
      </p:sp>
    </p:spTree>
    <p:extLst>
      <p:ext uri="{BB962C8B-B14F-4D97-AF65-F5344CB8AC3E}">
        <p14:creationId xmlns:p14="http://schemas.microsoft.com/office/powerpoint/2010/main" val="2701961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19DD5-C848-472D-D798-35314892A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Best, Average, Worst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FC7F9-4A0D-2A78-818C-4463CC65E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There are many algorithms for which running time depends not only on the input size but also on the specifics of a particular input</a:t>
            </a:r>
          </a:p>
          <a:p>
            <a:r>
              <a:rPr lang="en-US" sz="2400" dirty="0"/>
              <a:t> example searching algorithm:</a:t>
            </a:r>
          </a:p>
          <a:p>
            <a:pPr lvl="1"/>
            <a:r>
              <a:rPr lang="en-US" sz="2000" dirty="0"/>
              <a:t>Best-case: finding the key from the first search</a:t>
            </a:r>
          </a:p>
          <a:p>
            <a:pPr lvl="1"/>
            <a:r>
              <a:rPr lang="en-US" sz="2000" dirty="0"/>
              <a:t>Worst-case: finding the key in the last element of the array or not finding the key at all.</a:t>
            </a:r>
          </a:p>
          <a:p>
            <a:pPr lvl="1"/>
            <a:r>
              <a:rPr lang="en-US" sz="2000" dirty="0"/>
              <a:t>Average-case: needs to be proven.</a:t>
            </a:r>
          </a:p>
        </p:txBody>
      </p:sp>
    </p:spTree>
    <p:extLst>
      <p:ext uri="{BB962C8B-B14F-4D97-AF65-F5344CB8AC3E}">
        <p14:creationId xmlns:p14="http://schemas.microsoft.com/office/powerpoint/2010/main" val="3971831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0286-CA4B-84D9-42F6-77FDC738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Average-Case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BD28FD-C0F5-E95A-FDFC-4ABABC60F8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326106"/>
                <a:ext cx="10890928" cy="439553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3100" dirty="0"/>
                  <a:t>let’s consider that the probability of a successful search is p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1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1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3100" i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100" i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</m:oMath>
                </a14:m>
                <a:r>
                  <a:rPr lang="en-US" sz="3100" dirty="0"/>
                  <a:t> and probability of the first match at </a:t>
                </a:r>
                <a:r>
                  <a:rPr lang="en-US" sz="3100" dirty="0" err="1"/>
                  <a:t>ith</a:t>
                </a:r>
                <a:r>
                  <a:rPr lang="en-US" sz="3100" dirty="0"/>
                  <a:t> position is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3100" dirty="0"/>
                  <a:t>) where n is the total elements in the array</a:t>
                </a:r>
              </a:p>
              <a:p>
                <a14:m>
                  <m:oMath xmlns:m="http://schemas.openxmlformats.org/officeDocument/2006/math">
                    <m:eqArr>
                      <m:eqArr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en-US" sz="2600" smtClean="0">
                            <a:latin typeface="Cambria Math" panose="02040503050406030204" pitchFamily="18" charset="0"/>
                          </a:rPr>
                          <m:t>&amp;</m:t>
                        </m:r>
                        <m:sSub>
                          <m:sSubPr>
                            <m:ctrlPr>
                              <a:rPr lang="en-US" sz="2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avg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&amp;&amp;=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1⋅</m:t>
                            </m:r>
                            <m:f>
                              <m:f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+2⋅</m:t>
                            </m:r>
                            <m:f>
                              <m:f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e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&amp;&amp;&amp;=</m:t>
                        </m:r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d>
                          <m:dPr>
                            <m:begChr m:val="["/>
                            <m:endChr m:val="]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1+2+⋯+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e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&amp;&amp;&amp;=</m:t>
                        </m:r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600" b="0" i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600" b="0" i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sz="2600" b="0" i="0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eqArr>
                  </m:oMath>
                </a14:m>
                <a:endParaRPr lang="en-US" sz="2600" b="0" dirty="0"/>
              </a:p>
              <a:p>
                <a:r>
                  <a:rPr lang="en-US" sz="2600" dirty="0"/>
                  <a:t>If p</a:t>
                </a:r>
                <a:r>
                  <a:rPr lang="en-US" sz="2600" b="0" dirty="0"/>
                  <a:t>=1 (the search must be successful)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sz="26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6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sz="26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600" b="0" dirty="0"/>
              </a:p>
              <a:p>
                <a:r>
                  <a:rPr lang="en-US" sz="2600" b="0" dirty="0"/>
                  <a:t>If p=0 </a:t>
                </a:r>
                <a:r>
                  <a:rPr lang="en-US" sz="2600" dirty="0"/>
                  <a:t>(the search must be unsuccessful)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sz="26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6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600" b="0" dirty="0"/>
                  <a:t>=  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BD28FD-C0F5-E95A-FDFC-4ABABC60F8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326106"/>
                <a:ext cx="10890928" cy="4395536"/>
              </a:xfrm>
              <a:blipFill>
                <a:blip r:embed="rId2"/>
                <a:stretch>
                  <a:fillRect l="-504" t="-1248" r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713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3353E-1CCA-46D6-5A8F-1EFE61C03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7E272-0DAE-B48C-543B-4D3618047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Asymptotic Notations and Basic Efficiency Classes</a:t>
            </a:r>
            <a:b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alculus formula">
            <a:extLst>
              <a:ext uri="{FF2B5EF4-FFF2-40B4-BE49-F238E27FC236}">
                <a16:creationId xmlns:a16="http://schemas.microsoft.com/office/drawing/2014/main" id="{0E192D47-01E0-9EA7-EB5B-6A81FDB9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60" r="18388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33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E1AFF-1CA1-0794-ACC7-92729956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29B2-C633-64EC-D483-C08AA068B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Informal definition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302CF-2650-DBB0-EF9C-1389BBDF90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318657"/>
                <a:ext cx="10890928" cy="38809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compare and rank such orders of growth, computer scientists use three notations: O ( big oh),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(big omega), and  </a:t>
                </a:r>
                <a:r>
                  <a:rPr lang="el-GR" dirty="0"/>
                  <a:t>θ</a:t>
                </a:r>
                <a:r>
                  <a:rPr lang="en-US" dirty="0"/>
                  <a:t>(big theta)</a:t>
                </a:r>
              </a:p>
              <a:p>
                <a:r>
                  <a:rPr lang="en-US" dirty="0"/>
                  <a:t>O(g(n)) is the set of all functions with a lower or same order of growth as g(n) (to within a constant multiple, as n goes to infinity)</a:t>
                </a:r>
              </a:p>
              <a:p>
                <a:r>
                  <a:rPr lang="en-US" dirty="0">
                    <a:latin typeface="Segoe UI" panose="020B0502040204020203" pitchFamily="34" charset="0"/>
                  </a:rPr>
                  <a:t>The algorithm will never be slower than this bound</a:t>
                </a:r>
                <a:endParaRPr lang="en-US" dirty="0"/>
              </a:p>
              <a:p>
                <a:r>
                  <a:rPr lang="en-US" dirty="0"/>
                  <a:t>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+2∈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302CF-2650-DBB0-EF9C-1389BBDF90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318657"/>
                <a:ext cx="10890928" cy="3880975"/>
              </a:xfrm>
              <a:blipFill>
                <a:blip r:embed="rId2"/>
                <a:stretch>
                  <a:fillRect l="-336" t="-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463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C1CC-1B14-45D1-18E1-5DD49EDA8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F371-1E5C-A1B1-16B5-0C6ADC50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Informal definition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6BB1F7-DE7D-81A4-8399-3468ECDDB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1"/>
                <a:ext cx="10890928" cy="3941499"/>
              </a:xfrm>
            </p:spPr>
            <p:txBody>
              <a:bodyPr>
                <a:normAutofit/>
              </a:bodyPr>
              <a:lstStyle/>
              <a:p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(g(n)) stands for the set of all functions with a higher or the same order of growth as g(n) (within a constant multiple, as n goes to infinity)</a:t>
                </a:r>
              </a:p>
              <a:p>
                <a:r>
                  <a:rPr lang="en-US" dirty="0">
                    <a:latin typeface="Segoe UI" panose="020B0502040204020203" pitchFamily="34" charset="0"/>
                  </a:rPr>
                  <a:t>The algorithm will never be faster than this bound</a:t>
                </a:r>
                <a:endParaRPr lang="en-US" dirty="0"/>
              </a:p>
              <a:p>
                <a:r>
                  <a:rPr lang="en-US" dirty="0"/>
                  <a:t>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ea typeface="Cambria Math" panose="02040503050406030204" pitchFamily="18" charset="0"/>
                      </a:rPr>
                      <m:t>∉</m:t>
                    </m:r>
                    <m:r>
                      <m:rPr>
                        <m:nor/>
                      </m:rPr>
                      <a:rPr lang="en-US" b="0" i="0" dirty="0" smtClean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Ω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l-G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Ω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l-G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Ω</m:t>
                    </m:r>
                    <m:r>
                      <m:rPr>
                        <m:nor/>
                      </m:rPr>
                      <a:rPr 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6BB1F7-DE7D-81A4-8399-3468ECDDB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1"/>
                <a:ext cx="10890928" cy="3941499"/>
              </a:xfrm>
              <a:blipFill>
                <a:blip r:embed="rId2"/>
                <a:stretch>
                  <a:fillRect l="-336" t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392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790CB-A481-E1AD-F7CD-BC78001F8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Informal definition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10FBB-1D6B-FD1A-659F-C99485DE9C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dirty="0"/>
                  <a:t>(g(n)) is the set of all functions that have the same order of growth as g(n) (to within a constant multiple, as n goes to infinity)</a:t>
                </a:r>
              </a:p>
              <a:p>
                <a:r>
                  <a:rPr lang="en-US" dirty="0">
                    <a:latin typeface="Segoe UI" panose="020B0502040204020203" pitchFamily="34" charset="0"/>
                  </a:rPr>
                  <a:t>The algorithm always behaves like this (both upper and lower bounds)</a:t>
                </a:r>
                <a:endParaRPr lang="en-US" dirty="0"/>
              </a:p>
              <a:p>
                <a:r>
                  <a:rPr lang="en-US" dirty="0"/>
                  <a:t>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2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ea typeface="Cambria Math" panose="02040503050406030204" pitchFamily="18" charset="0"/>
                      </a:rPr>
                      <m:t>∉</m:t>
                    </m:r>
                    <m:r>
                      <m:rPr>
                        <m:nor/>
                      </m:rPr>
                      <a:rPr lang="en-US" b="0" i="0" dirty="0" smtClean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θ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l-G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θ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dirty="0">
                        <a:ea typeface="Cambria Math" panose="02040503050406030204" pitchFamily="18" charset="0"/>
                      </a:rPr>
                      <m:t>∉</m:t>
                    </m:r>
                    <m:r>
                      <m:rPr>
                        <m:nor/>
                      </m:rPr>
                      <a:rPr lang="en-US" b="0" i="0" dirty="0" smtClean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m:rPr>
                        <m:nor/>
                      </m:rPr>
                      <a:rPr 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/>
                  <a:t>Why use the three notations why not just use the order of growth ? </a:t>
                </a:r>
              </a:p>
              <a:p>
                <a:pPr marL="265176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10FBB-1D6B-FD1A-659F-C99485DE9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8115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E263-39A4-792B-FD06-30DCB884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3511-4567-6D9A-25B8-64F7D5396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Asymptotic (change through time) notation analysis focuses on the essential, large‑scale behavior, not the exact small‑scale details.</a:t>
            </a:r>
          </a:p>
          <a:p>
            <a:pPr lvl="1"/>
            <a:r>
              <a:rPr lang="en-US" sz="2400" b="1" dirty="0"/>
              <a:t>O(n)</a:t>
            </a:r>
            <a:r>
              <a:rPr lang="en-US" sz="2400" dirty="0"/>
              <a:t> → asymptotically linear </a:t>
            </a:r>
          </a:p>
          <a:p>
            <a:pPr lvl="1"/>
            <a:r>
              <a:rPr lang="en-US" sz="2400" b="1" dirty="0"/>
              <a:t>O(n²)</a:t>
            </a:r>
            <a:r>
              <a:rPr lang="en-US" sz="2400" dirty="0"/>
              <a:t> → asymptotically quadratic </a:t>
            </a:r>
          </a:p>
          <a:p>
            <a:pPr lvl="1"/>
            <a:r>
              <a:rPr lang="en-US" sz="2400" b="1" dirty="0"/>
              <a:t>O(log n)</a:t>
            </a:r>
            <a:r>
              <a:rPr lang="en-US" sz="2400" dirty="0"/>
              <a:t> → asymptotically logarithmic</a:t>
            </a:r>
          </a:p>
          <a:p>
            <a:pPr marL="265176" lvl="1" indent="0">
              <a:buNone/>
            </a:pPr>
            <a:endParaRPr lang="en-US" dirty="0">
              <a:latin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123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3FF28-6474-574C-C0DC-A5D3C370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21721416-6C03-AE3E-7C9C-468503B20C6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40080" y="2633472"/>
                <a:ext cx="5212080" cy="376732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A function t(n) is said to be in O(g(n)), denoted t(n) ∈ O(g(n))</a:t>
                </a:r>
              </a:p>
              <a:p>
                <a:r>
                  <a:rPr lang="en-US" sz="2400" dirty="0"/>
                  <a:t>if t(n) is bounded above by some constant multiple of g(n) for all large n </a:t>
                </a:r>
              </a:p>
              <a:p>
                <a:r>
                  <a:rPr lang="en-US" sz="2400" dirty="0"/>
                  <a:t>if there exist some positive constant c and some nonnegative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 such that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≤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𝑐𝑔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21721416-6C03-AE3E-7C9C-468503B20C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40080" y="2633472"/>
                <a:ext cx="5212080" cy="3767328"/>
              </a:xfrm>
              <a:blipFill>
                <a:blip r:embed="rId2"/>
                <a:stretch>
                  <a:fillRect l="-819" t="-485" r="-1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E3593AB-D3A6-8A04-3AD1-E3D20571C6E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pt-BR" sz="2600" i="1" dirty="0">
                    <a:latin typeface="+mj-lt"/>
                  </a:rPr>
                  <a:t>Example lets prove this is true</a:t>
                </a:r>
                <a:endParaRPr lang="en-US" sz="260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6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pt-BR" sz="2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6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600" i="1" dirty="0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pt-BR" sz="26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600" i="1" dirty="0" smtClean="0">
                          <a:latin typeface="Cambria Math" panose="02040503050406030204" pitchFamily="18" charset="0"/>
                        </a:rPr>
                        <m:t>+3∈</m:t>
                      </m:r>
                      <m:r>
                        <a:rPr lang="pt-BR" sz="260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pt-BR" sz="2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6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60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m:rPr>
                          <m:sty m:val="p"/>
                        </m:rPr>
                        <a:rPr lang="en-US" sz="2600" b="0" i="0" dirty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600" b="0" i="0" dirty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𝑐𝑛</m:t>
                      </m:r>
                    </m:oMath>
                  </m:oMathPara>
                </a14:m>
                <a:endParaRPr lang="en-US" sz="2600" b="0" i="1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𝑐𝑛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600" i="1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600" i="1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600" i="1" dirty="0">
                    <a:latin typeface="+mj-lt"/>
                  </a:rPr>
                  <a:t>Let c=6  and  we can select </a:t>
                </a:r>
                <a:r>
                  <a:rPr lang="en-US" sz="26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i="1" dirty="0">
                    <a:latin typeface="+mj-lt"/>
                  </a:rPr>
                  <a:t>=3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E3593AB-D3A6-8A04-3AD1-E3D20571C6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71" t="-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412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61DE6-8A33-6374-3408-C9774CCA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AA4F1-6797-FAF2-D21E-EB2B4ECF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Big O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99A7562F-6FB5-B9BD-12D3-2E3EDA6FAA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444723" y="1134415"/>
            <a:ext cx="7086286" cy="4666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AF5BE3-0199-3961-6882-3462DA88AA09}"/>
              </a:ext>
            </a:extLst>
          </p:cNvPr>
          <p:cNvSpPr txBox="1"/>
          <p:nvPr/>
        </p:nvSpPr>
        <p:spPr>
          <a:xfrm>
            <a:off x="6096000" y="5907003"/>
            <a:ext cx="4814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Book: Introduction to the Design and Analysis of Algorithms </a:t>
            </a:r>
          </a:p>
        </p:txBody>
      </p:sp>
    </p:spTree>
    <p:extLst>
      <p:ext uri="{BB962C8B-B14F-4D97-AF65-F5344CB8AC3E}">
        <p14:creationId xmlns:p14="http://schemas.microsoft.com/office/powerpoint/2010/main" val="2236655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4BE74-8D13-9F68-2689-774F6819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BF04-3997-461A-1271-B29E7691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9D7798-ED21-9AA7-2FD1-4DF1688B1CE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A function t(n)is said to be in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dirty="0"/>
                  <a:t>(g(n)),denoted t(n)∈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dirty="0"/>
                  <a:t>(g(n)),</a:t>
                </a:r>
              </a:p>
              <a:p>
                <a:r>
                  <a:rPr lang="en-US" dirty="0"/>
                  <a:t>if t (n) is bounded below by some positive constant multiple of g(n) for all large n</a:t>
                </a:r>
              </a:p>
              <a:p>
                <a:r>
                  <a:rPr lang="en-US" dirty="0"/>
                  <a:t> if there exist some positive constant c and some nonnegative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≥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𝑐𝑔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9D7798-ED21-9AA7-2FD1-4DF1688B1C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702" t="-171" r="-1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04EBA1C-E221-29BD-3151-228EB4BAAC6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i="1" dirty="0"/>
                  <a:t>Example lets prove this is true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 dirty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 dirty="0">
                          <a:latin typeface="Cambria Math" panose="02040503050406030204" pitchFamily="18" charset="0"/>
                        </a:rPr>
                        <m:t>+3∈</m:t>
                      </m:r>
                      <m:r>
                        <m:rPr>
                          <m:nor/>
                        </m:rPr>
                        <a:rPr lang="el-GR" dirty="0">
                          <a:cs typeface="Times New Roman" panose="02020603050405020304" pitchFamily="18" charset="0"/>
                        </a:rPr>
                        <m:t>Ω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 dirty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r>
                  <a:rPr lang="en-US" dirty="0"/>
                  <a:t>Let select c=1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04EBA1C-E221-29BD-3151-228EB4BAA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287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5815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F2072-D7B0-11B5-8031-3A8D3033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B74BA-5AA3-952E-5412-B084E98D818A}"/>
              </a:ext>
            </a:extLst>
          </p:cNvPr>
          <p:cNvSpPr txBox="1"/>
          <p:nvPr/>
        </p:nvSpPr>
        <p:spPr>
          <a:xfrm>
            <a:off x="6085543" y="5668527"/>
            <a:ext cx="4814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Book: Introduction to the Design and Analysis of Algorithms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F6D215-579C-DA37-31AC-DA0B4D757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904" y="1266941"/>
            <a:ext cx="7491469" cy="421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28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10491-F989-E9C6-8324-E0BA4D3C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</a:t>
            </a:r>
            <a:r>
              <a:rPr lang="el-GR" dirty="0"/>
              <a:t>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86777AB-9687-8E45-D228-6EFB0C6C0EA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 function t(n) is said to be in </a:t>
                </a:r>
                <a:r>
                  <a:rPr lang="el-GR" dirty="0"/>
                  <a:t>θ</a:t>
                </a:r>
                <a:r>
                  <a:rPr lang="en-US" dirty="0"/>
                  <a:t>(g(n)), denoted t(n)∈ </a:t>
                </a:r>
                <a:r>
                  <a:rPr lang="el-GR" dirty="0"/>
                  <a:t>θ</a:t>
                </a:r>
                <a:r>
                  <a:rPr lang="en-US" dirty="0"/>
                  <a:t>(g(n))</a:t>
                </a:r>
              </a:p>
              <a:p>
                <a:r>
                  <a:rPr lang="en-US" dirty="0"/>
                  <a:t>If t(n) is bounded both above and below by some positive constant multiples of g(n) for all large n.</a:t>
                </a:r>
              </a:p>
              <a:p>
                <a:r>
                  <a:rPr lang="en-US" dirty="0"/>
                  <a:t>If there exist some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some nonnegative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𝑎𝑙𝑙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86777AB-9687-8E45-D228-6EFB0C6C0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68" t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3DCDC81-6FD5-F29B-4CE7-5E3008C85B9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pt-BR" i="1" dirty="0">
                    <a:latin typeface="Cambria Math" panose="02040503050406030204" pitchFamily="18" charset="0"/>
                  </a:rPr>
                  <a:t>Example lets prove this is true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 dirty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 dirty="0">
                          <a:latin typeface="Cambria Math" panose="02040503050406030204" pitchFamily="18" charset="0"/>
                        </a:rPr>
                        <m:t>+3∈</m:t>
                      </m:r>
                      <m:r>
                        <m:rPr>
                          <m:nor/>
                        </m:rPr>
                        <a:rPr lang="el-GR" dirty="0"/>
                        <m:t>θ</m:t>
                      </m:r>
                      <m:d>
                        <m:d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Let start with lefthand side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:r>
                  <a:rPr lang="en-US" dirty="0"/>
                  <a:t>So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=1</a:t>
                </a:r>
              </a:p>
              <a:p>
                <a:pPr marL="0" indent="0" algn="ctr">
                  <a:buNone/>
                </a:pPr>
                <a:r>
                  <a:rPr lang="en-US" dirty="0"/>
                  <a:t>Let check the righthand side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 dirty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So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=12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=1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3DCDC81-6FD5-F29B-4CE7-5E3008C85B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170" t="-855" b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338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2CDAA-3EEE-9FF8-D1E7-7667DD54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6704-A66F-2C9B-356E-CAEF53999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</a:t>
            </a:r>
            <a:r>
              <a:rPr lang="el-GR" dirty="0"/>
              <a:t>θ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A78EB4E-4E53-562F-494F-42BC60929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0144" y="980497"/>
            <a:ext cx="6995711" cy="46160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163C7A-6F19-8231-30B8-BB0535264F41}"/>
              </a:ext>
            </a:extLst>
          </p:cNvPr>
          <p:cNvSpPr txBox="1"/>
          <p:nvPr/>
        </p:nvSpPr>
        <p:spPr>
          <a:xfrm>
            <a:off x="5478005" y="5679892"/>
            <a:ext cx="4814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Book: Introduction to the Design and Analysis of Algorithms </a:t>
            </a:r>
          </a:p>
        </p:txBody>
      </p:sp>
    </p:spTree>
    <p:extLst>
      <p:ext uri="{BB962C8B-B14F-4D97-AF65-F5344CB8AC3E}">
        <p14:creationId xmlns:p14="http://schemas.microsoft.com/office/powerpoint/2010/main" val="3794148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622415-9936-7525-B007-5BCF300EF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/>
              <a:t>Basic asymptotic efficiency class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5D03E82-0A79-DBAE-CF48-9CDAD6758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2506" y="506779"/>
            <a:ext cx="6775374" cy="59160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909333-360D-5B08-4857-3BF27BD7C56D}"/>
              </a:ext>
            </a:extLst>
          </p:cNvPr>
          <p:cNvSpPr txBox="1"/>
          <p:nvPr/>
        </p:nvSpPr>
        <p:spPr>
          <a:xfrm>
            <a:off x="5882744" y="6422835"/>
            <a:ext cx="4814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Book: Introduction to the Design and Analysis of Algorithms </a:t>
            </a:r>
          </a:p>
        </p:txBody>
      </p:sp>
    </p:spTree>
    <p:extLst>
      <p:ext uri="{BB962C8B-B14F-4D97-AF65-F5344CB8AC3E}">
        <p14:creationId xmlns:p14="http://schemas.microsoft.com/office/powerpoint/2010/main" val="2906612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F166-E168-DE2E-B7CE-22F60414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C04A66-04CB-A151-56FF-5BDC87CBE7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280492"/>
                <a:ext cx="10890928" cy="391914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State if the following notation is true or false: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+3∈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l-G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Ω</m:t>
                    </m:r>
                    <m:d>
                      <m:d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 dirty="0">
                        <a:latin typeface="Cambria Math" panose="02040503050406030204" pitchFamily="18" charset="0"/>
                      </a:rPr>
                      <m:t>+3∈</m:t>
                    </m:r>
                    <m:r>
                      <m:rPr>
                        <m:nor/>
                      </m:rPr>
                      <a:rPr lang="el-GR" sz="2000" dirty="0"/>
                      <m:t>θ</m:t>
                    </m:r>
                    <m:d>
                      <m:d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sz="2000" i="1" dirty="0">
                        <a:latin typeface="Cambria Math" panose="02040503050406030204" pitchFamily="18" charset="0"/>
                      </a:rPr>
                      <m:t>+3∈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 dirty="0">
                        <a:latin typeface="Cambria Math" panose="02040503050406030204" pitchFamily="18" charset="0"/>
                      </a:rPr>
                      <m:t>+3∈</m:t>
                    </m:r>
                    <m:r>
                      <m:rPr>
                        <m:nor/>
                      </m:rPr>
                      <a:rPr lang="el-G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Ω</m:t>
                    </m:r>
                    <m:d>
                      <m:d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l-GR" sz="2000" dirty="0"/>
                      <m:t>θ</m:t>
                    </m:r>
                    <m:d>
                      <m:d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l-GR" sz="2000" dirty="0"/>
                      <m:t>θ</m:t>
                    </m:r>
                    <m:d>
                      <m:d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C04A66-04CB-A151-56FF-5BDC87CBE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280492"/>
                <a:ext cx="10890928" cy="3919140"/>
              </a:xfrm>
              <a:blipFill>
                <a:blip r:embed="rId2"/>
                <a:stretch>
                  <a:fillRect l="-504" t="-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9FF3052-CCB3-BE29-4C5D-11DEA44AAD43}"/>
              </a:ext>
            </a:extLst>
          </p:cNvPr>
          <p:cNvSpPr txBox="1"/>
          <p:nvPr/>
        </p:nvSpPr>
        <p:spPr>
          <a:xfrm>
            <a:off x="3218762" y="4065954"/>
            <a:ext cx="760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4D959B-F585-2127-2884-661A103DA390}"/>
              </a:ext>
            </a:extLst>
          </p:cNvPr>
          <p:cNvSpPr txBox="1"/>
          <p:nvPr/>
        </p:nvSpPr>
        <p:spPr>
          <a:xfrm>
            <a:off x="3194882" y="2828131"/>
            <a:ext cx="1134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5EC787-D8EA-8927-1D8C-630970C4EA35}"/>
              </a:ext>
            </a:extLst>
          </p:cNvPr>
          <p:cNvSpPr txBox="1"/>
          <p:nvPr/>
        </p:nvSpPr>
        <p:spPr>
          <a:xfrm>
            <a:off x="3986271" y="5486399"/>
            <a:ext cx="760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E56983-0159-A83F-669B-8B97D653AFC5}"/>
              </a:ext>
            </a:extLst>
          </p:cNvPr>
          <p:cNvSpPr txBox="1"/>
          <p:nvPr/>
        </p:nvSpPr>
        <p:spPr>
          <a:xfrm>
            <a:off x="3226107" y="4507850"/>
            <a:ext cx="760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B0CC05-8810-F4A5-EFCC-01EDC99E509F}"/>
              </a:ext>
            </a:extLst>
          </p:cNvPr>
          <p:cNvSpPr txBox="1"/>
          <p:nvPr/>
        </p:nvSpPr>
        <p:spPr>
          <a:xfrm>
            <a:off x="3226107" y="4897918"/>
            <a:ext cx="760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CA461-F5A0-D46D-E443-8452C9502828}"/>
              </a:ext>
            </a:extLst>
          </p:cNvPr>
          <p:cNvSpPr txBox="1"/>
          <p:nvPr/>
        </p:nvSpPr>
        <p:spPr>
          <a:xfrm>
            <a:off x="3218762" y="3244113"/>
            <a:ext cx="1134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163E7-ADFA-886D-FB75-270196369FE8}"/>
              </a:ext>
            </a:extLst>
          </p:cNvPr>
          <p:cNvSpPr txBox="1"/>
          <p:nvPr/>
        </p:nvSpPr>
        <p:spPr>
          <a:xfrm>
            <a:off x="3242642" y="3634181"/>
            <a:ext cx="1134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22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5818</TotalTime>
  <Words>1879</Words>
  <Application>Microsoft Office PowerPoint</Application>
  <PresentationFormat>Widescreen</PresentationFormat>
  <Paragraphs>205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Cambria Math</vt:lpstr>
      <vt:lpstr>Grandview Display</vt:lpstr>
      <vt:lpstr>Segoe UI</vt:lpstr>
      <vt:lpstr>Times New Roman</vt:lpstr>
      <vt:lpstr>DashVTI</vt:lpstr>
      <vt:lpstr>Computing Algorithms Lecture 2: Fundamentals of the Analysis of Algorithm Efficiency part 1</vt:lpstr>
      <vt:lpstr>Agenda</vt:lpstr>
      <vt:lpstr>The Analysis Framework </vt:lpstr>
      <vt:lpstr>The Analysis Framework</vt:lpstr>
      <vt:lpstr>Input’s size effect on complexity </vt:lpstr>
      <vt:lpstr>Measuring an input’s size</vt:lpstr>
      <vt:lpstr>Units for Measuring Running Time</vt:lpstr>
      <vt:lpstr>Units for Measuring Running Time</vt:lpstr>
      <vt:lpstr>Basic operation</vt:lpstr>
      <vt:lpstr>Basic Operation Example 1</vt:lpstr>
      <vt:lpstr>Basic Operation Example 2</vt:lpstr>
      <vt:lpstr>Basic Operation Example 3</vt:lpstr>
      <vt:lpstr>Basic Operation Example 4</vt:lpstr>
      <vt:lpstr>Order of Growth</vt:lpstr>
      <vt:lpstr>Order of Growth Example</vt:lpstr>
      <vt:lpstr>Order of Growth</vt:lpstr>
      <vt:lpstr>Best, Average, Worst Case</vt:lpstr>
      <vt:lpstr>Average-Case</vt:lpstr>
      <vt:lpstr>Asymptotic Notations and Basic Efficiency Classes </vt:lpstr>
      <vt:lpstr>Informal definition </vt:lpstr>
      <vt:lpstr>Informal definition </vt:lpstr>
      <vt:lpstr>Informal definition </vt:lpstr>
      <vt:lpstr>Formal definition </vt:lpstr>
      <vt:lpstr>Big O</vt:lpstr>
      <vt:lpstr>Big O</vt:lpstr>
      <vt:lpstr>Big Ω</vt:lpstr>
      <vt:lpstr>Big Ω</vt:lpstr>
      <vt:lpstr>Big θ</vt:lpstr>
      <vt:lpstr>Big θ</vt:lpstr>
      <vt:lpstr>Basic asymptotic efficiency class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Moheeb</dc:creator>
  <cp:lastModifiedBy>Mohamed Moheeb</cp:lastModifiedBy>
  <cp:revision>37</cp:revision>
  <dcterms:created xsi:type="dcterms:W3CDTF">2026-01-25T09:41:58Z</dcterms:created>
  <dcterms:modified xsi:type="dcterms:W3CDTF">2026-02-18T15:12:29Z</dcterms:modified>
</cp:coreProperties>
</file>