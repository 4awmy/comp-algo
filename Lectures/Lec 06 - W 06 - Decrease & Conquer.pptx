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68"/>
  </p:notesMasterIdLst>
  <p:sldIdLst>
    <p:sldId id="256" r:id="rId2"/>
    <p:sldId id="257" r:id="rId3"/>
    <p:sldId id="259" r:id="rId4"/>
    <p:sldId id="294" r:id="rId5"/>
    <p:sldId id="295" r:id="rId6"/>
    <p:sldId id="291" r:id="rId7"/>
    <p:sldId id="355" r:id="rId8"/>
    <p:sldId id="293" r:id="rId9"/>
    <p:sldId id="296" r:id="rId10"/>
    <p:sldId id="297" r:id="rId11"/>
    <p:sldId id="298" r:id="rId12"/>
    <p:sldId id="299" r:id="rId13"/>
    <p:sldId id="300" r:id="rId14"/>
    <p:sldId id="301" r:id="rId15"/>
    <p:sldId id="302" r:id="rId16"/>
    <p:sldId id="303" r:id="rId17"/>
    <p:sldId id="264" r:id="rId18"/>
    <p:sldId id="304" r:id="rId19"/>
    <p:sldId id="305" r:id="rId20"/>
    <p:sldId id="306" r:id="rId21"/>
    <p:sldId id="307" r:id="rId22"/>
    <p:sldId id="308" r:id="rId23"/>
    <p:sldId id="309" r:id="rId24"/>
    <p:sldId id="310" r:id="rId25"/>
    <p:sldId id="311" r:id="rId26"/>
    <p:sldId id="312" r:id="rId27"/>
    <p:sldId id="313" r:id="rId28"/>
    <p:sldId id="314" r:id="rId29"/>
    <p:sldId id="315" r:id="rId30"/>
    <p:sldId id="316" r:id="rId31"/>
    <p:sldId id="317" r:id="rId32"/>
    <p:sldId id="319" r:id="rId33"/>
    <p:sldId id="320" r:id="rId34"/>
    <p:sldId id="321" r:id="rId35"/>
    <p:sldId id="322" r:id="rId36"/>
    <p:sldId id="323" r:id="rId37"/>
    <p:sldId id="324" r:id="rId38"/>
    <p:sldId id="325" r:id="rId39"/>
    <p:sldId id="326" r:id="rId40"/>
    <p:sldId id="327" r:id="rId41"/>
    <p:sldId id="328" r:id="rId42"/>
    <p:sldId id="329" r:id="rId43"/>
    <p:sldId id="330" r:id="rId44"/>
    <p:sldId id="331" r:id="rId45"/>
    <p:sldId id="332" r:id="rId46"/>
    <p:sldId id="333" r:id="rId47"/>
    <p:sldId id="336" r:id="rId48"/>
    <p:sldId id="334" r:id="rId49"/>
    <p:sldId id="335" r:id="rId50"/>
    <p:sldId id="337" r:id="rId51"/>
    <p:sldId id="338" r:id="rId52"/>
    <p:sldId id="339" r:id="rId53"/>
    <p:sldId id="340" r:id="rId54"/>
    <p:sldId id="341" r:id="rId55"/>
    <p:sldId id="342" r:id="rId56"/>
    <p:sldId id="344" r:id="rId57"/>
    <p:sldId id="345" r:id="rId58"/>
    <p:sldId id="346" r:id="rId59"/>
    <p:sldId id="347" r:id="rId60"/>
    <p:sldId id="349" r:id="rId61"/>
    <p:sldId id="350" r:id="rId62"/>
    <p:sldId id="351" r:id="rId63"/>
    <p:sldId id="348" r:id="rId64"/>
    <p:sldId id="352" r:id="rId65"/>
    <p:sldId id="353" r:id="rId66"/>
    <p:sldId id="354"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447" autoAdjust="0"/>
  </p:normalViewPr>
  <p:slideViewPr>
    <p:cSldViewPr snapToGrid="0">
      <p:cViewPr>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B52ECC-1B11-423C-B09A-13D0289A9C73}"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26EFB-E3F6-4F64-9528-97A47048DF40}" type="slidenum">
              <a:rPr lang="en-US" smtClean="0"/>
              <a:t>‹#›</a:t>
            </a:fld>
            <a:endParaRPr lang="en-US"/>
          </a:p>
        </p:txBody>
      </p:sp>
    </p:spTree>
    <p:extLst>
      <p:ext uri="{BB962C8B-B14F-4D97-AF65-F5344CB8AC3E}">
        <p14:creationId xmlns:p14="http://schemas.microsoft.com/office/powerpoint/2010/main" val="1472948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3/12/2026</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584463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3/12/2026</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2591633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3/12/2026</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dirty="0"/>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403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3/12/2026</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46057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3/12/2026</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2075414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3/12/2026</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4254808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3/12/2026</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872344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3/12/2026</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996499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3/12/2026</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708374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3/12/2026</a:t>
            </a:fld>
            <a:endParaRPr lang="en-US" dirty="0"/>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87163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3/12/2026</a:t>
            </a:fld>
            <a:endParaRPr lang="en-US" dirty="0"/>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dirty="0"/>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6789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3/12/2026</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dirty="0"/>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42388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EAE456-DA79-9895-19B2-CBCA5A8A7115}"/>
              </a:ext>
            </a:extLst>
          </p:cNvPr>
          <p:cNvSpPr>
            <a:spLocks noGrp="1"/>
          </p:cNvSpPr>
          <p:nvPr>
            <p:ph type="ctrTitle"/>
          </p:nvPr>
        </p:nvSpPr>
        <p:spPr>
          <a:xfrm>
            <a:off x="640080" y="1371600"/>
            <a:ext cx="4670661" cy="3030842"/>
          </a:xfrm>
        </p:spPr>
        <p:txBody>
          <a:bodyPr>
            <a:noAutofit/>
          </a:bodyPr>
          <a:lstStyle/>
          <a:p>
            <a:r>
              <a:rPr lang="en-US" sz="3600" dirty="0"/>
              <a:t>Computing Algorithms</a:t>
            </a:r>
            <a:br>
              <a:rPr lang="en-US" sz="3600" dirty="0"/>
            </a:br>
            <a:r>
              <a:rPr lang="en-US" sz="3600" dirty="0"/>
              <a:t>Lecture 6:</a:t>
            </a:r>
            <a:br>
              <a:rPr lang="en-US" sz="3600" dirty="0"/>
            </a:br>
            <a:r>
              <a:rPr lang="en-US" sz="3600" dirty="0"/>
              <a:t>Decrease and Conquer</a:t>
            </a:r>
          </a:p>
        </p:txBody>
      </p:sp>
      <p:sp>
        <p:nvSpPr>
          <p:cNvPr id="3" name="Subtitle 2">
            <a:extLst>
              <a:ext uri="{FF2B5EF4-FFF2-40B4-BE49-F238E27FC236}">
                <a16:creationId xmlns:a16="http://schemas.microsoft.com/office/drawing/2014/main" id="{8B383053-DBC8-A47D-72F0-B866CFBE532C}"/>
              </a:ext>
            </a:extLst>
          </p:cNvPr>
          <p:cNvSpPr>
            <a:spLocks noGrp="1"/>
          </p:cNvSpPr>
          <p:nvPr>
            <p:ph type="subTitle" idx="1"/>
          </p:nvPr>
        </p:nvSpPr>
        <p:spPr>
          <a:xfrm>
            <a:off x="640080" y="4584879"/>
            <a:ext cx="4670660" cy="1287887"/>
          </a:xfrm>
        </p:spPr>
        <p:txBody>
          <a:bodyPr>
            <a:normAutofit/>
          </a:bodyPr>
          <a:lstStyle/>
          <a:p>
            <a:r>
              <a:rPr lang="en-US" dirty="0"/>
              <a:t>By: Dr. Mohamed Moheeb </a:t>
            </a:r>
          </a:p>
        </p:txBody>
      </p:sp>
      <p:cxnSp>
        <p:nvCxnSpPr>
          <p:cNvPr id="11" name="Straight Connector 10">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594A22F1-6EB7-DAD1-49EB-40097999324D}"/>
              </a:ext>
            </a:extLst>
          </p:cNvPr>
          <p:cNvPicPr>
            <a:picLocks noChangeAspect="1"/>
          </p:cNvPicPr>
          <p:nvPr/>
        </p:nvPicPr>
        <p:blipFill>
          <a:blip r:embed="rId2"/>
          <a:srcRect l="17422" r="27944" b="-1"/>
          <a:stretch>
            <a:fillRect/>
          </a:stretch>
        </p:blipFill>
        <p:spPr>
          <a:xfrm>
            <a:off x="6515100" y="10"/>
            <a:ext cx="5676900" cy="6857990"/>
          </a:xfrm>
          <a:prstGeom prst="rect">
            <a:avLst/>
          </a:prstGeom>
        </p:spPr>
      </p:pic>
    </p:spTree>
    <p:extLst>
      <p:ext uri="{BB962C8B-B14F-4D97-AF65-F5344CB8AC3E}">
        <p14:creationId xmlns:p14="http://schemas.microsoft.com/office/powerpoint/2010/main" val="1313403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8632-A97F-2592-E5E1-57A965B044D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731E22B-CE58-F133-934B-D7163601B3A9}"/>
              </a:ext>
            </a:extLst>
          </p:cNvPr>
          <p:cNvSpPr>
            <a:spLocks noGrp="1"/>
          </p:cNvSpPr>
          <p:nvPr>
            <p:ph idx="1"/>
          </p:nvPr>
        </p:nvSpPr>
        <p:spPr/>
        <p:txBody>
          <a:bodyPr>
            <a:normAutofit/>
          </a:bodyPr>
          <a:lstStyle/>
          <a:p>
            <a:r>
              <a:rPr lang="en-US" sz="2400" dirty="0"/>
              <a:t>Depth first search and Breadth first search (brute force)</a:t>
            </a:r>
          </a:p>
          <a:p>
            <a:r>
              <a:rPr lang="en-US" sz="2400" dirty="0"/>
              <a:t>Introduction</a:t>
            </a:r>
          </a:p>
          <a:p>
            <a:r>
              <a:rPr lang="en-US" sz="2400" dirty="0"/>
              <a:t>Insertion sort</a:t>
            </a:r>
          </a:p>
          <a:p>
            <a:r>
              <a:rPr lang="en-US" sz="2400" dirty="0"/>
              <a:t>Topological sort</a:t>
            </a:r>
          </a:p>
        </p:txBody>
      </p:sp>
    </p:spTree>
    <p:extLst>
      <p:ext uri="{BB962C8B-B14F-4D97-AF65-F5344CB8AC3E}">
        <p14:creationId xmlns:p14="http://schemas.microsoft.com/office/powerpoint/2010/main" val="192019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F7B381-ADD4-866C-A69D-01F8C070C1A9}"/>
            </a:ext>
          </a:extLst>
        </p:cNvPr>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14BA0433-35AC-4F4A-DE05-51074C2B473A}"/>
              </a:ext>
            </a:extLst>
          </p:cNvPr>
          <p:cNvSpPr>
            <a:spLocks noGrp="1"/>
          </p:cNvSpPr>
          <p:nvPr>
            <p:ph type="title"/>
          </p:nvPr>
        </p:nvSpPr>
        <p:spPr>
          <a:xfrm>
            <a:off x="514117" y="952500"/>
            <a:ext cx="4124557" cy="3524250"/>
          </a:xfrm>
        </p:spPr>
        <p:txBody>
          <a:bodyPr vert="horz" lIns="91440" tIns="45720" rIns="91440" bIns="45720" rtlCol="0" anchor="t">
            <a:normAutofit fontScale="90000"/>
          </a:bodyPr>
          <a:lstStyle/>
          <a:p>
            <a:r>
              <a:rPr lang="en-US" sz="6000" dirty="0"/>
              <a:t>DFS and BFS</a:t>
            </a:r>
            <a:br>
              <a:rPr lang="en-US" sz="6000" dirty="0"/>
            </a:br>
            <a:br>
              <a:rPr lang="en-US" sz="5800" b="1" kern="1200" dirty="0">
                <a:solidFill>
                  <a:schemeClr val="tx1"/>
                </a:solidFill>
                <a:latin typeface="+mj-lt"/>
                <a:ea typeface="+mj-ea"/>
                <a:cs typeface="+mj-cs"/>
              </a:rPr>
            </a:br>
            <a:br>
              <a:rPr lang="en-US" sz="5800" b="1" kern="1200" dirty="0">
                <a:solidFill>
                  <a:schemeClr val="tx1"/>
                </a:solidFill>
                <a:latin typeface="+mj-lt"/>
                <a:ea typeface="+mj-ea"/>
                <a:cs typeface="+mj-cs"/>
              </a:rPr>
            </a:br>
            <a:endParaRPr lang="en-US" sz="5800" b="1" kern="1200" dirty="0">
              <a:solidFill>
                <a:schemeClr val="tx1"/>
              </a:solidFill>
              <a:latin typeface="+mj-lt"/>
              <a:ea typeface="+mj-ea"/>
              <a:cs typeface="+mj-cs"/>
            </a:endParaRPr>
          </a:p>
        </p:txBody>
      </p:sp>
      <p:cxnSp>
        <p:nvCxnSpPr>
          <p:cNvPr id="23" name="Straight Connector 22">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qua and green fractal background like floral petal">
            <a:extLst>
              <a:ext uri="{FF2B5EF4-FFF2-40B4-BE49-F238E27FC236}">
                <a16:creationId xmlns:a16="http://schemas.microsoft.com/office/drawing/2014/main" id="{4B4382BC-613B-3E3D-69A5-2D973FD7C6BF}"/>
              </a:ext>
            </a:extLst>
          </p:cNvPr>
          <p:cNvPicPr>
            <a:picLocks noChangeAspect="1"/>
          </p:cNvPicPr>
          <p:nvPr/>
        </p:nvPicPr>
        <p:blipFill>
          <a:blip r:embed="rId2"/>
          <a:srcRect l="6543" r="17669"/>
          <a:stretch>
            <a:fillRect/>
          </a:stretch>
        </p:blipFill>
        <p:spPr>
          <a:xfrm>
            <a:off x="5261956" y="10"/>
            <a:ext cx="6930043" cy="6857990"/>
          </a:xfrm>
          <a:prstGeom prst="rect">
            <a:avLst/>
          </a:prstGeom>
        </p:spPr>
      </p:pic>
    </p:spTree>
    <p:extLst>
      <p:ext uri="{BB962C8B-B14F-4D97-AF65-F5344CB8AC3E}">
        <p14:creationId xmlns:p14="http://schemas.microsoft.com/office/powerpoint/2010/main" val="316935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150EA-4E17-A9FE-5EA6-01D65BAB83A7}"/>
              </a:ext>
            </a:extLst>
          </p:cNvPr>
          <p:cNvSpPr>
            <a:spLocks noGrp="1"/>
          </p:cNvSpPr>
          <p:nvPr>
            <p:ph type="title"/>
          </p:nvPr>
        </p:nvSpPr>
        <p:spPr/>
        <p:txBody>
          <a:bodyPr/>
          <a:lstStyle/>
          <a:p>
            <a:r>
              <a:rPr lang="en-US" dirty="0"/>
              <a:t>Depth First Search (DFS)</a:t>
            </a:r>
          </a:p>
        </p:txBody>
      </p:sp>
      <p:sp>
        <p:nvSpPr>
          <p:cNvPr id="9" name="TextBox 8">
            <a:extLst>
              <a:ext uri="{FF2B5EF4-FFF2-40B4-BE49-F238E27FC236}">
                <a16:creationId xmlns:a16="http://schemas.microsoft.com/office/drawing/2014/main" id="{4AB341F5-A640-00EF-253E-CF1D8853FE8F}"/>
              </a:ext>
            </a:extLst>
          </p:cNvPr>
          <p:cNvSpPr txBox="1"/>
          <p:nvPr/>
        </p:nvSpPr>
        <p:spPr>
          <a:xfrm>
            <a:off x="3433510" y="6047874"/>
            <a:ext cx="4814898" cy="307777"/>
          </a:xfrm>
          <a:prstGeom prst="rect">
            <a:avLst/>
          </a:prstGeom>
          <a:noFill/>
        </p:spPr>
        <p:txBody>
          <a:bodyPr wrap="square" rtlCol="0">
            <a:spAutoFit/>
          </a:bodyPr>
          <a:lstStyle/>
          <a:p>
            <a:r>
              <a:rPr lang="en-US" sz="1400" dirty="0"/>
              <a:t>Book: Introduction to the Design and Analysis of Algorithms </a:t>
            </a:r>
          </a:p>
        </p:txBody>
      </p:sp>
      <p:pic>
        <p:nvPicPr>
          <p:cNvPr id="11" name="Content Placeholder 10">
            <a:extLst>
              <a:ext uri="{FF2B5EF4-FFF2-40B4-BE49-F238E27FC236}">
                <a16:creationId xmlns:a16="http://schemas.microsoft.com/office/drawing/2014/main" id="{CBD7E047-25F9-BFE5-9CD6-1A3D396DDFD5}"/>
              </a:ext>
            </a:extLst>
          </p:cNvPr>
          <p:cNvPicPr>
            <a:picLocks noGrp="1" noChangeAspect="1"/>
          </p:cNvPicPr>
          <p:nvPr>
            <p:ph sz="half" idx="1"/>
          </p:nvPr>
        </p:nvPicPr>
        <p:blipFill>
          <a:blip r:embed="rId2"/>
          <a:stretch>
            <a:fillRect/>
          </a:stretch>
        </p:blipFill>
        <p:spPr>
          <a:xfrm>
            <a:off x="660992" y="2037347"/>
            <a:ext cx="10359934" cy="4010527"/>
          </a:xfrm>
          <a:prstGeom prst="rect">
            <a:avLst/>
          </a:prstGeom>
        </p:spPr>
      </p:pic>
    </p:spTree>
    <p:extLst>
      <p:ext uri="{BB962C8B-B14F-4D97-AF65-F5344CB8AC3E}">
        <p14:creationId xmlns:p14="http://schemas.microsoft.com/office/powerpoint/2010/main" val="2953718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DEB87-14EC-B377-D0C0-08D1232090A1}"/>
              </a:ext>
            </a:extLst>
          </p:cNvPr>
          <p:cNvSpPr>
            <a:spLocks noGrp="1"/>
          </p:cNvSpPr>
          <p:nvPr>
            <p:ph type="title"/>
          </p:nvPr>
        </p:nvSpPr>
        <p:spPr/>
        <p:txBody>
          <a:bodyPr/>
          <a:lstStyle/>
          <a:p>
            <a:r>
              <a:rPr lang="en-US" dirty="0"/>
              <a:t>DFS algorithm</a:t>
            </a:r>
          </a:p>
        </p:txBody>
      </p:sp>
      <p:pic>
        <p:nvPicPr>
          <p:cNvPr id="10" name="Content Placeholder 9">
            <a:extLst>
              <a:ext uri="{FF2B5EF4-FFF2-40B4-BE49-F238E27FC236}">
                <a16:creationId xmlns:a16="http://schemas.microsoft.com/office/drawing/2014/main" id="{5A9818A4-A4C7-834F-B842-562A7F316356}"/>
              </a:ext>
            </a:extLst>
          </p:cNvPr>
          <p:cNvPicPr>
            <a:picLocks noGrp="1" noChangeAspect="1"/>
          </p:cNvPicPr>
          <p:nvPr>
            <p:ph sz="half" idx="1"/>
          </p:nvPr>
        </p:nvPicPr>
        <p:blipFill>
          <a:blip r:embed="rId2"/>
          <a:stretch>
            <a:fillRect/>
          </a:stretch>
        </p:blipFill>
        <p:spPr>
          <a:xfrm>
            <a:off x="640079" y="2633472"/>
            <a:ext cx="5212080" cy="3566160"/>
          </a:xfrm>
          <a:prstGeom prst="rect">
            <a:avLst/>
          </a:prstGeom>
        </p:spPr>
      </p:pic>
      <p:pic>
        <p:nvPicPr>
          <p:cNvPr id="12" name="Content Placeholder 11">
            <a:extLst>
              <a:ext uri="{FF2B5EF4-FFF2-40B4-BE49-F238E27FC236}">
                <a16:creationId xmlns:a16="http://schemas.microsoft.com/office/drawing/2014/main" id="{8076AE82-1420-FA19-1B63-2AAEB3E97649}"/>
              </a:ext>
            </a:extLst>
          </p:cNvPr>
          <p:cNvPicPr>
            <a:picLocks noGrp="1" noChangeAspect="1"/>
          </p:cNvPicPr>
          <p:nvPr>
            <p:ph sz="half" idx="2"/>
          </p:nvPr>
        </p:nvPicPr>
        <p:blipFill>
          <a:blip r:embed="rId3"/>
          <a:stretch>
            <a:fillRect/>
          </a:stretch>
        </p:blipFill>
        <p:spPr>
          <a:xfrm>
            <a:off x="6849978" y="2951747"/>
            <a:ext cx="4940969" cy="2725929"/>
          </a:xfrm>
          <a:prstGeom prst="rect">
            <a:avLst/>
          </a:prstGeom>
        </p:spPr>
      </p:pic>
    </p:spTree>
    <p:extLst>
      <p:ext uri="{BB962C8B-B14F-4D97-AF65-F5344CB8AC3E}">
        <p14:creationId xmlns:p14="http://schemas.microsoft.com/office/powerpoint/2010/main" val="3500997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BB56C-F91E-C007-E28E-3E526C95C34A}"/>
              </a:ext>
            </a:extLst>
          </p:cNvPr>
          <p:cNvSpPr>
            <a:spLocks noGrp="1"/>
          </p:cNvSpPr>
          <p:nvPr>
            <p:ph type="title"/>
          </p:nvPr>
        </p:nvSpPr>
        <p:spPr/>
        <p:txBody>
          <a:bodyPr/>
          <a:lstStyle/>
          <a:p>
            <a:r>
              <a:rPr lang="en-US" dirty="0"/>
              <a:t>DFS time complexity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2255A50-3DBF-5DB6-929E-FA07B9A20AE4}"/>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SzTx/>
                  <a:buNone/>
                </a:pPr>
                <a:r>
                  <a:rPr lang="en-US" altLang="en-US" dirty="0"/>
                  <a:t>In an </a:t>
                </a:r>
                <a:r>
                  <a:rPr lang="en-US" altLang="en-US" b="1" dirty="0"/>
                  <a:t>adjacency matrix</a:t>
                </a:r>
              </a:p>
              <a:p>
                <a:pPr eaLnBrk="0" fontAlgn="base" hangingPunct="0">
                  <a:lnSpc>
                    <a:spcPct val="100000"/>
                  </a:lnSpc>
                  <a:spcBef>
                    <a:spcPct val="0"/>
                  </a:spcBef>
                  <a:spcAft>
                    <a:spcPct val="0"/>
                  </a:spcAft>
                  <a:buSzTx/>
                </a:pPr>
                <a:r>
                  <a:rPr lang="en-US" altLang="en-US" dirty="0"/>
                  <a:t>the graph is represented as a 2D array of size V *V </a:t>
                </a:r>
              </a:p>
              <a:p>
                <a:pPr eaLnBrk="0" fontAlgn="base" hangingPunct="0">
                  <a:lnSpc>
                    <a:spcPct val="100000"/>
                  </a:lnSpc>
                  <a:spcBef>
                    <a:spcPct val="0"/>
                  </a:spcBef>
                  <a:spcAft>
                    <a:spcPct val="0"/>
                  </a:spcAft>
                  <a:buSzTx/>
                </a:pPr>
                <a:r>
                  <a:rPr lang="en-US" altLang="en-US" dirty="0"/>
                  <a:t> When the DFS algorithm visits a vertex, it has to figure out which other vertices are its neighbors.</a:t>
                </a:r>
                <a:r>
                  <a:rPr lang="el-GR" dirty="0"/>
                  <a:t> </a:t>
                </a:r>
                <a:endParaRPr lang="en-US" dirty="0"/>
              </a:p>
              <a:p>
                <a:pPr eaLnBrk="0" fontAlgn="base" hangingPunct="0">
                  <a:lnSpc>
                    <a:spcPct val="100000"/>
                  </a:lnSpc>
                  <a:spcBef>
                    <a:spcPct val="0"/>
                  </a:spcBef>
                  <a:spcAft>
                    <a:spcPct val="0"/>
                  </a:spcAft>
                  <a:buSzTx/>
                </a:pPr>
                <a:r>
                  <a:rPr lang="en-US" altLang="en-US" dirty="0"/>
                  <a:t>It must scan the </a:t>
                </a:r>
                <a:r>
                  <a:rPr lang="en-US" altLang="en-US" b="1" dirty="0"/>
                  <a:t>entire row</a:t>
                </a:r>
                <a:r>
                  <a:rPr lang="en-US" altLang="en-US" dirty="0"/>
                  <a:t> for that vertex in the matrix.</a:t>
                </a:r>
              </a:p>
              <a:p>
                <a:pPr eaLnBrk="0" fontAlgn="base" hangingPunct="0">
                  <a:lnSpc>
                    <a:spcPct val="100000"/>
                  </a:lnSpc>
                  <a:spcBef>
                    <a:spcPct val="0"/>
                  </a:spcBef>
                  <a:spcAft>
                    <a:spcPct val="0"/>
                  </a:spcAft>
                  <a:buSzTx/>
                </a:pPr>
                <a:r>
                  <a:rPr lang="en-US" altLang="en-US" b="1" dirty="0"/>
                  <a:t>Visiting Vertices:</a:t>
                </a:r>
                <a:r>
                  <a:rPr lang="en-US" altLang="en-US" dirty="0"/>
                  <a:t> The algorithm visits each of the V vertices exactly once.</a:t>
                </a:r>
              </a:p>
              <a:p>
                <a:pPr eaLnBrk="0" fontAlgn="base" hangingPunct="0">
                  <a:lnSpc>
                    <a:spcPct val="100000"/>
                  </a:lnSpc>
                  <a:spcBef>
                    <a:spcPct val="0"/>
                  </a:spcBef>
                  <a:spcAft>
                    <a:spcPct val="0"/>
                  </a:spcAft>
                  <a:buSzTx/>
                </a:pPr>
                <a:r>
                  <a:rPr lang="en-US" altLang="en-US" b="1" dirty="0"/>
                  <a:t>Checking Neighbors:</a:t>
                </a:r>
                <a:r>
                  <a:rPr lang="en-US" altLang="en-US" dirty="0"/>
                  <a:t> For </a:t>
                </a:r>
                <a:r>
                  <a:rPr lang="en-US" altLang="en-US" i="1" dirty="0"/>
                  <a:t>each</a:t>
                </a:r>
                <a:r>
                  <a:rPr lang="en-US" altLang="en-US" dirty="0"/>
                  <a:t> vertex visited, it must check all V possible columns in that row to see if an edge exists (indicated by a 1 or a 0).</a:t>
                </a:r>
              </a:p>
              <a:p>
                <a:pPr eaLnBrk="0" fontAlgn="base" hangingPunct="0">
                  <a:lnSpc>
                    <a:spcPct val="100000"/>
                  </a:lnSpc>
                  <a:spcBef>
                    <a:spcPct val="0"/>
                  </a:spcBef>
                  <a:spcAft>
                    <a:spcPct val="0"/>
                  </a:spcAft>
                  <a:buSzTx/>
                </a:pPr>
                <a:r>
                  <a:rPr lang="el-GR" dirty="0"/>
                  <a:t> θ</a:t>
                </a:r>
                <a:r>
                  <a:rPr lang="en-US" dirty="0"/>
                  <a:t>(</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𝑉</m:t>
                        </m:r>
                      </m:e>
                      <m:sup>
                        <m:r>
                          <a:rPr lang="en-US" i="1">
                            <a:latin typeface="Cambria Math" panose="02040503050406030204" pitchFamily="18" charset="0"/>
                          </a:rPr>
                          <m:t>2</m:t>
                        </m:r>
                      </m:sup>
                    </m:sSup>
                    <m:r>
                      <a:rPr lang="en-US" i="1">
                        <a:latin typeface="Cambria Math" panose="02040503050406030204" pitchFamily="18" charset="0"/>
                      </a:rPr>
                      <m:t>)</m:t>
                    </m:r>
                  </m:oMath>
                </a14:m>
                <a:endParaRPr lang="en-US" altLang="en-US" dirty="0"/>
              </a:p>
              <a:p>
                <a:pPr eaLnBrk="0" fontAlgn="base" hangingPunct="0">
                  <a:lnSpc>
                    <a:spcPct val="100000"/>
                  </a:lnSpc>
                  <a:spcBef>
                    <a:spcPct val="0"/>
                  </a:spcBef>
                  <a:spcAft>
                    <a:spcPct val="0"/>
                  </a:spcAft>
                  <a:buSzTx/>
                </a:pPr>
                <a:endParaRPr lang="en-US" altLang="en-US" dirty="0"/>
              </a:p>
              <a:p>
                <a:pPr marL="0" lvl="0" indent="0" eaLnBrk="0" fontAlgn="base" hangingPunct="0">
                  <a:lnSpc>
                    <a:spcPct val="100000"/>
                  </a:lnSpc>
                  <a:spcBef>
                    <a:spcPct val="0"/>
                  </a:spcBef>
                  <a:spcAft>
                    <a:spcPct val="0"/>
                  </a:spcAft>
                  <a:buSzTx/>
                  <a:buFontTx/>
                  <a:buChar char="•"/>
                </a:pPr>
                <a:endParaRPr lang="en-US" altLang="en-US" dirty="0"/>
              </a:p>
              <a:p>
                <a:pPr marL="0" indent="0">
                  <a:buNone/>
                </a:pPr>
                <a:endParaRPr lang="en-US" dirty="0">
                  <a:latin typeface="Segoe UI" panose="020B0502040204020203" pitchFamily="34" charset="0"/>
                </a:endParaRPr>
              </a:p>
              <a:p>
                <a:endParaRPr lang="en-US" dirty="0"/>
              </a:p>
            </p:txBody>
          </p:sp>
        </mc:Choice>
        <mc:Fallback>
          <p:sp>
            <p:nvSpPr>
              <p:cNvPr id="3" name="Content Placeholder 2">
                <a:extLst>
                  <a:ext uri="{FF2B5EF4-FFF2-40B4-BE49-F238E27FC236}">
                    <a16:creationId xmlns:a16="http://schemas.microsoft.com/office/drawing/2014/main" id="{B2255A50-3DBF-5DB6-929E-FA07B9A20AE4}"/>
                  </a:ext>
                </a:extLst>
              </p:cNvPr>
              <p:cNvSpPr>
                <a:spLocks noGrp="1" noRot="1" noChangeAspect="1" noMove="1" noResize="1" noEditPoints="1" noAdjustHandles="1" noChangeArrowheads="1" noChangeShapeType="1" noTextEdit="1"/>
              </p:cNvSpPr>
              <p:nvPr>
                <p:ph idx="1"/>
              </p:nvPr>
            </p:nvSpPr>
            <p:spPr>
              <a:blipFill>
                <a:blip r:embed="rId2"/>
                <a:stretch>
                  <a:fillRect l="-560" t="-855"/>
                </a:stretch>
              </a:blipFill>
            </p:spPr>
            <p:txBody>
              <a:bodyPr/>
              <a:lstStyle/>
              <a:p>
                <a:r>
                  <a:rPr lang="en-US">
                    <a:noFill/>
                  </a:rPr>
                  <a:t> </a:t>
                </a:r>
              </a:p>
            </p:txBody>
          </p:sp>
        </mc:Fallback>
      </mc:AlternateContent>
      <p:sp>
        <p:nvSpPr>
          <p:cNvPr id="5" name="Rectangle 1">
            <a:extLst>
              <a:ext uri="{FF2B5EF4-FFF2-40B4-BE49-F238E27FC236}">
                <a16:creationId xmlns:a16="http://schemas.microsoft.com/office/drawing/2014/main" id="{38C323CF-5172-7CEE-AA33-9F36CAEF1350}"/>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933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F3221-FC95-82BF-81B0-F3C70B5B8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8FCBB-96F0-6966-E9C2-4692FEA32163}"/>
              </a:ext>
            </a:extLst>
          </p:cNvPr>
          <p:cNvSpPr>
            <a:spLocks noGrp="1"/>
          </p:cNvSpPr>
          <p:nvPr>
            <p:ph type="title"/>
          </p:nvPr>
        </p:nvSpPr>
        <p:spPr/>
        <p:txBody>
          <a:bodyPr/>
          <a:lstStyle/>
          <a:p>
            <a:r>
              <a:rPr lang="en-US" dirty="0"/>
              <a:t>DFS time complexity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5FF85F-2541-2E4A-A2BE-2FE642FD428B}"/>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SzTx/>
                  <a:buNone/>
                </a:pPr>
                <a:r>
                  <a:rPr lang="en-US" altLang="en-US" dirty="0"/>
                  <a:t>In an </a:t>
                </a:r>
                <a:r>
                  <a:rPr lang="en-US" altLang="en-US" b="1" dirty="0"/>
                  <a:t>Adjacency List</a:t>
                </a:r>
                <a:r>
                  <a:rPr lang="en-US" altLang="en-US" dirty="0"/>
                  <a:t>. </a:t>
                </a:r>
              </a:p>
              <a:p>
                <a:pPr eaLnBrk="0" fontAlgn="base" hangingPunct="0">
                  <a:lnSpc>
                    <a:spcPct val="100000"/>
                  </a:lnSpc>
                  <a:spcBef>
                    <a:spcPct val="0"/>
                  </a:spcBef>
                  <a:spcAft>
                    <a:spcPct val="0"/>
                  </a:spcAft>
                  <a:buSzTx/>
                </a:pPr>
                <a:r>
                  <a:rPr lang="en-US" altLang="en-US" dirty="0"/>
                  <a:t>each vertex only stores a list of its actual neighbors.</a:t>
                </a:r>
              </a:p>
              <a:p>
                <a:pPr eaLnBrk="0" fontAlgn="base" hangingPunct="0">
                  <a:lnSpc>
                    <a:spcPct val="100000"/>
                  </a:lnSpc>
                  <a:spcBef>
                    <a:spcPct val="0"/>
                  </a:spcBef>
                  <a:spcAft>
                    <a:spcPct val="0"/>
                  </a:spcAft>
                  <a:buSzTx/>
                </a:pPr>
                <a:r>
                  <a:rPr lang="en-US" altLang="en-US" dirty="0"/>
                  <a:t>Each vertex is visited once: O(V).</a:t>
                </a:r>
              </a:p>
              <a:p>
                <a:pPr eaLnBrk="0" fontAlgn="base" hangingPunct="0">
                  <a:lnSpc>
                    <a:spcPct val="100000"/>
                  </a:lnSpc>
                  <a:spcBef>
                    <a:spcPct val="0"/>
                  </a:spcBef>
                  <a:spcAft>
                    <a:spcPct val="0"/>
                  </a:spcAft>
                  <a:buSzTx/>
                </a:pPr>
                <a:r>
                  <a:rPr lang="en-US" altLang="en-US" dirty="0"/>
                  <a:t>Each edge is traversed exactly once (for directed graphs) or twice (for undirected graphs): O(E).</a:t>
                </a:r>
              </a:p>
              <a:p>
                <a:pPr eaLnBrk="0" fontAlgn="base" hangingPunct="0">
                  <a:lnSpc>
                    <a:spcPct val="100000"/>
                  </a:lnSpc>
                  <a:spcBef>
                    <a:spcPct val="0"/>
                  </a:spcBef>
                  <a:spcAft>
                    <a:spcPct val="0"/>
                  </a:spcAft>
                  <a:buSzTx/>
                </a:pPr>
                <a:r>
                  <a:rPr lang="en-US" altLang="en-US" b="1" dirty="0"/>
                  <a:t>The Total:</a:t>
                </a:r>
                <a:r>
                  <a:rPr lang="en-US" altLang="en-US" dirty="0"/>
                  <a:t> </a:t>
                </a:r>
                <a:r>
                  <a:rPr lang="el-GR" dirty="0"/>
                  <a:t>θ</a:t>
                </a:r>
                <a:r>
                  <a:rPr lang="en-US" dirty="0"/>
                  <a:t>(V+E</a:t>
                </a:r>
                <a14:m>
                  <m:oMath xmlns:m="http://schemas.openxmlformats.org/officeDocument/2006/math">
                    <m:r>
                      <a:rPr lang="en-US" i="1">
                        <a:latin typeface="Cambria Math" panose="02040503050406030204" pitchFamily="18" charset="0"/>
                      </a:rPr>
                      <m:t>)</m:t>
                    </m:r>
                  </m:oMath>
                </a14:m>
                <a:endParaRPr lang="en-US" altLang="en-US" dirty="0"/>
              </a:p>
              <a:p>
                <a:pPr eaLnBrk="0" fontAlgn="base" hangingPunct="0">
                  <a:lnSpc>
                    <a:spcPct val="100000"/>
                  </a:lnSpc>
                  <a:spcBef>
                    <a:spcPct val="0"/>
                  </a:spcBef>
                  <a:spcAft>
                    <a:spcPct val="0"/>
                  </a:spcAft>
                  <a:buSzTx/>
                </a:pPr>
                <a:endParaRPr lang="en-US" altLang="en-US" dirty="0"/>
              </a:p>
              <a:p>
                <a:pPr marL="0" lvl="0" indent="0" eaLnBrk="0" fontAlgn="base" hangingPunct="0">
                  <a:lnSpc>
                    <a:spcPct val="100000"/>
                  </a:lnSpc>
                  <a:spcBef>
                    <a:spcPct val="0"/>
                  </a:spcBef>
                  <a:spcAft>
                    <a:spcPct val="0"/>
                  </a:spcAft>
                  <a:buSzTx/>
                  <a:buFontTx/>
                  <a:buChar char="•"/>
                </a:pPr>
                <a:endParaRPr lang="en-US" altLang="en-US" dirty="0"/>
              </a:p>
              <a:p>
                <a:pPr marL="0" indent="0">
                  <a:buNone/>
                </a:pPr>
                <a:endParaRPr lang="en-US" dirty="0">
                  <a:latin typeface="Segoe UI" panose="020B0502040204020203" pitchFamily="34" charset="0"/>
                </a:endParaRPr>
              </a:p>
              <a:p>
                <a:endParaRPr lang="en-US" dirty="0"/>
              </a:p>
            </p:txBody>
          </p:sp>
        </mc:Choice>
        <mc:Fallback>
          <p:sp>
            <p:nvSpPr>
              <p:cNvPr id="3" name="Content Placeholder 2">
                <a:extLst>
                  <a:ext uri="{FF2B5EF4-FFF2-40B4-BE49-F238E27FC236}">
                    <a16:creationId xmlns:a16="http://schemas.microsoft.com/office/drawing/2014/main" id="{1D5FF85F-2541-2E4A-A2BE-2FE642FD428B}"/>
                  </a:ext>
                </a:extLst>
              </p:cNvPr>
              <p:cNvSpPr>
                <a:spLocks noGrp="1" noRot="1" noChangeAspect="1" noMove="1" noResize="1" noEditPoints="1" noAdjustHandles="1" noChangeArrowheads="1" noChangeShapeType="1" noTextEdit="1"/>
              </p:cNvSpPr>
              <p:nvPr>
                <p:ph idx="1"/>
              </p:nvPr>
            </p:nvSpPr>
            <p:spPr>
              <a:blipFill>
                <a:blip r:embed="rId2"/>
                <a:stretch>
                  <a:fillRect l="-560" t="-855"/>
                </a:stretch>
              </a:blipFill>
            </p:spPr>
            <p:txBody>
              <a:bodyPr/>
              <a:lstStyle/>
              <a:p>
                <a:r>
                  <a:rPr lang="en-US">
                    <a:noFill/>
                  </a:rPr>
                  <a:t> </a:t>
                </a:r>
              </a:p>
            </p:txBody>
          </p:sp>
        </mc:Fallback>
      </mc:AlternateContent>
      <p:sp>
        <p:nvSpPr>
          <p:cNvPr id="5" name="Rectangle 1">
            <a:extLst>
              <a:ext uri="{FF2B5EF4-FFF2-40B4-BE49-F238E27FC236}">
                <a16:creationId xmlns:a16="http://schemas.microsoft.com/office/drawing/2014/main" id="{5F349CA2-D79E-1F33-99BB-221A67A1F148}"/>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8580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BC225-698C-1BD8-F14F-253431614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DB585-52CE-797D-EBA3-12B94ED8E292}"/>
              </a:ext>
            </a:extLst>
          </p:cNvPr>
          <p:cNvSpPr>
            <a:spLocks noGrp="1"/>
          </p:cNvSpPr>
          <p:nvPr>
            <p:ph type="title"/>
          </p:nvPr>
        </p:nvSpPr>
        <p:spPr/>
        <p:txBody>
          <a:bodyPr/>
          <a:lstStyle/>
          <a:p>
            <a:r>
              <a:rPr lang="en-US" dirty="0"/>
              <a:t>Breadth First Search (BFS)</a:t>
            </a:r>
          </a:p>
        </p:txBody>
      </p:sp>
      <p:sp>
        <p:nvSpPr>
          <p:cNvPr id="3" name="Content Placeholder 2">
            <a:extLst>
              <a:ext uri="{FF2B5EF4-FFF2-40B4-BE49-F238E27FC236}">
                <a16:creationId xmlns:a16="http://schemas.microsoft.com/office/drawing/2014/main" id="{0392F1D9-F826-3BEA-CD8F-DCB69B9C75F8}"/>
              </a:ext>
            </a:extLst>
          </p:cNvPr>
          <p:cNvSpPr>
            <a:spLocks noGrp="1"/>
          </p:cNvSpPr>
          <p:nvPr>
            <p:ph idx="1"/>
          </p:nvPr>
        </p:nvSpPr>
        <p:spPr/>
        <p:txBody>
          <a:bodyPr>
            <a:normAutofit/>
          </a:bodyPr>
          <a:lstStyle/>
          <a:p>
            <a:endParaRPr lang="en-US" dirty="0">
              <a:latin typeface="Segoe UI" panose="020B0502040204020203" pitchFamily="34" charset="0"/>
            </a:endParaRPr>
          </a:p>
          <a:p>
            <a:endParaRPr lang="en-US" dirty="0">
              <a:latin typeface="Segoe UI" panose="020B0502040204020203" pitchFamily="34" charset="0"/>
            </a:endParaRPr>
          </a:p>
          <a:p>
            <a:endParaRPr lang="en-US" dirty="0"/>
          </a:p>
        </p:txBody>
      </p:sp>
      <p:pic>
        <p:nvPicPr>
          <p:cNvPr id="5" name="Picture 4">
            <a:extLst>
              <a:ext uri="{FF2B5EF4-FFF2-40B4-BE49-F238E27FC236}">
                <a16:creationId xmlns:a16="http://schemas.microsoft.com/office/drawing/2014/main" id="{6CB6F808-EA23-691A-E144-D354E42E820B}"/>
              </a:ext>
            </a:extLst>
          </p:cNvPr>
          <p:cNvPicPr>
            <a:picLocks noChangeAspect="1"/>
          </p:cNvPicPr>
          <p:nvPr/>
        </p:nvPicPr>
        <p:blipFill>
          <a:blip r:embed="rId2"/>
          <a:stretch>
            <a:fillRect/>
          </a:stretch>
        </p:blipFill>
        <p:spPr>
          <a:xfrm>
            <a:off x="640079" y="2416122"/>
            <a:ext cx="10717732" cy="3783509"/>
          </a:xfrm>
          <a:prstGeom prst="rect">
            <a:avLst/>
          </a:prstGeom>
        </p:spPr>
      </p:pic>
      <p:sp>
        <p:nvSpPr>
          <p:cNvPr id="6" name="TextBox 5">
            <a:extLst>
              <a:ext uri="{FF2B5EF4-FFF2-40B4-BE49-F238E27FC236}">
                <a16:creationId xmlns:a16="http://schemas.microsoft.com/office/drawing/2014/main" id="{9D27BD41-E222-5BA2-F90B-9398E2F56B9E}"/>
              </a:ext>
            </a:extLst>
          </p:cNvPr>
          <p:cNvSpPr txBox="1"/>
          <p:nvPr/>
        </p:nvSpPr>
        <p:spPr>
          <a:xfrm>
            <a:off x="3433510" y="6192252"/>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3399942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38198-88E9-D481-9358-D2E5A2CA47C7}"/>
              </a:ext>
            </a:extLst>
          </p:cNvPr>
          <p:cNvSpPr>
            <a:spLocks noGrp="1"/>
          </p:cNvSpPr>
          <p:nvPr>
            <p:ph type="title"/>
          </p:nvPr>
        </p:nvSpPr>
        <p:spPr/>
        <p:txBody>
          <a:bodyPr/>
          <a:lstStyle/>
          <a:p>
            <a:r>
              <a:rPr lang="en-US" dirty="0"/>
              <a:t>BFS Algorithm</a:t>
            </a:r>
          </a:p>
        </p:txBody>
      </p:sp>
      <p:pic>
        <p:nvPicPr>
          <p:cNvPr id="7" name="Content Placeholder 6">
            <a:extLst>
              <a:ext uri="{FF2B5EF4-FFF2-40B4-BE49-F238E27FC236}">
                <a16:creationId xmlns:a16="http://schemas.microsoft.com/office/drawing/2014/main" id="{3877E5FC-918E-E525-F4CA-00AE110E4FCA}"/>
              </a:ext>
            </a:extLst>
          </p:cNvPr>
          <p:cNvPicPr>
            <a:picLocks noGrp="1" noChangeAspect="1"/>
          </p:cNvPicPr>
          <p:nvPr>
            <p:ph sz="half" idx="1"/>
          </p:nvPr>
        </p:nvPicPr>
        <p:blipFill>
          <a:blip r:embed="rId2"/>
          <a:stretch>
            <a:fillRect/>
          </a:stretch>
        </p:blipFill>
        <p:spPr>
          <a:xfrm>
            <a:off x="640079" y="2005264"/>
            <a:ext cx="5327585" cy="4194368"/>
          </a:xfrm>
          <a:prstGeom prst="rect">
            <a:avLst/>
          </a:prstGeom>
        </p:spPr>
      </p:pic>
      <p:pic>
        <p:nvPicPr>
          <p:cNvPr id="9" name="Content Placeholder 8">
            <a:extLst>
              <a:ext uri="{FF2B5EF4-FFF2-40B4-BE49-F238E27FC236}">
                <a16:creationId xmlns:a16="http://schemas.microsoft.com/office/drawing/2014/main" id="{567483A9-ADC0-0E5E-63A7-F3F3976F7521}"/>
              </a:ext>
            </a:extLst>
          </p:cNvPr>
          <p:cNvPicPr>
            <a:picLocks noGrp="1" noChangeAspect="1"/>
          </p:cNvPicPr>
          <p:nvPr>
            <p:ph sz="half" idx="2"/>
          </p:nvPr>
        </p:nvPicPr>
        <p:blipFill>
          <a:blip r:embed="rId3"/>
          <a:stretch>
            <a:fillRect/>
          </a:stretch>
        </p:blipFill>
        <p:spPr>
          <a:xfrm>
            <a:off x="6224337" y="2005264"/>
            <a:ext cx="5518483" cy="3785935"/>
          </a:xfrm>
          <a:prstGeom prst="rect">
            <a:avLst/>
          </a:prstGeom>
        </p:spPr>
      </p:pic>
    </p:spTree>
    <p:extLst>
      <p:ext uri="{BB962C8B-B14F-4D97-AF65-F5344CB8AC3E}">
        <p14:creationId xmlns:p14="http://schemas.microsoft.com/office/powerpoint/2010/main" val="4033092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D92EE-AE1A-5E9D-DB0D-44D306D74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14DEB-8FE1-E448-2E8C-34005A9E6820}"/>
              </a:ext>
            </a:extLst>
          </p:cNvPr>
          <p:cNvSpPr>
            <a:spLocks noGrp="1"/>
          </p:cNvSpPr>
          <p:nvPr>
            <p:ph type="title"/>
          </p:nvPr>
        </p:nvSpPr>
        <p:spPr/>
        <p:txBody>
          <a:bodyPr/>
          <a:lstStyle/>
          <a:p>
            <a:r>
              <a:rPr lang="en-US" dirty="0"/>
              <a:t>BFS time complexity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168EC47-4995-5EA2-FDE0-9DB708D9FCAD}"/>
                  </a:ext>
                </a:extLst>
              </p:cNvPr>
              <p:cNvSpPr>
                <a:spLocks noGrp="1"/>
              </p:cNvSpPr>
              <p:nvPr>
                <p:ph idx="1"/>
              </p:nvPr>
            </p:nvSpPr>
            <p:spPr/>
            <p:txBody>
              <a:bodyPr>
                <a:normAutofit lnSpcReduction="10000"/>
              </a:bodyPr>
              <a:lstStyle/>
              <a:p>
                <a:pPr marL="0" lvl="0" indent="0" eaLnBrk="0" fontAlgn="base" hangingPunct="0">
                  <a:lnSpc>
                    <a:spcPct val="150000"/>
                  </a:lnSpc>
                  <a:spcBef>
                    <a:spcPct val="0"/>
                  </a:spcBef>
                  <a:spcAft>
                    <a:spcPct val="0"/>
                  </a:spcAft>
                  <a:buSzTx/>
                  <a:buNone/>
                </a:pPr>
                <a:r>
                  <a:rPr lang="en-US" altLang="en-US" dirty="0"/>
                  <a:t>Just like DFS, the complexity of BFS is determined by the data structure used to store the graph, not the order of traversal.</a:t>
                </a:r>
              </a:p>
              <a:p>
                <a:pPr marL="0" indent="0" eaLnBrk="0" fontAlgn="base" hangingPunct="0">
                  <a:lnSpc>
                    <a:spcPct val="150000"/>
                  </a:lnSpc>
                  <a:spcBef>
                    <a:spcPct val="0"/>
                  </a:spcBef>
                  <a:spcAft>
                    <a:spcPct val="0"/>
                  </a:spcAft>
                  <a:buSzTx/>
                  <a:buFontTx/>
                  <a:buChar char="•"/>
                </a:pPr>
                <a:r>
                  <a:rPr lang="en-US" altLang="en-US" b="1" dirty="0"/>
                  <a:t>Adjacency Matrix: </a:t>
                </a:r>
                <a:r>
                  <a:rPr lang="el-GR" dirty="0"/>
                  <a:t>θ</a:t>
                </a:r>
                <a:r>
                  <a:rPr lang="en-US" dirty="0"/>
                  <a:t>(</a:t>
                </a:r>
                <a14:m>
                  <m:oMath xmlns:m="http://schemas.openxmlformats.org/officeDocument/2006/math">
                    <m:sSup>
                      <m:sSupPr>
                        <m:ctrlPr>
                          <a:rPr lang="en-US" i="1"/>
                        </m:ctrlPr>
                      </m:sSupPr>
                      <m:e>
                        <m:r>
                          <a:rPr lang="en-US" i="1"/>
                          <m:t>𝑉</m:t>
                        </m:r>
                      </m:e>
                      <m:sup>
                        <m:r>
                          <a:rPr lang="en-US" i="1"/>
                          <m:t>2</m:t>
                        </m:r>
                      </m:sup>
                    </m:sSup>
                    <m:r>
                      <a:rPr lang="en-US" i="1"/>
                      <m:t>)</m:t>
                    </m:r>
                  </m:oMath>
                </a14:m>
                <a:endParaRPr lang="en-US" altLang="en-US" dirty="0"/>
              </a:p>
              <a:p>
                <a:pPr marL="0" lvl="0" indent="0" eaLnBrk="0" fontAlgn="base" hangingPunct="0">
                  <a:lnSpc>
                    <a:spcPct val="150000"/>
                  </a:lnSpc>
                  <a:spcBef>
                    <a:spcPct val="0"/>
                  </a:spcBef>
                  <a:spcAft>
                    <a:spcPct val="0"/>
                  </a:spcAft>
                  <a:buSzTx/>
                  <a:buNone/>
                </a:pPr>
                <a:r>
                  <a:rPr lang="en-US" altLang="en-US" dirty="0"/>
                  <a:t>For every vertex you pull out of the queue, you must iterate over a row of length V to find its neighbors. Since you do this for all V vertices, the cost is V *V.</a:t>
                </a:r>
              </a:p>
              <a:p>
                <a:pPr marL="0" indent="0" eaLnBrk="0" fontAlgn="base" hangingPunct="0">
                  <a:lnSpc>
                    <a:spcPct val="150000"/>
                  </a:lnSpc>
                  <a:spcBef>
                    <a:spcPct val="0"/>
                  </a:spcBef>
                  <a:spcAft>
                    <a:spcPct val="0"/>
                  </a:spcAft>
                  <a:buSzTx/>
                  <a:buFontTx/>
                  <a:buChar char="•"/>
                </a:pPr>
                <a:r>
                  <a:rPr lang="en-US" altLang="en-US" b="1" dirty="0"/>
                  <a:t>Adjacency List: </a:t>
                </a:r>
                <a:r>
                  <a:rPr lang="el-GR" dirty="0"/>
                  <a:t>θ</a:t>
                </a:r>
                <a:r>
                  <a:rPr lang="en-US" dirty="0"/>
                  <a:t>(V+E</a:t>
                </a:r>
                <a14:m>
                  <m:oMath xmlns:m="http://schemas.openxmlformats.org/officeDocument/2006/math">
                    <m:r>
                      <a:rPr lang="en-US" i="1"/>
                      <m:t>)</m:t>
                    </m:r>
                  </m:oMath>
                </a14:m>
                <a:endParaRPr lang="en-US" altLang="en-US" dirty="0"/>
              </a:p>
              <a:p>
                <a:pPr marL="0" lvl="0" indent="0" eaLnBrk="0" fontAlgn="base" hangingPunct="0">
                  <a:lnSpc>
                    <a:spcPct val="150000"/>
                  </a:lnSpc>
                  <a:spcBef>
                    <a:spcPct val="0"/>
                  </a:spcBef>
                  <a:spcAft>
                    <a:spcPct val="0"/>
                  </a:spcAft>
                  <a:buSzTx/>
                  <a:buNone/>
                </a:pPr>
                <a:r>
                  <a:rPr lang="en-US" altLang="en-US" dirty="0"/>
                  <a:t>You visit each vertex once and iterate through each adjacency list once. The total number of items across all adjacency lists is proportional to the number of edges E.</a:t>
                </a:r>
              </a:p>
              <a:p>
                <a:pPr marL="0" indent="0">
                  <a:buNone/>
                </a:pPr>
                <a:endParaRPr lang="en-US" dirty="0">
                  <a:latin typeface="Segoe UI" panose="020B0502040204020203" pitchFamily="34" charset="0"/>
                </a:endParaRPr>
              </a:p>
              <a:p>
                <a:endParaRPr lang="en-US" dirty="0"/>
              </a:p>
            </p:txBody>
          </p:sp>
        </mc:Choice>
        <mc:Fallback>
          <p:sp>
            <p:nvSpPr>
              <p:cNvPr id="3" name="Content Placeholder 2">
                <a:extLst>
                  <a:ext uri="{FF2B5EF4-FFF2-40B4-BE49-F238E27FC236}">
                    <a16:creationId xmlns:a16="http://schemas.microsoft.com/office/drawing/2014/main" id="{9168EC47-4995-5EA2-FDE0-9DB708D9FCAD}"/>
                  </a:ext>
                </a:extLst>
              </p:cNvPr>
              <p:cNvSpPr>
                <a:spLocks noGrp="1" noRot="1" noChangeAspect="1" noMove="1" noResize="1" noEditPoints="1" noAdjustHandles="1" noChangeArrowheads="1" noChangeShapeType="1" noTextEdit="1"/>
              </p:cNvSpPr>
              <p:nvPr>
                <p:ph idx="1"/>
              </p:nvPr>
            </p:nvSpPr>
            <p:spPr>
              <a:blipFill>
                <a:blip r:embed="rId2"/>
                <a:stretch>
                  <a:fillRect l="-616" r="-560" b="-171"/>
                </a:stretch>
              </a:blipFill>
            </p:spPr>
            <p:txBody>
              <a:bodyPr/>
              <a:lstStyle/>
              <a:p>
                <a:r>
                  <a:rPr lang="en-US">
                    <a:noFill/>
                  </a:rPr>
                  <a:t> </a:t>
                </a:r>
              </a:p>
            </p:txBody>
          </p:sp>
        </mc:Fallback>
      </mc:AlternateContent>
      <p:sp>
        <p:nvSpPr>
          <p:cNvPr id="5" name="Rectangle 1">
            <a:extLst>
              <a:ext uri="{FF2B5EF4-FFF2-40B4-BE49-F238E27FC236}">
                <a16:creationId xmlns:a16="http://schemas.microsoft.com/office/drawing/2014/main" id="{982E9D45-E878-E0C7-8D95-D84AF92CD5BE}"/>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498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326100-54F0-8CE8-0557-E64CDF42593C}"/>
            </a:ext>
          </a:extLst>
        </p:cNvPr>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888C6F-0EC7-31FB-00B3-1DE78859FB50}"/>
              </a:ext>
            </a:extLst>
          </p:cNvPr>
          <p:cNvSpPr>
            <a:spLocks noGrp="1"/>
          </p:cNvSpPr>
          <p:nvPr>
            <p:ph type="title"/>
          </p:nvPr>
        </p:nvSpPr>
        <p:spPr>
          <a:xfrm>
            <a:off x="640080" y="1371600"/>
            <a:ext cx="4670661" cy="3030842"/>
          </a:xfrm>
        </p:spPr>
        <p:txBody>
          <a:bodyPr vert="horz" lIns="91440" tIns="45720" rIns="91440" bIns="45720" rtlCol="0" anchor="t">
            <a:normAutofit/>
          </a:bodyPr>
          <a:lstStyle/>
          <a:p>
            <a:br>
              <a:rPr lang="en-US" sz="5400" b="1" kern="1200">
                <a:solidFill>
                  <a:schemeClr val="tx1"/>
                </a:solidFill>
                <a:latin typeface="+mj-lt"/>
                <a:ea typeface="+mj-ea"/>
                <a:cs typeface="+mj-cs"/>
              </a:rPr>
            </a:br>
            <a:r>
              <a:rPr lang="en-US" sz="5400" b="1" kern="1200">
                <a:solidFill>
                  <a:schemeClr val="tx1"/>
                </a:solidFill>
                <a:latin typeface="+mj-lt"/>
                <a:ea typeface="+mj-ea"/>
                <a:cs typeface="+mj-cs"/>
              </a:rPr>
              <a:t>Decrease and Conquer</a:t>
            </a:r>
          </a:p>
        </p:txBody>
      </p:sp>
      <p:cxnSp>
        <p:nvCxnSpPr>
          <p:cNvPr id="23" name="Straight Connector 22">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descr="3D stairs design">
            <a:extLst>
              <a:ext uri="{FF2B5EF4-FFF2-40B4-BE49-F238E27FC236}">
                <a16:creationId xmlns:a16="http://schemas.microsoft.com/office/drawing/2014/main" id="{CA37D7BF-DCBE-587F-EFC1-6EC92B27D564}"/>
              </a:ext>
            </a:extLst>
          </p:cNvPr>
          <p:cNvPicPr>
            <a:picLocks noChangeAspect="1"/>
          </p:cNvPicPr>
          <p:nvPr/>
        </p:nvPicPr>
        <p:blipFill>
          <a:blip r:embed="rId2"/>
          <a:srcRect l="22390" r="15526"/>
          <a:stretch>
            <a:fillRect/>
          </a:stretch>
        </p:blipFill>
        <p:spPr>
          <a:xfrm>
            <a:off x="6515100" y="10"/>
            <a:ext cx="5676900" cy="6857990"/>
          </a:xfrm>
          <a:prstGeom prst="rect">
            <a:avLst/>
          </a:prstGeom>
        </p:spPr>
      </p:pic>
    </p:spTree>
    <p:extLst>
      <p:ext uri="{BB962C8B-B14F-4D97-AF65-F5344CB8AC3E}">
        <p14:creationId xmlns:p14="http://schemas.microsoft.com/office/powerpoint/2010/main" val="15406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A315-56F5-2362-05E3-0464C422A5A2}"/>
              </a:ext>
            </a:extLst>
          </p:cNvPr>
          <p:cNvSpPr>
            <a:spLocks noGrp="1"/>
          </p:cNvSpPr>
          <p:nvPr>
            <p:ph type="title"/>
          </p:nvPr>
        </p:nvSpPr>
        <p:spPr/>
        <p:txBody>
          <a:bodyPr/>
          <a:lstStyle/>
          <a:p>
            <a:r>
              <a:rPr lang="en-US" dirty="0"/>
              <a:t>Introduction </a:t>
            </a:r>
          </a:p>
        </p:txBody>
      </p:sp>
      <p:sp>
        <p:nvSpPr>
          <p:cNvPr id="6" name="Content Placeholder 5">
            <a:extLst>
              <a:ext uri="{FF2B5EF4-FFF2-40B4-BE49-F238E27FC236}">
                <a16:creationId xmlns:a16="http://schemas.microsoft.com/office/drawing/2014/main" id="{54BA32BA-A8BF-F858-FDC7-3E1C2AD0229A}"/>
              </a:ext>
            </a:extLst>
          </p:cNvPr>
          <p:cNvSpPr>
            <a:spLocks noGrp="1"/>
          </p:cNvSpPr>
          <p:nvPr>
            <p:ph idx="1"/>
          </p:nvPr>
        </p:nvSpPr>
        <p:spPr/>
        <p:txBody>
          <a:bodyPr/>
          <a:lstStyle/>
          <a:p>
            <a:r>
              <a:rPr lang="en-US" dirty="0"/>
              <a:t>The decrease-and-conquer technique is based on exploiting the relationship between a solution to a given instance of a problem and a solution to its smaller instance.</a:t>
            </a:r>
          </a:p>
          <a:p>
            <a:r>
              <a:rPr lang="en-US" dirty="0"/>
              <a:t>There are three major variations of decrease-and-conquer: </a:t>
            </a:r>
          </a:p>
          <a:p>
            <a:pPr lvl="1"/>
            <a:r>
              <a:rPr lang="en-US" dirty="0"/>
              <a:t>Decrease by a constant </a:t>
            </a:r>
          </a:p>
          <a:p>
            <a:pPr lvl="1"/>
            <a:r>
              <a:rPr lang="en-US" dirty="0"/>
              <a:t>Decrease by a constant factor</a:t>
            </a:r>
          </a:p>
          <a:p>
            <a:pPr lvl="1"/>
            <a:r>
              <a:rPr lang="en-US" dirty="0"/>
              <a:t> variable size decrease</a:t>
            </a:r>
          </a:p>
        </p:txBody>
      </p:sp>
    </p:spTree>
    <p:extLst>
      <p:ext uri="{BB962C8B-B14F-4D97-AF65-F5344CB8AC3E}">
        <p14:creationId xmlns:p14="http://schemas.microsoft.com/office/powerpoint/2010/main" val="942312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F676A-7BDE-CAB6-4893-1A0D29CBBC9D}"/>
              </a:ext>
            </a:extLst>
          </p:cNvPr>
          <p:cNvSpPr>
            <a:spLocks noGrp="1"/>
          </p:cNvSpPr>
          <p:nvPr>
            <p:ph type="title"/>
          </p:nvPr>
        </p:nvSpPr>
        <p:spPr/>
        <p:txBody>
          <a:bodyPr>
            <a:normAutofit/>
          </a:bodyPr>
          <a:lstStyle/>
          <a:p>
            <a:r>
              <a:rPr lang="en-US" dirty="0"/>
              <a:t>Decrease by a constant </a:t>
            </a:r>
          </a:p>
        </p:txBody>
      </p:sp>
      <p:sp>
        <p:nvSpPr>
          <p:cNvPr id="4" name="Content Placeholder 3">
            <a:extLst>
              <a:ext uri="{FF2B5EF4-FFF2-40B4-BE49-F238E27FC236}">
                <a16:creationId xmlns:a16="http://schemas.microsoft.com/office/drawing/2014/main" id="{69179E2D-8CA8-2396-AFA8-2B6599752AA0}"/>
              </a:ext>
            </a:extLst>
          </p:cNvPr>
          <p:cNvSpPr>
            <a:spLocks noGrp="1"/>
          </p:cNvSpPr>
          <p:nvPr>
            <p:ph sz="half" idx="1"/>
          </p:nvPr>
        </p:nvSpPr>
        <p:spPr/>
        <p:txBody>
          <a:bodyPr/>
          <a:lstStyle/>
          <a:p>
            <a:r>
              <a:rPr lang="en-US" dirty="0"/>
              <a:t>decrease-by-a-constant variation, the size of an instance is reduced by the same constant on each iteration of the algorithm. Typically, this constant is equal to one, although other constant size reductions do happen occasionally.</a:t>
            </a:r>
          </a:p>
        </p:txBody>
      </p:sp>
      <p:pic>
        <p:nvPicPr>
          <p:cNvPr id="7" name="Content Placeholder 6">
            <a:extLst>
              <a:ext uri="{FF2B5EF4-FFF2-40B4-BE49-F238E27FC236}">
                <a16:creationId xmlns:a16="http://schemas.microsoft.com/office/drawing/2014/main" id="{2C99218F-9363-6BC0-1A80-0EF64C3F6552}"/>
              </a:ext>
            </a:extLst>
          </p:cNvPr>
          <p:cNvPicPr>
            <a:picLocks noGrp="1" noChangeAspect="1"/>
          </p:cNvPicPr>
          <p:nvPr>
            <p:ph sz="half" idx="2"/>
          </p:nvPr>
        </p:nvPicPr>
        <p:blipFill>
          <a:blip r:embed="rId2"/>
          <a:stretch>
            <a:fillRect/>
          </a:stretch>
        </p:blipFill>
        <p:spPr>
          <a:xfrm>
            <a:off x="6914147" y="625642"/>
            <a:ext cx="4924927" cy="5438273"/>
          </a:xfrm>
          <a:prstGeom prst="rect">
            <a:avLst/>
          </a:prstGeom>
        </p:spPr>
      </p:pic>
      <p:sp>
        <p:nvSpPr>
          <p:cNvPr id="8" name="TextBox 7">
            <a:extLst>
              <a:ext uri="{FF2B5EF4-FFF2-40B4-BE49-F238E27FC236}">
                <a16:creationId xmlns:a16="http://schemas.microsoft.com/office/drawing/2014/main" id="{EC926841-EDA3-396A-2F4A-48E8DE34FAC5}"/>
              </a:ext>
            </a:extLst>
          </p:cNvPr>
          <p:cNvSpPr txBox="1"/>
          <p:nvPr/>
        </p:nvSpPr>
        <p:spPr>
          <a:xfrm>
            <a:off x="7377102" y="6279842"/>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3819092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98377-0C15-0D1E-E7A1-C1CFA23C3C9A}"/>
              </a:ext>
            </a:extLst>
          </p:cNvPr>
          <p:cNvSpPr>
            <a:spLocks noGrp="1"/>
          </p:cNvSpPr>
          <p:nvPr>
            <p:ph type="title"/>
          </p:nvPr>
        </p:nvSpPr>
        <p:spPr/>
        <p:txBody>
          <a:bodyPr>
            <a:normAutofit fontScale="90000"/>
          </a:bodyPr>
          <a:lstStyle/>
          <a:p>
            <a:r>
              <a:rPr lang="en-US" dirty="0"/>
              <a:t>Decrease by a constant </a:t>
            </a:r>
            <a:br>
              <a:rPr lang="en-US" dirty="0"/>
            </a:br>
            <a:r>
              <a:rPr lang="en-US" dirty="0"/>
              <a:t>factor</a:t>
            </a:r>
          </a:p>
        </p:txBody>
      </p:sp>
      <p:sp>
        <p:nvSpPr>
          <p:cNvPr id="3" name="Content Placeholder 2">
            <a:extLst>
              <a:ext uri="{FF2B5EF4-FFF2-40B4-BE49-F238E27FC236}">
                <a16:creationId xmlns:a16="http://schemas.microsoft.com/office/drawing/2014/main" id="{8929282A-A5ED-EC0F-20F6-1BCBE8696885}"/>
              </a:ext>
            </a:extLst>
          </p:cNvPr>
          <p:cNvSpPr>
            <a:spLocks noGrp="1"/>
          </p:cNvSpPr>
          <p:nvPr>
            <p:ph sz="half" idx="1"/>
          </p:nvPr>
        </p:nvSpPr>
        <p:spPr/>
        <p:txBody>
          <a:bodyPr/>
          <a:lstStyle/>
          <a:p>
            <a:r>
              <a:rPr lang="en-US" dirty="0"/>
              <a:t>The decrease-by-a-constant-factor technique suggests reducing a problem instance by the same constant factor on each iteration of the algorithm</a:t>
            </a:r>
          </a:p>
        </p:txBody>
      </p:sp>
      <p:pic>
        <p:nvPicPr>
          <p:cNvPr id="6" name="Content Placeholder 5">
            <a:extLst>
              <a:ext uri="{FF2B5EF4-FFF2-40B4-BE49-F238E27FC236}">
                <a16:creationId xmlns:a16="http://schemas.microsoft.com/office/drawing/2014/main" id="{DAF525FB-FBE7-0B93-8F2D-757A573F835D}"/>
              </a:ext>
            </a:extLst>
          </p:cNvPr>
          <p:cNvPicPr>
            <a:picLocks noGrp="1" noChangeAspect="1"/>
          </p:cNvPicPr>
          <p:nvPr>
            <p:ph sz="half" idx="2"/>
          </p:nvPr>
        </p:nvPicPr>
        <p:blipFill>
          <a:blip r:embed="rId2"/>
          <a:stretch>
            <a:fillRect/>
          </a:stretch>
        </p:blipFill>
        <p:spPr>
          <a:xfrm>
            <a:off x="6339839" y="417096"/>
            <a:ext cx="5419023" cy="5566610"/>
          </a:xfrm>
          <a:prstGeom prst="rect">
            <a:avLst/>
          </a:prstGeom>
        </p:spPr>
      </p:pic>
      <p:sp>
        <p:nvSpPr>
          <p:cNvPr id="7" name="TextBox 6">
            <a:extLst>
              <a:ext uri="{FF2B5EF4-FFF2-40B4-BE49-F238E27FC236}">
                <a16:creationId xmlns:a16="http://schemas.microsoft.com/office/drawing/2014/main" id="{8D8D00E0-EE2B-EE49-9530-6284CDB5744E}"/>
              </a:ext>
            </a:extLst>
          </p:cNvPr>
          <p:cNvSpPr txBox="1"/>
          <p:nvPr/>
        </p:nvSpPr>
        <p:spPr>
          <a:xfrm>
            <a:off x="7168555" y="6045743"/>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263147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A6EFA-E1C7-FC3D-8CEA-C8B759D99F10}"/>
              </a:ext>
            </a:extLst>
          </p:cNvPr>
          <p:cNvSpPr>
            <a:spLocks noGrp="1"/>
          </p:cNvSpPr>
          <p:nvPr>
            <p:ph type="title"/>
          </p:nvPr>
        </p:nvSpPr>
        <p:spPr/>
        <p:txBody>
          <a:bodyPr/>
          <a:lstStyle/>
          <a:p>
            <a:r>
              <a:rPr lang="en-US" dirty="0"/>
              <a:t>Variable-size-decrease</a:t>
            </a:r>
          </a:p>
        </p:txBody>
      </p:sp>
      <p:sp>
        <p:nvSpPr>
          <p:cNvPr id="5" name="Content Placeholder 4">
            <a:extLst>
              <a:ext uri="{FF2B5EF4-FFF2-40B4-BE49-F238E27FC236}">
                <a16:creationId xmlns:a16="http://schemas.microsoft.com/office/drawing/2014/main" id="{42E43144-A67B-F58F-7408-C6104302367C}"/>
              </a:ext>
            </a:extLst>
          </p:cNvPr>
          <p:cNvSpPr>
            <a:spLocks noGrp="1"/>
          </p:cNvSpPr>
          <p:nvPr>
            <p:ph idx="1"/>
          </p:nvPr>
        </p:nvSpPr>
        <p:spPr/>
        <p:txBody>
          <a:bodyPr/>
          <a:lstStyle/>
          <a:p>
            <a:r>
              <a:rPr lang="en-US" dirty="0"/>
              <a:t>the variable-size-decrease variety of decrease-and-conquer, the size-reduction pattern varies from one iteration of an algorithm to another. </a:t>
            </a:r>
          </a:p>
          <a:p>
            <a:r>
              <a:rPr lang="en-US" dirty="0"/>
              <a:t>Euclid’s algorithm for computing the greatest common divisor provides a good example of such a situation. </a:t>
            </a:r>
          </a:p>
          <a:p>
            <a:r>
              <a:rPr lang="en-US" dirty="0"/>
              <a:t>Recall that this algorithm is based on the formula </a:t>
            </a:r>
            <a:r>
              <a:rPr lang="en-US" dirty="0" err="1"/>
              <a:t>gcd</a:t>
            </a:r>
            <a:r>
              <a:rPr lang="en-US" dirty="0"/>
              <a:t>(m, n) =</a:t>
            </a:r>
            <a:r>
              <a:rPr lang="en-US" dirty="0" err="1"/>
              <a:t>gcd</a:t>
            </a:r>
            <a:r>
              <a:rPr lang="en-US" dirty="0"/>
              <a:t>(n, m mod n)</a:t>
            </a:r>
          </a:p>
        </p:txBody>
      </p:sp>
    </p:spTree>
    <p:extLst>
      <p:ext uri="{BB962C8B-B14F-4D97-AF65-F5344CB8AC3E}">
        <p14:creationId xmlns:p14="http://schemas.microsoft.com/office/powerpoint/2010/main" val="1218692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E7A5A7-3471-9E87-2DE9-30049AF900A7}"/>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2ADCB8-86B3-2659-ED8B-3A251343F553}"/>
              </a:ext>
            </a:extLst>
          </p:cNvPr>
          <p:cNvSpPr>
            <a:spLocks noGrp="1"/>
          </p:cNvSpPr>
          <p:nvPr>
            <p:ph type="title"/>
          </p:nvPr>
        </p:nvSpPr>
        <p:spPr>
          <a:xfrm>
            <a:off x="640080" y="1371600"/>
            <a:ext cx="4670661" cy="3030842"/>
          </a:xfrm>
        </p:spPr>
        <p:txBody>
          <a:bodyPr vert="horz" lIns="91440" tIns="45720" rIns="91440" bIns="45720" rtlCol="0" anchor="t">
            <a:normAutofit/>
          </a:bodyPr>
          <a:lstStyle/>
          <a:p>
            <a:pPr>
              <a:lnSpc>
                <a:spcPct val="90000"/>
              </a:lnSpc>
            </a:pPr>
            <a:r>
              <a:rPr lang="en-US" sz="5000" b="1" kern="1200">
                <a:solidFill>
                  <a:schemeClr val="tx1"/>
                </a:solidFill>
                <a:latin typeface="+mj-lt"/>
                <a:ea typeface="+mj-ea"/>
                <a:cs typeface="+mj-cs"/>
              </a:rPr>
              <a:t>Insertion sort</a:t>
            </a:r>
            <a:br>
              <a:rPr lang="en-US" sz="5000" b="1" kern="1200">
                <a:solidFill>
                  <a:schemeClr val="tx1"/>
                </a:solidFill>
                <a:latin typeface="+mj-lt"/>
                <a:ea typeface="+mj-ea"/>
                <a:cs typeface="+mj-cs"/>
              </a:rPr>
            </a:br>
            <a:br>
              <a:rPr lang="en-US" sz="5000" b="1" kern="1200">
                <a:solidFill>
                  <a:schemeClr val="tx1"/>
                </a:solidFill>
                <a:latin typeface="+mj-lt"/>
                <a:ea typeface="+mj-ea"/>
                <a:cs typeface="+mj-cs"/>
              </a:rPr>
            </a:br>
            <a:br>
              <a:rPr lang="en-US" sz="5000" b="1" kern="1200">
                <a:solidFill>
                  <a:schemeClr val="tx1"/>
                </a:solidFill>
                <a:latin typeface="+mj-lt"/>
                <a:ea typeface="+mj-ea"/>
                <a:cs typeface="+mj-cs"/>
              </a:rPr>
            </a:br>
            <a:endParaRPr lang="en-US" sz="5000" b="1" kern="1200">
              <a:solidFill>
                <a:schemeClr val="tx1"/>
              </a:solidFill>
              <a:latin typeface="+mj-lt"/>
              <a:ea typeface="+mj-ea"/>
              <a:cs typeface="+mj-cs"/>
            </a:endParaRPr>
          </a:p>
        </p:txBody>
      </p:sp>
      <p:cxnSp>
        <p:nvCxnSpPr>
          <p:cNvPr id="13" name="Straight Connector 12">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qua and green fractal background like floral petal">
            <a:extLst>
              <a:ext uri="{FF2B5EF4-FFF2-40B4-BE49-F238E27FC236}">
                <a16:creationId xmlns:a16="http://schemas.microsoft.com/office/drawing/2014/main" id="{85A150A2-E023-E197-EBE2-FF48AEC7D4AD}"/>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1301357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3F4BC2A-DCD7-1DD1-2655-37A97342C76E}"/>
              </a:ext>
            </a:extLst>
          </p:cNvPr>
          <p:cNvSpPr>
            <a:spLocks noGrp="1"/>
          </p:cNvSpPr>
          <p:nvPr>
            <p:ph sz="half" idx="2"/>
          </p:nvPr>
        </p:nvSpPr>
        <p:spPr/>
        <p:txBody>
          <a:bodyPr/>
          <a:lstStyle/>
          <a:p>
            <a:r>
              <a:rPr lang="en-US" dirty="0"/>
              <a:t>Let’s trace the insertion sort on this given array  of size n=5</a:t>
            </a:r>
          </a:p>
          <a:p>
            <a:r>
              <a:rPr lang="en-US" dirty="0"/>
              <a:t>First the for loop </a:t>
            </a:r>
            <a:r>
              <a:rPr lang="en-US" dirty="0" err="1"/>
              <a:t>i</a:t>
            </a:r>
            <a:r>
              <a:rPr lang="en-US" dirty="0"/>
              <a:t>=1  till it reach n-1 or in this case 4</a:t>
            </a:r>
          </a:p>
          <a:p>
            <a:endParaRPr lang="en-US" dirty="0"/>
          </a:p>
        </p:txBody>
      </p:sp>
      <p:graphicFrame>
        <p:nvGraphicFramePr>
          <p:cNvPr id="14" name="Table 13">
            <a:extLst>
              <a:ext uri="{FF2B5EF4-FFF2-40B4-BE49-F238E27FC236}">
                <a16:creationId xmlns:a16="http://schemas.microsoft.com/office/drawing/2014/main" id="{9D697D54-60C3-535B-CA7D-3A721871EC04}"/>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1C252B61-C27B-0FC2-71A3-FA40FC9CD488}"/>
              </a:ext>
            </a:extLst>
          </p:cNvPr>
          <p:cNvSpPr txBox="1"/>
          <p:nvPr/>
        </p:nvSpPr>
        <p:spPr>
          <a:xfrm>
            <a:off x="9503230" y="4617936"/>
            <a:ext cx="16002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=1</a:t>
            </a:r>
          </a:p>
          <a:p>
            <a:endParaRPr lang="en-US" dirty="0"/>
          </a:p>
        </p:txBody>
      </p:sp>
      <p:cxnSp>
        <p:nvCxnSpPr>
          <p:cNvPr id="2" name="Straight Arrow Connector 1">
            <a:extLst>
              <a:ext uri="{FF2B5EF4-FFF2-40B4-BE49-F238E27FC236}">
                <a16:creationId xmlns:a16="http://schemas.microsoft.com/office/drawing/2014/main" id="{372D609E-7CE1-3B3A-A8F7-2BFE61BE05D1}"/>
              </a:ext>
            </a:extLst>
          </p:cNvPr>
          <p:cNvCxnSpPr/>
          <p:nvPr/>
        </p:nvCxnSpPr>
        <p:spPr>
          <a:xfrm>
            <a:off x="7300048" y="110798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7A63D30-D9A2-E6FF-4BF7-114BF25CC15C}"/>
              </a:ext>
            </a:extLst>
          </p:cNvPr>
          <p:cNvSpPr txBox="1"/>
          <p:nvPr/>
        </p:nvSpPr>
        <p:spPr>
          <a:xfrm>
            <a:off x="7205495" y="738651"/>
            <a:ext cx="766823" cy="369332"/>
          </a:xfrm>
          <a:prstGeom prst="rect">
            <a:avLst/>
          </a:prstGeom>
          <a:noFill/>
        </p:spPr>
        <p:txBody>
          <a:bodyPr wrap="square" rtlCol="0">
            <a:spAutoFit/>
          </a:bodyPr>
          <a:lstStyle/>
          <a:p>
            <a:r>
              <a:rPr lang="en-US" dirty="0" err="1"/>
              <a:t>i</a:t>
            </a:r>
            <a:endParaRPr lang="en-US" dirty="0"/>
          </a:p>
        </p:txBody>
      </p:sp>
      <p:sp>
        <p:nvSpPr>
          <p:cNvPr id="5" name="Title 4">
            <a:extLst>
              <a:ext uri="{FF2B5EF4-FFF2-40B4-BE49-F238E27FC236}">
                <a16:creationId xmlns:a16="http://schemas.microsoft.com/office/drawing/2014/main" id="{C1030BA8-632E-32F7-DA30-253C849C0D40}"/>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656EC15E-D25D-3732-78CB-E6AC40BEA0FC}"/>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D9CDD110-F826-71C5-9E79-FB154DA1DA9A}"/>
              </a:ext>
            </a:extLst>
          </p:cNvPr>
          <p:cNvCxnSpPr>
            <a:cxnSpLocks/>
            <a:endCxn id="9" idx="3"/>
          </p:cNvCxnSpPr>
          <p:nvPr/>
        </p:nvCxnSpPr>
        <p:spPr>
          <a:xfrm flipH="1">
            <a:off x="3086960" y="3855072"/>
            <a:ext cx="7293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4A7DB8D1-7B47-7394-32B3-0D428DB0FBAB}"/>
              </a:ext>
            </a:extLst>
          </p:cNvPr>
          <p:cNvSpPr/>
          <p:nvPr/>
        </p:nvSpPr>
        <p:spPr>
          <a:xfrm>
            <a:off x="931588" y="3653686"/>
            <a:ext cx="2155372" cy="402772"/>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52862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57AF0-2BC8-6C23-FB0B-CE6BFC2ED2A0}"/>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6CDED5B-216B-328C-3BF9-95CF4BFFDB27}"/>
              </a:ext>
            </a:extLst>
          </p:cNvPr>
          <p:cNvSpPr>
            <a:spLocks noGrp="1"/>
          </p:cNvSpPr>
          <p:nvPr>
            <p:ph sz="half" idx="2"/>
          </p:nvPr>
        </p:nvSpPr>
        <p:spPr/>
        <p:txBody>
          <a:bodyPr/>
          <a:lstStyle/>
          <a:p>
            <a:r>
              <a:rPr lang="en-US" dirty="0"/>
              <a:t>Initialize  variable v to value of A[</a:t>
            </a:r>
            <a:r>
              <a:rPr lang="en-US" dirty="0" err="1"/>
              <a:t>i</a:t>
            </a:r>
            <a:r>
              <a:rPr lang="en-US" dirty="0"/>
              <a:t>] which A[1] = 21</a:t>
            </a:r>
          </a:p>
          <a:p>
            <a:endParaRPr lang="en-US" dirty="0"/>
          </a:p>
        </p:txBody>
      </p:sp>
      <p:graphicFrame>
        <p:nvGraphicFramePr>
          <p:cNvPr id="14" name="Table 13">
            <a:extLst>
              <a:ext uri="{FF2B5EF4-FFF2-40B4-BE49-F238E27FC236}">
                <a16:creationId xmlns:a16="http://schemas.microsoft.com/office/drawing/2014/main" id="{37272625-54CD-AC03-04FB-93EAD4615760}"/>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9D6D8B99-4A66-155E-79B9-836DD06DC926}"/>
              </a:ext>
            </a:extLst>
          </p:cNvPr>
          <p:cNvSpPr txBox="1"/>
          <p:nvPr/>
        </p:nvSpPr>
        <p:spPr>
          <a:xfrm>
            <a:off x="9503230" y="4617936"/>
            <a:ext cx="16002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=1</a:t>
            </a:r>
          </a:p>
          <a:p>
            <a:pPr marL="285750" indent="-285750">
              <a:buFont typeface="Arial" panose="020B0604020202020204" pitchFamily="34" charset="0"/>
              <a:buChar char="•"/>
            </a:pPr>
            <a:r>
              <a:rPr lang="en-US" dirty="0"/>
              <a:t>v=21</a:t>
            </a:r>
          </a:p>
        </p:txBody>
      </p:sp>
      <p:cxnSp>
        <p:nvCxnSpPr>
          <p:cNvPr id="2" name="Straight Arrow Connector 1">
            <a:extLst>
              <a:ext uri="{FF2B5EF4-FFF2-40B4-BE49-F238E27FC236}">
                <a16:creationId xmlns:a16="http://schemas.microsoft.com/office/drawing/2014/main" id="{A5268CA7-EFDD-7BD9-7773-CED18227FFE5}"/>
              </a:ext>
            </a:extLst>
          </p:cNvPr>
          <p:cNvCxnSpPr/>
          <p:nvPr/>
        </p:nvCxnSpPr>
        <p:spPr>
          <a:xfrm>
            <a:off x="7300048" y="110798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00E0077-6EC9-8B62-9904-FF55A27B927C}"/>
              </a:ext>
            </a:extLst>
          </p:cNvPr>
          <p:cNvSpPr txBox="1"/>
          <p:nvPr/>
        </p:nvSpPr>
        <p:spPr>
          <a:xfrm>
            <a:off x="7205495" y="738651"/>
            <a:ext cx="766823" cy="369332"/>
          </a:xfrm>
          <a:prstGeom prst="rect">
            <a:avLst/>
          </a:prstGeom>
          <a:noFill/>
        </p:spPr>
        <p:txBody>
          <a:bodyPr wrap="square" rtlCol="0">
            <a:spAutoFit/>
          </a:bodyPr>
          <a:lstStyle/>
          <a:p>
            <a:r>
              <a:rPr lang="en-US" dirty="0" err="1"/>
              <a:t>i</a:t>
            </a:r>
            <a:endParaRPr lang="en-US" dirty="0"/>
          </a:p>
        </p:txBody>
      </p:sp>
      <p:sp>
        <p:nvSpPr>
          <p:cNvPr id="5" name="Title 4">
            <a:extLst>
              <a:ext uri="{FF2B5EF4-FFF2-40B4-BE49-F238E27FC236}">
                <a16:creationId xmlns:a16="http://schemas.microsoft.com/office/drawing/2014/main" id="{0FA8E054-2910-D24F-792D-651FFC6EB75C}"/>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8460F6A0-5F5E-CEFA-3B46-800934FE0BD9}"/>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0771231F-64C1-7355-4D5E-EC39E5B429F7}"/>
              </a:ext>
            </a:extLst>
          </p:cNvPr>
          <p:cNvCxnSpPr>
            <a:cxnSpLocks/>
            <a:endCxn id="9" idx="3"/>
          </p:cNvCxnSpPr>
          <p:nvPr/>
        </p:nvCxnSpPr>
        <p:spPr>
          <a:xfrm flipH="1">
            <a:off x="3086960" y="4175912"/>
            <a:ext cx="7293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123A4329-F96A-9087-7FBD-DD3C2AF17563}"/>
              </a:ext>
            </a:extLst>
          </p:cNvPr>
          <p:cNvSpPr/>
          <p:nvPr/>
        </p:nvSpPr>
        <p:spPr>
          <a:xfrm>
            <a:off x="931588" y="3974526"/>
            <a:ext cx="2155372" cy="402772"/>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956518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E0B4-892A-0BFB-ABFD-B45D45ADD02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2BAE52B-5EFC-3C79-86AE-1823573AA7FC}"/>
              </a:ext>
            </a:extLst>
          </p:cNvPr>
          <p:cNvSpPr>
            <a:spLocks noGrp="1"/>
          </p:cNvSpPr>
          <p:nvPr>
            <p:ph sz="half" idx="2"/>
          </p:nvPr>
        </p:nvSpPr>
        <p:spPr/>
        <p:txBody>
          <a:bodyPr/>
          <a:lstStyle/>
          <a:p>
            <a:r>
              <a:rPr lang="en-US" dirty="0"/>
              <a:t>Initialize  j to i-1 which will be equal to 0</a:t>
            </a:r>
          </a:p>
          <a:p>
            <a:endParaRPr lang="en-US" dirty="0"/>
          </a:p>
        </p:txBody>
      </p:sp>
      <p:graphicFrame>
        <p:nvGraphicFramePr>
          <p:cNvPr id="14" name="Table 13">
            <a:extLst>
              <a:ext uri="{FF2B5EF4-FFF2-40B4-BE49-F238E27FC236}">
                <a16:creationId xmlns:a16="http://schemas.microsoft.com/office/drawing/2014/main" id="{3CA2645E-CA56-716C-9B5A-69EDA3C37032}"/>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0E9C3808-28CF-2FEE-61A5-74155933BB37}"/>
              </a:ext>
            </a:extLst>
          </p:cNvPr>
          <p:cNvSpPr txBox="1"/>
          <p:nvPr/>
        </p:nvSpPr>
        <p:spPr>
          <a:xfrm>
            <a:off x="9503230" y="4617936"/>
            <a:ext cx="16002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=1</a:t>
            </a:r>
          </a:p>
          <a:p>
            <a:pPr marL="285750" indent="-285750">
              <a:buFont typeface="Arial" panose="020B0604020202020204" pitchFamily="34" charset="0"/>
              <a:buChar char="•"/>
            </a:pPr>
            <a:r>
              <a:rPr lang="en-US" dirty="0"/>
              <a:t>v=21</a:t>
            </a:r>
          </a:p>
          <a:p>
            <a:pPr marL="285750" indent="-285750">
              <a:buFont typeface="Arial" panose="020B0604020202020204" pitchFamily="34" charset="0"/>
              <a:buChar char="•"/>
            </a:pPr>
            <a:r>
              <a:rPr lang="en-US" dirty="0"/>
              <a:t>j=0</a:t>
            </a:r>
          </a:p>
        </p:txBody>
      </p:sp>
      <p:cxnSp>
        <p:nvCxnSpPr>
          <p:cNvPr id="2" name="Straight Arrow Connector 1">
            <a:extLst>
              <a:ext uri="{FF2B5EF4-FFF2-40B4-BE49-F238E27FC236}">
                <a16:creationId xmlns:a16="http://schemas.microsoft.com/office/drawing/2014/main" id="{4EEAF5AD-7B8E-C94B-CEA7-E5E5914FDF0E}"/>
              </a:ext>
            </a:extLst>
          </p:cNvPr>
          <p:cNvCxnSpPr/>
          <p:nvPr/>
        </p:nvCxnSpPr>
        <p:spPr>
          <a:xfrm>
            <a:off x="7300048" y="110798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6EDA1C8-1751-6DDC-74A9-DA48DC93D5A6}"/>
              </a:ext>
            </a:extLst>
          </p:cNvPr>
          <p:cNvSpPr txBox="1"/>
          <p:nvPr/>
        </p:nvSpPr>
        <p:spPr>
          <a:xfrm>
            <a:off x="7205495" y="738651"/>
            <a:ext cx="766823" cy="369332"/>
          </a:xfrm>
          <a:prstGeom prst="rect">
            <a:avLst/>
          </a:prstGeom>
          <a:noFill/>
        </p:spPr>
        <p:txBody>
          <a:bodyPr wrap="square" rtlCol="0">
            <a:spAutoFit/>
          </a:bodyPr>
          <a:lstStyle/>
          <a:p>
            <a:r>
              <a:rPr lang="en-US" dirty="0" err="1"/>
              <a:t>i</a:t>
            </a:r>
            <a:endParaRPr lang="en-US" dirty="0"/>
          </a:p>
        </p:txBody>
      </p:sp>
      <p:sp>
        <p:nvSpPr>
          <p:cNvPr id="5" name="Title 4">
            <a:extLst>
              <a:ext uri="{FF2B5EF4-FFF2-40B4-BE49-F238E27FC236}">
                <a16:creationId xmlns:a16="http://schemas.microsoft.com/office/drawing/2014/main" id="{69DC1534-15D7-F1B5-81C2-56ACE902D679}"/>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02484868-D309-0D9A-DA6B-66FA6F45A114}"/>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522FF634-9AC1-225F-2052-42AE8A231B0D}"/>
              </a:ext>
            </a:extLst>
          </p:cNvPr>
          <p:cNvCxnSpPr>
            <a:cxnSpLocks/>
            <a:endCxn id="9" idx="3"/>
          </p:cNvCxnSpPr>
          <p:nvPr/>
        </p:nvCxnSpPr>
        <p:spPr>
          <a:xfrm flipH="1">
            <a:off x="3086960" y="4512794"/>
            <a:ext cx="7293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2B4766EE-49A0-0D41-B935-C0D40065C132}"/>
              </a:ext>
            </a:extLst>
          </p:cNvPr>
          <p:cNvSpPr/>
          <p:nvPr/>
        </p:nvSpPr>
        <p:spPr>
          <a:xfrm>
            <a:off x="931588" y="4311408"/>
            <a:ext cx="2155372" cy="402772"/>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FC0C3ED2-37FA-9D10-AD2B-4A3355A6E8DD}"/>
              </a:ext>
            </a:extLst>
          </p:cNvPr>
          <p:cNvCxnSpPr/>
          <p:nvPr/>
        </p:nvCxnSpPr>
        <p:spPr>
          <a:xfrm>
            <a:off x="6217203" y="109996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1946523-10CD-D360-C92D-613480B8719C}"/>
              </a:ext>
            </a:extLst>
          </p:cNvPr>
          <p:cNvSpPr txBox="1"/>
          <p:nvPr/>
        </p:nvSpPr>
        <p:spPr>
          <a:xfrm>
            <a:off x="6058482" y="730631"/>
            <a:ext cx="766823" cy="369332"/>
          </a:xfrm>
          <a:prstGeom prst="rect">
            <a:avLst/>
          </a:prstGeom>
          <a:noFill/>
        </p:spPr>
        <p:txBody>
          <a:bodyPr wrap="square" rtlCol="0">
            <a:spAutoFit/>
          </a:bodyPr>
          <a:lstStyle/>
          <a:p>
            <a:r>
              <a:rPr lang="en-US" dirty="0"/>
              <a:t>j</a:t>
            </a:r>
          </a:p>
        </p:txBody>
      </p:sp>
    </p:spTree>
    <p:extLst>
      <p:ext uri="{BB962C8B-B14F-4D97-AF65-F5344CB8AC3E}">
        <p14:creationId xmlns:p14="http://schemas.microsoft.com/office/powerpoint/2010/main" val="3612167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76495-AC9B-337F-CA34-12A98508741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15A4683-9B0A-0619-8CDB-780CD55DD7AF}"/>
              </a:ext>
            </a:extLst>
          </p:cNvPr>
          <p:cNvSpPr>
            <a:spLocks noGrp="1"/>
          </p:cNvSpPr>
          <p:nvPr>
            <p:ph sz="half" idx="2"/>
          </p:nvPr>
        </p:nvSpPr>
        <p:spPr/>
        <p:txBody>
          <a:bodyPr/>
          <a:lstStyle/>
          <a:p>
            <a:r>
              <a:rPr lang="en-US" dirty="0"/>
              <a:t>Check the while loop condition if j is bigger than or equal 0 which is true and A[j] is bigger than v which is false</a:t>
            </a:r>
          </a:p>
          <a:p>
            <a:r>
              <a:rPr lang="en-US" dirty="0"/>
              <a:t>So we skip the while loop</a:t>
            </a:r>
          </a:p>
          <a:p>
            <a:endParaRPr lang="en-US" dirty="0"/>
          </a:p>
        </p:txBody>
      </p:sp>
      <p:graphicFrame>
        <p:nvGraphicFramePr>
          <p:cNvPr id="14" name="Table 13">
            <a:extLst>
              <a:ext uri="{FF2B5EF4-FFF2-40B4-BE49-F238E27FC236}">
                <a16:creationId xmlns:a16="http://schemas.microsoft.com/office/drawing/2014/main" id="{B37D6C2D-FB9A-86A8-EE3A-08DFD3F7FC86}"/>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1ED2C634-40B9-80F2-2555-2563B7E00A90}"/>
              </a:ext>
            </a:extLst>
          </p:cNvPr>
          <p:cNvSpPr txBox="1"/>
          <p:nvPr/>
        </p:nvSpPr>
        <p:spPr>
          <a:xfrm>
            <a:off x="9503230" y="4617936"/>
            <a:ext cx="16002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=1</a:t>
            </a:r>
          </a:p>
          <a:p>
            <a:pPr marL="285750" indent="-285750">
              <a:buFont typeface="Arial" panose="020B0604020202020204" pitchFamily="34" charset="0"/>
              <a:buChar char="•"/>
            </a:pPr>
            <a:r>
              <a:rPr lang="en-US" dirty="0"/>
              <a:t>v=21</a:t>
            </a:r>
          </a:p>
          <a:p>
            <a:pPr marL="285750" indent="-285750">
              <a:buFont typeface="Arial" panose="020B0604020202020204" pitchFamily="34" charset="0"/>
              <a:buChar char="•"/>
            </a:pPr>
            <a:r>
              <a:rPr lang="en-US" dirty="0"/>
              <a:t>j=0</a:t>
            </a:r>
          </a:p>
        </p:txBody>
      </p:sp>
      <p:cxnSp>
        <p:nvCxnSpPr>
          <p:cNvPr id="2" name="Straight Arrow Connector 1">
            <a:extLst>
              <a:ext uri="{FF2B5EF4-FFF2-40B4-BE49-F238E27FC236}">
                <a16:creationId xmlns:a16="http://schemas.microsoft.com/office/drawing/2014/main" id="{58A806A7-C42D-0D01-19B5-79452F2341EB}"/>
              </a:ext>
            </a:extLst>
          </p:cNvPr>
          <p:cNvCxnSpPr/>
          <p:nvPr/>
        </p:nvCxnSpPr>
        <p:spPr>
          <a:xfrm>
            <a:off x="7300048" y="110798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630D3E7-A56D-BA83-0F48-F8EBFC346A35}"/>
              </a:ext>
            </a:extLst>
          </p:cNvPr>
          <p:cNvSpPr txBox="1"/>
          <p:nvPr/>
        </p:nvSpPr>
        <p:spPr>
          <a:xfrm>
            <a:off x="7205495" y="738651"/>
            <a:ext cx="766823" cy="369332"/>
          </a:xfrm>
          <a:prstGeom prst="rect">
            <a:avLst/>
          </a:prstGeom>
          <a:noFill/>
        </p:spPr>
        <p:txBody>
          <a:bodyPr wrap="square" rtlCol="0">
            <a:spAutoFit/>
          </a:bodyPr>
          <a:lstStyle/>
          <a:p>
            <a:r>
              <a:rPr lang="en-US" dirty="0" err="1"/>
              <a:t>i</a:t>
            </a:r>
            <a:endParaRPr lang="en-US" dirty="0"/>
          </a:p>
        </p:txBody>
      </p:sp>
      <p:sp>
        <p:nvSpPr>
          <p:cNvPr id="5" name="Title 4">
            <a:extLst>
              <a:ext uri="{FF2B5EF4-FFF2-40B4-BE49-F238E27FC236}">
                <a16:creationId xmlns:a16="http://schemas.microsoft.com/office/drawing/2014/main" id="{61775ED4-C711-93BA-B53B-B8CA59937C94}"/>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40D45BB7-B193-F9AB-D3CE-BCBC3EA64411}"/>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06705A8A-C776-78D4-CCB3-1E0847658A64}"/>
              </a:ext>
            </a:extLst>
          </p:cNvPr>
          <p:cNvCxnSpPr>
            <a:cxnSpLocks/>
            <a:endCxn id="9" idx="3"/>
          </p:cNvCxnSpPr>
          <p:nvPr/>
        </p:nvCxnSpPr>
        <p:spPr>
          <a:xfrm flipH="1" flipV="1">
            <a:off x="3609474" y="4866819"/>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0B99FC9-E6DF-2E5D-BBD5-6127D3C8BE31}"/>
              </a:ext>
            </a:extLst>
          </p:cNvPr>
          <p:cNvSpPr/>
          <p:nvPr/>
        </p:nvSpPr>
        <p:spPr>
          <a:xfrm>
            <a:off x="1348680" y="4680374"/>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0415C34F-AEC3-D0AB-5C2B-DC647200CE2B}"/>
              </a:ext>
            </a:extLst>
          </p:cNvPr>
          <p:cNvCxnSpPr/>
          <p:nvPr/>
        </p:nvCxnSpPr>
        <p:spPr>
          <a:xfrm>
            <a:off x="6217203" y="109996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B90AF99-A21A-9AB3-BFBC-EA8FAE494058}"/>
              </a:ext>
            </a:extLst>
          </p:cNvPr>
          <p:cNvSpPr txBox="1"/>
          <p:nvPr/>
        </p:nvSpPr>
        <p:spPr>
          <a:xfrm>
            <a:off x="6058482" y="730631"/>
            <a:ext cx="766823" cy="369332"/>
          </a:xfrm>
          <a:prstGeom prst="rect">
            <a:avLst/>
          </a:prstGeom>
          <a:noFill/>
        </p:spPr>
        <p:txBody>
          <a:bodyPr wrap="square" rtlCol="0">
            <a:spAutoFit/>
          </a:bodyPr>
          <a:lstStyle/>
          <a:p>
            <a:r>
              <a:rPr lang="en-US" dirty="0"/>
              <a:t>j</a:t>
            </a:r>
          </a:p>
        </p:txBody>
      </p:sp>
    </p:spTree>
    <p:extLst>
      <p:ext uri="{BB962C8B-B14F-4D97-AF65-F5344CB8AC3E}">
        <p14:creationId xmlns:p14="http://schemas.microsoft.com/office/powerpoint/2010/main" val="3054351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4CC9E-BFC3-AEFB-4116-31002415903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ED45A32-F881-D820-8AE2-AEE0A9556CBA}"/>
              </a:ext>
            </a:extLst>
          </p:cNvPr>
          <p:cNvSpPr>
            <a:spLocks noGrp="1"/>
          </p:cNvSpPr>
          <p:nvPr>
            <p:ph sz="half" idx="2"/>
          </p:nvPr>
        </p:nvSpPr>
        <p:spPr/>
        <p:txBody>
          <a:bodyPr/>
          <a:lstStyle/>
          <a:p>
            <a:r>
              <a:rPr lang="en-US" dirty="0"/>
              <a:t>Check the while loop condition if j is bigger than or equal 0 which is true and A[j] is bigger than v which is false</a:t>
            </a:r>
          </a:p>
          <a:p>
            <a:r>
              <a:rPr lang="en-US" dirty="0"/>
              <a:t>So we skip the while loop</a:t>
            </a:r>
          </a:p>
          <a:p>
            <a:endParaRPr lang="en-US" dirty="0"/>
          </a:p>
        </p:txBody>
      </p:sp>
      <p:graphicFrame>
        <p:nvGraphicFramePr>
          <p:cNvPr id="14" name="Table 13">
            <a:extLst>
              <a:ext uri="{FF2B5EF4-FFF2-40B4-BE49-F238E27FC236}">
                <a16:creationId xmlns:a16="http://schemas.microsoft.com/office/drawing/2014/main" id="{D23B481D-6B1A-87B4-DFAA-DF0E25E39A26}"/>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345BF9E7-C502-B772-6373-C6220B603187}"/>
              </a:ext>
            </a:extLst>
          </p:cNvPr>
          <p:cNvSpPr txBox="1"/>
          <p:nvPr/>
        </p:nvSpPr>
        <p:spPr>
          <a:xfrm>
            <a:off x="9503230" y="4617936"/>
            <a:ext cx="16002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=1</a:t>
            </a:r>
          </a:p>
          <a:p>
            <a:pPr marL="285750" indent="-285750">
              <a:buFont typeface="Arial" panose="020B0604020202020204" pitchFamily="34" charset="0"/>
              <a:buChar char="•"/>
            </a:pPr>
            <a:r>
              <a:rPr lang="en-US" dirty="0"/>
              <a:t>v=21</a:t>
            </a:r>
          </a:p>
          <a:p>
            <a:pPr marL="285750" indent="-285750">
              <a:buFont typeface="Arial" panose="020B0604020202020204" pitchFamily="34" charset="0"/>
              <a:buChar char="•"/>
            </a:pPr>
            <a:r>
              <a:rPr lang="en-US" dirty="0"/>
              <a:t>j=0</a:t>
            </a:r>
          </a:p>
        </p:txBody>
      </p:sp>
      <p:cxnSp>
        <p:nvCxnSpPr>
          <p:cNvPr id="2" name="Straight Arrow Connector 1">
            <a:extLst>
              <a:ext uri="{FF2B5EF4-FFF2-40B4-BE49-F238E27FC236}">
                <a16:creationId xmlns:a16="http://schemas.microsoft.com/office/drawing/2014/main" id="{0EFF3714-33DD-ADFE-550F-522F7DB81364}"/>
              </a:ext>
            </a:extLst>
          </p:cNvPr>
          <p:cNvCxnSpPr/>
          <p:nvPr/>
        </p:nvCxnSpPr>
        <p:spPr>
          <a:xfrm>
            <a:off x="7300048" y="110798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AF72588-2EFA-7C0B-895F-493A13B93C3A}"/>
              </a:ext>
            </a:extLst>
          </p:cNvPr>
          <p:cNvSpPr txBox="1"/>
          <p:nvPr/>
        </p:nvSpPr>
        <p:spPr>
          <a:xfrm>
            <a:off x="7205495" y="738651"/>
            <a:ext cx="766823" cy="369332"/>
          </a:xfrm>
          <a:prstGeom prst="rect">
            <a:avLst/>
          </a:prstGeom>
          <a:noFill/>
        </p:spPr>
        <p:txBody>
          <a:bodyPr wrap="square" rtlCol="0">
            <a:spAutoFit/>
          </a:bodyPr>
          <a:lstStyle/>
          <a:p>
            <a:r>
              <a:rPr lang="en-US" dirty="0" err="1"/>
              <a:t>i</a:t>
            </a:r>
            <a:endParaRPr lang="en-US" dirty="0"/>
          </a:p>
        </p:txBody>
      </p:sp>
      <p:sp>
        <p:nvSpPr>
          <p:cNvPr id="5" name="Title 4">
            <a:extLst>
              <a:ext uri="{FF2B5EF4-FFF2-40B4-BE49-F238E27FC236}">
                <a16:creationId xmlns:a16="http://schemas.microsoft.com/office/drawing/2014/main" id="{C4BE2155-D106-62D6-844C-007175CDB93A}"/>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704815E2-FF9D-9C38-107B-C05973E87DB5}"/>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5E20A4AF-AC8F-5F52-2B5C-9FC74FE1031B}"/>
              </a:ext>
            </a:extLst>
          </p:cNvPr>
          <p:cNvCxnSpPr>
            <a:cxnSpLocks/>
            <a:endCxn id="9" idx="3"/>
          </p:cNvCxnSpPr>
          <p:nvPr/>
        </p:nvCxnSpPr>
        <p:spPr>
          <a:xfrm flipH="1" flipV="1">
            <a:off x="3545306" y="5893510"/>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FA72BA47-A3BD-5308-58FF-32A357433DFA}"/>
              </a:ext>
            </a:extLst>
          </p:cNvPr>
          <p:cNvSpPr/>
          <p:nvPr/>
        </p:nvSpPr>
        <p:spPr>
          <a:xfrm>
            <a:off x="1284512" y="5707065"/>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102A2616-BA74-8F2E-234E-265A21A4011E}"/>
              </a:ext>
            </a:extLst>
          </p:cNvPr>
          <p:cNvCxnSpPr/>
          <p:nvPr/>
        </p:nvCxnSpPr>
        <p:spPr>
          <a:xfrm>
            <a:off x="6217203" y="109996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7D0AC89-8B69-CF1D-CD95-411FE5B1F059}"/>
              </a:ext>
            </a:extLst>
          </p:cNvPr>
          <p:cNvSpPr txBox="1"/>
          <p:nvPr/>
        </p:nvSpPr>
        <p:spPr>
          <a:xfrm>
            <a:off x="6058482" y="730631"/>
            <a:ext cx="766823" cy="369332"/>
          </a:xfrm>
          <a:prstGeom prst="rect">
            <a:avLst/>
          </a:prstGeom>
          <a:noFill/>
        </p:spPr>
        <p:txBody>
          <a:bodyPr wrap="square" rtlCol="0">
            <a:spAutoFit/>
          </a:bodyPr>
          <a:lstStyle/>
          <a:p>
            <a:r>
              <a:rPr lang="en-US" dirty="0"/>
              <a:t>j</a:t>
            </a:r>
          </a:p>
        </p:txBody>
      </p:sp>
    </p:spTree>
    <p:extLst>
      <p:ext uri="{BB962C8B-B14F-4D97-AF65-F5344CB8AC3E}">
        <p14:creationId xmlns:p14="http://schemas.microsoft.com/office/powerpoint/2010/main" val="2369796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E859B-9D48-173E-674F-BA937AC7904B}"/>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7B0A5CB-2BF4-D3EB-F038-60A848F7ACEB}"/>
              </a:ext>
            </a:extLst>
          </p:cNvPr>
          <p:cNvSpPr>
            <a:spLocks noGrp="1"/>
          </p:cNvSpPr>
          <p:nvPr>
            <p:ph sz="half" idx="2"/>
          </p:nvPr>
        </p:nvSpPr>
        <p:spPr/>
        <p:txBody>
          <a:bodyPr/>
          <a:lstStyle/>
          <a:p>
            <a:r>
              <a:rPr lang="en-US" dirty="0"/>
              <a:t>We now set the value of A[j+1] to be equal to v which is setting the value of A[1]=21 which will stay the same.</a:t>
            </a:r>
          </a:p>
        </p:txBody>
      </p:sp>
      <p:graphicFrame>
        <p:nvGraphicFramePr>
          <p:cNvPr id="14" name="Table 13">
            <a:extLst>
              <a:ext uri="{FF2B5EF4-FFF2-40B4-BE49-F238E27FC236}">
                <a16:creationId xmlns:a16="http://schemas.microsoft.com/office/drawing/2014/main" id="{83DBC381-43C9-91E1-4D1B-0E51F83E1513}"/>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D79540A9-23B4-7E10-DB32-70B6D75CE795}"/>
              </a:ext>
            </a:extLst>
          </p:cNvPr>
          <p:cNvSpPr txBox="1"/>
          <p:nvPr/>
        </p:nvSpPr>
        <p:spPr>
          <a:xfrm>
            <a:off x="9503230" y="4617936"/>
            <a:ext cx="16002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=1</a:t>
            </a:r>
          </a:p>
          <a:p>
            <a:pPr marL="285750" indent="-285750">
              <a:buFont typeface="Arial" panose="020B0604020202020204" pitchFamily="34" charset="0"/>
              <a:buChar char="•"/>
            </a:pPr>
            <a:r>
              <a:rPr lang="en-US" dirty="0"/>
              <a:t>v=21</a:t>
            </a:r>
          </a:p>
          <a:p>
            <a:pPr marL="285750" indent="-285750">
              <a:buFont typeface="Arial" panose="020B0604020202020204" pitchFamily="34" charset="0"/>
              <a:buChar char="•"/>
            </a:pPr>
            <a:r>
              <a:rPr lang="en-US" dirty="0"/>
              <a:t>j=0</a:t>
            </a:r>
          </a:p>
        </p:txBody>
      </p:sp>
      <p:cxnSp>
        <p:nvCxnSpPr>
          <p:cNvPr id="2" name="Straight Arrow Connector 1">
            <a:extLst>
              <a:ext uri="{FF2B5EF4-FFF2-40B4-BE49-F238E27FC236}">
                <a16:creationId xmlns:a16="http://schemas.microsoft.com/office/drawing/2014/main" id="{DC30CA27-293E-6FE0-A8A3-29B26607A658}"/>
              </a:ext>
            </a:extLst>
          </p:cNvPr>
          <p:cNvCxnSpPr/>
          <p:nvPr/>
        </p:nvCxnSpPr>
        <p:spPr>
          <a:xfrm>
            <a:off x="7300048" y="110798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430D7B9-92B7-B1EE-039B-2C68C9FCCD68}"/>
              </a:ext>
            </a:extLst>
          </p:cNvPr>
          <p:cNvSpPr txBox="1"/>
          <p:nvPr/>
        </p:nvSpPr>
        <p:spPr>
          <a:xfrm>
            <a:off x="7205495" y="738651"/>
            <a:ext cx="766823" cy="369332"/>
          </a:xfrm>
          <a:prstGeom prst="rect">
            <a:avLst/>
          </a:prstGeom>
          <a:noFill/>
        </p:spPr>
        <p:txBody>
          <a:bodyPr wrap="square" rtlCol="0">
            <a:spAutoFit/>
          </a:bodyPr>
          <a:lstStyle/>
          <a:p>
            <a:r>
              <a:rPr lang="en-US" dirty="0" err="1"/>
              <a:t>i</a:t>
            </a:r>
            <a:endParaRPr lang="en-US" dirty="0"/>
          </a:p>
        </p:txBody>
      </p:sp>
      <p:sp>
        <p:nvSpPr>
          <p:cNvPr id="5" name="Title 4">
            <a:extLst>
              <a:ext uri="{FF2B5EF4-FFF2-40B4-BE49-F238E27FC236}">
                <a16:creationId xmlns:a16="http://schemas.microsoft.com/office/drawing/2014/main" id="{3C375B00-E6D1-0B97-AE83-3CBD5DDC1F03}"/>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A3203502-5DFB-AFCD-4A88-8F99EDB330BA}"/>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94EA4926-67A3-CD94-4F48-F485FF55BCDC}"/>
              </a:ext>
            </a:extLst>
          </p:cNvPr>
          <p:cNvCxnSpPr>
            <a:cxnSpLocks/>
            <a:endCxn id="9" idx="3"/>
          </p:cNvCxnSpPr>
          <p:nvPr/>
        </p:nvCxnSpPr>
        <p:spPr>
          <a:xfrm flipH="1" flipV="1">
            <a:off x="3545306" y="5893510"/>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00E1B715-5AFD-52B7-1B2C-DA415FCE421A}"/>
              </a:ext>
            </a:extLst>
          </p:cNvPr>
          <p:cNvSpPr/>
          <p:nvPr/>
        </p:nvSpPr>
        <p:spPr>
          <a:xfrm>
            <a:off x="1284512" y="5707065"/>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D5787578-8DEA-3E8D-0747-57E6A241A14D}"/>
              </a:ext>
            </a:extLst>
          </p:cNvPr>
          <p:cNvCxnSpPr/>
          <p:nvPr/>
        </p:nvCxnSpPr>
        <p:spPr>
          <a:xfrm>
            <a:off x="6217203" y="1099963"/>
            <a:ext cx="0" cy="28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8BF257A-A976-55D0-5625-B1051CDB3402}"/>
              </a:ext>
            </a:extLst>
          </p:cNvPr>
          <p:cNvSpPr txBox="1"/>
          <p:nvPr/>
        </p:nvSpPr>
        <p:spPr>
          <a:xfrm>
            <a:off x="6058482" y="730631"/>
            <a:ext cx="766823" cy="369332"/>
          </a:xfrm>
          <a:prstGeom prst="rect">
            <a:avLst/>
          </a:prstGeom>
          <a:noFill/>
        </p:spPr>
        <p:txBody>
          <a:bodyPr wrap="square" rtlCol="0">
            <a:spAutoFit/>
          </a:bodyPr>
          <a:lstStyle/>
          <a:p>
            <a:r>
              <a:rPr lang="en-US" dirty="0"/>
              <a:t>j</a:t>
            </a:r>
          </a:p>
        </p:txBody>
      </p:sp>
    </p:spTree>
    <p:extLst>
      <p:ext uri="{BB962C8B-B14F-4D97-AF65-F5344CB8AC3E}">
        <p14:creationId xmlns:p14="http://schemas.microsoft.com/office/powerpoint/2010/main" val="3034312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0C584-9F1A-E424-B6B9-C53E28E58E5B}"/>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C13A50-AC98-D844-18FA-C15AB5B75A1B}"/>
              </a:ext>
            </a:extLst>
          </p:cNvPr>
          <p:cNvSpPr>
            <a:spLocks noGrp="1"/>
          </p:cNvSpPr>
          <p:nvPr>
            <p:ph sz="half" idx="2"/>
          </p:nvPr>
        </p:nvSpPr>
        <p:spPr/>
        <p:txBody>
          <a:bodyPr/>
          <a:lstStyle/>
          <a:p>
            <a:r>
              <a:rPr lang="en-US" dirty="0"/>
              <a:t>Increment the value of </a:t>
            </a:r>
            <a:r>
              <a:rPr lang="en-US" dirty="0" err="1"/>
              <a:t>i</a:t>
            </a:r>
            <a:r>
              <a:rPr lang="en-US" dirty="0"/>
              <a:t> by 1 to be equal to 2</a:t>
            </a:r>
          </a:p>
        </p:txBody>
      </p:sp>
      <p:graphicFrame>
        <p:nvGraphicFramePr>
          <p:cNvPr id="14" name="Table 13">
            <a:extLst>
              <a:ext uri="{FF2B5EF4-FFF2-40B4-BE49-F238E27FC236}">
                <a16:creationId xmlns:a16="http://schemas.microsoft.com/office/drawing/2014/main" id="{4A18765D-3CB2-FD7E-63BD-985969DEF439}"/>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12BB6672-F2B2-85F9-76B1-B1E4724EE725}"/>
              </a:ext>
            </a:extLst>
          </p:cNvPr>
          <p:cNvSpPr txBox="1"/>
          <p:nvPr/>
        </p:nvSpPr>
        <p:spPr>
          <a:xfrm>
            <a:off x="9503230" y="4617936"/>
            <a:ext cx="16002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endParaRPr lang="en-US" dirty="0"/>
          </a:p>
        </p:txBody>
      </p:sp>
      <p:cxnSp>
        <p:nvCxnSpPr>
          <p:cNvPr id="2" name="Straight Arrow Connector 1">
            <a:extLst>
              <a:ext uri="{FF2B5EF4-FFF2-40B4-BE49-F238E27FC236}">
                <a16:creationId xmlns:a16="http://schemas.microsoft.com/office/drawing/2014/main" id="{B464DD9C-93C0-ADC8-C291-60EE7118972C}"/>
              </a:ext>
            </a:extLst>
          </p:cNvPr>
          <p:cNvCxnSpPr>
            <a:cxnSpLocks/>
            <a:stCxn id="7" idx="2"/>
          </p:cNvCxnSpPr>
          <p:nvPr/>
        </p:nvCxnSpPr>
        <p:spPr>
          <a:xfrm flipH="1">
            <a:off x="8416471" y="1076084"/>
            <a:ext cx="12409" cy="319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F46F9B6-9EFF-BE48-EB57-131AC9833F6C}"/>
              </a:ext>
            </a:extLst>
          </p:cNvPr>
          <p:cNvSpPr txBox="1"/>
          <p:nvPr/>
        </p:nvSpPr>
        <p:spPr>
          <a:xfrm>
            <a:off x="8045468" y="70675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FA0F7DC5-A838-6DEF-9AEF-3600BD697F3E}"/>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9E223198-DC23-F841-32C9-8AA6D299B6E8}"/>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35B587D4-BC1D-7B24-B42F-D7B556C50973}"/>
              </a:ext>
            </a:extLst>
          </p:cNvPr>
          <p:cNvCxnSpPr>
            <a:cxnSpLocks/>
            <a:endCxn id="9" idx="3"/>
          </p:cNvCxnSpPr>
          <p:nvPr/>
        </p:nvCxnSpPr>
        <p:spPr>
          <a:xfrm flipH="1" flipV="1">
            <a:off x="3183796" y="3852053"/>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BC9EED47-6567-16C9-C782-9FF659319E98}"/>
              </a:ext>
            </a:extLst>
          </p:cNvPr>
          <p:cNvSpPr/>
          <p:nvPr/>
        </p:nvSpPr>
        <p:spPr>
          <a:xfrm>
            <a:off x="923002" y="3665608"/>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1526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63C95-506C-6EC7-9451-6E368668166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2CCC153-F09A-7D1D-4948-5F58C7901BD1}"/>
              </a:ext>
            </a:extLst>
          </p:cNvPr>
          <p:cNvSpPr>
            <a:spLocks noGrp="1"/>
          </p:cNvSpPr>
          <p:nvPr>
            <p:ph sz="half" idx="2"/>
          </p:nvPr>
        </p:nvSpPr>
        <p:spPr/>
        <p:txBody>
          <a:bodyPr/>
          <a:lstStyle/>
          <a:p>
            <a:r>
              <a:rPr lang="en-US" dirty="0"/>
              <a:t>Set the variable v to A[</a:t>
            </a:r>
            <a:r>
              <a:rPr lang="en-US" dirty="0" err="1"/>
              <a:t>i</a:t>
            </a:r>
            <a:r>
              <a:rPr lang="en-US" dirty="0"/>
              <a:t>] or A[2] = 1</a:t>
            </a:r>
          </a:p>
        </p:txBody>
      </p:sp>
      <p:graphicFrame>
        <p:nvGraphicFramePr>
          <p:cNvPr id="14" name="Table 13">
            <a:extLst>
              <a:ext uri="{FF2B5EF4-FFF2-40B4-BE49-F238E27FC236}">
                <a16:creationId xmlns:a16="http://schemas.microsoft.com/office/drawing/2014/main" id="{2F5FC447-B7FF-5CEB-0052-F937C619E659}"/>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0094F9DE-27BF-B8B0-C5F9-6C653E976945}"/>
              </a:ext>
            </a:extLst>
          </p:cNvPr>
          <p:cNvSpPr txBox="1"/>
          <p:nvPr/>
        </p:nvSpPr>
        <p:spPr>
          <a:xfrm>
            <a:off x="9503230" y="4617936"/>
            <a:ext cx="16002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endParaRPr lang="en-US" dirty="0"/>
          </a:p>
        </p:txBody>
      </p:sp>
      <p:cxnSp>
        <p:nvCxnSpPr>
          <p:cNvPr id="2" name="Straight Arrow Connector 1">
            <a:extLst>
              <a:ext uri="{FF2B5EF4-FFF2-40B4-BE49-F238E27FC236}">
                <a16:creationId xmlns:a16="http://schemas.microsoft.com/office/drawing/2014/main" id="{F6057B6F-2273-7365-8F80-FE517A53F728}"/>
              </a:ext>
            </a:extLst>
          </p:cNvPr>
          <p:cNvCxnSpPr>
            <a:cxnSpLocks/>
            <a:stCxn id="7" idx="2"/>
          </p:cNvCxnSpPr>
          <p:nvPr/>
        </p:nvCxnSpPr>
        <p:spPr>
          <a:xfrm>
            <a:off x="8418246" y="1145031"/>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1BF7B39-FB4E-7B47-E8A4-D4E799EBB6EA}"/>
              </a:ext>
            </a:extLst>
          </p:cNvPr>
          <p:cNvSpPr txBox="1"/>
          <p:nvPr/>
        </p:nvSpPr>
        <p:spPr>
          <a:xfrm>
            <a:off x="8034834" y="775699"/>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066DD2E5-9326-6E78-9146-DCD7B0431A3D}"/>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B98A176E-A7E7-82CF-3767-AAA392C2C84A}"/>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7AF720B1-9AA8-8E30-45C1-4E3901A6514C}"/>
              </a:ext>
            </a:extLst>
          </p:cNvPr>
          <p:cNvCxnSpPr>
            <a:cxnSpLocks/>
            <a:endCxn id="9" idx="3"/>
          </p:cNvCxnSpPr>
          <p:nvPr/>
        </p:nvCxnSpPr>
        <p:spPr>
          <a:xfrm flipH="1" flipV="1">
            <a:off x="3183796" y="4202928"/>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83642996-7C30-B233-96C7-7B55A1F7017B}"/>
              </a:ext>
            </a:extLst>
          </p:cNvPr>
          <p:cNvSpPr/>
          <p:nvPr/>
        </p:nvSpPr>
        <p:spPr>
          <a:xfrm>
            <a:off x="923002" y="4016483"/>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731545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60C5F-685B-505B-E9CE-DCD417805DD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B147317-6581-7C15-631E-5457D59F31A3}"/>
              </a:ext>
            </a:extLst>
          </p:cNvPr>
          <p:cNvSpPr>
            <a:spLocks noGrp="1"/>
          </p:cNvSpPr>
          <p:nvPr>
            <p:ph sz="half" idx="2"/>
          </p:nvPr>
        </p:nvSpPr>
        <p:spPr/>
        <p:txBody>
          <a:bodyPr/>
          <a:lstStyle/>
          <a:p>
            <a:r>
              <a:rPr lang="en-US" dirty="0"/>
              <a:t>Value of j to i-1 which will be equal to 1</a:t>
            </a:r>
          </a:p>
        </p:txBody>
      </p:sp>
      <p:graphicFrame>
        <p:nvGraphicFramePr>
          <p:cNvPr id="14" name="Table 13">
            <a:extLst>
              <a:ext uri="{FF2B5EF4-FFF2-40B4-BE49-F238E27FC236}">
                <a16:creationId xmlns:a16="http://schemas.microsoft.com/office/drawing/2014/main" id="{2FE2A1D1-3399-BF42-CB49-8EB9FEAB7D3F}"/>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1733558C-6A07-B7E9-5F86-5349689506AA}"/>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pPr marL="285750" indent="-285750">
              <a:buFont typeface="Arial" panose="020B0604020202020204" pitchFamily="34" charset="0"/>
              <a:buChar char="•"/>
            </a:pPr>
            <a:r>
              <a:rPr lang="en-US" dirty="0"/>
              <a:t>j=1</a:t>
            </a:r>
          </a:p>
          <a:p>
            <a:endParaRPr lang="en-US" dirty="0"/>
          </a:p>
        </p:txBody>
      </p:sp>
      <p:cxnSp>
        <p:nvCxnSpPr>
          <p:cNvPr id="2" name="Straight Arrow Connector 1">
            <a:extLst>
              <a:ext uri="{FF2B5EF4-FFF2-40B4-BE49-F238E27FC236}">
                <a16:creationId xmlns:a16="http://schemas.microsoft.com/office/drawing/2014/main" id="{71CF4AC2-834C-BB16-76CB-978F88968664}"/>
              </a:ext>
            </a:extLst>
          </p:cNvPr>
          <p:cNvCxnSpPr>
            <a:cxnSpLocks/>
            <a:stCxn id="7" idx="2"/>
          </p:cNvCxnSpPr>
          <p:nvPr/>
        </p:nvCxnSpPr>
        <p:spPr>
          <a:xfrm>
            <a:off x="8418246" y="1145031"/>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523EBF-0830-7829-CFA0-6C999D1ABD34}"/>
              </a:ext>
            </a:extLst>
          </p:cNvPr>
          <p:cNvSpPr txBox="1"/>
          <p:nvPr/>
        </p:nvSpPr>
        <p:spPr>
          <a:xfrm>
            <a:off x="8034834" y="775699"/>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15F8C832-78B0-BA37-1027-E033565BE687}"/>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D9C9D425-523E-455C-D05F-5B39645F4C34}"/>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B4B3AEE6-A210-C58B-6DCF-D8FF9E65F049}"/>
              </a:ext>
            </a:extLst>
          </p:cNvPr>
          <p:cNvCxnSpPr>
            <a:cxnSpLocks/>
            <a:endCxn id="9" idx="3"/>
          </p:cNvCxnSpPr>
          <p:nvPr/>
        </p:nvCxnSpPr>
        <p:spPr>
          <a:xfrm flipH="1" flipV="1">
            <a:off x="3183796" y="4521910"/>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E9B7212E-4923-A91A-7DAB-0925716C0AA7}"/>
              </a:ext>
            </a:extLst>
          </p:cNvPr>
          <p:cNvSpPr/>
          <p:nvPr/>
        </p:nvSpPr>
        <p:spPr>
          <a:xfrm>
            <a:off x="923002" y="4335465"/>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316609D1-30DE-2097-CD36-26DEB6899860}"/>
              </a:ext>
            </a:extLst>
          </p:cNvPr>
          <p:cNvCxnSpPr>
            <a:cxnSpLocks/>
            <a:stCxn id="8" idx="2"/>
          </p:cNvCxnSpPr>
          <p:nvPr/>
        </p:nvCxnSpPr>
        <p:spPr>
          <a:xfrm>
            <a:off x="7308442" y="124234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727F21-AADF-10FA-206B-536B5C5AFF25}"/>
              </a:ext>
            </a:extLst>
          </p:cNvPr>
          <p:cNvSpPr txBox="1"/>
          <p:nvPr/>
        </p:nvSpPr>
        <p:spPr>
          <a:xfrm>
            <a:off x="6925030" y="87301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2921086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F3D6F-3271-105C-9C09-B064764617BB}"/>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5F33626-1F42-172C-889D-EA1F124E2176}"/>
              </a:ext>
            </a:extLst>
          </p:cNvPr>
          <p:cNvSpPr>
            <a:spLocks noGrp="1"/>
          </p:cNvSpPr>
          <p:nvPr>
            <p:ph sz="half" idx="2"/>
          </p:nvPr>
        </p:nvSpPr>
        <p:spPr/>
        <p:txBody>
          <a:bodyPr/>
          <a:lstStyle/>
          <a:p>
            <a:r>
              <a:rPr lang="en-US" dirty="0"/>
              <a:t>Check the while loop condition if j is bigger than or equal 0 which is true and A[j] or A[1]=21 is bigger than v or 1 which is true</a:t>
            </a:r>
          </a:p>
        </p:txBody>
      </p:sp>
      <p:graphicFrame>
        <p:nvGraphicFramePr>
          <p:cNvPr id="14" name="Table 13">
            <a:extLst>
              <a:ext uri="{FF2B5EF4-FFF2-40B4-BE49-F238E27FC236}">
                <a16:creationId xmlns:a16="http://schemas.microsoft.com/office/drawing/2014/main" id="{09023301-43A2-528A-FE14-ECC8773D5705}"/>
              </a:ext>
            </a:extLst>
          </p:cNvPr>
          <p:cNvGraphicFramePr>
            <a:graphicFrameLocks noGrp="1"/>
          </p:cNvGraphicFramePr>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733F2064-8A99-B1BE-0ED7-81DD463A71B5}"/>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pPr marL="285750" indent="-285750">
              <a:buFont typeface="Arial" panose="020B0604020202020204" pitchFamily="34" charset="0"/>
              <a:buChar char="•"/>
            </a:pPr>
            <a:r>
              <a:rPr lang="en-US" dirty="0"/>
              <a:t>j=1</a:t>
            </a:r>
          </a:p>
          <a:p>
            <a:endParaRPr lang="en-US" dirty="0"/>
          </a:p>
        </p:txBody>
      </p:sp>
      <p:cxnSp>
        <p:nvCxnSpPr>
          <p:cNvPr id="2" name="Straight Arrow Connector 1">
            <a:extLst>
              <a:ext uri="{FF2B5EF4-FFF2-40B4-BE49-F238E27FC236}">
                <a16:creationId xmlns:a16="http://schemas.microsoft.com/office/drawing/2014/main" id="{BD5F556D-0462-36FC-E903-79A8E824B05F}"/>
              </a:ext>
            </a:extLst>
          </p:cNvPr>
          <p:cNvCxnSpPr>
            <a:cxnSpLocks/>
            <a:stCxn id="7" idx="2"/>
          </p:cNvCxnSpPr>
          <p:nvPr/>
        </p:nvCxnSpPr>
        <p:spPr>
          <a:xfrm>
            <a:off x="8418246" y="1145031"/>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95EAF39-215E-B5B7-F9BB-8590EE287FF3}"/>
              </a:ext>
            </a:extLst>
          </p:cNvPr>
          <p:cNvSpPr txBox="1"/>
          <p:nvPr/>
        </p:nvSpPr>
        <p:spPr>
          <a:xfrm>
            <a:off x="8034834" y="775699"/>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C3FFA2B9-7DCE-05C0-86D9-AB6AA24544F5}"/>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3CBB6076-9008-D176-249F-ECA24DB3B63E}"/>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CB9F0CC4-28B2-9FF6-2AD0-BA65867781BF}"/>
              </a:ext>
            </a:extLst>
          </p:cNvPr>
          <p:cNvCxnSpPr>
            <a:cxnSpLocks/>
            <a:endCxn id="9" idx="3"/>
          </p:cNvCxnSpPr>
          <p:nvPr/>
        </p:nvCxnSpPr>
        <p:spPr>
          <a:xfrm flipH="1" flipV="1">
            <a:off x="3566570" y="4851525"/>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FF6F829-594B-C672-2999-5F23C6B57A1A}"/>
              </a:ext>
            </a:extLst>
          </p:cNvPr>
          <p:cNvSpPr/>
          <p:nvPr/>
        </p:nvSpPr>
        <p:spPr>
          <a:xfrm>
            <a:off x="1305776" y="4665080"/>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A48E2ED1-02EA-2B08-D49C-AA04C36DA72C}"/>
              </a:ext>
            </a:extLst>
          </p:cNvPr>
          <p:cNvCxnSpPr>
            <a:cxnSpLocks/>
            <a:stCxn id="8" idx="2"/>
          </p:cNvCxnSpPr>
          <p:nvPr/>
        </p:nvCxnSpPr>
        <p:spPr>
          <a:xfrm>
            <a:off x="7308442" y="124234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18EB4FD-7408-748E-1AEC-27EB553FE107}"/>
              </a:ext>
            </a:extLst>
          </p:cNvPr>
          <p:cNvSpPr txBox="1"/>
          <p:nvPr/>
        </p:nvSpPr>
        <p:spPr>
          <a:xfrm>
            <a:off x="6925030" y="87301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2635863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45A01-505E-43F3-2E9E-F15D6C1FC73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FF7F4C8-B4D0-A076-AC39-D00C79BE2DD8}"/>
              </a:ext>
            </a:extLst>
          </p:cNvPr>
          <p:cNvSpPr>
            <a:spLocks noGrp="1"/>
          </p:cNvSpPr>
          <p:nvPr>
            <p:ph sz="half" idx="2"/>
          </p:nvPr>
        </p:nvSpPr>
        <p:spPr>
          <a:xfrm>
            <a:off x="6318928" y="2658140"/>
            <a:ext cx="5212080" cy="3541492"/>
          </a:xfrm>
        </p:spPr>
        <p:txBody>
          <a:bodyPr/>
          <a:lstStyle/>
          <a:p>
            <a:r>
              <a:rPr lang="en-US" dirty="0"/>
              <a:t>The value of A[j] will override the value of A[j+1] or A[2]=21</a:t>
            </a:r>
          </a:p>
        </p:txBody>
      </p:sp>
      <p:graphicFrame>
        <p:nvGraphicFramePr>
          <p:cNvPr id="14" name="Table 13">
            <a:extLst>
              <a:ext uri="{FF2B5EF4-FFF2-40B4-BE49-F238E27FC236}">
                <a16:creationId xmlns:a16="http://schemas.microsoft.com/office/drawing/2014/main" id="{2E3900C8-4F54-83B6-AD87-8636348767E4}"/>
              </a:ext>
            </a:extLst>
          </p:cNvPr>
          <p:cNvGraphicFramePr>
            <a:graphicFrameLocks noGrp="1"/>
          </p:cNvGraphicFramePr>
          <p:nvPr>
            <p:extLst>
              <p:ext uri="{D42A27DB-BD31-4B8C-83A1-F6EECF244321}">
                <p14:modId xmlns:p14="http://schemas.microsoft.com/office/powerpoint/2010/main" val="709091052"/>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14F4A0D7-2FDB-FEFC-5CF8-90FF6D7D4B13}"/>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pPr marL="285750" indent="-285750">
              <a:buFont typeface="Arial" panose="020B0604020202020204" pitchFamily="34" charset="0"/>
              <a:buChar char="•"/>
            </a:pPr>
            <a:r>
              <a:rPr lang="en-US" dirty="0"/>
              <a:t>j=1</a:t>
            </a:r>
          </a:p>
          <a:p>
            <a:endParaRPr lang="en-US" dirty="0"/>
          </a:p>
        </p:txBody>
      </p:sp>
      <p:cxnSp>
        <p:nvCxnSpPr>
          <p:cNvPr id="2" name="Straight Arrow Connector 1">
            <a:extLst>
              <a:ext uri="{FF2B5EF4-FFF2-40B4-BE49-F238E27FC236}">
                <a16:creationId xmlns:a16="http://schemas.microsoft.com/office/drawing/2014/main" id="{5CD49434-E9C0-8AC0-1D66-211D762B91B4}"/>
              </a:ext>
            </a:extLst>
          </p:cNvPr>
          <p:cNvCxnSpPr>
            <a:cxnSpLocks/>
            <a:stCxn id="7" idx="2"/>
          </p:cNvCxnSpPr>
          <p:nvPr/>
        </p:nvCxnSpPr>
        <p:spPr>
          <a:xfrm>
            <a:off x="841824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5228BA4-22D4-6FD3-82CB-22B2D1738820}"/>
              </a:ext>
            </a:extLst>
          </p:cNvPr>
          <p:cNvSpPr txBox="1"/>
          <p:nvPr/>
        </p:nvSpPr>
        <p:spPr>
          <a:xfrm>
            <a:off x="803483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087FD031-DAF5-B360-A971-2D2D0CE725BD}"/>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73733B93-3E6F-0729-85B8-A6F90834F37C}"/>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A78F1D1E-A904-0CE7-01E1-31C574B6BF92}"/>
              </a:ext>
            </a:extLst>
          </p:cNvPr>
          <p:cNvCxnSpPr>
            <a:cxnSpLocks/>
            <a:endCxn id="9" idx="3"/>
          </p:cNvCxnSpPr>
          <p:nvPr/>
        </p:nvCxnSpPr>
        <p:spPr>
          <a:xfrm flipH="1" flipV="1">
            <a:off x="3566570" y="5213037"/>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253D94F7-9BA3-BB9C-4F67-78BF5D7C0011}"/>
              </a:ext>
            </a:extLst>
          </p:cNvPr>
          <p:cNvSpPr/>
          <p:nvPr/>
        </p:nvSpPr>
        <p:spPr>
          <a:xfrm>
            <a:off x="1305776" y="5026592"/>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64530CD0-207D-F0B6-B7AB-2CFA9BB9E2CE}"/>
              </a:ext>
            </a:extLst>
          </p:cNvPr>
          <p:cNvCxnSpPr>
            <a:cxnSpLocks/>
            <a:stCxn id="8" idx="2"/>
          </p:cNvCxnSpPr>
          <p:nvPr/>
        </p:nvCxnSpPr>
        <p:spPr>
          <a:xfrm>
            <a:off x="7308442" y="987155"/>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FD4EF0C-685E-669F-D22D-0AE930CB58E3}"/>
              </a:ext>
            </a:extLst>
          </p:cNvPr>
          <p:cNvSpPr txBox="1"/>
          <p:nvPr/>
        </p:nvSpPr>
        <p:spPr>
          <a:xfrm>
            <a:off x="6925030" y="617823"/>
            <a:ext cx="766823" cy="369332"/>
          </a:xfrm>
          <a:prstGeom prst="rect">
            <a:avLst/>
          </a:prstGeom>
          <a:noFill/>
        </p:spPr>
        <p:txBody>
          <a:bodyPr wrap="square" rtlCol="0">
            <a:spAutoFit/>
          </a:bodyPr>
          <a:lstStyle/>
          <a:p>
            <a:pPr algn="ctr"/>
            <a:r>
              <a:rPr lang="en-US" dirty="0"/>
              <a:t>j</a:t>
            </a:r>
          </a:p>
        </p:txBody>
      </p:sp>
      <p:cxnSp>
        <p:nvCxnSpPr>
          <p:cNvPr id="3" name="Straight Arrow Connector 2">
            <a:extLst>
              <a:ext uri="{FF2B5EF4-FFF2-40B4-BE49-F238E27FC236}">
                <a16:creationId xmlns:a16="http://schemas.microsoft.com/office/drawing/2014/main" id="{31C55253-D3C8-3F7B-01E2-2AF981141F5A}"/>
              </a:ext>
            </a:extLst>
          </p:cNvPr>
          <p:cNvCxnSpPr>
            <a:cxnSpLocks/>
            <a:stCxn id="14" idx="2"/>
            <a:endCxn id="10" idx="0"/>
          </p:cNvCxnSpPr>
          <p:nvPr/>
        </p:nvCxnSpPr>
        <p:spPr>
          <a:xfrm>
            <a:off x="8403771" y="1920069"/>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5B51FFC-CF34-4179-D61C-EE4AE4BDD79D}"/>
              </a:ext>
            </a:extLst>
          </p:cNvPr>
          <p:cNvSpPr txBox="1"/>
          <p:nvPr/>
        </p:nvSpPr>
        <p:spPr>
          <a:xfrm>
            <a:off x="8034834" y="2194179"/>
            <a:ext cx="766823" cy="369332"/>
          </a:xfrm>
          <a:prstGeom prst="rect">
            <a:avLst/>
          </a:prstGeom>
          <a:noFill/>
        </p:spPr>
        <p:txBody>
          <a:bodyPr wrap="square" rtlCol="0">
            <a:spAutoFit/>
          </a:bodyPr>
          <a:lstStyle/>
          <a:p>
            <a:pPr algn="ctr"/>
            <a:r>
              <a:rPr lang="en-US" dirty="0"/>
              <a:t>21</a:t>
            </a:r>
          </a:p>
        </p:txBody>
      </p:sp>
    </p:spTree>
    <p:extLst>
      <p:ext uri="{BB962C8B-B14F-4D97-AF65-F5344CB8AC3E}">
        <p14:creationId xmlns:p14="http://schemas.microsoft.com/office/powerpoint/2010/main" val="2510821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9F7EA-6582-2458-FD01-49DBB99DC60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9BF9AD3-959D-D077-E762-405D97CBF62F}"/>
              </a:ext>
            </a:extLst>
          </p:cNvPr>
          <p:cNvSpPr>
            <a:spLocks noGrp="1"/>
          </p:cNvSpPr>
          <p:nvPr>
            <p:ph sz="half" idx="2"/>
          </p:nvPr>
        </p:nvSpPr>
        <p:spPr>
          <a:xfrm>
            <a:off x="6318928" y="2658140"/>
            <a:ext cx="5212080" cy="3541492"/>
          </a:xfrm>
        </p:spPr>
        <p:txBody>
          <a:bodyPr/>
          <a:lstStyle/>
          <a:p>
            <a:r>
              <a:rPr lang="en-US" dirty="0"/>
              <a:t>The value of j is decremented by 1</a:t>
            </a:r>
          </a:p>
        </p:txBody>
      </p:sp>
      <p:graphicFrame>
        <p:nvGraphicFramePr>
          <p:cNvPr id="14" name="Table 13">
            <a:extLst>
              <a:ext uri="{FF2B5EF4-FFF2-40B4-BE49-F238E27FC236}">
                <a16:creationId xmlns:a16="http://schemas.microsoft.com/office/drawing/2014/main" id="{35A6786D-5A84-6401-4F78-08A4742D9590}"/>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0D0A95D5-0247-66D1-3BC8-5106B057A9D2}"/>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pPr marL="285750" indent="-285750">
              <a:buFont typeface="Arial" panose="020B0604020202020204" pitchFamily="34" charset="0"/>
              <a:buChar char="•"/>
            </a:pPr>
            <a:r>
              <a:rPr lang="en-US" dirty="0"/>
              <a:t>j=0</a:t>
            </a:r>
          </a:p>
          <a:p>
            <a:endParaRPr lang="en-US" dirty="0"/>
          </a:p>
        </p:txBody>
      </p:sp>
      <p:cxnSp>
        <p:nvCxnSpPr>
          <p:cNvPr id="2" name="Straight Arrow Connector 1">
            <a:extLst>
              <a:ext uri="{FF2B5EF4-FFF2-40B4-BE49-F238E27FC236}">
                <a16:creationId xmlns:a16="http://schemas.microsoft.com/office/drawing/2014/main" id="{096AE13F-2A3B-2387-53F7-78E5552E9124}"/>
              </a:ext>
            </a:extLst>
          </p:cNvPr>
          <p:cNvCxnSpPr>
            <a:cxnSpLocks/>
            <a:stCxn id="7" idx="2"/>
          </p:cNvCxnSpPr>
          <p:nvPr/>
        </p:nvCxnSpPr>
        <p:spPr>
          <a:xfrm>
            <a:off x="841824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1E8EB9B-CF16-4C63-9AFB-3EB02561C39C}"/>
              </a:ext>
            </a:extLst>
          </p:cNvPr>
          <p:cNvSpPr txBox="1"/>
          <p:nvPr/>
        </p:nvSpPr>
        <p:spPr>
          <a:xfrm>
            <a:off x="803483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DC8F1F9A-43E4-C5CA-0DE4-5C3DF21DBA1C}"/>
              </a:ext>
            </a:extLst>
          </p:cNvPr>
          <p:cNvSpPr>
            <a:spLocks noGrp="1"/>
          </p:cNvSpPr>
          <p:nvPr>
            <p:ph type="title"/>
          </p:nvPr>
        </p:nvSpPr>
        <p:spPr/>
        <p:txBody>
          <a:bodyPr/>
          <a:lstStyle/>
          <a:p>
            <a:r>
              <a:rPr lang="en-US" dirty="0"/>
              <a:t>Insertion sort</a:t>
            </a:r>
          </a:p>
        </p:txBody>
      </p:sp>
      <p:pic>
        <p:nvPicPr>
          <p:cNvPr id="16" name="Content Placeholder 15">
            <a:extLst>
              <a:ext uri="{FF2B5EF4-FFF2-40B4-BE49-F238E27FC236}">
                <a16:creationId xmlns:a16="http://schemas.microsoft.com/office/drawing/2014/main" id="{60FB814B-F21A-8D9F-6642-4B3680A88A14}"/>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BBC0C137-F099-E36E-2346-23948829D202}"/>
              </a:ext>
            </a:extLst>
          </p:cNvPr>
          <p:cNvCxnSpPr>
            <a:cxnSpLocks/>
            <a:endCxn id="9" idx="3"/>
          </p:cNvCxnSpPr>
          <p:nvPr/>
        </p:nvCxnSpPr>
        <p:spPr>
          <a:xfrm flipH="1" flipV="1">
            <a:off x="3566570" y="5542651"/>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D0DB9BC5-A34B-106F-19DA-3F54D5AD8DB8}"/>
              </a:ext>
            </a:extLst>
          </p:cNvPr>
          <p:cNvSpPr/>
          <p:nvPr/>
        </p:nvSpPr>
        <p:spPr>
          <a:xfrm>
            <a:off x="1305776" y="5356206"/>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756A16C6-7265-8672-F64F-3C07D5C91607}"/>
              </a:ext>
            </a:extLst>
          </p:cNvPr>
          <p:cNvCxnSpPr>
            <a:cxnSpLocks/>
            <a:stCxn id="8" idx="2"/>
          </p:cNvCxnSpPr>
          <p:nvPr/>
        </p:nvCxnSpPr>
        <p:spPr>
          <a:xfrm>
            <a:off x="6255821" y="987155"/>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E5F432F-9255-A06C-1A91-639E264168E5}"/>
              </a:ext>
            </a:extLst>
          </p:cNvPr>
          <p:cNvSpPr txBox="1"/>
          <p:nvPr/>
        </p:nvSpPr>
        <p:spPr>
          <a:xfrm>
            <a:off x="5872409" y="617823"/>
            <a:ext cx="766823" cy="369332"/>
          </a:xfrm>
          <a:prstGeom prst="rect">
            <a:avLst/>
          </a:prstGeom>
          <a:noFill/>
        </p:spPr>
        <p:txBody>
          <a:bodyPr wrap="square" rtlCol="0">
            <a:spAutoFit/>
          </a:bodyPr>
          <a:lstStyle/>
          <a:p>
            <a:pPr algn="ctr"/>
            <a:r>
              <a:rPr lang="en-US" dirty="0"/>
              <a:t>j</a:t>
            </a:r>
          </a:p>
        </p:txBody>
      </p:sp>
      <p:cxnSp>
        <p:nvCxnSpPr>
          <p:cNvPr id="3" name="Straight Arrow Connector 2">
            <a:extLst>
              <a:ext uri="{FF2B5EF4-FFF2-40B4-BE49-F238E27FC236}">
                <a16:creationId xmlns:a16="http://schemas.microsoft.com/office/drawing/2014/main" id="{CCF38B14-571E-3E30-720C-93A28E0C752C}"/>
              </a:ext>
            </a:extLst>
          </p:cNvPr>
          <p:cNvCxnSpPr>
            <a:cxnSpLocks/>
            <a:stCxn id="14" idx="2"/>
            <a:endCxn id="10" idx="0"/>
          </p:cNvCxnSpPr>
          <p:nvPr/>
        </p:nvCxnSpPr>
        <p:spPr>
          <a:xfrm>
            <a:off x="8403771" y="1920069"/>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BA71432-A495-A22E-6985-2A44ED08B769}"/>
              </a:ext>
            </a:extLst>
          </p:cNvPr>
          <p:cNvSpPr txBox="1"/>
          <p:nvPr/>
        </p:nvSpPr>
        <p:spPr>
          <a:xfrm>
            <a:off x="8034834" y="2194179"/>
            <a:ext cx="766823" cy="369332"/>
          </a:xfrm>
          <a:prstGeom prst="rect">
            <a:avLst/>
          </a:prstGeom>
          <a:noFill/>
        </p:spPr>
        <p:txBody>
          <a:bodyPr wrap="square" rtlCol="0">
            <a:spAutoFit/>
          </a:bodyPr>
          <a:lstStyle/>
          <a:p>
            <a:pPr algn="ctr"/>
            <a:r>
              <a:rPr lang="en-US" dirty="0"/>
              <a:t>21</a:t>
            </a:r>
          </a:p>
        </p:txBody>
      </p:sp>
    </p:spTree>
    <p:extLst>
      <p:ext uri="{BB962C8B-B14F-4D97-AF65-F5344CB8AC3E}">
        <p14:creationId xmlns:p14="http://schemas.microsoft.com/office/powerpoint/2010/main" val="452923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B273C-6E4C-6AD6-F2D2-CAFE7BB6CDC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C0F4097-E37C-D676-2790-CE54EF20A024}"/>
              </a:ext>
            </a:extLst>
          </p:cNvPr>
          <p:cNvSpPr>
            <a:spLocks noGrp="1"/>
          </p:cNvSpPr>
          <p:nvPr>
            <p:ph sz="half" idx="2"/>
          </p:nvPr>
        </p:nvSpPr>
        <p:spPr/>
        <p:txBody>
          <a:bodyPr/>
          <a:lstStyle/>
          <a:p>
            <a:r>
              <a:rPr lang="en-US" dirty="0"/>
              <a:t>Check the while loop condition if j is bigger than or equal 0 which is true and A[j] or A[0]=14 is bigger than v or 1 which is true</a:t>
            </a:r>
          </a:p>
        </p:txBody>
      </p:sp>
      <p:graphicFrame>
        <p:nvGraphicFramePr>
          <p:cNvPr id="14" name="Table 13">
            <a:extLst>
              <a:ext uri="{FF2B5EF4-FFF2-40B4-BE49-F238E27FC236}">
                <a16:creationId xmlns:a16="http://schemas.microsoft.com/office/drawing/2014/main" id="{D6269DE6-B767-ECE9-BB45-A2BD61960752}"/>
              </a:ext>
            </a:extLst>
          </p:cNvPr>
          <p:cNvGraphicFramePr>
            <a:graphicFrameLocks noGrp="1"/>
          </p:cNvGraphicFramePr>
          <p:nvPr>
            <p:extLst>
              <p:ext uri="{D42A27DB-BD31-4B8C-83A1-F6EECF244321}">
                <p14:modId xmlns:p14="http://schemas.microsoft.com/office/powerpoint/2010/main" val="1785315186"/>
              </p:ext>
            </p:extLst>
          </p:nvPr>
        </p:nvGraphicFramePr>
        <p:xfrm>
          <a:off x="5704114" y="1438656"/>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31DB3437-F1A5-4335-949D-6F229A88098A}"/>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pPr marL="285750" indent="-285750">
              <a:buFont typeface="Arial" panose="020B0604020202020204" pitchFamily="34" charset="0"/>
              <a:buChar char="•"/>
            </a:pPr>
            <a:r>
              <a:rPr lang="en-US" dirty="0"/>
              <a:t>j=0</a:t>
            </a:r>
          </a:p>
          <a:p>
            <a:endParaRPr lang="en-US" dirty="0"/>
          </a:p>
        </p:txBody>
      </p:sp>
      <p:cxnSp>
        <p:nvCxnSpPr>
          <p:cNvPr id="2" name="Straight Arrow Connector 1">
            <a:extLst>
              <a:ext uri="{FF2B5EF4-FFF2-40B4-BE49-F238E27FC236}">
                <a16:creationId xmlns:a16="http://schemas.microsoft.com/office/drawing/2014/main" id="{3A228078-6155-9732-4FDA-9274FD976047}"/>
              </a:ext>
            </a:extLst>
          </p:cNvPr>
          <p:cNvCxnSpPr>
            <a:cxnSpLocks/>
            <a:stCxn id="7" idx="2"/>
          </p:cNvCxnSpPr>
          <p:nvPr/>
        </p:nvCxnSpPr>
        <p:spPr>
          <a:xfrm>
            <a:off x="8418246" y="1145031"/>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7CE0FF7-5C9E-3EFA-1404-B74CD527B2B3}"/>
              </a:ext>
            </a:extLst>
          </p:cNvPr>
          <p:cNvSpPr txBox="1"/>
          <p:nvPr/>
        </p:nvSpPr>
        <p:spPr>
          <a:xfrm>
            <a:off x="8034834" y="775699"/>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688AEA72-8FD4-4CFF-2FAE-CA5F0A66DD29}"/>
              </a:ext>
            </a:extLst>
          </p:cNvPr>
          <p:cNvSpPr>
            <a:spLocks noGrp="1"/>
          </p:cNvSpPr>
          <p:nvPr>
            <p:ph type="title"/>
          </p:nvPr>
        </p:nvSpPr>
        <p:spPr>
          <a:xfrm>
            <a:off x="640080" y="1371601"/>
            <a:ext cx="4835688"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FC275769-C6AF-9684-6320-C22F3C2393C5}"/>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905FB6D3-8432-7D8E-5418-2A2C942D1542}"/>
              </a:ext>
            </a:extLst>
          </p:cNvPr>
          <p:cNvCxnSpPr>
            <a:cxnSpLocks/>
            <a:endCxn id="9" idx="3"/>
          </p:cNvCxnSpPr>
          <p:nvPr/>
        </p:nvCxnSpPr>
        <p:spPr>
          <a:xfrm flipH="1" flipV="1">
            <a:off x="3566570" y="4851525"/>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1F1A7FAC-A6BE-59F4-61E5-E4ECDC9C10B8}"/>
              </a:ext>
            </a:extLst>
          </p:cNvPr>
          <p:cNvSpPr/>
          <p:nvPr/>
        </p:nvSpPr>
        <p:spPr>
          <a:xfrm>
            <a:off x="1305776" y="4665080"/>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329D344E-5500-1BDD-B5F1-990E5F4964DF}"/>
              </a:ext>
            </a:extLst>
          </p:cNvPr>
          <p:cNvCxnSpPr>
            <a:cxnSpLocks/>
            <a:stCxn id="8" idx="2"/>
          </p:cNvCxnSpPr>
          <p:nvPr/>
        </p:nvCxnSpPr>
        <p:spPr>
          <a:xfrm>
            <a:off x="6266448" y="124234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AD3F682-E3EF-E0DF-A44A-474F6FEEDE49}"/>
              </a:ext>
            </a:extLst>
          </p:cNvPr>
          <p:cNvSpPr txBox="1"/>
          <p:nvPr/>
        </p:nvSpPr>
        <p:spPr>
          <a:xfrm>
            <a:off x="5883036" y="87301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2334635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3E6E2-84C8-0180-F26A-623EC89F045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2A3D4EC-BF4C-2C2C-CA94-C4144BAC09D4}"/>
              </a:ext>
            </a:extLst>
          </p:cNvPr>
          <p:cNvSpPr>
            <a:spLocks noGrp="1"/>
          </p:cNvSpPr>
          <p:nvPr>
            <p:ph sz="half" idx="2"/>
          </p:nvPr>
        </p:nvSpPr>
        <p:spPr>
          <a:xfrm>
            <a:off x="6318928" y="2658140"/>
            <a:ext cx="5212080" cy="3541492"/>
          </a:xfrm>
        </p:spPr>
        <p:txBody>
          <a:bodyPr/>
          <a:lstStyle/>
          <a:p>
            <a:r>
              <a:rPr lang="en-US" dirty="0"/>
              <a:t>The value of A[j] will override the value of A[j+1] or A[1]=14</a:t>
            </a:r>
          </a:p>
        </p:txBody>
      </p:sp>
      <p:graphicFrame>
        <p:nvGraphicFramePr>
          <p:cNvPr id="14" name="Table 13">
            <a:extLst>
              <a:ext uri="{FF2B5EF4-FFF2-40B4-BE49-F238E27FC236}">
                <a16:creationId xmlns:a16="http://schemas.microsoft.com/office/drawing/2014/main" id="{A2EB0723-3622-5DB2-2E7B-F8E8F6CE6F6A}"/>
              </a:ext>
            </a:extLst>
          </p:cNvPr>
          <p:cNvGraphicFramePr>
            <a:graphicFrameLocks noGrp="1"/>
          </p:cNvGraphicFramePr>
          <p:nvPr>
            <p:extLst>
              <p:ext uri="{D42A27DB-BD31-4B8C-83A1-F6EECF244321}">
                <p14:modId xmlns:p14="http://schemas.microsoft.com/office/powerpoint/2010/main" val="149064569"/>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F78561E8-1BD9-34A3-C3FB-C7CF4FC8F472}"/>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pPr marL="285750" indent="-285750">
              <a:buFont typeface="Arial" panose="020B0604020202020204" pitchFamily="34" charset="0"/>
              <a:buChar char="•"/>
            </a:pPr>
            <a:r>
              <a:rPr lang="en-US" dirty="0"/>
              <a:t>j=0</a:t>
            </a:r>
          </a:p>
          <a:p>
            <a:endParaRPr lang="en-US" dirty="0"/>
          </a:p>
        </p:txBody>
      </p:sp>
      <p:cxnSp>
        <p:nvCxnSpPr>
          <p:cNvPr id="2" name="Straight Arrow Connector 1">
            <a:extLst>
              <a:ext uri="{FF2B5EF4-FFF2-40B4-BE49-F238E27FC236}">
                <a16:creationId xmlns:a16="http://schemas.microsoft.com/office/drawing/2014/main" id="{E3B9A01F-62FE-B1C9-BC1A-01F9699EF893}"/>
              </a:ext>
            </a:extLst>
          </p:cNvPr>
          <p:cNvCxnSpPr>
            <a:cxnSpLocks/>
            <a:stCxn id="7" idx="2"/>
          </p:cNvCxnSpPr>
          <p:nvPr/>
        </p:nvCxnSpPr>
        <p:spPr>
          <a:xfrm>
            <a:off x="841824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67FEACB-6380-1314-46E8-16A7A681F987}"/>
              </a:ext>
            </a:extLst>
          </p:cNvPr>
          <p:cNvSpPr txBox="1"/>
          <p:nvPr/>
        </p:nvSpPr>
        <p:spPr>
          <a:xfrm>
            <a:off x="803483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5D859C2C-2DFA-29E7-C006-16DDD3BFEB7F}"/>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F15F675D-ACDC-307D-4D76-52C078C08F34}"/>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665239F0-82E0-42F3-CC20-8A632F2AC18F}"/>
              </a:ext>
            </a:extLst>
          </p:cNvPr>
          <p:cNvCxnSpPr>
            <a:cxnSpLocks/>
            <a:endCxn id="9" idx="3"/>
          </p:cNvCxnSpPr>
          <p:nvPr/>
        </p:nvCxnSpPr>
        <p:spPr>
          <a:xfrm flipH="1" flipV="1">
            <a:off x="3566570" y="5213037"/>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8A805BE2-E7A4-5C20-7DDA-BCB03C7AC684}"/>
              </a:ext>
            </a:extLst>
          </p:cNvPr>
          <p:cNvSpPr/>
          <p:nvPr/>
        </p:nvSpPr>
        <p:spPr>
          <a:xfrm>
            <a:off x="1305776" y="5026592"/>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854AE624-EB7B-D367-1916-951D36622E0F}"/>
              </a:ext>
            </a:extLst>
          </p:cNvPr>
          <p:cNvCxnSpPr>
            <a:cxnSpLocks/>
            <a:stCxn id="8" idx="2"/>
          </p:cNvCxnSpPr>
          <p:nvPr/>
        </p:nvCxnSpPr>
        <p:spPr>
          <a:xfrm>
            <a:off x="6266447" y="987155"/>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1CA1705-4FB9-C1C1-048C-2D395E7A498A}"/>
              </a:ext>
            </a:extLst>
          </p:cNvPr>
          <p:cNvSpPr txBox="1"/>
          <p:nvPr/>
        </p:nvSpPr>
        <p:spPr>
          <a:xfrm>
            <a:off x="5883035" y="617823"/>
            <a:ext cx="766823" cy="369332"/>
          </a:xfrm>
          <a:prstGeom prst="rect">
            <a:avLst/>
          </a:prstGeom>
          <a:noFill/>
        </p:spPr>
        <p:txBody>
          <a:bodyPr wrap="square" rtlCol="0">
            <a:spAutoFit/>
          </a:bodyPr>
          <a:lstStyle/>
          <a:p>
            <a:pPr algn="ctr"/>
            <a:r>
              <a:rPr lang="en-US" dirty="0"/>
              <a:t>j</a:t>
            </a:r>
          </a:p>
        </p:txBody>
      </p:sp>
      <p:cxnSp>
        <p:nvCxnSpPr>
          <p:cNvPr id="3" name="Straight Arrow Connector 2">
            <a:extLst>
              <a:ext uri="{FF2B5EF4-FFF2-40B4-BE49-F238E27FC236}">
                <a16:creationId xmlns:a16="http://schemas.microsoft.com/office/drawing/2014/main" id="{571CD1DE-355E-EE15-3B39-5F3E6F0E23F7}"/>
              </a:ext>
            </a:extLst>
          </p:cNvPr>
          <p:cNvCxnSpPr>
            <a:cxnSpLocks/>
            <a:endCxn id="10" idx="0"/>
          </p:cNvCxnSpPr>
          <p:nvPr/>
        </p:nvCxnSpPr>
        <p:spPr>
          <a:xfrm>
            <a:off x="7329883" y="1931067"/>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A4549E0-1A8E-0E1A-78CD-B8E3A091E580}"/>
              </a:ext>
            </a:extLst>
          </p:cNvPr>
          <p:cNvSpPr txBox="1"/>
          <p:nvPr/>
        </p:nvSpPr>
        <p:spPr>
          <a:xfrm>
            <a:off x="6960946" y="2205177"/>
            <a:ext cx="766823" cy="369332"/>
          </a:xfrm>
          <a:prstGeom prst="rect">
            <a:avLst/>
          </a:prstGeom>
          <a:noFill/>
        </p:spPr>
        <p:txBody>
          <a:bodyPr wrap="square" rtlCol="0">
            <a:spAutoFit/>
          </a:bodyPr>
          <a:lstStyle/>
          <a:p>
            <a:pPr algn="ctr"/>
            <a:r>
              <a:rPr lang="en-US" dirty="0"/>
              <a:t>14</a:t>
            </a:r>
          </a:p>
        </p:txBody>
      </p:sp>
    </p:spTree>
    <p:extLst>
      <p:ext uri="{BB962C8B-B14F-4D97-AF65-F5344CB8AC3E}">
        <p14:creationId xmlns:p14="http://schemas.microsoft.com/office/powerpoint/2010/main" val="1165833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45BAE-F3BC-18FB-81D6-D65AF681A8C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F7E23CD-18A7-2113-1F34-55F290F976D4}"/>
              </a:ext>
            </a:extLst>
          </p:cNvPr>
          <p:cNvSpPr>
            <a:spLocks noGrp="1"/>
          </p:cNvSpPr>
          <p:nvPr>
            <p:ph sz="half" idx="2"/>
          </p:nvPr>
        </p:nvSpPr>
        <p:spPr>
          <a:xfrm>
            <a:off x="6318928" y="2658140"/>
            <a:ext cx="5212080" cy="3541492"/>
          </a:xfrm>
        </p:spPr>
        <p:txBody>
          <a:bodyPr/>
          <a:lstStyle/>
          <a:p>
            <a:r>
              <a:rPr lang="en-US" dirty="0"/>
              <a:t>Decrement j by 1 </a:t>
            </a:r>
          </a:p>
        </p:txBody>
      </p:sp>
      <p:graphicFrame>
        <p:nvGraphicFramePr>
          <p:cNvPr id="14" name="Table 13">
            <a:extLst>
              <a:ext uri="{FF2B5EF4-FFF2-40B4-BE49-F238E27FC236}">
                <a16:creationId xmlns:a16="http://schemas.microsoft.com/office/drawing/2014/main" id="{8FBC679F-9372-A46D-E430-1D6E3ECB141E}"/>
              </a:ext>
            </a:extLst>
          </p:cNvPr>
          <p:cNvGraphicFramePr>
            <a:graphicFrameLocks noGrp="1"/>
          </p:cNvGraphicFramePr>
          <p:nvPr>
            <p:extLst>
              <p:ext uri="{D42A27DB-BD31-4B8C-83A1-F6EECF244321}">
                <p14:modId xmlns:p14="http://schemas.microsoft.com/office/powerpoint/2010/main" val="4100493348"/>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28BFF8FF-C2A8-7AD6-B482-4428FEFF3DB1}"/>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pPr marL="285750" indent="-285750">
              <a:buFont typeface="Arial" panose="020B0604020202020204" pitchFamily="34" charset="0"/>
              <a:buChar char="•"/>
            </a:pPr>
            <a:r>
              <a:rPr lang="en-US" dirty="0"/>
              <a:t>j=-1</a:t>
            </a:r>
          </a:p>
          <a:p>
            <a:endParaRPr lang="en-US" dirty="0"/>
          </a:p>
        </p:txBody>
      </p:sp>
      <p:cxnSp>
        <p:nvCxnSpPr>
          <p:cNvPr id="2" name="Straight Arrow Connector 1">
            <a:extLst>
              <a:ext uri="{FF2B5EF4-FFF2-40B4-BE49-F238E27FC236}">
                <a16:creationId xmlns:a16="http://schemas.microsoft.com/office/drawing/2014/main" id="{E7A0E7A3-F386-EBBB-0062-50FF8DB61F2B}"/>
              </a:ext>
            </a:extLst>
          </p:cNvPr>
          <p:cNvCxnSpPr>
            <a:cxnSpLocks/>
            <a:stCxn id="7" idx="2"/>
          </p:cNvCxnSpPr>
          <p:nvPr/>
        </p:nvCxnSpPr>
        <p:spPr>
          <a:xfrm>
            <a:off x="841824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F52C66F-4CDC-FD39-B017-3A2C43378B9B}"/>
              </a:ext>
            </a:extLst>
          </p:cNvPr>
          <p:cNvSpPr txBox="1"/>
          <p:nvPr/>
        </p:nvSpPr>
        <p:spPr>
          <a:xfrm>
            <a:off x="803483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A0CE2830-3D3F-9CF1-5FB1-904342FF706E}"/>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FA515E5E-062C-778F-9237-C164BCAB7E26}"/>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B0D08F6C-40FC-90B3-6B5B-03DAB8A12786}"/>
              </a:ext>
            </a:extLst>
          </p:cNvPr>
          <p:cNvCxnSpPr>
            <a:cxnSpLocks/>
            <a:endCxn id="9" idx="3"/>
          </p:cNvCxnSpPr>
          <p:nvPr/>
        </p:nvCxnSpPr>
        <p:spPr>
          <a:xfrm flipH="1" flipV="1">
            <a:off x="3566570" y="5542650"/>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7C76DB52-9254-AEF1-A9FC-CA0335B651F8}"/>
              </a:ext>
            </a:extLst>
          </p:cNvPr>
          <p:cNvSpPr/>
          <p:nvPr/>
        </p:nvSpPr>
        <p:spPr>
          <a:xfrm>
            <a:off x="1305776" y="5356205"/>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2061A078-9C51-4811-F418-D289E6226877}"/>
              </a:ext>
            </a:extLst>
          </p:cNvPr>
          <p:cNvCxnSpPr>
            <a:cxnSpLocks/>
            <a:stCxn id="8" idx="2"/>
          </p:cNvCxnSpPr>
          <p:nvPr/>
        </p:nvCxnSpPr>
        <p:spPr>
          <a:xfrm>
            <a:off x="5320703" y="1074510"/>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C8AD838-4B65-3D0E-1DB2-02389EBA7936}"/>
              </a:ext>
            </a:extLst>
          </p:cNvPr>
          <p:cNvSpPr txBox="1"/>
          <p:nvPr/>
        </p:nvSpPr>
        <p:spPr>
          <a:xfrm>
            <a:off x="4937291" y="705178"/>
            <a:ext cx="766823" cy="369332"/>
          </a:xfrm>
          <a:prstGeom prst="rect">
            <a:avLst/>
          </a:prstGeom>
          <a:noFill/>
        </p:spPr>
        <p:txBody>
          <a:bodyPr wrap="square" rtlCol="0">
            <a:spAutoFit/>
          </a:bodyPr>
          <a:lstStyle/>
          <a:p>
            <a:pPr algn="ctr"/>
            <a:r>
              <a:rPr lang="en-US" dirty="0"/>
              <a:t>j</a:t>
            </a:r>
          </a:p>
        </p:txBody>
      </p:sp>
      <p:cxnSp>
        <p:nvCxnSpPr>
          <p:cNvPr id="3" name="Straight Arrow Connector 2">
            <a:extLst>
              <a:ext uri="{FF2B5EF4-FFF2-40B4-BE49-F238E27FC236}">
                <a16:creationId xmlns:a16="http://schemas.microsoft.com/office/drawing/2014/main" id="{EF80E182-0C14-98C9-454F-FC14BD900EAA}"/>
              </a:ext>
            </a:extLst>
          </p:cNvPr>
          <p:cNvCxnSpPr>
            <a:cxnSpLocks/>
            <a:endCxn id="10" idx="0"/>
          </p:cNvCxnSpPr>
          <p:nvPr/>
        </p:nvCxnSpPr>
        <p:spPr>
          <a:xfrm>
            <a:off x="7329883" y="1931067"/>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B845991-59DF-E561-6D32-ECB17E60A344}"/>
              </a:ext>
            </a:extLst>
          </p:cNvPr>
          <p:cNvSpPr txBox="1"/>
          <p:nvPr/>
        </p:nvSpPr>
        <p:spPr>
          <a:xfrm>
            <a:off x="6960946" y="2205177"/>
            <a:ext cx="766823" cy="369332"/>
          </a:xfrm>
          <a:prstGeom prst="rect">
            <a:avLst/>
          </a:prstGeom>
          <a:noFill/>
        </p:spPr>
        <p:txBody>
          <a:bodyPr wrap="square" rtlCol="0">
            <a:spAutoFit/>
          </a:bodyPr>
          <a:lstStyle/>
          <a:p>
            <a:pPr algn="ctr"/>
            <a:r>
              <a:rPr lang="en-US" dirty="0"/>
              <a:t>14</a:t>
            </a:r>
          </a:p>
        </p:txBody>
      </p:sp>
    </p:spTree>
    <p:extLst>
      <p:ext uri="{BB962C8B-B14F-4D97-AF65-F5344CB8AC3E}">
        <p14:creationId xmlns:p14="http://schemas.microsoft.com/office/powerpoint/2010/main" val="949725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9CCB-A6A2-2CBC-C142-9DF6B34ABB0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5EBD318-BC95-A758-7571-3C39CD7A8191}"/>
              </a:ext>
            </a:extLst>
          </p:cNvPr>
          <p:cNvSpPr>
            <a:spLocks noGrp="1"/>
          </p:cNvSpPr>
          <p:nvPr>
            <p:ph sz="half" idx="2"/>
          </p:nvPr>
        </p:nvSpPr>
        <p:spPr>
          <a:xfrm>
            <a:off x="6318928" y="2658140"/>
            <a:ext cx="5212080" cy="3541492"/>
          </a:xfrm>
        </p:spPr>
        <p:txBody>
          <a:bodyPr/>
          <a:lstStyle/>
          <a:p>
            <a:r>
              <a:rPr lang="en-US" dirty="0"/>
              <a:t>Check the while loop condition if j is bigger than or equal -1 which is false</a:t>
            </a:r>
          </a:p>
        </p:txBody>
      </p:sp>
      <p:graphicFrame>
        <p:nvGraphicFramePr>
          <p:cNvPr id="14" name="Table 13">
            <a:extLst>
              <a:ext uri="{FF2B5EF4-FFF2-40B4-BE49-F238E27FC236}">
                <a16:creationId xmlns:a16="http://schemas.microsoft.com/office/drawing/2014/main" id="{4D10F3B3-472B-774F-C11E-7D7CA471E55F}"/>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0BDEFC7F-C74A-31C1-454A-DB0C4538DF6E}"/>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pPr marL="285750" indent="-285750">
              <a:buFont typeface="Arial" panose="020B0604020202020204" pitchFamily="34" charset="0"/>
              <a:buChar char="•"/>
            </a:pPr>
            <a:r>
              <a:rPr lang="en-US" dirty="0"/>
              <a:t>j=-1</a:t>
            </a:r>
          </a:p>
          <a:p>
            <a:endParaRPr lang="en-US" dirty="0"/>
          </a:p>
        </p:txBody>
      </p:sp>
      <p:cxnSp>
        <p:nvCxnSpPr>
          <p:cNvPr id="2" name="Straight Arrow Connector 1">
            <a:extLst>
              <a:ext uri="{FF2B5EF4-FFF2-40B4-BE49-F238E27FC236}">
                <a16:creationId xmlns:a16="http://schemas.microsoft.com/office/drawing/2014/main" id="{FF1A5F15-147C-4582-1575-47BA8B59830F}"/>
              </a:ext>
            </a:extLst>
          </p:cNvPr>
          <p:cNvCxnSpPr>
            <a:cxnSpLocks/>
            <a:stCxn id="7" idx="2"/>
          </p:cNvCxnSpPr>
          <p:nvPr/>
        </p:nvCxnSpPr>
        <p:spPr>
          <a:xfrm>
            <a:off x="841824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95A117-5695-BD60-8F20-1D07AD57CE4E}"/>
              </a:ext>
            </a:extLst>
          </p:cNvPr>
          <p:cNvSpPr txBox="1"/>
          <p:nvPr/>
        </p:nvSpPr>
        <p:spPr>
          <a:xfrm>
            <a:off x="803483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1CE48194-A0F6-C805-D4F0-95B625B1960B}"/>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26C480A9-01CD-6B6E-A3CD-D0DC23C4F548}"/>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510ADFEE-8D9E-8B79-263C-A31E88B6C80D}"/>
              </a:ext>
            </a:extLst>
          </p:cNvPr>
          <p:cNvCxnSpPr>
            <a:cxnSpLocks/>
            <a:endCxn id="9" idx="3"/>
          </p:cNvCxnSpPr>
          <p:nvPr/>
        </p:nvCxnSpPr>
        <p:spPr>
          <a:xfrm flipH="1" flipV="1">
            <a:off x="3555937" y="4872793"/>
            <a:ext cx="623921" cy="149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7B6494E9-BA0C-F5B5-40D2-B52486C4542D}"/>
              </a:ext>
            </a:extLst>
          </p:cNvPr>
          <p:cNvSpPr/>
          <p:nvPr/>
        </p:nvSpPr>
        <p:spPr>
          <a:xfrm>
            <a:off x="1295143" y="4686348"/>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203707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C8BD5-7595-3CC7-F01C-45C30CD39C7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15A4B63-7855-BF2B-7FE1-6FE79D99743E}"/>
              </a:ext>
            </a:extLst>
          </p:cNvPr>
          <p:cNvSpPr>
            <a:spLocks noGrp="1"/>
          </p:cNvSpPr>
          <p:nvPr>
            <p:ph sz="half" idx="2"/>
          </p:nvPr>
        </p:nvSpPr>
        <p:spPr>
          <a:xfrm>
            <a:off x="6318928" y="2658140"/>
            <a:ext cx="5212080" cy="3541492"/>
          </a:xfrm>
        </p:spPr>
        <p:txBody>
          <a:bodyPr/>
          <a:lstStyle/>
          <a:p>
            <a:r>
              <a:rPr lang="en-US" dirty="0"/>
              <a:t>The value of A[j+1] or A[0] will be set to 1</a:t>
            </a:r>
          </a:p>
        </p:txBody>
      </p:sp>
      <p:graphicFrame>
        <p:nvGraphicFramePr>
          <p:cNvPr id="14" name="Table 13">
            <a:extLst>
              <a:ext uri="{FF2B5EF4-FFF2-40B4-BE49-F238E27FC236}">
                <a16:creationId xmlns:a16="http://schemas.microsoft.com/office/drawing/2014/main" id="{0B70E7C9-E437-7236-983A-0041A5C774F6}"/>
              </a:ext>
            </a:extLst>
          </p:cNvPr>
          <p:cNvGraphicFramePr>
            <a:graphicFrameLocks noGrp="1"/>
          </p:cNvGraphicFramePr>
          <p:nvPr>
            <p:extLst>
              <p:ext uri="{D42A27DB-BD31-4B8C-83A1-F6EECF244321}">
                <p14:modId xmlns:p14="http://schemas.microsoft.com/office/powerpoint/2010/main" val="1024058419"/>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sng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3E5C4A9F-05A7-C011-D787-6158C5A1D953}"/>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=2</a:t>
            </a:r>
          </a:p>
          <a:p>
            <a:pPr marL="285750" indent="-285750">
              <a:buFont typeface="Arial" panose="020B0604020202020204" pitchFamily="34" charset="0"/>
              <a:buChar char="•"/>
            </a:pPr>
            <a:r>
              <a:rPr lang="en-US" dirty="0"/>
              <a:t>v=1</a:t>
            </a:r>
          </a:p>
          <a:p>
            <a:pPr marL="285750" indent="-285750">
              <a:buFont typeface="Arial" panose="020B0604020202020204" pitchFamily="34" charset="0"/>
              <a:buChar char="•"/>
            </a:pPr>
            <a:r>
              <a:rPr lang="en-US" dirty="0"/>
              <a:t>j=-1</a:t>
            </a:r>
          </a:p>
          <a:p>
            <a:endParaRPr lang="en-US" dirty="0"/>
          </a:p>
        </p:txBody>
      </p:sp>
      <p:cxnSp>
        <p:nvCxnSpPr>
          <p:cNvPr id="2" name="Straight Arrow Connector 1">
            <a:extLst>
              <a:ext uri="{FF2B5EF4-FFF2-40B4-BE49-F238E27FC236}">
                <a16:creationId xmlns:a16="http://schemas.microsoft.com/office/drawing/2014/main" id="{E02FDD6C-9E2E-1946-138A-97F718832E0A}"/>
              </a:ext>
            </a:extLst>
          </p:cNvPr>
          <p:cNvCxnSpPr>
            <a:cxnSpLocks/>
            <a:stCxn id="7" idx="2"/>
          </p:cNvCxnSpPr>
          <p:nvPr/>
        </p:nvCxnSpPr>
        <p:spPr>
          <a:xfrm>
            <a:off x="841824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F206106-2986-CBD2-3E1F-DF0BD681F2AA}"/>
              </a:ext>
            </a:extLst>
          </p:cNvPr>
          <p:cNvSpPr txBox="1"/>
          <p:nvPr/>
        </p:nvSpPr>
        <p:spPr>
          <a:xfrm>
            <a:off x="803483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65A3BF84-7105-CA14-C4B6-21C6C84A7AFA}"/>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4454446C-1205-7992-0AAB-FC55139F0864}"/>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C1630EDD-900C-E49C-E213-DC092DCEE396}"/>
              </a:ext>
            </a:extLst>
          </p:cNvPr>
          <p:cNvCxnSpPr>
            <a:cxnSpLocks/>
            <a:endCxn id="9" idx="3"/>
          </p:cNvCxnSpPr>
          <p:nvPr/>
        </p:nvCxnSpPr>
        <p:spPr>
          <a:xfrm flipH="1">
            <a:off x="3524038" y="5893524"/>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9D8B4C0B-74D0-17B7-2940-CE4EB6D403E3}"/>
              </a:ext>
            </a:extLst>
          </p:cNvPr>
          <p:cNvSpPr/>
          <p:nvPr/>
        </p:nvSpPr>
        <p:spPr>
          <a:xfrm>
            <a:off x="1263244" y="5707079"/>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B5AD0C96-A8ED-BE9E-F7A7-18C450DE4120}"/>
              </a:ext>
            </a:extLst>
          </p:cNvPr>
          <p:cNvCxnSpPr>
            <a:cxnSpLocks/>
            <a:endCxn id="8" idx="0"/>
          </p:cNvCxnSpPr>
          <p:nvPr/>
        </p:nvCxnSpPr>
        <p:spPr>
          <a:xfrm>
            <a:off x="6243548" y="1939584"/>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4703865-EE27-7498-9847-3570EB194326}"/>
              </a:ext>
            </a:extLst>
          </p:cNvPr>
          <p:cNvSpPr txBox="1"/>
          <p:nvPr/>
        </p:nvSpPr>
        <p:spPr>
          <a:xfrm>
            <a:off x="5874611" y="2213694"/>
            <a:ext cx="766823" cy="369332"/>
          </a:xfrm>
          <a:prstGeom prst="rect">
            <a:avLst/>
          </a:prstGeom>
          <a:noFill/>
        </p:spPr>
        <p:txBody>
          <a:bodyPr wrap="square" rtlCol="0">
            <a:spAutoFit/>
          </a:bodyPr>
          <a:lstStyle/>
          <a:p>
            <a:pPr algn="ctr"/>
            <a:r>
              <a:rPr lang="en-US" dirty="0"/>
              <a:t>1</a:t>
            </a:r>
          </a:p>
        </p:txBody>
      </p:sp>
    </p:spTree>
    <p:extLst>
      <p:ext uri="{BB962C8B-B14F-4D97-AF65-F5344CB8AC3E}">
        <p14:creationId xmlns:p14="http://schemas.microsoft.com/office/powerpoint/2010/main" val="1289478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32A99-DFC0-F465-E652-534411E3EC9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7F8652C-BB40-5AB9-F2E0-E8F401CD82E9}"/>
              </a:ext>
            </a:extLst>
          </p:cNvPr>
          <p:cNvSpPr>
            <a:spLocks noGrp="1"/>
          </p:cNvSpPr>
          <p:nvPr>
            <p:ph sz="half" idx="2"/>
          </p:nvPr>
        </p:nvSpPr>
        <p:spPr>
          <a:xfrm>
            <a:off x="6318928" y="2658140"/>
            <a:ext cx="5212080" cy="3541492"/>
          </a:xfrm>
        </p:spPr>
        <p:txBody>
          <a:bodyPr/>
          <a:lstStyle/>
          <a:p>
            <a:r>
              <a:rPr lang="en-US" dirty="0"/>
              <a:t>Increase the value of </a:t>
            </a:r>
            <a:r>
              <a:rPr lang="en-US" dirty="0" err="1"/>
              <a:t>i</a:t>
            </a:r>
            <a:r>
              <a:rPr lang="en-US" dirty="0"/>
              <a:t> by 1 which is equal to 3</a:t>
            </a:r>
          </a:p>
        </p:txBody>
      </p:sp>
      <p:graphicFrame>
        <p:nvGraphicFramePr>
          <p:cNvPr id="14" name="Table 13">
            <a:extLst>
              <a:ext uri="{FF2B5EF4-FFF2-40B4-BE49-F238E27FC236}">
                <a16:creationId xmlns:a16="http://schemas.microsoft.com/office/drawing/2014/main" id="{BFFB25E5-893D-BFE4-C574-F375F0910398}"/>
              </a:ext>
            </a:extLst>
          </p:cNvPr>
          <p:cNvGraphicFramePr>
            <a:graphicFrameLocks noGrp="1"/>
          </p:cNvGraphicFramePr>
          <p:nvPr>
            <p:extLst>
              <p:ext uri="{D42A27DB-BD31-4B8C-83A1-F6EECF244321}">
                <p14:modId xmlns:p14="http://schemas.microsoft.com/office/powerpoint/2010/main" val="2736493319"/>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19AF650A-5ED7-AF34-AB9E-7087BDD511F3}"/>
              </a:ext>
            </a:extLst>
          </p:cNvPr>
          <p:cNvSpPr txBox="1"/>
          <p:nvPr/>
        </p:nvSpPr>
        <p:spPr>
          <a:xfrm>
            <a:off x="9503230" y="4617936"/>
            <a:ext cx="16002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endParaRPr lang="en-US" dirty="0"/>
          </a:p>
        </p:txBody>
      </p:sp>
      <p:cxnSp>
        <p:nvCxnSpPr>
          <p:cNvPr id="2" name="Straight Arrow Connector 1">
            <a:extLst>
              <a:ext uri="{FF2B5EF4-FFF2-40B4-BE49-F238E27FC236}">
                <a16:creationId xmlns:a16="http://schemas.microsoft.com/office/drawing/2014/main" id="{0B8AB34A-311D-F1C8-DA18-0640ECACB9B6}"/>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9AF4B4D-2BEC-2479-ED8D-A6B681A4B726}"/>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1289765C-F6EC-407C-153F-6A879B767F0D}"/>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F216A53F-E7E5-E38B-B7AC-DE3BB7B98AA0}"/>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DB2F1739-41F8-210D-D197-D1379CC531DE}"/>
              </a:ext>
            </a:extLst>
          </p:cNvPr>
          <p:cNvCxnSpPr>
            <a:cxnSpLocks/>
            <a:endCxn id="9" idx="3"/>
          </p:cNvCxnSpPr>
          <p:nvPr/>
        </p:nvCxnSpPr>
        <p:spPr>
          <a:xfrm flipH="1">
            <a:off x="3141261" y="3830806"/>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3F188A07-6399-5991-3467-4ACA81CE6CC9}"/>
              </a:ext>
            </a:extLst>
          </p:cNvPr>
          <p:cNvSpPr/>
          <p:nvPr/>
        </p:nvSpPr>
        <p:spPr>
          <a:xfrm>
            <a:off x="880467" y="3644361"/>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07442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DFB56-8258-75E4-C9E5-D50CB7AD7C7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03C227A-2FCB-C5D4-091C-1CB1A5B56BCD}"/>
              </a:ext>
            </a:extLst>
          </p:cNvPr>
          <p:cNvSpPr>
            <a:spLocks noGrp="1"/>
          </p:cNvSpPr>
          <p:nvPr>
            <p:ph sz="half" idx="2"/>
          </p:nvPr>
        </p:nvSpPr>
        <p:spPr>
          <a:xfrm>
            <a:off x="6318928" y="2658140"/>
            <a:ext cx="5212080" cy="3541492"/>
          </a:xfrm>
        </p:spPr>
        <p:txBody>
          <a:bodyPr/>
          <a:lstStyle/>
          <a:p>
            <a:r>
              <a:rPr lang="en-US" dirty="0"/>
              <a:t>Set the variable v =A[</a:t>
            </a:r>
            <a:r>
              <a:rPr lang="en-US" dirty="0" err="1"/>
              <a:t>i</a:t>
            </a:r>
            <a:r>
              <a:rPr lang="en-US" dirty="0"/>
              <a:t>]=A[3]=12</a:t>
            </a:r>
          </a:p>
        </p:txBody>
      </p:sp>
      <p:graphicFrame>
        <p:nvGraphicFramePr>
          <p:cNvPr id="14" name="Table 13">
            <a:extLst>
              <a:ext uri="{FF2B5EF4-FFF2-40B4-BE49-F238E27FC236}">
                <a16:creationId xmlns:a16="http://schemas.microsoft.com/office/drawing/2014/main" id="{BF704A4A-6664-316E-2AAD-428B9279F5C8}"/>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C115B485-AC7D-595D-ED6D-A7833A64B779}"/>
              </a:ext>
            </a:extLst>
          </p:cNvPr>
          <p:cNvSpPr txBox="1"/>
          <p:nvPr/>
        </p:nvSpPr>
        <p:spPr>
          <a:xfrm>
            <a:off x="9503230" y="4617936"/>
            <a:ext cx="16002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endParaRPr lang="en-US" dirty="0"/>
          </a:p>
        </p:txBody>
      </p:sp>
      <p:cxnSp>
        <p:nvCxnSpPr>
          <p:cNvPr id="2" name="Straight Arrow Connector 1">
            <a:extLst>
              <a:ext uri="{FF2B5EF4-FFF2-40B4-BE49-F238E27FC236}">
                <a16:creationId xmlns:a16="http://schemas.microsoft.com/office/drawing/2014/main" id="{3E89C571-182D-3462-3000-D5F5349F2362}"/>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DDDAA9-98B7-93DA-76F6-8B1FB54CB187}"/>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2C853393-9C25-0D3E-10C8-0A4196881DCE}"/>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03EA8DAD-9196-6F88-88E7-209F73B05B1C}"/>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DAF658E6-9B5C-85C9-575F-89F7CDED9547}"/>
              </a:ext>
            </a:extLst>
          </p:cNvPr>
          <p:cNvCxnSpPr>
            <a:cxnSpLocks/>
            <a:endCxn id="9" idx="3"/>
          </p:cNvCxnSpPr>
          <p:nvPr/>
        </p:nvCxnSpPr>
        <p:spPr>
          <a:xfrm flipH="1">
            <a:off x="3141261" y="4202949"/>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85529B5E-6584-8751-7503-5A0BA0648CAD}"/>
              </a:ext>
            </a:extLst>
          </p:cNvPr>
          <p:cNvSpPr/>
          <p:nvPr/>
        </p:nvSpPr>
        <p:spPr>
          <a:xfrm>
            <a:off x="880467" y="4016504"/>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72264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5910B-8464-972F-665F-44ECD88C15B0}"/>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29C3AEB-ECBE-5228-76AA-1B7FF84CC9FC}"/>
              </a:ext>
            </a:extLst>
          </p:cNvPr>
          <p:cNvSpPr>
            <a:spLocks noGrp="1"/>
          </p:cNvSpPr>
          <p:nvPr>
            <p:ph sz="half" idx="2"/>
          </p:nvPr>
        </p:nvSpPr>
        <p:spPr>
          <a:xfrm>
            <a:off x="6318928" y="2658140"/>
            <a:ext cx="5212080" cy="3541492"/>
          </a:xfrm>
        </p:spPr>
        <p:txBody>
          <a:bodyPr/>
          <a:lstStyle/>
          <a:p>
            <a:r>
              <a:rPr lang="en-US" dirty="0"/>
              <a:t>set j to i-1 =3-1=2</a:t>
            </a:r>
          </a:p>
        </p:txBody>
      </p:sp>
      <p:graphicFrame>
        <p:nvGraphicFramePr>
          <p:cNvPr id="14" name="Table 13">
            <a:extLst>
              <a:ext uri="{FF2B5EF4-FFF2-40B4-BE49-F238E27FC236}">
                <a16:creationId xmlns:a16="http://schemas.microsoft.com/office/drawing/2014/main" id="{3BEB4409-FFC7-E507-1F6C-251C2C49AD10}"/>
              </a:ext>
            </a:extLst>
          </p:cNvPr>
          <p:cNvGraphicFramePr>
            <a:graphicFrameLocks noGrp="1"/>
          </p:cNvGraphicFramePr>
          <p:nvPr>
            <p:extLst>
              <p:ext uri="{D42A27DB-BD31-4B8C-83A1-F6EECF244321}">
                <p14:modId xmlns:p14="http://schemas.microsoft.com/office/powerpoint/2010/main" val="2915094062"/>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3636587F-B7B5-37FF-8FD3-33BCC1E458B8}"/>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j=2</a:t>
            </a:r>
          </a:p>
          <a:p>
            <a:endParaRPr lang="en-US" dirty="0"/>
          </a:p>
        </p:txBody>
      </p:sp>
      <p:cxnSp>
        <p:nvCxnSpPr>
          <p:cNvPr id="2" name="Straight Arrow Connector 1">
            <a:extLst>
              <a:ext uri="{FF2B5EF4-FFF2-40B4-BE49-F238E27FC236}">
                <a16:creationId xmlns:a16="http://schemas.microsoft.com/office/drawing/2014/main" id="{779B8BA7-7A1B-4505-5E89-EE6DC3E68830}"/>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3AD9021-21B6-3D7D-8983-A46162A9AE53}"/>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CB82C9A5-9906-7C58-F42F-C514F311880B}"/>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68171BEA-4E61-1CAA-1C1F-5E7B4CB87893}"/>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806F0C91-D205-0686-243D-58C4B0D03B40}"/>
              </a:ext>
            </a:extLst>
          </p:cNvPr>
          <p:cNvCxnSpPr>
            <a:cxnSpLocks/>
            <a:endCxn id="9" idx="3"/>
          </p:cNvCxnSpPr>
          <p:nvPr/>
        </p:nvCxnSpPr>
        <p:spPr>
          <a:xfrm flipH="1">
            <a:off x="3141261" y="4521931"/>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B9C7002B-A77F-BD7A-B974-50555EDB785B}"/>
              </a:ext>
            </a:extLst>
          </p:cNvPr>
          <p:cNvSpPr/>
          <p:nvPr/>
        </p:nvSpPr>
        <p:spPr>
          <a:xfrm>
            <a:off x="880467" y="4335486"/>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244712DD-8DAE-BC12-93DC-0A0E45A52337}"/>
              </a:ext>
            </a:extLst>
          </p:cNvPr>
          <p:cNvCxnSpPr>
            <a:cxnSpLocks/>
            <a:stCxn id="4" idx="2"/>
          </p:cNvCxnSpPr>
          <p:nvPr/>
        </p:nvCxnSpPr>
        <p:spPr>
          <a:xfrm>
            <a:off x="8400529"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51A596E-8D42-FDD2-B600-0050D61E0525}"/>
              </a:ext>
            </a:extLst>
          </p:cNvPr>
          <p:cNvSpPr txBox="1"/>
          <p:nvPr/>
        </p:nvSpPr>
        <p:spPr>
          <a:xfrm>
            <a:off x="8017117" y="54532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1023462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03160-C119-A404-0F03-58C196F23C3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B9D9CE4-75DF-5AD4-8245-1C60E6206324}"/>
              </a:ext>
            </a:extLst>
          </p:cNvPr>
          <p:cNvSpPr>
            <a:spLocks noGrp="1"/>
          </p:cNvSpPr>
          <p:nvPr>
            <p:ph sz="half" idx="2"/>
          </p:nvPr>
        </p:nvSpPr>
        <p:spPr>
          <a:xfrm>
            <a:off x="6318928" y="2658140"/>
            <a:ext cx="5212080" cy="3541492"/>
          </a:xfrm>
        </p:spPr>
        <p:txBody>
          <a:bodyPr/>
          <a:lstStyle/>
          <a:p>
            <a:r>
              <a:rPr lang="en-US" dirty="0"/>
              <a:t>Check the while loop condition if j is bigger than or equal 0 which is true and A[j] or A[2]=21 is bigger than v or 12 which is true</a:t>
            </a:r>
          </a:p>
        </p:txBody>
      </p:sp>
      <p:graphicFrame>
        <p:nvGraphicFramePr>
          <p:cNvPr id="14" name="Table 13">
            <a:extLst>
              <a:ext uri="{FF2B5EF4-FFF2-40B4-BE49-F238E27FC236}">
                <a16:creationId xmlns:a16="http://schemas.microsoft.com/office/drawing/2014/main" id="{D38DBB03-E444-554F-6A17-385954FE403D}"/>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9B8ED66D-78E9-BDAC-5B4A-FDE138BB43FF}"/>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j=2</a:t>
            </a:r>
          </a:p>
          <a:p>
            <a:endParaRPr lang="en-US" dirty="0"/>
          </a:p>
        </p:txBody>
      </p:sp>
      <p:cxnSp>
        <p:nvCxnSpPr>
          <p:cNvPr id="2" name="Straight Arrow Connector 1">
            <a:extLst>
              <a:ext uri="{FF2B5EF4-FFF2-40B4-BE49-F238E27FC236}">
                <a16:creationId xmlns:a16="http://schemas.microsoft.com/office/drawing/2014/main" id="{2579C12A-0FA7-70DE-8002-A54DFA7CB0D4}"/>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F22FA94-8F55-5735-2FB5-8A75AFF27144}"/>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6F9A0F8F-DF98-5E59-7585-50C2ED0A3033}"/>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AFDAFBAD-EFD9-7EAF-201F-40698DDBB0E3}"/>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E902316B-DB50-E6CE-2F66-C87DD3E9774A}"/>
              </a:ext>
            </a:extLst>
          </p:cNvPr>
          <p:cNvCxnSpPr>
            <a:cxnSpLocks/>
            <a:endCxn id="9" idx="3"/>
          </p:cNvCxnSpPr>
          <p:nvPr/>
        </p:nvCxnSpPr>
        <p:spPr>
          <a:xfrm flipH="1">
            <a:off x="3545298" y="4851544"/>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04ECC58B-B3BD-43B6-EFD7-18CFF5E636EC}"/>
              </a:ext>
            </a:extLst>
          </p:cNvPr>
          <p:cNvSpPr/>
          <p:nvPr/>
        </p:nvSpPr>
        <p:spPr>
          <a:xfrm>
            <a:off x="1284504" y="4665099"/>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0837940B-045A-885B-7B3C-8AD9689721A5}"/>
              </a:ext>
            </a:extLst>
          </p:cNvPr>
          <p:cNvCxnSpPr>
            <a:cxnSpLocks/>
            <a:stCxn id="4" idx="2"/>
          </p:cNvCxnSpPr>
          <p:nvPr/>
        </p:nvCxnSpPr>
        <p:spPr>
          <a:xfrm>
            <a:off x="8400529"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F712723-CDAF-9A63-EFCA-FA76292032FF}"/>
              </a:ext>
            </a:extLst>
          </p:cNvPr>
          <p:cNvSpPr txBox="1"/>
          <p:nvPr/>
        </p:nvSpPr>
        <p:spPr>
          <a:xfrm>
            <a:off x="8017117" y="54532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3372474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DED1C-616F-D3A7-865D-B06080B51A3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3870A65-353E-0E79-087B-27330AFCE168}"/>
              </a:ext>
            </a:extLst>
          </p:cNvPr>
          <p:cNvSpPr>
            <a:spLocks noGrp="1"/>
          </p:cNvSpPr>
          <p:nvPr>
            <p:ph sz="half" idx="2"/>
          </p:nvPr>
        </p:nvSpPr>
        <p:spPr>
          <a:xfrm>
            <a:off x="6318928" y="2658140"/>
            <a:ext cx="5212080" cy="3541492"/>
          </a:xfrm>
        </p:spPr>
        <p:txBody>
          <a:bodyPr/>
          <a:lstStyle/>
          <a:p>
            <a:r>
              <a:rPr lang="en-US" dirty="0"/>
              <a:t>The value of A[j] will override the value of A[j+1] or A[3]=21</a:t>
            </a:r>
          </a:p>
        </p:txBody>
      </p:sp>
      <p:graphicFrame>
        <p:nvGraphicFramePr>
          <p:cNvPr id="14" name="Table 13">
            <a:extLst>
              <a:ext uri="{FF2B5EF4-FFF2-40B4-BE49-F238E27FC236}">
                <a16:creationId xmlns:a16="http://schemas.microsoft.com/office/drawing/2014/main" id="{66CFAE0C-1FA4-B882-76D4-828E043388F4}"/>
              </a:ext>
            </a:extLst>
          </p:cNvPr>
          <p:cNvGraphicFramePr>
            <a:graphicFrameLocks noGrp="1"/>
          </p:cNvGraphicFramePr>
          <p:nvPr>
            <p:extLst>
              <p:ext uri="{D42A27DB-BD31-4B8C-83A1-F6EECF244321}">
                <p14:modId xmlns:p14="http://schemas.microsoft.com/office/powerpoint/2010/main" val="3842892662"/>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CDD8A01B-1ACD-B423-EC1C-7DA12FD5EE5C}"/>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j=2</a:t>
            </a:r>
          </a:p>
          <a:p>
            <a:endParaRPr lang="en-US" dirty="0"/>
          </a:p>
        </p:txBody>
      </p:sp>
      <p:cxnSp>
        <p:nvCxnSpPr>
          <p:cNvPr id="2" name="Straight Arrow Connector 1">
            <a:extLst>
              <a:ext uri="{FF2B5EF4-FFF2-40B4-BE49-F238E27FC236}">
                <a16:creationId xmlns:a16="http://schemas.microsoft.com/office/drawing/2014/main" id="{EBDD7773-4F30-7E3B-3035-BBCD3AC66771}"/>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464ABC5-E182-88F9-DF79-CD09B003DB54}"/>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DBAA0E63-94BB-B086-AC32-B46AE6164E28}"/>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E6F62558-3A16-73BC-382F-478EE14569FC}"/>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4E0813D6-332F-6448-6FB2-10D71F4201F2}"/>
              </a:ext>
            </a:extLst>
          </p:cNvPr>
          <p:cNvCxnSpPr>
            <a:cxnSpLocks/>
            <a:endCxn id="9" idx="3"/>
          </p:cNvCxnSpPr>
          <p:nvPr/>
        </p:nvCxnSpPr>
        <p:spPr>
          <a:xfrm flipH="1">
            <a:off x="3545298" y="5191790"/>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C51C7C21-5C67-F09F-D729-69C076DF3155}"/>
              </a:ext>
            </a:extLst>
          </p:cNvPr>
          <p:cNvSpPr/>
          <p:nvPr/>
        </p:nvSpPr>
        <p:spPr>
          <a:xfrm>
            <a:off x="1284504" y="5005345"/>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29A224CF-7A61-49BA-8E5F-B2AE127E604B}"/>
              </a:ext>
            </a:extLst>
          </p:cNvPr>
          <p:cNvCxnSpPr>
            <a:cxnSpLocks/>
            <a:stCxn id="4" idx="2"/>
          </p:cNvCxnSpPr>
          <p:nvPr/>
        </p:nvCxnSpPr>
        <p:spPr>
          <a:xfrm>
            <a:off x="8400529"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0EC52EB-AEB5-4137-B3D6-96483F186F73}"/>
              </a:ext>
            </a:extLst>
          </p:cNvPr>
          <p:cNvSpPr txBox="1"/>
          <p:nvPr/>
        </p:nvSpPr>
        <p:spPr>
          <a:xfrm>
            <a:off x="8017117" y="545320"/>
            <a:ext cx="766823" cy="369332"/>
          </a:xfrm>
          <a:prstGeom prst="rect">
            <a:avLst/>
          </a:prstGeom>
          <a:noFill/>
        </p:spPr>
        <p:txBody>
          <a:bodyPr wrap="square" rtlCol="0">
            <a:spAutoFit/>
          </a:bodyPr>
          <a:lstStyle/>
          <a:p>
            <a:pPr algn="ctr"/>
            <a:r>
              <a:rPr lang="en-US" dirty="0"/>
              <a:t>j</a:t>
            </a:r>
          </a:p>
        </p:txBody>
      </p:sp>
      <p:cxnSp>
        <p:nvCxnSpPr>
          <p:cNvPr id="8" name="Straight Arrow Connector 7">
            <a:extLst>
              <a:ext uri="{FF2B5EF4-FFF2-40B4-BE49-F238E27FC236}">
                <a16:creationId xmlns:a16="http://schemas.microsoft.com/office/drawing/2014/main" id="{F0553ECA-EF45-3290-EBB9-0A2CA23E88EC}"/>
              </a:ext>
            </a:extLst>
          </p:cNvPr>
          <p:cNvCxnSpPr>
            <a:cxnSpLocks/>
            <a:endCxn id="10" idx="0"/>
          </p:cNvCxnSpPr>
          <p:nvPr/>
        </p:nvCxnSpPr>
        <p:spPr>
          <a:xfrm>
            <a:off x="9488755" y="1916544"/>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430BE42-7392-A42F-A785-E2D7238F1F57}"/>
              </a:ext>
            </a:extLst>
          </p:cNvPr>
          <p:cNvSpPr txBox="1"/>
          <p:nvPr/>
        </p:nvSpPr>
        <p:spPr>
          <a:xfrm>
            <a:off x="9119818" y="2190654"/>
            <a:ext cx="766823" cy="369332"/>
          </a:xfrm>
          <a:prstGeom prst="rect">
            <a:avLst/>
          </a:prstGeom>
          <a:noFill/>
        </p:spPr>
        <p:txBody>
          <a:bodyPr wrap="square" rtlCol="0">
            <a:spAutoFit/>
          </a:bodyPr>
          <a:lstStyle/>
          <a:p>
            <a:pPr algn="ctr"/>
            <a:r>
              <a:rPr lang="en-US" dirty="0"/>
              <a:t>21</a:t>
            </a:r>
          </a:p>
        </p:txBody>
      </p:sp>
    </p:spTree>
    <p:extLst>
      <p:ext uri="{BB962C8B-B14F-4D97-AF65-F5344CB8AC3E}">
        <p14:creationId xmlns:p14="http://schemas.microsoft.com/office/powerpoint/2010/main" val="708395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83F01-2D9F-682E-B01A-BF9EE613FEF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FC438B8-3EB4-111D-E686-FD85C7F0BD18}"/>
              </a:ext>
            </a:extLst>
          </p:cNvPr>
          <p:cNvSpPr>
            <a:spLocks noGrp="1"/>
          </p:cNvSpPr>
          <p:nvPr>
            <p:ph sz="half" idx="2"/>
          </p:nvPr>
        </p:nvSpPr>
        <p:spPr>
          <a:xfrm>
            <a:off x="6318928" y="2658140"/>
            <a:ext cx="5212080" cy="3541492"/>
          </a:xfrm>
        </p:spPr>
        <p:txBody>
          <a:bodyPr/>
          <a:lstStyle/>
          <a:p>
            <a:r>
              <a:rPr lang="en-US" dirty="0"/>
              <a:t>Decrement j by 1 equal 1</a:t>
            </a:r>
          </a:p>
        </p:txBody>
      </p:sp>
      <p:graphicFrame>
        <p:nvGraphicFramePr>
          <p:cNvPr id="14" name="Table 13">
            <a:extLst>
              <a:ext uri="{FF2B5EF4-FFF2-40B4-BE49-F238E27FC236}">
                <a16:creationId xmlns:a16="http://schemas.microsoft.com/office/drawing/2014/main" id="{CEC3B90C-EB57-B324-1A8F-36BF7B0E535E}"/>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8635A55D-5A8B-1C7E-5123-E6924CB8EA9E}"/>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j=1</a:t>
            </a:r>
          </a:p>
          <a:p>
            <a:endParaRPr lang="en-US" dirty="0"/>
          </a:p>
        </p:txBody>
      </p:sp>
      <p:cxnSp>
        <p:nvCxnSpPr>
          <p:cNvPr id="2" name="Straight Arrow Connector 1">
            <a:extLst>
              <a:ext uri="{FF2B5EF4-FFF2-40B4-BE49-F238E27FC236}">
                <a16:creationId xmlns:a16="http://schemas.microsoft.com/office/drawing/2014/main" id="{94895DB9-D6D2-8B9C-5062-EE3C5DB4757E}"/>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520681E-23D6-9BDF-A1C6-C9D89C409509}"/>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FF3E1C15-2BF5-9475-16D9-3C8CBA333E94}"/>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2E2B90F3-3AB2-911F-6CDB-3532F4C117EF}"/>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91B8783F-1A39-3BEA-0E53-B420E2B39D1E}"/>
              </a:ext>
            </a:extLst>
          </p:cNvPr>
          <p:cNvCxnSpPr>
            <a:cxnSpLocks/>
            <a:endCxn id="9" idx="3"/>
          </p:cNvCxnSpPr>
          <p:nvPr/>
        </p:nvCxnSpPr>
        <p:spPr>
          <a:xfrm flipH="1">
            <a:off x="3545298" y="5532037"/>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F3A12A1E-33C1-2496-0056-A2909FEF8A68}"/>
              </a:ext>
            </a:extLst>
          </p:cNvPr>
          <p:cNvSpPr/>
          <p:nvPr/>
        </p:nvSpPr>
        <p:spPr>
          <a:xfrm>
            <a:off x="1284504" y="5345592"/>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7F8487E2-A88C-407B-1FAB-4DC6BEA308F8}"/>
              </a:ext>
            </a:extLst>
          </p:cNvPr>
          <p:cNvCxnSpPr>
            <a:cxnSpLocks/>
            <a:stCxn id="4" idx="2"/>
          </p:cNvCxnSpPr>
          <p:nvPr/>
        </p:nvCxnSpPr>
        <p:spPr>
          <a:xfrm>
            <a:off x="7316005"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9CB61DB-B059-661B-341D-AE4025FEB7EF}"/>
              </a:ext>
            </a:extLst>
          </p:cNvPr>
          <p:cNvSpPr txBox="1"/>
          <p:nvPr/>
        </p:nvSpPr>
        <p:spPr>
          <a:xfrm>
            <a:off x="6932593" y="545320"/>
            <a:ext cx="766823" cy="369332"/>
          </a:xfrm>
          <a:prstGeom prst="rect">
            <a:avLst/>
          </a:prstGeom>
          <a:noFill/>
        </p:spPr>
        <p:txBody>
          <a:bodyPr wrap="square" rtlCol="0">
            <a:spAutoFit/>
          </a:bodyPr>
          <a:lstStyle/>
          <a:p>
            <a:pPr algn="ctr"/>
            <a:r>
              <a:rPr lang="en-US" dirty="0"/>
              <a:t>j</a:t>
            </a:r>
          </a:p>
        </p:txBody>
      </p:sp>
      <p:cxnSp>
        <p:nvCxnSpPr>
          <p:cNvPr id="8" name="Straight Arrow Connector 7">
            <a:extLst>
              <a:ext uri="{FF2B5EF4-FFF2-40B4-BE49-F238E27FC236}">
                <a16:creationId xmlns:a16="http://schemas.microsoft.com/office/drawing/2014/main" id="{C5C7DFE0-4595-F02A-FD5D-10951F267670}"/>
              </a:ext>
            </a:extLst>
          </p:cNvPr>
          <p:cNvCxnSpPr>
            <a:cxnSpLocks/>
            <a:endCxn id="10" idx="0"/>
          </p:cNvCxnSpPr>
          <p:nvPr/>
        </p:nvCxnSpPr>
        <p:spPr>
          <a:xfrm>
            <a:off x="9488755" y="1916544"/>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568C520-AD66-E8D4-AD82-EC090119C5FC}"/>
              </a:ext>
            </a:extLst>
          </p:cNvPr>
          <p:cNvSpPr txBox="1"/>
          <p:nvPr/>
        </p:nvSpPr>
        <p:spPr>
          <a:xfrm>
            <a:off x="9119818" y="2190654"/>
            <a:ext cx="766823" cy="369332"/>
          </a:xfrm>
          <a:prstGeom prst="rect">
            <a:avLst/>
          </a:prstGeom>
          <a:noFill/>
        </p:spPr>
        <p:txBody>
          <a:bodyPr wrap="square" rtlCol="0">
            <a:spAutoFit/>
          </a:bodyPr>
          <a:lstStyle/>
          <a:p>
            <a:pPr algn="ctr"/>
            <a:r>
              <a:rPr lang="en-US" dirty="0"/>
              <a:t>21</a:t>
            </a:r>
          </a:p>
        </p:txBody>
      </p:sp>
    </p:spTree>
    <p:extLst>
      <p:ext uri="{BB962C8B-B14F-4D97-AF65-F5344CB8AC3E}">
        <p14:creationId xmlns:p14="http://schemas.microsoft.com/office/powerpoint/2010/main" val="2601867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35294-05FC-A1EC-72F9-081796554C2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191D0B6-B673-128C-4FB4-EB10DA79AA4D}"/>
              </a:ext>
            </a:extLst>
          </p:cNvPr>
          <p:cNvSpPr>
            <a:spLocks noGrp="1"/>
          </p:cNvSpPr>
          <p:nvPr>
            <p:ph sz="half" idx="2"/>
          </p:nvPr>
        </p:nvSpPr>
        <p:spPr>
          <a:xfrm>
            <a:off x="6318928" y="2658140"/>
            <a:ext cx="5212080" cy="3541492"/>
          </a:xfrm>
        </p:spPr>
        <p:txBody>
          <a:bodyPr/>
          <a:lstStyle/>
          <a:p>
            <a:r>
              <a:rPr lang="en-US" dirty="0"/>
              <a:t>Check the while loop condition if j is bigger than or equal 0 which is true and A[j] or A[1]=14 is bigger than v or 12 which is true</a:t>
            </a:r>
          </a:p>
        </p:txBody>
      </p:sp>
      <p:graphicFrame>
        <p:nvGraphicFramePr>
          <p:cNvPr id="14" name="Table 13">
            <a:extLst>
              <a:ext uri="{FF2B5EF4-FFF2-40B4-BE49-F238E27FC236}">
                <a16:creationId xmlns:a16="http://schemas.microsoft.com/office/drawing/2014/main" id="{C13D209E-1E13-5979-E568-33E5B6DDAD97}"/>
              </a:ext>
            </a:extLst>
          </p:cNvPr>
          <p:cNvGraphicFramePr>
            <a:graphicFrameLocks noGrp="1"/>
          </p:cNvGraphicFramePr>
          <p:nvPr>
            <p:extLst>
              <p:ext uri="{D42A27DB-BD31-4B8C-83A1-F6EECF244321}">
                <p14:modId xmlns:p14="http://schemas.microsoft.com/office/powerpoint/2010/main" val="2017438618"/>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FC2E0CBD-DC7B-81C8-9A14-973545905A77}"/>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j=1</a:t>
            </a:r>
          </a:p>
          <a:p>
            <a:endParaRPr lang="en-US" dirty="0"/>
          </a:p>
        </p:txBody>
      </p:sp>
      <p:cxnSp>
        <p:nvCxnSpPr>
          <p:cNvPr id="2" name="Straight Arrow Connector 1">
            <a:extLst>
              <a:ext uri="{FF2B5EF4-FFF2-40B4-BE49-F238E27FC236}">
                <a16:creationId xmlns:a16="http://schemas.microsoft.com/office/drawing/2014/main" id="{4889D136-4562-D14A-ED55-1B2278E33B02}"/>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BEF547-50DF-05DB-1E39-772107DA0C34}"/>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222938EE-D3E5-E8D2-6EAF-584BA24666BD}"/>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1968E8DB-4A7D-F0E1-D6F7-A20E2570389E}"/>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FB628C79-027E-9AA1-5B08-9C7911ADAF42}"/>
              </a:ext>
            </a:extLst>
          </p:cNvPr>
          <p:cNvCxnSpPr>
            <a:cxnSpLocks/>
            <a:endCxn id="9" idx="3"/>
          </p:cNvCxnSpPr>
          <p:nvPr/>
        </p:nvCxnSpPr>
        <p:spPr>
          <a:xfrm flipH="1">
            <a:off x="3545298" y="4883448"/>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5D9FD311-D81A-C8DE-49FF-586D593CA0FF}"/>
              </a:ext>
            </a:extLst>
          </p:cNvPr>
          <p:cNvSpPr/>
          <p:nvPr/>
        </p:nvSpPr>
        <p:spPr>
          <a:xfrm>
            <a:off x="1284504" y="4697003"/>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ED520443-926F-FECE-5F29-17EEF0E8F9FD}"/>
              </a:ext>
            </a:extLst>
          </p:cNvPr>
          <p:cNvCxnSpPr>
            <a:cxnSpLocks/>
            <a:stCxn id="4" idx="2"/>
          </p:cNvCxnSpPr>
          <p:nvPr/>
        </p:nvCxnSpPr>
        <p:spPr>
          <a:xfrm>
            <a:off x="7316005"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046A235-C6B2-D088-64CD-E1EE0FCE59EA}"/>
              </a:ext>
            </a:extLst>
          </p:cNvPr>
          <p:cNvSpPr txBox="1"/>
          <p:nvPr/>
        </p:nvSpPr>
        <p:spPr>
          <a:xfrm>
            <a:off x="6932593" y="54532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33062697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B39B6-2416-2E33-0CD8-24AEE13DD63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74B48D5-4CB2-D0B9-1186-1FDFDDE02233}"/>
              </a:ext>
            </a:extLst>
          </p:cNvPr>
          <p:cNvSpPr>
            <a:spLocks noGrp="1"/>
          </p:cNvSpPr>
          <p:nvPr>
            <p:ph sz="half" idx="2"/>
          </p:nvPr>
        </p:nvSpPr>
        <p:spPr>
          <a:xfrm>
            <a:off x="6318928" y="2658140"/>
            <a:ext cx="5212080" cy="3541492"/>
          </a:xfrm>
        </p:spPr>
        <p:txBody>
          <a:bodyPr/>
          <a:lstStyle/>
          <a:p>
            <a:r>
              <a:rPr lang="en-US" dirty="0"/>
              <a:t>The value of A[j] will override the value of A[j+1] or A[2]=14</a:t>
            </a:r>
          </a:p>
        </p:txBody>
      </p:sp>
      <p:graphicFrame>
        <p:nvGraphicFramePr>
          <p:cNvPr id="14" name="Table 13">
            <a:extLst>
              <a:ext uri="{FF2B5EF4-FFF2-40B4-BE49-F238E27FC236}">
                <a16:creationId xmlns:a16="http://schemas.microsoft.com/office/drawing/2014/main" id="{F6C074E1-DC2C-C013-3654-F09DAC42EA98}"/>
              </a:ext>
            </a:extLst>
          </p:cNvPr>
          <p:cNvGraphicFramePr>
            <a:graphicFrameLocks noGrp="1"/>
          </p:cNvGraphicFramePr>
          <p:nvPr>
            <p:extLst>
              <p:ext uri="{D42A27DB-BD31-4B8C-83A1-F6EECF244321}">
                <p14:modId xmlns:p14="http://schemas.microsoft.com/office/powerpoint/2010/main" val="1346962572"/>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05C1EDE5-9183-C5AA-278E-55ABE3067168}"/>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j=1</a:t>
            </a:r>
          </a:p>
          <a:p>
            <a:endParaRPr lang="en-US" dirty="0"/>
          </a:p>
        </p:txBody>
      </p:sp>
      <p:cxnSp>
        <p:nvCxnSpPr>
          <p:cNvPr id="2" name="Straight Arrow Connector 1">
            <a:extLst>
              <a:ext uri="{FF2B5EF4-FFF2-40B4-BE49-F238E27FC236}">
                <a16:creationId xmlns:a16="http://schemas.microsoft.com/office/drawing/2014/main" id="{02F9FDF3-50B3-CF7D-FF26-FF60C7D82083}"/>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6C8950B-F21A-CEBE-6689-BF0C0DC9477F}"/>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19144DC6-E7E1-11C0-3399-04119F0E47C9}"/>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41E877C2-496F-83B7-148E-F5C49C338D52}"/>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0EA0B515-5909-D78F-19BA-9FE3069FADE6}"/>
              </a:ext>
            </a:extLst>
          </p:cNvPr>
          <p:cNvCxnSpPr>
            <a:cxnSpLocks/>
            <a:endCxn id="9" idx="3"/>
          </p:cNvCxnSpPr>
          <p:nvPr/>
        </p:nvCxnSpPr>
        <p:spPr>
          <a:xfrm flipH="1">
            <a:off x="3545298" y="5202428"/>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FB4C0E77-BB80-834C-1FC7-0AF631922471}"/>
              </a:ext>
            </a:extLst>
          </p:cNvPr>
          <p:cNvSpPr/>
          <p:nvPr/>
        </p:nvSpPr>
        <p:spPr>
          <a:xfrm>
            <a:off x="1284504" y="5015983"/>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6ED01F71-D1A5-CF7B-5252-520F3A23658B}"/>
              </a:ext>
            </a:extLst>
          </p:cNvPr>
          <p:cNvCxnSpPr>
            <a:cxnSpLocks/>
            <a:stCxn id="4" idx="2"/>
          </p:cNvCxnSpPr>
          <p:nvPr/>
        </p:nvCxnSpPr>
        <p:spPr>
          <a:xfrm>
            <a:off x="7316005"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3D8E72B-2327-FB01-D554-DA3070CCA8B2}"/>
              </a:ext>
            </a:extLst>
          </p:cNvPr>
          <p:cNvSpPr txBox="1"/>
          <p:nvPr/>
        </p:nvSpPr>
        <p:spPr>
          <a:xfrm>
            <a:off x="6932593" y="545320"/>
            <a:ext cx="766823" cy="369332"/>
          </a:xfrm>
          <a:prstGeom prst="rect">
            <a:avLst/>
          </a:prstGeom>
          <a:noFill/>
        </p:spPr>
        <p:txBody>
          <a:bodyPr wrap="square" rtlCol="0">
            <a:spAutoFit/>
          </a:bodyPr>
          <a:lstStyle/>
          <a:p>
            <a:pPr algn="ctr"/>
            <a:r>
              <a:rPr lang="en-US" dirty="0"/>
              <a:t>j</a:t>
            </a:r>
          </a:p>
        </p:txBody>
      </p:sp>
      <p:cxnSp>
        <p:nvCxnSpPr>
          <p:cNvPr id="8" name="Straight Arrow Connector 7">
            <a:extLst>
              <a:ext uri="{FF2B5EF4-FFF2-40B4-BE49-F238E27FC236}">
                <a16:creationId xmlns:a16="http://schemas.microsoft.com/office/drawing/2014/main" id="{845A96A1-9079-38FA-7BB1-A1EE784749B5}"/>
              </a:ext>
            </a:extLst>
          </p:cNvPr>
          <p:cNvCxnSpPr>
            <a:cxnSpLocks/>
            <a:endCxn id="10" idx="0"/>
          </p:cNvCxnSpPr>
          <p:nvPr/>
        </p:nvCxnSpPr>
        <p:spPr>
          <a:xfrm>
            <a:off x="8414866" y="1915651"/>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B12633A-E8FE-56D5-E1DE-B89CCC661147}"/>
              </a:ext>
            </a:extLst>
          </p:cNvPr>
          <p:cNvSpPr txBox="1"/>
          <p:nvPr/>
        </p:nvSpPr>
        <p:spPr>
          <a:xfrm>
            <a:off x="8045929" y="2189761"/>
            <a:ext cx="766823" cy="369332"/>
          </a:xfrm>
          <a:prstGeom prst="rect">
            <a:avLst/>
          </a:prstGeom>
          <a:noFill/>
        </p:spPr>
        <p:txBody>
          <a:bodyPr wrap="square" rtlCol="0">
            <a:spAutoFit/>
          </a:bodyPr>
          <a:lstStyle/>
          <a:p>
            <a:pPr algn="ctr"/>
            <a:r>
              <a:rPr lang="en-US" dirty="0"/>
              <a:t>14</a:t>
            </a:r>
          </a:p>
        </p:txBody>
      </p:sp>
    </p:spTree>
    <p:extLst>
      <p:ext uri="{BB962C8B-B14F-4D97-AF65-F5344CB8AC3E}">
        <p14:creationId xmlns:p14="http://schemas.microsoft.com/office/powerpoint/2010/main" val="1116273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A873F-75B1-F0C7-42EE-A229EAC438D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23F1BB2-9A23-9565-0B87-F04A9747C01E}"/>
              </a:ext>
            </a:extLst>
          </p:cNvPr>
          <p:cNvSpPr>
            <a:spLocks noGrp="1"/>
          </p:cNvSpPr>
          <p:nvPr>
            <p:ph sz="half" idx="2"/>
          </p:nvPr>
        </p:nvSpPr>
        <p:spPr>
          <a:xfrm>
            <a:off x="6318928" y="2658140"/>
            <a:ext cx="5212080" cy="3541492"/>
          </a:xfrm>
        </p:spPr>
        <p:txBody>
          <a:bodyPr/>
          <a:lstStyle/>
          <a:p>
            <a:r>
              <a:rPr lang="en-US" dirty="0"/>
              <a:t>Decrease the j by 1 </a:t>
            </a:r>
          </a:p>
        </p:txBody>
      </p:sp>
      <p:graphicFrame>
        <p:nvGraphicFramePr>
          <p:cNvPr id="14" name="Table 13">
            <a:extLst>
              <a:ext uri="{FF2B5EF4-FFF2-40B4-BE49-F238E27FC236}">
                <a16:creationId xmlns:a16="http://schemas.microsoft.com/office/drawing/2014/main" id="{8BADD45E-83E1-222A-1E00-4B8CD20D003D}"/>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C77057F0-9F7D-7D21-27FC-0960F7690481}"/>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j=0</a:t>
            </a:r>
          </a:p>
          <a:p>
            <a:endParaRPr lang="en-US" dirty="0"/>
          </a:p>
        </p:txBody>
      </p:sp>
      <p:cxnSp>
        <p:nvCxnSpPr>
          <p:cNvPr id="2" name="Straight Arrow Connector 1">
            <a:extLst>
              <a:ext uri="{FF2B5EF4-FFF2-40B4-BE49-F238E27FC236}">
                <a16:creationId xmlns:a16="http://schemas.microsoft.com/office/drawing/2014/main" id="{BFCC8CFA-823E-0AAC-D84D-C02A05C9A693}"/>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8003DF-0FAE-FAD6-529A-EB6C9E82D927}"/>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421F88A0-C0EE-7C80-71AD-60133FD38E7E}"/>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43949CC0-4F44-E2F2-F5FD-C95B880ED93D}"/>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62C95B16-1DBB-6028-72C6-1DC5D759D071}"/>
              </a:ext>
            </a:extLst>
          </p:cNvPr>
          <p:cNvCxnSpPr>
            <a:cxnSpLocks/>
            <a:endCxn id="9" idx="3"/>
          </p:cNvCxnSpPr>
          <p:nvPr/>
        </p:nvCxnSpPr>
        <p:spPr>
          <a:xfrm flipH="1">
            <a:off x="3545298" y="5542675"/>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88BC53E-2238-FA6F-9BB4-E6871D42A0D7}"/>
              </a:ext>
            </a:extLst>
          </p:cNvPr>
          <p:cNvSpPr/>
          <p:nvPr/>
        </p:nvSpPr>
        <p:spPr>
          <a:xfrm>
            <a:off x="1284504" y="5356230"/>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F08A279B-036A-E959-F7B9-A6ABC06027E7}"/>
              </a:ext>
            </a:extLst>
          </p:cNvPr>
          <p:cNvCxnSpPr>
            <a:cxnSpLocks/>
            <a:stCxn id="4" idx="2"/>
          </p:cNvCxnSpPr>
          <p:nvPr/>
        </p:nvCxnSpPr>
        <p:spPr>
          <a:xfrm>
            <a:off x="6242120"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0D57DDC-54C2-1160-5473-3F118E91BF94}"/>
              </a:ext>
            </a:extLst>
          </p:cNvPr>
          <p:cNvSpPr txBox="1"/>
          <p:nvPr/>
        </p:nvSpPr>
        <p:spPr>
          <a:xfrm>
            <a:off x="5858708" y="545320"/>
            <a:ext cx="766823" cy="369332"/>
          </a:xfrm>
          <a:prstGeom prst="rect">
            <a:avLst/>
          </a:prstGeom>
          <a:noFill/>
        </p:spPr>
        <p:txBody>
          <a:bodyPr wrap="square" rtlCol="0">
            <a:spAutoFit/>
          </a:bodyPr>
          <a:lstStyle/>
          <a:p>
            <a:pPr algn="ctr"/>
            <a:r>
              <a:rPr lang="en-US" dirty="0"/>
              <a:t>j</a:t>
            </a:r>
          </a:p>
        </p:txBody>
      </p:sp>
      <p:cxnSp>
        <p:nvCxnSpPr>
          <p:cNvPr id="8" name="Straight Arrow Connector 7">
            <a:extLst>
              <a:ext uri="{FF2B5EF4-FFF2-40B4-BE49-F238E27FC236}">
                <a16:creationId xmlns:a16="http://schemas.microsoft.com/office/drawing/2014/main" id="{75DC86B7-A752-0C78-1F47-C05DFC9A9508}"/>
              </a:ext>
            </a:extLst>
          </p:cNvPr>
          <p:cNvCxnSpPr>
            <a:cxnSpLocks/>
            <a:endCxn id="10" idx="0"/>
          </p:cNvCxnSpPr>
          <p:nvPr/>
        </p:nvCxnSpPr>
        <p:spPr>
          <a:xfrm>
            <a:off x="8414866" y="1915651"/>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10CCA7E-8706-81D3-79FA-E400EBD11281}"/>
              </a:ext>
            </a:extLst>
          </p:cNvPr>
          <p:cNvSpPr txBox="1"/>
          <p:nvPr/>
        </p:nvSpPr>
        <p:spPr>
          <a:xfrm>
            <a:off x="8045929" y="2189761"/>
            <a:ext cx="766823" cy="369332"/>
          </a:xfrm>
          <a:prstGeom prst="rect">
            <a:avLst/>
          </a:prstGeom>
          <a:noFill/>
        </p:spPr>
        <p:txBody>
          <a:bodyPr wrap="square" rtlCol="0">
            <a:spAutoFit/>
          </a:bodyPr>
          <a:lstStyle/>
          <a:p>
            <a:pPr algn="ctr"/>
            <a:r>
              <a:rPr lang="en-US" dirty="0"/>
              <a:t>14</a:t>
            </a:r>
          </a:p>
        </p:txBody>
      </p:sp>
    </p:spTree>
    <p:extLst>
      <p:ext uri="{BB962C8B-B14F-4D97-AF65-F5344CB8AC3E}">
        <p14:creationId xmlns:p14="http://schemas.microsoft.com/office/powerpoint/2010/main" val="714590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419C6-F5D0-A094-6558-4A169DD327E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31BB1A6-6DE3-3533-8FD5-FD06FB737E86}"/>
              </a:ext>
            </a:extLst>
          </p:cNvPr>
          <p:cNvSpPr>
            <a:spLocks noGrp="1"/>
          </p:cNvSpPr>
          <p:nvPr>
            <p:ph sz="half" idx="2"/>
          </p:nvPr>
        </p:nvSpPr>
        <p:spPr>
          <a:xfrm>
            <a:off x="6318928" y="2658140"/>
            <a:ext cx="5212080" cy="3541492"/>
          </a:xfrm>
        </p:spPr>
        <p:txBody>
          <a:bodyPr/>
          <a:lstStyle/>
          <a:p>
            <a:r>
              <a:rPr lang="en-US" dirty="0"/>
              <a:t>Check the while loop condition if j is bigger than or equal 0 which is true and A[j] or A[0]=1 is bigger than v or 12 which is false</a:t>
            </a:r>
          </a:p>
        </p:txBody>
      </p:sp>
      <p:graphicFrame>
        <p:nvGraphicFramePr>
          <p:cNvPr id="14" name="Table 13">
            <a:extLst>
              <a:ext uri="{FF2B5EF4-FFF2-40B4-BE49-F238E27FC236}">
                <a16:creationId xmlns:a16="http://schemas.microsoft.com/office/drawing/2014/main" id="{22C6F456-F07A-1FDE-0E69-D58BCCB5185E}"/>
              </a:ext>
            </a:extLst>
          </p:cNvPr>
          <p:cNvGraphicFramePr>
            <a:graphicFrameLocks noGrp="1"/>
          </p:cNvGraphicFramePr>
          <p:nvPr>
            <p:extLst>
              <p:ext uri="{D42A27DB-BD31-4B8C-83A1-F6EECF244321}">
                <p14:modId xmlns:p14="http://schemas.microsoft.com/office/powerpoint/2010/main" val="1384208851"/>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FF32F8D8-CDCF-58E2-5E82-80F2D1CD530C}"/>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j=0</a:t>
            </a:r>
          </a:p>
          <a:p>
            <a:endParaRPr lang="en-US" dirty="0"/>
          </a:p>
        </p:txBody>
      </p:sp>
      <p:cxnSp>
        <p:nvCxnSpPr>
          <p:cNvPr id="2" name="Straight Arrow Connector 1">
            <a:extLst>
              <a:ext uri="{FF2B5EF4-FFF2-40B4-BE49-F238E27FC236}">
                <a16:creationId xmlns:a16="http://schemas.microsoft.com/office/drawing/2014/main" id="{D14066ED-6076-4BF1-BF3F-EEF1185A655D}"/>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4944BD0-91EF-9351-2178-45DE5440F9DE}"/>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E96C856E-71F4-F3E0-52BE-B95D972C61F0}"/>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D31C422E-B722-9CD3-E2B5-EAA6A0FD7852}"/>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74ED95A7-371C-49B4-FF67-8995772FC457}"/>
              </a:ext>
            </a:extLst>
          </p:cNvPr>
          <p:cNvCxnSpPr>
            <a:cxnSpLocks/>
            <a:endCxn id="9" idx="3"/>
          </p:cNvCxnSpPr>
          <p:nvPr/>
        </p:nvCxnSpPr>
        <p:spPr>
          <a:xfrm flipH="1">
            <a:off x="3545298" y="4883452"/>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89FBD482-AF22-AC73-C23A-AE039DE7897B}"/>
              </a:ext>
            </a:extLst>
          </p:cNvPr>
          <p:cNvSpPr/>
          <p:nvPr/>
        </p:nvSpPr>
        <p:spPr>
          <a:xfrm>
            <a:off x="1284504" y="4697007"/>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53BD37B0-05FD-AA14-1DA8-CA5CEB0C3928}"/>
              </a:ext>
            </a:extLst>
          </p:cNvPr>
          <p:cNvCxnSpPr>
            <a:cxnSpLocks/>
            <a:stCxn id="4" idx="2"/>
          </p:cNvCxnSpPr>
          <p:nvPr/>
        </p:nvCxnSpPr>
        <p:spPr>
          <a:xfrm>
            <a:off x="6242120"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759325B-0BE4-CD33-6974-5A4CCC616590}"/>
              </a:ext>
            </a:extLst>
          </p:cNvPr>
          <p:cNvSpPr txBox="1"/>
          <p:nvPr/>
        </p:nvSpPr>
        <p:spPr>
          <a:xfrm>
            <a:off x="5858708" y="54532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4217662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E0F34-DBE6-DF03-A127-985C2220E51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6AC2F1A-20CC-44E3-275E-5B72B0858C04}"/>
              </a:ext>
            </a:extLst>
          </p:cNvPr>
          <p:cNvSpPr>
            <a:spLocks noGrp="1"/>
          </p:cNvSpPr>
          <p:nvPr>
            <p:ph sz="half" idx="2"/>
          </p:nvPr>
        </p:nvSpPr>
        <p:spPr>
          <a:xfrm>
            <a:off x="6318928" y="2658140"/>
            <a:ext cx="5212080" cy="3541492"/>
          </a:xfrm>
        </p:spPr>
        <p:txBody>
          <a:bodyPr/>
          <a:lstStyle/>
          <a:p>
            <a:r>
              <a:rPr lang="en-US" dirty="0"/>
              <a:t>The value of A[j+1] or A[1] will be set to v or 12</a:t>
            </a:r>
          </a:p>
        </p:txBody>
      </p:sp>
      <p:graphicFrame>
        <p:nvGraphicFramePr>
          <p:cNvPr id="14" name="Table 13">
            <a:extLst>
              <a:ext uri="{FF2B5EF4-FFF2-40B4-BE49-F238E27FC236}">
                <a16:creationId xmlns:a16="http://schemas.microsoft.com/office/drawing/2014/main" id="{3B41379B-7624-0D89-6AAF-616C976EAF4E}"/>
              </a:ext>
            </a:extLst>
          </p:cNvPr>
          <p:cNvGraphicFramePr>
            <a:graphicFrameLocks noGrp="1"/>
          </p:cNvGraphicFramePr>
          <p:nvPr>
            <p:extLst>
              <p:ext uri="{D42A27DB-BD31-4B8C-83A1-F6EECF244321}">
                <p14:modId xmlns:p14="http://schemas.microsoft.com/office/powerpoint/2010/main" val="1368687220"/>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567FECFE-808B-FBF5-3939-843BFCEF395F}"/>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j=0</a:t>
            </a:r>
          </a:p>
          <a:p>
            <a:endParaRPr lang="en-US" dirty="0"/>
          </a:p>
        </p:txBody>
      </p:sp>
      <p:cxnSp>
        <p:nvCxnSpPr>
          <p:cNvPr id="2" name="Straight Arrow Connector 1">
            <a:extLst>
              <a:ext uri="{FF2B5EF4-FFF2-40B4-BE49-F238E27FC236}">
                <a16:creationId xmlns:a16="http://schemas.microsoft.com/office/drawing/2014/main" id="{100D7284-763F-8725-4BFE-CE2300CDBB02}"/>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D8CC522-39E8-A901-AEAF-C68CA3A89B1D}"/>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71EAF339-78C1-398A-2758-B546AB017097}"/>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275B3965-95E0-56C9-D6F6-80F04147D0E3}"/>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DAB643C5-E2A2-C19E-9B09-735864CA7167}"/>
              </a:ext>
            </a:extLst>
          </p:cNvPr>
          <p:cNvCxnSpPr>
            <a:cxnSpLocks/>
            <a:endCxn id="9" idx="3"/>
          </p:cNvCxnSpPr>
          <p:nvPr/>
        </p:nvCxnSpPr>
        <p:spPr>
          <a:xfrm flipH="1">
            <a:off x="3349364" y="5908820"/>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E264FDF5-2D8C-A32D-D679-80DBC291D92A}"/>
              </a:ext>
            </a:extLst>
          </p:cNvPr>
          <p:cNvSpPr/>
          <p:nvPr/>
        </p:nvSpPr>
        <p:spPr>
          <a:xfrm>
            <a:off x="1088570" y="5722375"/>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B8045446-DC45-AF8C-B369-5A11C60035AE}"/>
              </a:ext>
            </a:extLst>
          </p:cNvPr>
          <p:cNvCxnSpPr>
            <a:cxnSpLocks/>
            <a:stCxn id="4" idx="2"/>
          </p:cNvCxnSpPr>
          <p:nvPr/>
        </p:nvCxnSpPr>
        <p:spPr>
          <a:xfrm>
            <a:off x="6242120"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B5E6716-6BC0-4F21-2092-2F4DC698B949}"/>
              </a:ext>
            </a:extLst>
          </p:cNvPr>
          <p:cNvSpPr txBox="1"/>
          <p:nvPr/>
        </p:nvSpPr>
        <p:spPr>
          <a:xfrm>
            <a:off x="5858708" y="545320"/>
            <a:ext cx="766823" cy="369332"/>
          </a:xfrm>
          <a:prstGeom prst="rect">
            <a:avLst/>
          </a:prstGeom>
          <a:noFill/>
        </p:spPr>
        <p:txBody>
          <a:bodyPr wrap="square" rtlCol="0">
            <a:spAutoFit/>
          </a:bodyPr>
          <a:lstStyle/>
          <a:p>
            <a:pPr algn="ctr"/>
            <a:r>
              <a:rPr lang="en-US" dirty="0"/>
              <a:t>j</a:t>
            </a:r>
          </a:p>
        </p:txBody>
      </p:sp>
      <p:cxnSp>
        <p:nvCxnSpPr>
          <p:cNvPr id="8" name="Straight Arrow Connector 7">
            <a:extLst>
              <a:ext uri="{FF2B5EF4-FFF2-40B4-BE49-F238E27FC236}">
                <a16:creationId xmlns:a16="http://schemas.microsoft.com/office/drawing/2014/main" id="{E6F21990-A74C-BB11-0590-29872B839E78}"/>
              </a:ext>
            </a:extLst>
          </p:cNvPr>
          <p:cNvCxnSpPr>
            <a:cxnSpLocks/>
            <a:endCxn id="10" idx="0"/>
          </p:cNvCxnSpPr>
          <p:nvPr/>
        </p:nvCxnSpPr>
        <p:spPr>
          <a:xfrm>
            <a:off x="7330345" y="1939584"/>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E210B8D-E585-1F29-E5FC-84A7D0F2E951}"/>
              </a:ext>
            </a:extLst>
          </p:cNvPr>
          <p:cNvSpPr txBox="1"/>
          <p:nvPr/>
        </p:nvSpPr>
        <p:spPr>
          <a:xfrm>
            <a:off x="6961408" y="2213694"/>
            <a:ext cx="766823" cy="369332"/>
          </a:xfrm>
          <a:prstGeom prst="rect">
            <a:avLst/>
          </a:prstGeom>
          <a:noFill/>
        </p:spPr>
        <p:txBody>
          <a:bodyPr wrap="square" rtlCol="0">
            <a:spAutoFit/>
          </a:bodyPr>
          <a:lstStyle/>
          <a:p>
            <a:pPr algn="ctr"/>
            <a:r>
              <a:rPr lang="en-US" dirty="0"/>
              <a:t>12</a:t>
            </a:r>
          </a:p>
        </p:txBody>
      </p:sp>
    </p:spTree>
    <p:extLst>
      <p:ext uri="{BB962C8B-B14F-4D97-AF65-F5344CB8AC3E}">
        <p14:creationId xmlns:p14="http://schemas.microsoft.com/office/powerpoint/2010/main" val="7719322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B5FE0-2A91-779D-2DD7-C007194C685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5A04D4F-2896-32DB-4A3E-61169380028B}"/>
              </a:ext>
            </a:extLst>
          </p:cNvPr>
          <p:cNvSpPr>
            <a:spLocks noGrp="1"/>
          </p:cNvSpPr>
          <p:nvPr>
            <p:ph sz="half" idx="2"/>
          </p:nvPr>
        </p:nvSpPr>
        <p:spPr>
          <a:xfrm>
            <a:off x="6318928" y="2658140"/>
            <a:ext cx="5212080" cy="3541492"/>
          </a:xfrm>
        </p:spPr>
        <p:txBody>
          <a:bodyPr/>
          <a:lstStyle/>
          <a:p>
            <a:r>
              <a:rPr lang="en-US" dirty="0"/>
              <a:t>The value of A[j+1] or A[1] will be set to v or 12</a:t>
            </a:r>
          </a:p>
        </p:txBody>
      </p:sp>
      <p:graphicFrame>
        <p:nvGraphicFramePr>
          <p:cNvPr id="14" name="Table 13">
            <a:extLst>
              <a:ext uri="{FF2B5EF4-FFF2-40B4-BE49-F238E27FC236}">
                <a16:creationId xmlns:a16="http://schemas.microsoft.com/office/drawing/2014/main" id="{45CAFAD1-1430-2129-FCAC-49A98D4637A8}"/>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9CC3FECE-B9E1-1BC5-7570-1C227A580949}"/>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=3</a:t>
            </a:r>
          </a:p>
          <a:p>
            <a:pPr marL="285750" indent="-285750">
              <a:buFont typeface="Arial" panose="020B0604020202020204" pitchFamily="34" charset="0"/>
              <a:buChar char="•"/>
            </a:pPr>
            <a:r>
              <a:rPr lang="en-US" dirty="0"/>
              <a:t>v=12</a:t>
            </a:r>
          </a:p>
          <a:p>
            <a:pPr marL="285750" indent="-285750">
              <a:buFont typeface="Arial" panose="020B0604020202020204" pitchFamily="34" charset="0"/>
              <a:buChar char="•"/>
            </a:pPr>
            <a:r>
              <a:rPr lang="en-US" dirty="0"/>
              <a:t>j=0</a:t>
            </a:r>
          </a:p>
          <a:p>
            <a:endParaRPr lang="en-US" dirty="0"/>
          </a:p>
        </p:txBody>
      </p:sp>
      <p:cxnSp>
        <p:nvCxnSpPr>
          <p:cNvPr id="2" name="Straight Arrow Connector 1">
            <a:extLst>
              <a:ext uri="{FF2B5EF4-FFF2-40B4-BE49-F238E27FC236}">
                <a16:creationId xmlns:a16="http://schemas.microsoft.com/office/drawing/2014/main" id="{30726E26-3EB6-6A07-6437-9A885B32A1A5}"/>
              </a:ext>
            </a:extLst>
          </p:cNvPr>
          <p:cNvCxnSpPr>
            <a:cxnSpLocks/>
            <a:stCxn id="7" idx="2"/>
          </p:cNvCxnSpPr>
          <p:nvPr/>
        </p:nvCxnSpPr>
        <p:spPr>
          <a:xfrm>
            <a:off x="9470876"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227D97F-10CB-A87C-B2B2-AA29C8CA5E7A}"/>
              </a:ext>
            </a:extLst>
          </p:cNvPr>
          <p:cNvSpPr txBox="1"/>
          <p:nvPr/>
        </p:nvSpPr>
        <p:spPr>
          <a:xfrm>
            <a:off x="9087464"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7BBB0505-E896-4FC8-F9C2-99E2012D166D}"/>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FA50DB7A-903A-0B40-6539-9EC74CB70E21}"/>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8CB446C1-5A23-3918-8AD7-B9D6AF11EB1C}"/>
              </a:ext>
            </a:extLst>
          </p:cNvPr>
          <p:cNvCxnSpPr>
            <a:cxnSpLocks/>
            <a:endCxn id="9" idx="3"/>
          </p:cNvCxnSpPr>
          <p:nvPr/>
        </p:nvCxnSpPr>
        <p:spPr>
          <a:xfrm flipH="1">
            <a:off x="3349364" y="5908820"/>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D445C55B-9BC3-1301-A8A2-13277207CA0F}"/>
              </a:ext>
            </a:extLst>
          </p:cNvPr>
          <p:cNvSpPr/>
          <p:nvPr/>
        </p:nvSpPr>
        <p:spPr>
          <a:xfrm>
            <a:off x="1088570" y="5722375"/>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F77FE7FF-28E2-EF6D-8519-8181FB44611D}"/>
              </a:ext>
            </a:extLst>
          </p:cNvPr>
          <p:cNvCxnSpPr>
            <a:cxnSpLocks/>
            <a:stCxn id="4" idx="2"/>
          </p:cNvCxnSpPr>
          <p:nvPr/>
        </p:nvCxnSpPr>
        <p:spPr>
          <a:xfrm>
            <a:off x="6242120" y="91465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765267A-0562-8613-766A-805C711DF4C8}"/>
              </a:ext>
            </a:extLst>
          </p:cNvPr>
          <p:cNvSpPr txBox="1"/>
          <p:nvPr/>
        </p:nvSpPr>
        <p:spPr>
          <a:xfrm>
            <a:off x="5858708" y="545320"/>
            <a:ext cx="766823" cy="369332"/>
          </a:xfrm>
          <a:prstGeom prst="rect">
            <a:avLst/>
          </a:prstGeom>
          <a:noFill/>
        </p:spPr>
        <p:txBody>
          <a:bodyPr wrap="square" rtlCol="0">
            <a:spAutoFit/>
          </a:bodyPr>
          <a:lstStyle/>
          <a:p>
            <a:pPr algn="ctr"/>
            <a:r>
              <a:rPr lang="en-US" dirty="0"/>
              <a:t>j</a:t>
            </a:r>
          </a:p>
        </p:txBody>
      </p:sp>
      <p:cxnSp>
        <p:nvCxnSpPr>
          <p:cNvPr id="8" name="Straight Arrow Connector 7">
            <a:extLst>
              <a:ext uri="{FF2B5EF4-FFF2-40B4-BE49-F238E27FC236}">
                <a16:creationId xmlns:a16="http://schemas.microsoft.com/office/drawing/2014/main" id="{6F62C369-01AB-4EE7-DB6E-31A2557B0D71}"/>
              </a:ext>
            </a:extLst>
          </p:cNvPr>
          <p:cNvCxnSpPr>
            <a:cxnSpLocks/>
            <a:endCxn id="10" idx="0"/>
          </p:cNvCxnSpPr>
          <p:nvPr/>
        </p:nvCxnSpPr>
        <p:spPr>
          <a:xfrm>
            <a:off x="7330345" y="1939584"/>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2FD3E9A-4C18-7688-B52B-EB5198B10483}"/>
              </a:ext>
            </a:extLst>
          </p:cNvPr>
          <p:cNvSpPr txBox="1"/>
          <p:nvPr/>
        </p:nvSpPr>
        <p:spPr>
          <a:xfrm>
            <a:off x="6961408" y="2213694"/>
            <a:ext cx="766823" cy="369332"/>
          </a:xfrm>
          <a:prstGeom prst="rect">
            <a:avLst/>
          </a:prstGeom>
          <a:noFill/>
        </p:spPr>
        <p:txBody>
          <a:bodyPr wrap="square" rtlCol="0">
            <a:spAutoFit/>
          </a:bodyPr>
          <a:lstStyle/>
          <a:p>
            <a:pPr algn="ctr"/>
            <a:r>
              <a:rPr lang="en-US" dirty="0"/>
              <a:t>12</a:t>
            </a:r>
          </a:p>
        </p:txBody>
      </p:sp>
    </p:spTree>
    <p:extLst>
      <p:ext uri="{BB962C8B-B14F-4D97-AF65-F5344CB8AC3E}">
        <p14:creationId xmlns:p14="http://schemas.microsoft.com/office/powerpoint/2010/main" val="25828933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A3133-F4DE-9B61-CE76-B578A5F69EE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1A0E8C9-30FB-CCD0-E7F2-3DF8AD20018D}"/>
              </a:ext>
            </a:extLst>
          </p:cNvPr>
          <p:cNvSpPr>
            <a:spLocks noGrp="1"/>
          </p:cNvSpPr>
          <p:nvPr>
            <p:ph sz="half" idx="2"/>
          </p:nvPr>
        </p:nvSpPr>
        <p:spPr>
          <a:xfrm>
            <a:off x="6318928" y="2658140"/>
            <a:ext cx="5212080" cy="3541492"/>
          </a:xfrm>
        </p:spPr>
        <p:txBody>
          <a:bodyPr/>
          <a:lstStyle/>
          <a:p>
            <a:r>
              <a:rPr lang="en-US" dirty="0"/>
              <a:t>Increment the value of </a:t>
            </a:r>
            <a:r>
              <a:rPr lang="en-US" dirty="0" err="1"/>
              <a:t>i</a:t>
            </a:r>
            <a:r>
              <a:rPr lang="en-US" dirty="0"/>
              <a:t> by 1 which is equal to 4</a:t>
            </a:r>
          </a:p>
        </p:txBody>
      </p:sp>
      <p:graphicFrame>
        <p:nvGraphicFramePr>
          <p:cNvPr id="14" name="Table 13">
            <a:extLst>
              <a:ext uri="{FF2B5EF4-FFF2-40B4-BE49-F238E27FC236}">
                <a16:creationId xmlns:a16="http://schemas.microsoft.com/office/drawing/2014/main" id="{22A1E572-8B95-D682-3DA4-3E96FA1E8771}"/>
              </a:ext>
            </a:extLst>
          </p:cNvPr>
          <p:cNvGraphicFramePr>
            <a:graphicFrameLocks noGrp="1"/>
          </p:cNvGraphicFramePr>
          <p:nvPr>
            <p:extLst>
              <p:ext uri="{D42A27DB-BD31-4B8C-83A1-F6EECF244321}">
                <p14:modId xmlns:p14="http://schemas.microsoft.com/office/powerpoint/2010/main" val="3686448945"/>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636FCB43-051F-8FF3-BEB0-2FC5FE7E3AD2}"/>
              </a:ext>
            </a:extLst>
          </p:cNvPr>
          <p:cNvSpPr txBox="1"/>
          <p:nvPr/>
        </p:nvSpPr>
        <p:spPr>
          <a:xfrm>
            <a:off x="9503230" y="4617936"/>
            <a:ext cx="16002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=4</a:t>
            </a:r>
          </a:p>
          <a:p>
            <a:endParaRPr lang="en-US" dirty="0"/>
          </a:p>
        </p:txBody>
      </p:sp>
      <p:cxnSp>
        <p:nvCxnSpPr>
          <p:cNvPr id="2" name="Straight Arrow Connector 1">
            <a:extLst>
              <a:ext uri="{FF2B5EF4-FFF2-40B4-BE49-F238E27FC236}">
                <a16:creationId xmlns:a16="http://schemas.microsoft.com/office/drawing/2014/main" id="{604E59CF-3983-18DB-D0A8-648C1130B7A5}"/>
              </a:ext>
            </a:extLst>
          </p:cNvPr>
          <p:cNvCxnSpPr>
            <a:cxnSpLocks/>
            <a:stCxn id="7" idx="2"/>
          </p:cNvCxnSpPr>
          <p:nvPr/>
        </p:nvCxnSpPr>
        <p:spPr>
          <a:xfrm>
            <a:off x="10555399"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C54DCA4-8A5A-47EF-AC4B-516FCCCCCACA}"/>
              </a:ext>
            </a:extLst>
          </p:cNvPr>
          <p:cNvSpPr txBox="1"/>
          <p:nvPr/>
        </p:nvSpPr>
        <p:spPr>
          <a:xfrm>
            <a:off x="10171987"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19DEAE79-B455-ADD5-F9B8-E0FACB6A7982}"/>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80A65986-88C8-0361-66B6-097B3B52F4AF}"/>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7AA635A0-B763-2F11-A4FB-003300658B07}"/>
              </a:ext>
            </a:extLst>
          </p:cNvPr>
          <p:cNvCxnSpPr>
            <a:cxnSpLocks/>
            <a:endCxn id="9" idx="3"/>
          </p:cNvCxnSpPr>
          <p:nvPr/>
        </p:nvCxnSpPr>
        <p:spPr>
          <a:xfrm flipH="1">
            <a:off x="3200505" y="3899263"/>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06B2C6EA-A695-68C6-535A-96567732114A}"/>
              </a:ext>
            </a:extLst>
          </p:cNvPr>
          <p:cNvSpPr/>
          <p:nvPr/>
        </p:nvSpPr>
        <p:spPr>
          <a:xfrm>
            <a:off x="939711" y="3712818"/>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6549829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9C43-4A0B-5471-127C-A90AE031F30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574C408-E956-E7F1-D3D5-AC36C87CA872}"/>
              </a:ext>
            </a:extLst>
          </p:cNvPr>
          <p:cNvSpPr>
            <a:spLocks noGrp="1"/>
          </p:cNvSpPr>
          <p:nvPr>
            <p:ph sz="half" idx="2"/>
          </p:nvPr>
        </p:nvSpPr>
        <p:spPr>
          <a:xfrm>
            <a:off x="6318928" y="2658140"/>
            <a:ext cx="5212080" cy="3541492"/>
          </a:xfrm>
        </p:spPr>
        <p:txBody>
          <a:bodyPr/>
          <a:lstStyle/>
          <a:p>
            <a:r>
              <a:rPr lang="en-US" dirty="0"/>
              <a:t>Set v to A[</a:t>
            </a:r>
            <a:r>
              <a:rPr lang="en-US" dirty="0" err="1"/>
              <a:t>i</a:t>
            </a:r>
            <a:r>
              <a:rPr lang="en-US" dirty="0"/>
              <a:t>] which equal to A[4] or 14</a:t>
            </a:r>
          </a:p>
        </p:txBody>
      </p:sp>
      <p:graphicFrame>
        <p:nvGraphicFramePr>
          <p:cNvPr id="14" name="Table 13">
            <a:extLst>
              <a:ext uri="{FF2B5EF4-FFF2-40B4-BE49-F238E27FC236}">
                <a16:creationId xmlns:a16="http://schemas.microsoft.com/office/drawing/2014/main" id="{72CB8B18-8DA0-731F-D36C-EE4AF9B266C9}"/>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983A0309-57AD-058E-86A3-F0F1FDFF4D68}"/>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=4</a:t>
            </a:r>
          </a:p>
          <a:p>
            <a:pPr marL="285750" indent="-285750">
              <a:buFont typeface="Arial" panose="020B0604020202020204" pitchFamily="34" charset="0"/>
              <a:buChar char="•"/>
            </a:pPr>
            <a:r>
              <a:rPr lang="en-US" dirty="0"/>
              <a:t>V=14</a:t>
            </a:r>
          </a:p>
          <a:p>
            <a:pPr marL="285750" indent="-285750">
              <a:buFont typeface="Arial" panose="020B0604020202020204" pitchFamily="34" charset="0"/>
              <a:buChar char="•"/>
            </a:pPr>
            <a:r>
              <a:rPr lang="en-US" dirty="0"/>
              <a:t>j= 3</a:t>
            </a:r>
          </a:p>
          <a:p>
            <a:endParaRPr lang="en-US" dirty="0"/>
          </a:p>
        </p:txBody>
      </p:sp>
      <p:cxnSp>
        <p:nvCxnSpPr>
          <p:cNvPr id="2" name="Straight Arrow Connector 1">
            <a:extLst>
              <a:ext uri="{FF2B5EF4-FFF2-40B4-BE49-F238E27FC236}">
                <a16:creationId xmlns:a16="http://schemas.microsoft.com/office/drawing/2014/main" id="{5A0F91D9-696F-AB91-B04D-B6BC15BCD507}"/>
              </a:ext>
            </a:extLst>
          </p:cNvPr>
          <p:cNvCxnSpPr>
            <a:cxnSpLocks/>
            <a:stCxn id="7" idx="2"/>
          </p:cNvCxnSpPr>
          <p:nvPr/>
        </p:nvCxnSpPr>
        <p:spPr>
          <a:xfrm>
            <a:off x="10555399"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9E54CE0-A581-5CEB-8EA7-25CB678090B1}"/>
              </a:ext>
            </a:extLst>
          </p:cNvPr>
          <p:cNvSpPr txBox="1"/>
          <p:nvPr/>
        </p:nvSpPr>
        <p:spPr>
          <a:xfrm>
            <a:off x="10171987"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A5DBE788-4194-0646-4B45-3E6ACF8A694D}"/>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F4443830-0541-8B2A-1207-B98CA5F6E496}"/>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7D8E80C2-C81D-9220-AE51-DBCAC8FCCB5D}"/>
              </a:ext>
            </a:extLst>
          </p:cNvPr>
          <p:cNvCxnSpPr>
            <a:cxnSpLocks/>
            <a:endCxn id="9" idx="3"/>
          </p:cNvCxnSpPr>
          <p:nvPr/>
        </p:nvCxnSpPr>
        <p:spPr>
          <a:xfrm flipH="1">
            <a:off x="3200505" y="4218245"/>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CD0E725F-62DF-5629-28A9-821778970740}"/>
              </a:ext>
            </a:extLst>
          </p:cNvPr>
          <p:cNvSpPr/>
          <p:nvPr/>
        </p:nvSpPr>
        <p:spPr>
          <a:xfrm>
            <a:off x="939711" y="4031800"/>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13FE1AC8-1F22-6E2F-C0D0-CB9734A77261}"/>
              </a:ext>
            </a:extLst>
          </p:cNvPr>
          <p:cNvCxnSpPr>
            <a:cxnSpLocks/>
            <a:stCxn id="4" idx="2"/>
          </p:cNvCxnSpPr>
          <p:nvPr/>
        </p:nvCxnSpPr>
        <p:spPr>
          <a:xfrm>
            <a:off x="9538219" y="95718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C85959F-A36F-A78E-2E1E-859419DD7FE2}"/>
              </a:ext>
            </a:extLst>
          </p:cNvPr>
          <p:cNvSpPr txBox="1"/>
          <p:nvPr/>
        </p:nvSpPr>
        <p:spPr>
          <a:xfrm>
            <a:off x="9154807" y="58785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25267116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F2E24-FAC8-C57D-0949-CD547BB5FE70}"/>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8CA8E81-4E85-9BCB-C31C-C5D829B3984A}"/>
              </a:ext>
            </a:extLst>
          </p:cNvPr>
          <p:cNvSpPr>
            <a:spLocks noGrp="1"/>
          </p:cNvSpPr>
          <p:nvPr>
            <p:ph sz="half" idx="2"/>
          </p:nvPr>
        </p:nvSpPr>
        <p:spPr>
          <a:xfrm>
            <a:off x="6318928" y="2658140"/>
            <a:ext cx="5212080" cy="3541492"/>
          </a:xfrm>
        </p:spPr>
        <p:txBody>
          <a:bodyPr/>
          <a:lstStyle/>
          <a:p>
            <a:r>
              <a:rPr lang="en-US" dirty="0"/>
              <a:t>Set j to i-1 which equal to 3</a:t>
            </a:r>
          </a:p>
        </p:txBody>
      </p:sp>
      <p:graphicFrame>
        <p:nvGraphicFramePr>
          <p:cNvPr id="14" name="Table 13">
            <a:extLst>
              <a:ext uri="{FF2B5EF4-FFF2-40B4-BE49-F238E27FC236}">
                <a16:creationId xmlns:a16="http://schemas.microsoft.com/office/drawing/2014/main" id="{84F75AFF-D3AB-884A-6D43-4C1D6A2EF5A9}"/>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530A3C4C-B123-EEAD-5E97-148030B2827D}"/>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=4</a:t>
            </a:r>
          </a:p>
          <a:p>
            <a:pPr marL="285750" indent="-285750">
              <a:buFont typeface="Arial" panose="020B0604020202020204" pitchFamily="34" charset="0"/>
              <a:buChar char="•"/>
            </a:pPr>
            <a:r>
              <a:rPr lang="en-US" dirty="0"/>
              <a:t>v=14</a:t>
            </a:r>
          </a:p>
          <a:p>
            <a:pPr marL="285750" indent="-285750">
              <a:buFont typeface="Arial" panose="020B0604020202020204" pitchFamily="34" charset="0"/>
              <a:buChar char="•"/>
            </a:pPr>
            <a:r>
              <a:rPr lang="en-US" dirty="0"/>
              <a:t>j= 3</a:t>
            </a:r>
          </a:p>
          <a:p>
            <a:endParaRPr lang="en-US" dirty="0"/>
          </a:p>
        </p:txBody>
      </p:sp>
      <p:cxnSp>
        <p:nvCxnSpPr>
          <p:cNvPr id="2" name="Straight Arrow Connector 1">
            <a:extLst>
              <a:ext uri="{FF2B5EF4-FFF2-40B4-BE49-F238E27FC236}">
                <a16:creationId xmlns:a16="http://schemas.microsoft.com/office/drawing/2014/main" id="{FAC15E5F-5BA1-C21A-CE3C-2F658FFEDEC7}"/>
              </a:ext>
            </a:extLst>
          </p:cNvPr>
          <p:cNvCxnSpPr>
            <a:cxnSpLocks/>
            <a:stCxn id="7" idx="2"/>
          </p:cNvCxnSpPr>
          <p:nvPr/>
        </p:nvCxnSpPr>
        <p:spPr>
          <a:xfrm>
            <a:off x="10555399"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9E5092A-9BAB-B056-9CFB-F6C9EDF82A50}"/>
              </a:ext>
            </a:extLst>
          </p:cNvPr>
          <p:cNvSpPr txBox="1"/>
          <p:nvPr/>
        </p:nvSpPr>
        <p:spPr>
          <a:xfrm>
            <a:off x="10171987"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C825694A-05B8-3D9C-18B4-66AEACFC56A0}"/>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B25296DE-E837-0BA4-7777-7CD816643795}"/>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D917E378-FBE9-83C2-826E-4DCA8AFAA871}"/>
              </a:ext>
            </a:extLst>
          </p:cNvPr>
          <p:cNvCxnSpPr>
            <a:cxnSpLocks/>
            <a:endCxn id="9" idx="3"/>
          </p:cNvCxnSpPr>
          <p:nvPr/>
        </p:nvCxnSpPr>
        <p:spPr>
          <a:xfrm flipH="1">
            <a:off x="3200505" y="4537225"/>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3C40131B-E504-B8D5-FAA7-2756348EAE18}"/>
              </a:ext>
            </a:extLst>
          </p:cNvPr>
          <p:cNvSpPr/>
          <p:nvPr/>
        </p:nvSpPr>
        <p:spPr>
          <a:xfrm>
            <a:off x="939711" y="4350780"/>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D4B2AA84-9452-98F4-C8E0-423B2ACA5929}"/>
              </a:ext>
            </a:extLst>
          </p:cNvPr>
          <p:cNvCxnSpPr>
            <a:cxnSpLocks/>
            <a:stCxn id="4" idx="2"/>
          </p:cNvCxnSpPr>
          <p:nvPr/>
        </p:nvCxnSpPr>
        <p:spPr>
          <a:xfrm>
            <a:off x="9538219" y="95718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C0C1B1B-9BBB-8E4E-1E47-037259FEA539}"/>
              </a:ext>
            </a:extLst>
          </p:cNvPr>
          <p:cNvSpPr txBox="1"/>
          <p:nvPr/>
        </p:nvSpPr>
        <p:spPr>
          <a:xfrm>
            <a:off x="9154807" y="58785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27861529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2403E-65A2-16CB-1BD7-EF4F7885BFA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652B502-0E63-5065-4D0A-8422A6CD46E8}"/>
              </a:ext>
            </a:extLst>
          </p:cNvPr>
          <p:cNvSpPr>
            <a:spLocks noGrp="1"/>
          </p:cNvSpPr>
          <p:nvPr>
            <p:ph sz="half" idx="2"/>
          </p:nvPr>
        </p:nvSpPr>
        <p:spPr>
          <a:xfrm>
            <a:off x="6318928" y="2658140"/>
            <a:ext cx="5212080" cy="3541492"/>
          </a:xfrm>
        </p:spPr>
        <p:txBody>
          <a:bodyPr/>
          <a:lstStyle/>
          <a:p>
            <a:r>
              <a:rPr lang="en-US" dirty="0"/>
              <a:t>Check the while loop condition if j is bigger than or equal 0 which is true and A[j] or A[3]=21 is bigger than v or 14 which is true</a:t>
            </a:r>
          </a:p>
        </p:txBody>
      </p:sp>
      <p:graphicFrame>
        <p:nvGraphicFramePr>
          <p:cNvPr id="14" name="Table 13">
            <a:extLst>
              <a:ext uri="{FF2B5EF4-FFF2-40B4-BE49-F238E27FC236}">
                <a16:creationId xmlns:a16="http://schemas.microsoft.com/office/drawing/2014/main" id="{660C319C-B736-CEDB-4B04-68F891E358B7}"/>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C893B9EB-D79C-44EB-D3E8-E31FE2AA2209}"/>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=4</a:t>
            </a:r>
          </a:p>
          <a:p>
            <a:pPr marL="285750" indent="-285750">
              <a:buFont typeface="Arial" panose="020B0604020202020204" pitchFamily="34" charset="0"/>
              <a:buChar char="•"/>
            </a:pPr>
            <a:r>
              <a:rPr lang="en-US" dirty="0"/>
              <a:t>v=14</a:t>
            </a:r>
          </a:p>
          <a:p>
            <a:pPr marL="285750" indent="-285750">
              <a:buFont typeface="Arial" panose="020B0604020202020204" pitchFamily="34" charset="0"/>
              <a:buChar char="•"/>
            </a:pPr>
            <a:r>
              <a:rPr lang="en-US" dirty="0"/>
              <a:t>j= 3</a:t>
            </a:r>
          </a:p>
          <a:p>
            <a:endParaRPr lang="en-US" dirty="0"/>
          </a:p>
        </p:txBody>
      </p:sp>
      <p:cxnSp>
        <p:nvCxnSpPr>
          <p:cNvPr id="2" name="Straight Arrow Connector 1">
            <a:extLst>
              <a:ext uri="{FF2B5EF4-FFF2-40B4-BE49-F238E27FC236}">
                <a16:creationId xmlns:a16="http://schemas.microsoft.com/office/drawing/2014/main" id="{56721F25-F227-C3AC-69D5-91A25CDF1413}"/>
              </a:ext>
            </a:extLst>
          </p:cNvPr>
          <p:cNvCxnSpPr>
            <a:cxnSpLocks/>
            <a:stCxn id="7" idx="2"/>
          </p:cNvCxnSpPr>
          <p:nvPr/>
        </p:nvCxnSpPr>
        <p:spPr>
          <a:xfrm>
            <a:off x="10555399"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BA681E0-2BB9-7E06-C207-E643BB2A318A}"/>
              </a:ext>
            </a:extLst>
          </p:cNvPr>
          <p:cNvSpPr txBox="1"/>
          <p:nvPr/>
        </p:nvSpPr>
        <p:spPr>
          <a:xfrm>
            <a:off x="10171987"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C07AD4B4-35C9-B99A-5431-03D0AB5407F8}"/>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5410CC56-98A8-EADB-43B2-CF10F3D3218E}"/>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72DE86BA-5337-7A29-1689-B4B610FA484F}"/>
              </a:ext>
            </a:extLst>
          </p:cNvPr>
          <p:cNvCxnSpPr>
            <a:cxnSpLocks/>
            <a:endCxn id="9" idx="3"/>
          </p:cNvCxnSpPr>
          <p:nvPr/>
        </p:nvCxnSpPr>
        <p:spPr>
          <a:xfrm flipH="1">
            <a:off x="3519485" y="4856205"/>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4A4908C9-80E9-3249-1C79-EA9DD21C6530}"/>
              </a:ext>
            </a:extLst>
          </p:cNvPr>
          <p:cNvSpPr/>
          <p:nvPr/>
        </p:nvSpPr>
        <p:spPr>
          <a:xfrm>
            <a:off x="1258691" y="4669760"/>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BACE4423-F2F3-1178-2E16-3450B6BCF691}"/>
              </a:ext>
            </a:extLst>
          </p:cNvPr>
          <p:cNvCxnSpPr>
            <a:cxnSpLocks/>
            <a:stCxn id="4" idx="2"/>
          </p:cNvCxnSpPr>
          <p:nvPr/>
        </p:nvCxnSpPr>
        <p:spPr>
          <a:xfrm>
            <a:off x="9538219" y="95718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BDF310D-0C10-46C7-156A-FD7B95DC85CD}"/>
              </a:ext>
            </a:extLst>
          </p:cNvPr>
          <p:cNvSpPr txBox="1"/>
          <p:nvPr/>
        </p:nvSpPr>
        <p:spPr>
          <a:xfrm>
            <a:off x="9154807" y="58785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2726846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9A489-8928-310A-A726-8249F828FCF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E3689E5-FD8A-91C9-93EF-EEB52A647405}"/>
              </a:ext>
            </a:extLst>
          </p:cNvPr>
          <p:cNvSpPr>
            <a:spLocks noGrp="1"/>
          </p:cNvSpPr>
          <p:nvPr>
            <p:ph sz="half" idx="2"/>
          </p:nvPr>
        </p:nvSpPr>
        <p:spPr>
          <a:xfrm>
            <a:off x="6318928" y="2658140"/>
            <a:ext cx="5212080" cy="3541492"/>
          </a:xfrm>
        </p:spPr>
        <p:txBody>
          <a:bodyPr/>
          <a:lstStyle/>
          <a:p>
            <a:r>
              <a:rPr lang="en-US" dirty="0"/>
              <a:t>The value of A[j] will override the value of A[j+1] or A[4]=21</a:t>
            </a:r>
          </a:p>
        </p:txBody>
      </p:sp>
      <p:graphicFrame>
        <p:nvGraphicFramePr>
          <p:cNvPr id="14" name="Table 13">
            <a:extLst>
              <a:ext uri="{FF2B5EF4-FFF2-40B4-BE49-F238E27FC236}">
                <a16:creationId xmlns:a16="http://schemas.microsoft.com/office/drawing/2014/main" id="{F160FA16-9323-EBA7-ACC4-A51E07AD2088}"/>
              </a:ext>
            </a:extLst>
          </p:cNvPr>
          <p:cNvGraphicFramePr>
            <a:graphicFrameLocks noGrp="1"/>
          </p:cNvGraphicFramePr>
          <p:nvPr>
            <p:extLst>
              <p:ext uri="{D42A27DB-BD31-4B8C-83A1-F6EECF244321}">
                <p14:modId xmlns:p14="http://schemas.microsoft.com/office/powerpoint/2010/main" val="2749334567"/>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EB8F82AA-8247-459E-24AE-8FF997A093B3}"/>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=4</a:t>
            </a:r>
          </a:p>
          <a:p>
            <a:pPr marL="285750" indent="-285750">
              <a:buFont typeface="Arial" panose="020B0604020202020204" pitchFamily="34" charset="0"/>
              <a:buChar char="•"/>
            </a:pPr>
            <a:r>
              <a:rPr lang="en-US" dirty="0"/>
              <a:t>v=14</a:t>
            </a:r>
          </a:p>
          <a:p>
            <a:pPr marL="285750" indent="-285750">
              <a:buFont typeface="Arial" panose="020B0604020202020204" pitchFamily="34" charset="0"/>
              <a:buChar char="•"/>
            </a:pPr>
            <a:r>
              <a:rPr lang="en-US" dirty="0"/>
              <a:t>j= 3</a:t>
            </a:r>
          </a:p>
          <a:p>
            <a:endParaRPr lang="en-US" dirty="0"/>
          </a:p>
        </p:txBody>
      </p:sp>
      <p:cxnSp>
        <p:nvCxnSpPr>
          <p:cNvPr id="2" name="Straight Arrow Connector 1">
            <a:extLst>
              <a:ext uri="{FF2B5EF4-FFF2-40B4-BE49-F238E27FC236}">
                <a16:creationId xmlns:a16="http://schemas.microsoft.com/office/drawing/2014/main" id="{F73E01EC-E900-4501-0B47-42BD36F3BB86}"/>
              </a:ext>
            </a:extLst>
          </p:cNvPr>
          <p:cNvCxnSpPr>
            <a:cxnSpLocks/>
            <a:stCxn id="7" idx="2"/>
          </p:cNvCxnSpPr>
          <p:nvPr/>
        </p:nvCxnSpPr>
        <p:spPr>
          <a:xfrm>
            <a:off x="10555399"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B3EDCDA-7C51-7E43-D0E0-E9C52A7B98BC}"/>
              </a:ext>
            </a:extLst>
          </p:cNvPr>
          <p:cNvSpPr txBox="1"/>
          <p:nvPr/>
        </p:nvSpPr>
        <p:spPr>
          <a:xfrm>
            <a:off x="10171987"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4EE7E177-917A-E872-D9E9-5FB56117A621}"/>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7EDD61A0-E057-2F51-CF38-C27BD1C429F6}"/>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AC0158E5-0EE4-C37C-9522-B5235A9E8A73}"/>
              </a:ext>
            </a:extLst>
          </p:cNvPr>
          <p:cNvCxnSpPr>
            <a:cxnSpLocks/>
            <a:endCxn id="9" idx="3"/>
          </p:cNvCxnSpPr>
          <p:nvPr/>
        </p:nvCxnSpPr>
        <p:spPr>
          <a:xfrm flipH="1">
            <a:off x="3562017" y="5207082"/>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495F8DD5-08ED-1C91-5A69-5C2CFFE844D7}"/>
              </a:ext>
            </a:extLst>
          </p:cNvPr>
          <p:cNvSpPr/>
          <p:nvPr/>
        </p:nvSpPr>
        <p:spPr>
          <a:xfrm>
            <a:off x="1301223" y="5020637"/>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C77919CC-A6E7-40D8-0D9D-036D1B8DF404}"/>
              </a:ext>
            </a:extLst>
          </p:cNvPr>
          <p:cNvCxnSpPr>
            <a:cxnSpLocks/>
            <a:stCxn id="4" idx="2"/>
          </p:cNvCxnSpPr>
          <p:nvPr/>
        </p:nvCxnSpPr>
        <p:spPr>
          <a:xfrm>
            <a:off x="9538219" y="95718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D6C73C4-D74D-4D10-60C7-4A097F04AA10}"/>
              </a:ext>
            </a:extLst>
          </p:cNvPr>
          <p:cNvSpPr txBox="1"/>
          <p:nvPr/>
        </p:nvSpPr>
        <p:spPr>
          <a:xfrm>
            <a:off x="9154807" y="587850"/>
            <a:ext cx="766823" cy="369332"/>
          </a:xfrm>
          <a:prstGeom prst="rect">
            <a:avLst/>
          </a:prstGeom>
          <a:noFill/>
        </p:spPr>
        <p:txBody>
          <a:bodyPr wrap="square" rtlCol="0">
            <a:spAutoFit/>
          </a:bodyPr>
          <a:lstStyle/>
          <a:p>
            <a:pPr algn="ctr"/>
            <a:r>
              <a:rPr lang="en-US" dirty="0"/>
              <a:t>j</a:t>
            </a:r>
          </a:p>
        </p:txBody>
      </p:sp>
      <p:cxnSp>
        <p:nvCxnSpPr>
          <p:cNvPr id="8" name="Straight Arrow Connector 7">
            <a:extLst>
              <a:ext uri="{FF2B5EF4-FFF2-40B4-BE49-F238E27FC236}">
                <a16:creationId xmlns:a16="http://schemas.microsoft.com/office/drawing/2014/main" id="{DD8E1530-F0F6-34E0-AAEB-084305B6ED44}"/>
              </a:ext>
            </a:extLst>
          </p:cNvPr>
          <p:cNvCxnSpPr>
            <a:cxnSpLocks/>
            <a:endCxn id="10" idx="0"/>
          </p:cNvCxnSpPr>
          <p:nvPr/>
        </p:nvCxnSpPr>
        <p:spPr>
          <a:xfrm>
            <a:off x="10540924" y="1939584"/>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BC7CBB6-1B39-14A8-56FE-CFEBD92D4D42}"/>
              </a:ext>
            </a:extLst>
          </p:cNvPr>
          <p:cNvSpPr txBox="1"/>
          <p:nvPr/>
        </p:nvSpPr>
        <p:spPr>
          <a:xfrm>
            <a:off x="10171987" y="2213694"/>
            <a:ext cx="766823" cy="369332"/>
          </a:xfrm>
          <a:prstGeom prst="rect">
            <a:avLst/>
          </a:prstGeom>
          <a:noFill/>
        </p:spPr>
        <p:txBody>
          <a:bodyPr wrap="square" rtlCol="0">
            <a:spAutoFit/>
          </a:bodyPr>
          <a:lstStyle/>
          <a:p>
            <a:pPr algn="ctr"/>
            <a:r>
              <a:rPr lang="en-US" dirty="0"/>
              <a:t>21</a:t>
            </a:r>
          </a:p>
        </p:txBody>
      </p:sp>
    </p:spTree>
    <p:extLst>
      <p:ext uri="{BB962C8B-B14F-4D97-AF65-F5344CB8AC3E}">
        <p14:creationId xmlns:p14="http://schemas.microsoft.com/office/powerpoint/2010/main" val="38075391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A09F2-D704-0382-05A6-502B0D54FAD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FAFFA8C-0811-7C09-05CC-D31B1163D706}"/>
              </a:ext>
            </a:extLst>
          </p:cNvPr>
          <p:cNvSpPr>
            <a:spLocks noGrp="1"/>
          </p:cNvSpPr>
          <p:nvPr>
            <p:ph sz="half" idx="2"/>
          </p:nvPr>
        </p:nvSpPr>
        <p:spPr>
          <a:xfrm>
            <a:off x="6318928" y="2658140"/>
            <a:ext cx="5212080" cy="3541492"/>
          </a:xfrm>
        </p:spPr>
        <p:txBody>
          <a:bodyPr/>
          <a:lstStyle/>
          <a:p>
            <a:r>
              <a:rPr lang="en-US" dirty="0"/>
              <a:t>Decrement the value of j by 1 which is equal to 2</a:t>
            </a:r>
          </a:p>
        </p:txBody>
      </p:sp>
      <p:graphicFrame>
        <p:nvGraphicFramePr>
          <p:cNvPr id="14" name="Table 13">
            <a:extLst>
              <a:ext uri="{FF2B5EF4-FFF2-40B4-BE49-F238E27FC236}">
                <a16:creationId xmlns:a16="http://schemas.microsoft.com/office/drawing/2014/main" id="{CAC01CCF-08FE-A4CD-9664-B89FD7A697F5}"/>
              </a:ext>
            </a:extLst>
          </p:cNvPr>
          <p:cNvGraphicFramePr>
            <a:graphicFrameLocks noGrp="1"/>
          </p:cNvGraphicFramePr>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11722333-7500-F3EB-EB68-306EC657D59A}"/>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=4</a:t>
            </a:r>
          </a:p>
          <a:p>
            <a:pPr marL="285750" indent="-285750">
              <a:buFont typeface="Arial" panose="020B0604020202020204" pitchFamily="34" charset="0"/>
              <a:buChar char="•"/>
            </a:pPr>
            <a:r>
              <a:rPr lang="en-US" dirty="0"/>
              <a:t>v=14</a:t>
            </a:r>
          </a:p>
          <a:p>
            <a:pPr marL="285750" indent="-285750">
              <a:buFont typeface="Arial" panose="020B0604020202020204" pitchFamily="34" charset="0"/>
              <a:buChar char="•"/>
            </a:pPr>
            <a:r>
              <a:rPr lang="en-US" dirty="0"/>
              <a:t>j= 2</a:t>
            </a:r>
          </a:p>
          <a:p>
            <a:endParaRPr lang="en-US" dirty="0"/>
          </a:p>
        </p:txBody>
      </p:sp>
      <p:cxnSp>
        <p:nvCxnSpPr>
          <p:cNvPr id="2" name="Straight Arrow Connector 1">
            <a:extLst>
              <a:ext uri="{FF2B5EF4-FFF2-40B4-BE49-F238E27FC236}">
                <a16:creationId xmlns:a16="http://schemas.microsoft.com/office/drawing/2014/main" id="{DC72B4F7-96CE-6D6C-8AB2-B299045580F7}"/>
              </a:ext>
            </a:extLst>
          </p:cNvPr>
          <p:cNvCxnSpPr>
            <a:cxnSpLocks/>
            <a:stCxn id="7" idx="2"/>
          </p:cNvCxnSpPr>
          <p:nvPr/>
        </p:nvCxnSpPr>
        <p:spPr>
          <a:xfrm>
            <a:off x="10555399"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8FB8CE2-C26E-3143-2236-1AC1BA36A4F9}"/>
              </a:ext>
            </a:extLst>
          </p:cNvPr>
          <p:cNvSpPr txBox="1"/>
          <p:nvPr/>
        </p:nvSpPr>
        <p:spPr>
          <a:xfrm>
            <a:off x="10171987"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DB8BAA5F-813B-8046-03B4-0D3F422DB7DA}"/>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92756199-3802-40C8-C310-8D1138E12F28}"/>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B10485F3-6A96-67A3-C569-410CD35E2F1A}"/>
              </a:ext>
            </a:extLst>
          </p:cNvPr>
          <p:cNvCxnSpPr>
            <a:cxnSpLocks/>
            <a:endCxn id="9" idx="3"/>
          </p:cNvCxnSpPr>
          <p:nvPr/>
        </p:nvCxnSpPr>
        <p:spPr>
          <a:xfrm flipH="1">
            <a:off x="3562017" y="5536695"/>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F0E85A82-E754-E765-3B13-8397EFABB145}"/>
              </a:ext>
            </a:extLst>
          </p:cNvPr>
          <p:cNvSpPr/>
          <p:nvPr/>
        </p:nvSpPr>
        <p:spPr>
          <a:xfrm>
            <a:off x="1301223" y="5350250"/>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66F504A4-FA53-B89D-FD60-019AA918CB94}"/>
              </a:ext>
            </a:extLst>
          </p:cNvPr>
          <p:cNvCxnSpPr>
            <a:cxnSpLocks/>
            <a:stCxn id="4" idx="2"/>
          </p:cNvCxnSpPr>
          <p:nvPr/>
        </p:nvCxnSpPr>
        <p:spPr>
          <a:xfrm>
            <a:off x="8421798" y="95718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0156249-7ACC-94AA-DF69-98A69B3D9050}"/>
              </a:ext>
            </a:extLst>
          </p:cNvPr>
          <p:cNvSpPr txBox="1"/>
          <p:nvPr/>
        </p:nvSpPr>
        <p:spPr>
          <a:xfrm>
            <a:off x="8038386" y="587850"/>
            <a:ext cx="766823" cy="369332"/>
          </a:xfrm>
          <a:prstGeom prst="rect">
            <a:avLst/>
          </a:prstGeom>
          <a:noFill/>
        </p:spPr>
        <p:txBody>
          <a:bodyPr wrap="square" rtlCol="0">
            <a:spAutoFit/>
          </a:bodyPr>
          <a:lstStyle/>
          <a:p>
            <a:pPr algn="ctr"/>
            <a:r>
              <a:rPr lang="en-US" dirty="0"/>
              <a:t>j</a:t>
            </a:r>
          </a:p>
        </p:txBody>
      </p:sp>
      <p:cxnSp>
        <p:nvCxnSpPr>
          <p:cNvPr id="8" name="Straight Arrow Connector 7">
            <a:extLst>
              <a:ext uri="{FF2B5EF4-FFF2-40B4-BE49-F238E27FC236}">
                <a16:creationId xmlns:a16="http://schemas.microsoft.com/office/drawing/2014/main" id="{AD455CF7-4420-F576-30A2-4875C1E1F0AF}"/>
              </a:ext>
            </a:extLst>
          </p:cNvPr>
          <p:cNvCxnSpPr>
            <a:cxnSpLocks/>
            <a:endCxn id="10" idx="0"/>
          </p:cNvCxnSpPr>
          <p:nvPr/>
        </p:nvCxnSpPr>
        <p:spPr>
          <a:xfrm>
            <a:off x="10540924" y="1939584"/>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93DA480-B075-D29C-DE6F-CEC986E9AE0B}"/>
              </a:ext>
            </a:extLst>
          </p:cNvPr>
          <p:cNvSpPr txBox="1"/>
          <p:nvPr/>
        </p:nvSpPr>
        <p:spPr>
          <a:xfrm>
            <a:off x="10171987" y="2213694"/>
            <a:ext cx="766823" cy="369332"/>
          </a:xfrm>
          <a:prstGeom prst="rect">
            <a:avLst/>
          </a:prstGeom>
          <a:noFill/>
        </p:spPr>
        <p:txBody>
          <a:bodyPr wrap="square" rtlCol="0">
            <a:spAutoFit/>
          </a:bodyPr>
          <a:lstStyle/>
          <a:p>
            <a:pPr algn="ctr"/>
            <a:r>
              <a:rPr lang="en-US" dirty="0"/>
              <a:t>21</a:t>
            </a:r>
          </a:p>
        </p:txBody>
      </p:sp>
    </p:spTree>
    <p:extLst>
      <p:ext uri="{BB962C8B-B14F-4D97-AF65-F5344CB8AC3E}">
        <p14:creationId xmlns:p14="http://schemas.microsoft.com/office/powerpoint/2010/main" val="2822424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388AA-CC11-50EC-F3BB-8AF64307C60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3FD72A0-3BFD-462E-72B4-F627378F9C2B}"/>
              </a:ext>
            </a:extLst>
          </p:cNvPr>
          <p:cNvSpPr>
            <a:spLocks noGrp="1"/>
          </p:cNvSpPr>
          <p:nvPr>
            <p:ph sz="half" idx="2"/>
          </p:nvPr>
        </p:nvSpPr>
        <p:spPr>
          <a:xfrm>
            <a:off x="6318928" y="2658140"/>
            <a:ext cx="5212080" cy="3541492"/>
          </a:xfrm>
        </p:spPr>
        <p:txBody>
          <a:bodyPr/>
          <a:lstStyle/>
          <a:p>
            <a:r>
              <a:rPr lang="en-US" dirty="0"/>
              <a:t>Check the while loop condition if j is bigger than or equal 0 which is true and A[j] or A[2]=14 is bigger than v or 14 which is false</a:t>
            </a:r>
          </a:p>
        </p:txBody>
      </p:sp>
      <p:graphicFrame>
        <p:nvGraphicFramePr>
          <p:cNvPr id="14" name="Table 13">
            <a:extLst>
              <a:ext uri="{FF2B5EF4-FFF2-40B4-BE49-F238E27FC236}">
                <a16:creationId xmlns:a16="http://schemas.microsoft.com/office/drawing/2014/main" id="{8749C871-F5B0-AB15-5F90-EC2B4E034753}"/>
              </a:ext>
            </a:extLst>
          </p:cNvPr>
          <p:cNvGraphicFramePr>
            <a:graphicFrameLocks noGrp="1"/>
          </p:cNvGraphicFramePr>
          <p:nvPr>
            <p:extLst>
              <p:ext uri="{D42A27DB-BD31-4B8C-83A1-F6EECF244321}">
                <p14:modId xmlns:p14="http://schemas.microsoft.com/office/powerpoint/2010/main" val="2848687855"/>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1E4C04F3-2FE3-E28B-C2FC-89679505F5A9}"/>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=4</a:t>
            </a:r>
          </a:p>
          <a:p>
            <a:pPr marL="285750" indent="-285750">
              <a:buFont typeface="Arial" panose="020B0604020202020204" pitchFamily="34" charset="0"/>
              <a:buChar char="•"/>
            </a:pPr>
            <a:r>
              <a:rPr lang="en-US" dirty="0"/>
              <a:t>v=14</a:t>
            </a:r>
          </a:p>
          <a:p>
            <a:pPr marL="285750" indent="-285750">
              <a:buFont typeface="Arial" panose="020B0604020202020204" pitchFamily="34" charset="0"/>
              <a:buChar char="•"/>
            </a:pPr>
            <a:r>
              <a:rPr lang="en-US" dirty="0"/>
              <a:t>j= 2</a:t>
            </a:r>
          </a:p>
          <a:p>
            <a:endParaRPr lang="en-US" dirty="0"/>
          </a:p>
        </p:txBody>
      </p:sp>
      <p:cxnSp>
        <p:nvCxnSpPr>
          <p:cNvPr id="2" name="Straight Arrow Connector 1">
            <a:extLst>
              <a:ext uri="{FF2B5EF4-FFF2-40B4-BE49-F238E27FC236}">
                <a16:creationId xmlns:a16="http://schemas.microsoft.com/office/drawing/2014/main" id="{C29FF405-F83A-698F-905A-A98BB22B7DCF}"/>
              </a:ext>
            </a:extLst>
          </p:cNvPr>
          <p:cNvCxnSpPr>
            <a:cxnSpLocks/>
            <a:stCxn id="7" idx="2"/>
          </p:cNvCxnSpPr>
          <p:nvPr/>
        </p:nvCxnSpPr>
        <p:spPr>
          <a:xfrm>
            <a:off x="10555399"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176C372-34ED-A31A-4D76-5AE8BBBED442}"/>
              </a:ext>
            </a:extLst>
          </p:cNvPr>
          <p:cNvSpPr txBox="1"/>
          <p:nvPr/>
        </p:nvSpPr>
        <p:spPr>
          <a:xfrm>
            <a:off x="10171987"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EB03E7FA-4B9E-42C5-E65D-C2C08C71B4BD}"/>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9D6FD758-70C9-ABBE-6349-BE24B9799E74}"/>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5D77468A-FE59-DB50-3E3F-5DB253A79FD3}"/>
              </a:ext>
            </a:extLst>
          </p:cNvPr>
          <p:cNvCxnSpPr>
            <a:cxnSpLocks/>
            <a:endCxn id="9" idx="3"/>
          </p:cNvCxnSpPr>
          <p:nvPr/>
        </p:nvCxnSpPr>
        <p:spPr>
          <a:xfrm flipH="1">
            <a:off x="3551384" y="4898736"/>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92AD7737-8B40-FD38-11E4-83000E5C5DBA}"/>
              </a:ext>
            </a:extLst>
          </p:cNvPr>
          <p:cNvSpPr/>
          <p:nvPr/>
        </p:nvSpPr>
        <p:spPr>
          <a:xfrm>
            <a:off x="1290590" y="4712291"/>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7AC572FF-013D-E96E-891F-928D6997813E}"/>
              </a:ext>
            </a:extLst>
          </p:cNvPr>
          <p:cNvCxnSpPr>
            <a:cxnSpLocks/>
            <a:stCxn id="4" idx="2"/>
          </p:cNvCxnSpPr>
          <p:nvPr/>
        </p:nvCxnSpPr>
        <p:spPr>
          <a:xfrm>
            <a:off x="8421798" y="95718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4512C91-26F0-638D-3593-D892E3CF991E}"/>
              </a:ext>
            </a:extLst>
          </p:cNvPr>
          <p:cNvSpPr txBox="1"/>
          <p:nvPr/>
        </p:nvSpPr>
        <p:spPr>
          <a:xfrm>
            <a:off x="8038386" y="587850"/>
            <a:ext cx="766823" cy="369332"/>
          </a:xfrm>
          <a:prstGeom prst="rect">
            <a:avLst/>
          </a:prstGeom>
          <a:noFill/>
        </p:spPr>
        <p:txBody>
          <a:bodyPr wrap="square" rtlCol="0">
            <a:spAutoFit/>
          </a:bodyPr>
          <a:lstStyle/>
          <a:p>
            <a:pPr algn="ctr"/>
            <a:r>
              <a:rPr lang="en-US" dirty="0"/>
              <a:t>j</a:t>
            </a:r>
          </a:p>
        </p:txBody>
      </p:sp>
    </p:spTree>
    <p:extLst>
      <p:ext uri="{BB962C8B-B14F-4D97-AF65-F5344CB8AC3E}">
        <p14:creationId xmlns:p14="http://schemas.microsoft.com/office/powerpoint/2010/main" val="27016343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6322C-0EA6-EAB6-C955-7FA454E992C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4032328-1B95-40A6-B685-34A55E16D93B}"/>
              </a:ext>
            </a:extLst>
          </p:cNvPr>
          <p:cNvSpPr>
            <a:spLocks noGrp="1"/>
          </p:cNvSpPr>
          <p:nvPr>
            <p:ph sz="half" idx="2"/>
          </p:nvPr>
        </p:nvSpPr>
        <p:spPr>
          <a:xfrm>
            <a:off x="6318928" y="2658140"/>
            <a:ext cx="5212080" cy="3541492"/>
          </a:xfrm>
        </p:spPr>
        <p:txBody>
          <a:bodyPr/>
          <a:lstStyle/>
          <a:p>
            <a:r>
              <a:rPr lang="en-US" dirty="0"/>
              <a:t>The value of A[j+1] or A[3] will be set to v or 14</a:t>
            </a:r>
          </a:p>
        </p:txBody>
      </p:sp>
      <p:graphicFrame>
        <p:nvGraphicFramePr>
          <p:cNvPr id="14" name="Table 13">
            <a:extLst>
              <a:ext uri="{FF2B5EF4-FFF2-40B4-BE49-F238E27FC236}">
                <a16:creationId xmlns:a16="http://schemas.microsoft.com/office/drawing/2014/main" id="{B2973D3B-B187-0513-1B43-E7F2AF066ED7}"/>
              </a:ext>
            </a:extLst>
          </p:cNvPr>
          <p:cNvGraphicFramePr>
            <a:graphicFrameLocks noGrp="1"/>
          </p:cNvGraphicFramePr>
          <p:nvPr>
            <p:extLst>
              <p:ext uri="{D42A27DB-BD31-4B8C-83A1-F6EECF244321}">
                <p14:modId xmlns:p14="http://schemas.microsoft.com/office/powerpoint/2010/main" val="3334079090"/>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sng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0FD5D06D-268F-2730-8DBC-0651A5EA5C9D}"/>
              </a:ext>
            </a:extLst>
          </p:cNvPr>
          <p:cNvSpPr txBox="1"/>
          <p:nvPr/>
        </p:nvSpPr>
        <p:spPr>
          <a:xfrm>
            <a:off x="9503230" y="4617936"/>
            <a:ext cx="16002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=4</a:t>
            </a:r>
          </a:p>
          <a:p>
            <a:pPr marL="285750" indent="-285750">
              <a:buFont typeface="Arial" panose="020B0604020202020204" pitchFamily="34" charset="0"/>
              <a:buChar char="•"/>
            </a:pPr>
            <a:r>
              <a:rPr lang="en-US" dirty="0"/>
              <a:t>v=14</a:t>
            </a:r>
          </a:p>
          <a:p>
            <a:pPr marL="285750" indent="-285750">
              <a:buFont typeface="Arial" panose="020B0604020202020204" pitchFamily="34" charset="0"/>
              <a:buChar char="•"/>
            </a:pPr>
            <a:r>
              <a:rPr lang="en-US" dirty="0"/>
              <a:t>j= 2</a:t>
            </a:r>
          </a:p>
          <a:p>
            <a:endParaRPr lang="en-US" dirty="0"/>
          </a:p>
        </p:txBody>
      </p:sp>
      <p:cxnSp>
        <p:nvCxnSpPr>
          <p:cNvPr id="2" name="Straight Arrow Connector 1">
            <a:extLst>
              <a:ext uri="{FF2B5EF4-FFF2-40B4-BE49-F238E27FC236}">
                <a16:creationId xmlns:a16="http://schemas.microsoft.com/office/drawing/2014/main" id="{462F369D-34AB-ACB0-9C2B-3B333EB9D337}"/>
              </a:ext>
            </a:extLst>
          </p:cNvPr>
          <p:cNvCxnSpPr>
            <a:cxnSpLocks/>
            <a:stCxn id="7" idx="2"/>
          </p:cNvCxnSpPr>
          <p:nvPr/>
        </p:nvCxnSpPr>
        <p:spPr>
          <a:xfrm>
            <a:off x="10555399"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7BCDE6F-9100-20C3-ACEF-28406911173E}"/>
              </a:ext>
            </a:extLst>
          </p:cNvPr>
          <p:cNvSpPr txBox="1"/>
          <p:nvPr/>
        </p:nvSpPr>
        <p:spPr>
          <a:xfrm>
            <a:off x="10171987"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8371CF8C-0E9A-9FEA-19EA-B136ECC82A6D}"/>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AA408D46-2408-4FBC-01A9-72DBF0EDF8F6}"/>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1FD18AC7-B51E-C007-4E36-BC8FF2D6EEEE}"/>
              </a:ext>
            </a:extLst>
          </p:cNvPr>
          <p:cNvCxnSpPr>
            <a:cxnSpLocks/>
            <a:endCxn id="9" idx="3"/>
          </p:cNvCxnSpPr>
          <p:nvPr/>
        </p:nvCxnSpPr>
        <p:spPr>
          <a:xfrm flipH="1">
            <a:off x="3445057" y="5908834"/>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69CE11AC-50A2-726D-D3FF-B32818F65B27}"/>
              </a:ext>
            </a:extLst>
          </p:cNvPr>
          <p:cNvSpPr/>
          <p:nvPr/>
        </p:nvSpPr>
        <p:spPr>
          <a:xfrm>
            <a:off x="1184263" y="5722389"/>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394602D1-BF02-F3BC-EF5F-5C988FB2B30E}"/>
              </a:ext>
            </a:extLst>
          </p:cNvPr>
          <p:cNvCxnSpPr>
            <a:cxnSpLocks/>
            <a:stCxn id="4" idx="2"/>
          </p:cNvCxnSpPr>
          <p:nvPr/>
        </p:nvCxnSpPr>
        <p:spPr>
          <a:xfrm>
            <a:off x="8421798" y="957182"/>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05AB8FD-22FF-0D7F-635D-88AAD8F4BA68}"/>
              </a:ext>
            </a:extLst>
          </p:cNvPr>
          <p:cNvSpPr txBox="1"/>
          <p:nvPr/>
        </p:nvSpPr>
        <p:spPr>
          <a:xfrm>
            <a:off x="8038386" y="587850"/>
            <a:ext cx="766823" cy="369332"/>
          </a:xfrm>
          <a:prstGeom prst="rect">
            <a:avLst/>
          </a:prstGeom>
          <a:noFill/>
        </p:spPr>
        <p:txBody>
          <a:bodyPr wrap="square" rtlCol="0">
            <a:spAutoFit/>
          </a:bodyPr>
          <a:lstStyle/>
          <a:p>
            <a:pPr algn="ctr"/>
            <a:r>
              <a:rPr lang="en-US" dirty="0"/>
              <a:t>j</a:t>
            </a:r>
          </a:p>
        </p:txBody>
      </p:sp>
      <p:cxnSp>
        <p:nvCxnSpPr>
          <p:cNvPr id="8" name="Straight Arrow Connector 7">
            <a:extLst>
              <a:ext uri="{FF2B5EF4-FFF2-40B4-BE49-F238E27FC236}">
                <a16:creationId xmlns:a16="http://schemas.microsoft.com/office/drawing/2014/main" id="{10277AE4-3049-FDE8-3D4F-91CB5C3B7C78}"/>
              </a:ext>
            </a:extLst>
          </p:cNvPr>
          <p:cNvCxnSpPr>
            <a:cxnSpLocks/>
            <a:endCxn id="10" idx="0"/>
          </p:cNvCxnSpPr>
          <p:nvPr/>
        </p:nvCxnSpPr>
        <p:spPr>
          <a:xfrm>
            <a:off x="9488755" y="1910330"/>
            <a:ext cx="14475" cy="27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83DF120-9E3D-9ADD-DB93-89BA604B048C}"/>
              </a:ext>
            </a:extLst>
          </p:cNvPr>
          <p:cNvSpPr txBox="1"/>
          <p:nvPr/>
        </p:nvSpPr>
        <p:spPr>
          <a:xfrm>
            <a:off x="9119818" y="2184440"/>
            <a:ext cx="766823" cy="369332"/>
          </a:xfrm>
          <a:prstGeom prst="rect">
            <a:avLst/>
          </a:prstGeom>
          <a:noFill/>
        </p:spPr>
        <p:txBody>
          <a:bodyPr wrap="square" rtlCol="0">
            <a:spAutoFit/>
          </a:bodyPr>
          <a:lstStyle/>
          <a:p>
            <a:pPr algn="ctr"/>
            <a:r>
              <a:rPr lang="en-US" dirty="0"/>
              <a:t>14</a:t>
            </a:r>
          </a:p>
        </p:txBody>
      </p:sp>
    </p:spTree>
    <p:extLst>
      <p:ext uri="{BB962C8B-B14F-4D97-AF65-F5344CB8AC3E}">
        <p14:creationId xmlns:p14="http://schemas.microsoft.com/office/powerpoint/2010/main" val="30924547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1EC6E-BAB0-3407-29A0-81D5DD37F00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440A0DD-4B27-31D2-82CA-D1BD6566E464}"/>
              </a:ext>
            </a:extLst>
          </p:cNvPr>
          <p:cNvSpPr>
            <a:spLocks noGrp="1"/>
          </p:cNvSpPr>
          <p:nvPr>
            <p:ph sz="half" idx="2"/>
          </p:nvPr>
        </p:nvSpPr>
        <p:spPr>
          <a:xfrm>
            <a:off x="6318928" y="2658140"/>
            <a:ext cx="5212080" cy="3541492"/>
          </a:xfrm>
        </p:spPr>
        <p:txBody>
          <a:bodyPr/>
          <a:lstStyle/>
          <a:p>
            <a:r>
              <a:rPr lang="en-US" dirty="0"/>
              <a:t>Increment the value of </a:t>
            </a:r>
            <a:r>
              <a:rPr lang="en-US" dirty="0" err="1"/>
              <a:t>i</a:t>
            </a:r>
            <a:r>
              <a:rPr lang="en-US" dirty="0"/>
              <a:t> by 1 which is equal to 5 which exceeds the value of n-1 or 4 </a:t>
            </a:r>
          </a:p>
          <a:p>
            <a:r>
              <a:rPr lang="en-US" dirty="0"/>
              <a:t>The array is now sorted </a:t>
            </a:r>
          </a:p>
        </p:txBody>
      </p:sp>
      <p:graphicFrame>
        <p:nvGraphicFramePr>
          <p:cNvPr id="14" name="Table 13">
            <a:extLst>
              <a:ext uri="{FF2B5EF4-FFF2-40B4-BE49-F238E27FC236}">
                <a16:creationId xmlns:a16="http://schemas.microsoft.com/office/drawing/2014/main" id="{57949E9A-C52A-A223-4031-1FAA910DFAF5}"/>
              </a:ext>
            </a:extLst>
          </p:cNvPr>
          <p:cNvGraphicFramePr>
            <a:graphicFrameLocks noGrp="1"/>
          </p:cNvGraphicFramePr>
          <p:nvPr>
            <p:extLst>
              <p:ext uri="{D42A27DB-BD31-4B8C-83A1-F6EECF244321}">
                <p14:modId xmlns:p14="http://schemas.microsoft.com/office/powerpoint/2010/main" val="1020350990"/>
              </p:ext>
            </p:extLst>
          </p:nvPr>
        </p:nvGraphicFramePr>
        <p:xfrm>
          <a:off x="5704114" y="1183469"/>
          <a:ext cx="5399315" cy="736600"/>
        </p:xfrm>
        <a:graphic>
          <a:graphicData uri="http://schemas.openxmlformats.org/drawingml/2006/table">
            <a:tbl>
              <a:tblPr firstRow="1" bandRow="1">
                <a:tableStyleId>{5940675A-B579-460E-94D1-54222C63F5DA}</a:tableStyleId>
              </a:tblPr>
              <a:tblGrid>
                <a:gridCol w="1079863">
                  <a:extLst>
                    <a:ext uri="{9D8B030D-6E8A-4147-A177-3AD203B41FA5}">
                      <a16:colId xmlns:a16="http://schemas.microsoft.com/office/drawing/2014/main" val="3776879032"/>
                    </a:ext>
                  </a:extLst>
                </a:gridCol>
                <a:gridCol w="1079863">
                  <a:extLst>
                    <a:ext uri="{9D8B030D-6E8A-4147-A177-3AD203B41FA5}">
                      <a16:colId xmlns:a16="http://schemas.microsoft.com/office/drawing/2014/main" val="1797161595"/>
                    </a:ext>
                  </a:extLst>
                </a:gridCol>
                <a:gridCol w="1079863">
                  <a:extLst>
                    <a:ext uri="{9D8B030D-6E8A-4147-A177-3AD203B41FA5}">
                      <a16:colId xmlns:a16="http://schemas.microsoft.com/office/drawing/2014/main" val="953453542"/>
                    </a:ext>
                  </a:extLst>
                </a:gridCol>
                <a:gridCol w="1079863">
                  <a:extLst>
                    <a:ext uri="{9D8B030D-6E8A-4147-A177-3AD203B41FA5}">
                      <a16:colId xmlns:a16="http://schemas.microsoft.com/office/drawing/2014/main" val="2920383398"/>
                    </a:ext>
                  </a:extLst>
                </a:gridCol>
                <a:gridCol w="1079863">
                  <a:extLst>
                    <a:ext uri="{9D8B030D-6E8A-4147-A177-3AD203B41FA5}">
                      <a16:colId xmlns:a16="http://schemas.microsoft.com/office/drawing/2014/main" val="214009401"/>
                    </a:ext>
                  </a:extLst>
                </a:gridCol>
              </a:tblGrid>
              <a:tr h="370840">
                <a:tc>
                  <a:txBody>
                    <a:bodyPr/>
                    <a:lstStyle/>
                    <a:p>
                      <a:pPr algn="ctr"/>
                      <a:r>
                        <a:rPr lang="en-US"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4238458"/>
                  </a:ext>
                </a:extLst>
              </a:tr>
              <a:tr h="0">
                <a:tc>
                  <a:txBody>
                    <a:bodyPr/>
                    <a:lstStyle/>
                    <a:p>
                      <a:pPr algn="ctr"/>
                      <a:r>
                        <a:rPr lang="en-US" strike="noStrik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trike="noStrike"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36611"/>
                  </a:ext>
                </a:extLst>
              </a:tr>
            </a:tbl>
          </a:graphicData>
        </a:graphic>
      </p:graphicFrame>
      <p:sp>
        <p:nvSpPr>
          <p:cNvPr id="15" name="TextBox 14">
            <a:extLst>
              <a:ext uri="{FF2B5EF4-FFF2-40B4-BE49-F238E27FC236}">
                <a16:creationId xmlns:a16="http://schemas.microsoft.com/office/drawing/2014/main" id="{5C377B19-6B30-0C14-9997-E85DCD0DA234}"/>
              </a:ext>
            </a:extLst>
          </p:cNvPr>
          <p:cNvSpPr txBox="1"/>
          <p:nvPr/>
        </p:nvSpPr>
        <p:spPr>
          <a:xfrm>
            <a:off x="9503230" y="4617936"/>
            <a:ext cx="16002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Variables </a:t>
            </a:r>
          </a:p>
          <a:p>
            <a:pPr marL="285750" indent="-285750">
              <a:buFont typeface="Arial" panose="020B0604020202020204" pitchFamily="34" charset="0"/>
              <a:buChar char="•"/>
            </a:pPr>
            <a:r>
              <a:rPr lang="en-US" dirty="0" err="1"/>
              <a:t>i</a:t>
            </a:r>
            <a:r>
              <a:rPr lang="en-US" dirty="0"/>
              <a:t>=5</a:t>
            </a:r>
          </a:p>
          <a:p>
            <a:endParaRPr lang="en-US" dirty="0"/>
          </a:p>
        </p:txBody>
      </p:sp>
      <p:cxnSp>
        <p:nvCxnSpPr>
          <p:cNvPr id="2" name="Straight Arrow Connector 1">
            <a:extLst>
              <a:ext uri="{FF2B5EF4-FFF2-40B4-BE49-F238E27FC236}">
                <a16:creationId xmlns:a16="http://schemas.microsoft.com/office/drawing/2014/main" id="{7D24A581-94BE-11DD-3EDA-64024A7E5D54}"/>
              </a:ext>
            </a:extLst>
          </p:cNvPr>
          <p:cNvCxnSpPr>
            <a:cxnSpLocks/>
            <a:stCxn id="7" idx="2"/>
          </p:cNvCxnSpPr>
          <p:nvPr/>
        </p:nvCxnSpPr>
        <p:spPr>
          <a:xfrm>
            <a:off x="10555399" y="889844"/>
            <a:ext cx="0" cy="22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20867EF-6443-C1E6-84AB-F165FAC0EB55}"/>
              </a:ext>
            </a:extLst>
          </p:cNvPr>
          <p:cNvSpPr txBox="1"/>
          <p:nvPr/>
        </p:nvSpPr>
        <p:spPr>
          <a:xfrm>
            <a:off x="10171987" y="520512"/>
            <a:ext cx="766823" cy="369332"/>
          </a:xfrm>
          <a:prstGeom prst="rect">
            <a:avLst/>
          </a:prstGeom>
          <a:noFill/>
        </p:spPr>
        <p:txBody>
          <a:bodyPr wrap="square" rtlCol="0">
            <a:spAutoFit/>
          </a:bodyPr>
          <a:lstStyle/>
          <a:p>
            <a:pPr algn="ctr"/>
            <a:r>
              <a:rPr lang="en-US" dirty="0" err="1"/>
              <a:t>i</a:t>
            </a:r>
            <a:endParaRPr lang="en-US" dirty="0"/>
          </a:p>
        </p:txBody>
      </p:sp>
      <p:sp>
        <p:nvSpPr>
          <p:cNvPr id="5" name="Title 4">
            <a:extLst>
              <a:ext uri="{FF2B5EF4-FFF2-40B4-BE49-F238E27FC236}">
                <a16:creationId xmlns:a16="http://schemas.microsoft.com/office/drawing/2014/main" id="{4CE544F0-192E-D608-3AAA-7CE2C3115991}"/>
              </a:ext>
            </a:extLst>
          </p:cNvPr>
          <p:cNvSpPr>
            <a:spLocks noGrp="1"/>
          </p:cNvSpPr>
          <p:nvPr>
            <p:ph type="title"/>
          </p:nvPr>
        </p:nvSpPr>
        <p:spPr>
          <a:xfrm>
            <a:off x="640080" y="1371601"/>
            <a:ext cx="4480972" cy="1097280"/>
          </a:xfrm>
        </p:spPr>
        <p:txBody>
          <a:bodyPr/>
          <a:lstStyle/>
          <a:p>
            <a:r>
              <a:rPr lang="en-US" dirty="0"/>
              <a:t>Insertion sort</a:t>
            </a:r>
          </a:p>
        </p:txBody>
      </p:sp>
      <p:pic>
        <p:nvPicPr>
          <p:cNvPr id="16" name="Content Placeholder 15">
            <a:extLst>
              <a:ext uri="{FF2B5EF4-FFF2-40B4-BE49-F238E27FC236}">
                <a16:creationId xmlns:a16="http://schemas.microsoft.com/office/drawing/2014/main" id="{4344588D-FDC9-64AD-00DB-732EAA0E9262}"/>
              </a:ext>
            </a:extLst>
          </p:cNvPr>
          <p:cNvPicPr>
            <a:picLocks noGrp="1" noChangeAspect="1"/>
          </p:cNvPicPr>
          <p:nvPr>
            <p:ph sz="half" idx="1"/>
          </p:nvPr>
        </p:nvPicPr>
        <p:blipFill>
          <a:blip r:embed="rId2"/>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AD105270-850E-705F-974A-397FAFFF3E96}"/>
              </a:ext>
            </a:extLst>
          </p:cNvPr>
          <p:cNvCxnSpPr>
            <a:cxnSpLocks/>
            <a:endCxn id="9" idx="3"/>
          </p:cNvCxnSpPr>
          <p:nvPr/>
        </p:nvCxnSpPr>
        <p:spPr>
          <a:xfrm flipH="1">
            <a:off x="3189871" y="3888643"/>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698F4DE2-1374-0A8F-2A36-D86D79BDF28E}"/>
              </a:ext>
            </a:extLst>
          </p:cNvPr>
          <p:cNvSpPr/>
          <p:nvPr/>
        </p:nvSpPr>
        <p:spPr>
          <a:xfrm>
            <a:off x="929077" y="3702198"/>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1361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529CD3-C461-7C21-F2D7-E67BD7D74DB5}"/>
              </a:ext>
            </a:extLst>
          </p:cNvPr>
          <p:cNvSpPr>
            <a:spLocks noGrp="1"/>
          </p:cNvSpPr>
          <p:nvPr>
            <p:ph type="title"/>
          </p:nvPr>
        </p:nvSpPr>
        <p:spPr/>
        <p:txBody>
          <a:bodyPr/>
          <a:lstStyle/>
          <a:p>
            <a:r>
              <a:rPr lang="en-US" dirty="0"/>
              <a:t>Brute force vs Decrease and Conquer</a:t>
            </a:r>
          </a:p>
        </p:txBody>
      </p:sp>
      <p:sp>
        <p:nvSpPr>
          <p:cNvPr id="6" name="Content Placeholder 5">
            <a:extLst>
              <a:ext uri="{FF2B5EF4-FFF2-40B4-BE49-F238E27FC236}">
                <a16:creationId xmlns:a16="http://schemas.microsoft.com/office/drawing/2014/main" id="{D7FC6B62-C1DD-54E8-F6A4-A0DFE2A39898}"/>
              </a:ext>
            </a:extLst>
          </p:cNvPr>
          <p:cNvSpPr>
            <a:spLocks noGrp="1"/>
          </p:cNvSpPr>
          <p:nvPr>
            <p:ph idx="1"/>
          </p:nvPr>
        </p:nvSpPr>
        <p:spPr/>
        <p:txBody>
          <a:bodyPr/>
          <a:lstStyle/>
          <a:p>
            <a:pPr marL="0" lvl="0" indent="0" eaLnBrk="0" fontAlgn="base" hangingPunct="0">
              <a:lnSpc>
                <a:spcPct val="100000"/>
              </a:lnSpc>
              <a:spcBef>
                <a:spcPct val="0"/>
              </a:spcBef>
              <a:spcAft>
                <a:spcPct val="0"/>
              </a:spcAft>
              <a:buSzTx/>
              <a:buNone/>
            </a:pPr>
            <a:endParaRPr lang="en-US" altLang="en-US" sz="1000" b="1" dirty="0">
              <a:latin typeface="Google Sans"/>
            </a:endParaRPr>
          </a:p>
          <a:p>
            <a:pPr marL="0" lvl="0" indent="0" eaLnBrk="0" fontAlgn="base" hangingPunct="0">
              <a:lnSpc>
                <a:spcPct val="100000"/>
              </a:lnSpc>
              <a:spcBef>
                <a:spcPct val="0"/>
              </a:spcBef>
              <a:spcAft>
                <a:spcPct val="0"/>
              </a:spcAft>
              <a:buSzTx/>
              <a:buFontTx/>
              <a:buChar char="•"/>
            </a:pPr>
            <a:r>
              <a:rPr lang="en-US" altLang="en-US" b="1" dirty="0"/>
              <a:t>Brute Force (e.g., Selection Sort):</a:t>
            </a:r>
            <a:r>
              <a:rPr lang="en-US" altLang="en-US" dirty="0"/>
              <a:t> Scans the entire unsorted list to find the absolute minimum, then swaps it. It doesn't care about the structure of what remains; it just repeats the "search all" process $V$ times.</a:t>
            </a:r>
          </a:p>
          <a:p>
            <a:pPr marL="0" lvl="0" indent="0" eaLnBrk="0" fontAlgn="base" hangingPunct="0">
              <a:lnSpc>
                <a:spcPct val="100000"/>
              </a:lnSpc>
              <a:spcBef>
                <a:spcPct val="0"/>
              </a:spcBef>
              <a:spcAft>
                <a:spcPct val="0"/>
              </a:spcAft>
              <a:buSzTx/>
              <a:buFontTx/>
              <a:buChar char="•"/>
            </a:pPr>
            <a:r>
              <a:rPr lang="en-US" altLang="en-US" b="1" dirty="0"/>
              <a:t>Decrease-and-Conquer (Insertion Sort):</a:t>
            </a:r>
            <a:r>
              <a:rPr lang="en-US" altLang="en-US" dirty="0"/>
              <a:t> It assumes a sub-problem of size n-1 is </a:t>
            </a:r>
            <a:r>
              <a:rPr lang="en-US" altLang="en-US" b="1" dirty="0"/>
              <a:t>already solved</a:t>
            </a:r>
            <a:r>
              <a:rPr lang="en-US" altLang="en-US" dirty="0"/>
              <a:t> (sorted). To solve the problem for size n, it only takes the n-</a:t>
            </a:r>
            <a:r>
              <a:rPr lang="en-US" altLang="en-US" dirty="0" err="1"/>
              <a:t>th</a:t>
            </a:r>
            <a:r>
              <a:rPr lang="en-US" altLang="en-US" dirty="0"/>
              <a:t> element and "inserts" it into that already-solved portion.</a:t>
            </a:r>
          </a:p>
          <a:p>
            <a:endParaRPr lang="en-US" dirty="0"/>
          </a:p>
        </p:txBody>
      </p:sp>
    </p:spTree>
    <p:extLst>
      <p:ext uri="{BB962C8B-B14F-4D97-AF65-F5344CB8AC3E}">
        <p14:creationId xmlns:p14="http://schemas.microsoft.com/office/powerpoint/2010/main" val="26725269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D3C8C-EE53-9EEF-822A-9AA303FB07F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3B06EFE3-E3BA-399E-C74E-DDF26EC54458}"/>
                  </a:ext>
                </a:extLst>
              </p:cNvPr>
              <p:cNvSpPr>
                <a:spLocks noGrp="1"/>
              </p:cNvSpPr>
              <p:nvPr>
                <p:ph sz="half" idx="2"/>
              </p:nvPr>
            </p:nvSpPr>
            <p:spPr>
              <a:xfrm>
                <a:off x="6318928" y="2658140"/>
                <a:ext cx="5212080" cy="3541492"/>
              </a:xfrm>
            </p:spPr>
            <p:txBody>
              <a:bodyPr>
                <a:normAutofit lnSpcReduction="10000"/>
              </a:bodyPr>
              <a:lstStyle/>
              <a:p>
                <a:r>
                  <a:rPr lang="en-US" dirty="0"/>
                  <a:t>The basic operation is comparison</a:t>
                </a:r>
              </a:p>
              <a:p>
                <a:r>
                  <a:rPr lang="en-US" dirty="0"/>
                  <a:t>In the insertion sort we have two cases:</a:t>
                </a:r>
              </a:p>
              <a:p>
                <a:r>
                  <a:rPr lang="en-US" dirty="0"/>
                  <a:t>Worst-case: where j in each iteration goes from j=i-1 till 0 or we can rewrite it to be from 0 till i-1</a:t>
                </a:r>
              </a:p>
              <a:p>
                <a:r>
                  <a:rPr lang="en-US" dirty="0"/>
                  <a:t>T(n)= </a:t>
                </a:r>
                <a14:m>
                  <m:oMath xmlns:m="http://schemas.openxmlformats.org/officeDocument/2006/math">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nary>
                          <m:naryPr>
                            <m:chr m:val="∑"/>
                            <m:limLoc m:val="undOvr"/>
                            <m:grow m:val="on"/>
                            <m:ctrlPr>
                              <a:rPr lang="en-US" i="1">
                                <a:latin typeface="Cambria Math" panose="02040503050406030204" pitchFamily="18" charset="0"/>
                              </a:rPr>
                            </m:ctrlPr>
                          </m:naryPr>
                          <m:sub>
                            <m:r>
                              <m:rPr>
                                <m:brk/>
                                <m:aln/>
                              </m:rPr>
                              <a:rPr lang="en-US" i="1">
                                <a:latin typeface="Cambria Math" panose="02040503050406030204" pitchFamily="18" charset="0"/>
                              </a:rPr>
                              <m:t>𝑗</m:t>
                            </m:r>
                            <m:r>
                              <a:rPr lang="en-US" i="1">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𝑖</m:t>
                            </m:r>
                            <m:r>
                              <a:rPr lang="en-US" b="0" i="1" smtClean="0">
                                <a:latin typeface="Cambria Math" panose="02040503050406030204" pitchFamily="18" charset="0"/>
                              </a:rPr>
                              <m:t>−1</m:t>
                            </m:r>
                          </m:sup>
                          <m:e>
                            <m:r>
                              <a:rPr lang="en-US" b="0" i="1" smtClean="0">
                                <a:latin typeface="Cambria Math" panose="02040503050406030204" pitchFamily="18" charset="0"/>
                              </a:rPr>
                              <m:t>1</m:t>
                            </m:r>
                          </m:e>
                        </m:nary>
                        <m:r>
                          <a:rPr lang="en-US" b="0" i="1" smtClean="0">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r>
                              <a:rPr lang="en-US" b="0" i="1" smtClean="0">
                                <a:latin typeface="Cambria Math" panose="02040503050406030204" pitchFamily="18" charset="0"/>
                              </a:rPr>
                              <m:t>𝑖</m:t>
                            </m:r>
                            <m:r>
                              <a:rPr lang="en-US" b="0" i="1" smtClean="0">
                                <a:latin typeface="Cambria Math" panose="02040503050406030204" pitchFamily="18" charset="0"/>
                              </a:rPr>
                              <m:t>−1−0+1</m:t>
                            </m:r>
                          </m:e>
                        </m:nary>
                      </m:e>
                    </m:nary>
                  </m:oMath>
                </a14:m>
                <a:r>
                  <a:rPr lang="en-US" dirty="0"/>
                  <a:t> = </a:t>
                </a:r>
                <a14:m>
                  <m:oMath xmlns:m="http://schemas.openxmlformats.org/officeDocument/2006/math">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r>
                          <a:rPr lang="en-US" i="1">
                            <a:latin typeface="Cambria Math" panose="02040503050406030204" pitchFamily="18" charset="0"/>
                          </a:rPr>
                          <m:t>𝑖</m:t>
                        </m:r>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−1+1)(</m:t>
                        </m:r>
                        <m:r>
                          <a:rPr lang="en-US" i="1">
                            <a:latin typeface="Cambria Math" panose="02040503050406030204" pitchFamily="18" charset="0"/>
                          </a:rPr>
                          <m:t>𝑛</m:t>
                        </m:r>
                        <m:r>
                          <a:rPr lang="en-US" i="1">
                            <a:latin typeface="Cambria Math" panose="02040503050406030204" pitchFamily="18" charset="0"/>
                          </a:rPr>
                          <m:t>−1)</m:t>
                        </m:r>
                      </m:num>
                      <m:den>
                        <m:r>
                          <a:rPr lang="en-US" i="1">
                            <a:latin typeface="Cambria Math" panose="02040503050406030204" pitchFamily="18" charset="0"/>
                          </a:rPr>
                          <m:t>2</m:t>
                        </m:r>
                      </m:den>
                    </m:f>
                    <m:r>
                      <a:rPr lang="en-US" b="0" i="1" smtClean="0">
                        <a:latin typeface="Cambria Math" panose="02040503050406030204" pitchFamily="18" charset="0"/>
                      </a:rPr>
                      <m:t>=</m:t>
                    </m:r>
                    <m:f>
                      <m:fPr>
                        <m:ctrlPr>
                          <a:rPr lang="en-US" i="1">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num>
                      <m:den>
                        <m:r>
                          <a:rPr lang="en-US" i="1">
                            <a:latin typeface="Cambria Math" panose="02040503050406030204" pitchFamily="18" charset="0"/>
                          </a:rPr>
                          <m:t>2</m:t>
                        </m:r>
                      </m:den>
                    </m:f>
                  </m:oMath>
                </a14:m>
                <a:r>
                  <a:rPr lang="en-US" dirty="0"/>
                  <a:t> </a:t>
                </a:r>
                <a:r>
                  <a:rPr lang="el-GR" dirty="0"/>
                  <a:t>θ</a:t>
                </a:r>
                <a:r>
                  <a:rPr lang="en-US" dirty="0"/>
                  <a:t>(</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2</m:t>
                        </m:r>
                      </m:sup>
                    </m:sSup>
                    <m:r>
                      <a:rPr lang="en-US" i="1">
                        <a:latin typeface="Cambria Math" panose="02040503050406030204" pitchFamily="18" charset="0"/>
                      </a:rPr>
                      <m:t>)</m:t>
                    </m:r>
                  </m:oMath>
                </a14:m>
                <a:endParaRPr lang="en-US" dirty="0"/>
              </a:p>
            </p:txBody>
          </p:sp>
        </mc:Choice>
        <mc:Fallback>
          <p:sp>
            <p:nvSpPr>
              <p:cNvPr id="6" name="Content Placeholder 5">
                <a:extLst>
                  <a:ext uri="{FF2B5EF4-FFF2-40B4-BE49-F238E27FC236}">
                    <a16:creationId xmlns:a16="http://schemas.microsoft.com/office/drawing/2014/main" id="{3B06EFE3-E3BA-399E-C74E-DDF26EC54458}"/>
                  </a:ext>
                </a:extLst>
              </p:cNvPr>
              <p:cNvSpPr>
                <a:spLocks noGrp="1" noRot="1" noChangeAspect="1" noMove="1" noResize="1" noEditPoints="1" noAdjustHandles="1" noChangeArrowheads="1" noChangeShapeType="1" noTextEdit="1"/>
              </p:cNvSpPr>
              <p:nvPr>
                <p:ph sz="half" idx="2"/>
              </p:nvPr>
            </p:nvSpPr>
            <p:spPr>
              <a:xfrm>
                <a:off x="6318928" y="2658140"/>
                <a:ext cx="5212080" cy="3541492"/>
              </a:xfrm>
              <a:blipFill>
                <a:blip r:embed="rId2"/>
                <a:stretch>
                  <a:fillRect l="-702" t="-861"/>
                </a:stretch>
              </a:blipFill>
            </p:spPr>
            <p:txBody>
              <a:bodyPr/>
              <a:lstStyle/>
              <a:p>
                <a:r>
                  <a:rPr lang="en-US">
                    <a:noFill/>
                  </a:rPr>
                  <a:t> </a:t>
                </a:r>
              </a:p>
            </p:txBody>
          </p:sp>
        </mc:Fallback>
      </mc:AlternateContent>
      <p:sp>
        <p:nvSpPr>
          <p:cNvPr id="5" name="Title 4">
            <a:extLst>
              <a:ext uri="{FF2B5EF4-FFF2-40B4-BE49-F238E27FC236}">
                <a16:creationId xmlns:a16="http://schemas.microsoft.com/office/drawing/2014/main" id="{0E98DFA8-A3E4-F28E-5233-D027EBECBE0B}"/>
              </a:ext>
            </a:extLst>
          </p:cNvPr>
          <p:cNvSpPr>
            <a:spLocks noGrp="1"/>
          </p:cNvSpPr>
          <p:nvPr>
            <p:ph type="title"/>
          </p:nvPr>
        </p:nvSpPr>
        <p:spPr>
          <a:xfrm>
            <a:off x="640080" y="1371601"/>
            <a:ext cx="10007600" cy="617212"/>
          </a:xfrm>
        </p:spPr>
        <p:txBody>
          <a:bodyPr>
            <a:normAutofit fontScale="90000"/>
          </a:bodyPr>
          <a:lstStyle/>
          <a:p>
            <a:r>
              <a:rPr lang="en-US" dirty="0"/>
              <a:t>Insertion sort Time Analysis</a:t>
            </a:r>
          </a:p>
        </p:txBody>
      </p:sp>
      <p:pic>
        <p:nvPicPr>
          <p:cNvPr id="16" name="Content Placeholder 15">
            <a:extLst>
              <a:ext uri="{FF2B5EF4-FFF2-40B4-BE49-F238E27FC236}">
                <a16:creationId xmlns:a16="http://schemas.microsoft.com/office/drawing/2014/main" id="{2A6DCBC8-0270-C2E7-8051-61F83E5277C0}"/>
              </a:ext>
            </a:extLst>
          </p:cNvPr>
          <p:cNvPicPr>
            <a:picLocks noGrp="1" noChangeAspect="1"/>
          </p:cNvPicPr>
          <p:nvPr>
            <p:ph sz="half" idx="1"/>
          </p:nvPr>
        </p:nvPicPr>
        <p:blipFill>
          <a:blip r:embed="rId3"/>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2DFDBBAF-FDE5-7D7D-C81C-914DC3E13A79}"/>
              </a:ext>
            </a:extLst>
          </p:cNvPr>
          <p:cNvCxnSpPr>
            <a:cxnSpLocks/>
            <a:endCxn id="9" idx="3"/>
          </p:cNvCxnSpPr>
          <p:nvPr/>
        </p:nvCxnSpPr>
        <p:spPr>
          <a:xfrm flipH="1">
            <a:off x="3575951" y="4853843"/>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1C0E0548-A885-4191-B5F9-8503EFFD5302}"/>
              </a:ext>
            </a:extLst>
          </p:cNvPr>
          <p:cNvSpPr/>
          <p:nvPr/>
        </p:nvSpPr>
        <p:spPr>
          <a:xfrm>
            <a:off x="1315157" y="4667398"/>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166039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87E60-26EF-06D8-33B3-CC020CA1F98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35469E34-0B64-532C-B5A5-288AD3EF6B1D}"/>
                  </a:ext>
                </a:extLst>
              </p:cNvPr>
              <p:cNvSpPr>
                <a:spLocks noGrp="1"/>
              </p:cNvSpPr>
              <p:nvPr>
                <p:ph sz="half" idx="2"/>
              </p:nvPr>
            </p:nvSpPr>
            <p:spPr>
              <a:xfrm>
                <a:off x="6318928" y="2658140"/>
                <a:ext cx="5212080" cy="3541492"/>
              </a:xfrm>
            </p:spPr>
            <p:txBody>
              <a:bodyPr>
                <a:normAutofit/>
              </a:bodyPr>
              <a:lstStyle/>
              <a:p>
                <a:r>
                  <a:rPr lang="en-US" dirty="0"/>
                  <a:t>Best-case: the comparison A[j]&gt;v is executed only once one very iteration of the outer loop. It happens if the input array is already sorted in nondecreasing order.</a:t>
                </a:r>
              </a:p>
              <a:p>
                <a:r>
                  <a:rPr lang="en-US" dirty="0"/>
                  <a:t>T(n)= = </a:t>
                </a:r>
                <a14:m>
                  <m:oMath xmlns:m="http://schemas.openxmlformats.org/officeDocument/2006/math">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r>
                          <a:rPr lang="en-US" b="0" i="1" smtClean="0">
                            <a:latin typeface="Cambria Math" panose="02040503050406030204" pitchFamily="18" charset="0"/>
                          </a:rPr>
                          <m:t>1</m:t>
                        </m:r>
                      </m:e>
                    </m:nary>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−1−1+1 =</m:t>
                    </m:r>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a:t>
                </a:r>
              </a:p>
            </p:txBody>
          </p:sp>
        </mc:Choice>
        <mc:Fallback>
          <p:sp>
            <p:nvSpPr>
              <p:cNvPr id="6" name="Content Placeholder 5">
                <a:extLst>
                  <a:ext uri="{FF2B5EF4-FFF2-40B4-BE49-F238E27FC236}">
                    <a16:creationId xmlns:a16="http://schemas.microsoft.com/office/drawing/2014/main" id="{35469E34-0B64-532C-B5A5-288AD3EF6B1D}"/>
                  </a:ext>
                </a:extLst>
              </p:cNvPr>
              <p:cNvSpPr>
                <a:spLocks noGrp="1" noRot="1" noChangeAspect="1" noMove="1" noResize="1" noEditPoints="1" noAdjustHandles="1" noChangeArrowheads="1" noChangeShapeType="1" noTextEdit="1"/>
              </p:cNvSpPr>
              <p:nvPr>
                <p:ph sz="half" idx="2"/>
              </p:nvPr>
            </p:nvSpPr>
            <p:spPr>
              <a:xfrm>
                <a:off x="6318928" y="2658140"/>
                <a:ext cx="5212080" cy="3541492"/>
              </a:xfrm>
              <a:blipFill>
                <a:blip r:embed="rId2"/>
                <a:stretch>
                  <a:fillRect l="-702" t="-172" r="-585"/>
                </a:stretch>
              </a:blipFill>
            </p:spPr>
            <p:txBody>
              <a:bodyPr/>
              <a:lstStyle/>
              <a:p>
                <a:r>
                  <a:rPr lang="en-US">
                    <a:noFill/>
                  </a:rPr>
                  <a:t> </a:t>
                </a:r>
              </a:p>
            </p:txBody>
          </p:sp>
        </mc:Fallback>
      </mc:AlternateContent>
      <p:sp>
        <p:nvSpPr>
          <p:cNvPr id="5" name="Title 4">
            <a:extLst>
              <a:ext uri="{FF2B5EF4-FFF2-40B4-BE49-F238E27FC236}">
                <a16:creationId xmlns:a16="http://schemas.microsoft.com/office/drawing/2014/main" id="{11B11BF6-77EA-135C-E58E-76F03D38E3B4}"/>
              </a:ext>
            </a:extLst>
          </p:cNvPr>
          <p:cNvSpPr>
            <a:spLocks noGrp="1"/>
          </p:cNvSpPr>
          <p:nvPr>
            <p:ph type="title"/>
          </p:nvPr>
        </p:nvSpPr>
        <p:spPr>
          <a:xfrm>
            <a:off x="640080" y="1371601"/>
            <a:ext cx="10007600" cy="617212"/>
          </a:xfrm>
        </p:spPr>
        <p:txBody>
          <a:bodyPr>
            <a:normAutofit fontScale="90000"/>
          </a:bodyPr>
          <a:lstStyle/>
          <a:p>
            <a:r>
              <a:rPr lang="en-US" dirty="0"/>
              <a:t>Insertion sort Time Analysis</a:t>
            </a:r>
          </a:p>
        </p:txBody>
      </p:sp>
      <p:pic>
        <p:nvPicPr>
          <p:cNvPr id="16" name="Content Placeholder 15">
            <a:extLst>
              <a:ext uri="{FF2B5EF4-FFF2-40B4-BE49-F238E27FC236}">
                <a16:creationId xmlns:a16="http://schemas.microsoft.com/office/drawing/2014/main" id="{20BAF5B6-C5C9-0028-525B-50EFF702831B}"/>
              </a:ext>
            </a:extLst>
          </p:cNvPr>
          <p:cNvPicPr>
            <a:picLocks noGrp="1" noChangeAspect="1"/>
          </p:cNvPicPr>
          <p:nvPr>
            <p:ph sz="half" idx="1"/>
          </p:nvPr>
        </p:nvPicPr>
        <p:blipFill>
          <a:blip r:embed="rId3"/>
          <a:stretch>
            <a:fillRect/>
          </a:stretch>
        </p:blipFill>
        <p:spPr>
          <a:xfrm>
            <a:off x="640079" y="2175256"/>
            <a:ext cx="4910489" cy="4024376"/>
          </a:xfrm>
          <a:prstGeom prst="rect">
            <a:avLst/>
          </a:prstGeom>
        </p:spPr>
      </p:pic>
      <p:cxnSp>
        <p:nvCxnSpPr>
          <p:cNvPr id="11" name="Straight Arrow Connector 10">
            <a:extLst>
              <a:ext uri="{FF2B5EF4-FFF2-40B4-BE49-F238E27FC236}">
                <a16:creationId xmlns:a16="http://schemas.microsoft.com/office/drawing/2014/main" id="{3A3CF1AD-0215-597A-5BBF-CE253556F2D1}"/>
              </a:ext>
            </a:extLst>
          </p:cNvPr>
          <p:cNvCxnSpPr>
            <a:cxnSpLocks/>
            <a:endCxn id="9" idx="3"/>
          </p:cNvCxnSpPr>
          <p:nvPr/>
        </p:nvCxnSpPr>
        <p:spPr>
          <a:xfrm flipH="1">
            <a:off x="3575951" y="4853843"/>
            <a:ext cx="6545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92DF8479-406B-0ECC-6B49-C0B63A30F065}"/>
              </a:ext>
            </a:extLst>
          </p:cNvPr>
          <p:cNvSpPr/>
          <p:nvPr/>
        </p:nvSpPr>
        <p:spPr>
          <a:xfrm>
            <a:off x="1315157" y="4667398"/>
            <a:ext cx="2260794" cy="37288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9D6F493-EC3E-7D14-8291-2B2DACD1A544}"/>
                  </a:ext>
                </a:extLst>
              </p:cNvPr>
              <p:cNvSpPr txBox="1"/>
              <p:nvPr/>
            </p:nvSpPr>
            <p:spPr>
              <a:xfrm>
                <a:off x="10190480" y="5377934"/>
                <a:ext cx="761299" cy="369332"/>
              </a:xfrm>
              <a:prstGeom prst="rect">
                <a:avLst/>
              </a:prstGeom>
              <a:noFill/>
            </p:spPr>
            <p:txBody>
              <a:bodyPr wrap="square">
                <a:spAutoFit/>
              </a:bodyPr>
              <a:lstStyle/>
              <a:p>
                <a:r>
                  <a:rPr lang="el-GR" dirty="0"/>
                  <a:t>θ</a:t>
                </a:r>
                <a:r>
                  <a:rPr lang="en-US" dirty="0"/>
                  <a:t>(n</a:t>
                </a:r>
                <a14:m>
                  <m:oMath xmlns:m="http://schemas.openxmlformats.org/officeDocument/2006/math">
                    <m:r>
                      <a:rPr lang="en-US" i="1">
                        <a:latin typeface="Cambria Math" panose="02040503050406030204" pitchFamily="18" charset="0"/>
                      </a:rPr>
                      <m:t>)</m:t>
                    </m:r>
                  </m:oMath>
                </a14:m>
                <a:endParaRPr lang="en-US" dirty="0"/>
              </a:p>
            </p:txBody>
          </p:sp>
        </mc:Choice>
        <mc:Fallback>
          <p:sp>
            <p:nvSpPr>
              <p:cNvPr id="3" name="TextBox 2">
                <a:extLst>
                  <a:ext uri="{FF2B5EF4-FFF2-40B4-BE49-F238E27FC236}">
                    <a16:creationId xmlns:a16="http://schemas.microsoft.com/office/drawing/2014/main" id="{D9D6F493-EC3E-7D14-8291-2B2DACD1A544}"/>
                  </a:ext>
                </a:extLst>
              </p:cNvPr>
              <p:cNvSpPr txBox="1">
                <a:spLocks noRot="1" noChangeAspect="1" noMove="1" noResize="1" noEditPoints="1" noAdjustHandles="1" noChangeArrowheads="1" noChangeShapeType="1" noTextEdit="1"/>
              </p:cNvSpPr>
              <p:nvPr/>
            </p:nvSpPr>
            <p:spPr>
              <a:xfrm>
                <a:off x="10190480" y="5377934"/>
                <a:ext cx="761299" cy="369332"/>
              </a:xfrm>
              <a:prstGeom prst="rect">
                <a:avLst/>
              </a:prstGeom>
              <a:blipFill>
                <a:blip r:embed="rId4"/>
                <a:stretch>
                  <a:fillRect l="-7200"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2309798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0EC46-FF09-5C09-DC90-0FF1044A9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95F7B-E7CD-700D-66DE-07406174D962}"/>
              </a:ext>
            </a:extLst>
          </p:cNvPr>
          <p:cNvSpPr>
            <a:spLocks noGrp="1"/>
          </p:cNvSpPr>
          <p:nvPr>
            <p:ph type="title"/>
          </p:nvPr>
        </p:nvSpPr>
        <p:spPr>
          <a:xfrm>
            <a:off x="640080" y="1371600"/>
            <a:ext cx="4670661" cy="3030842"/>
          </a:xfrm>
        </p:spPr>
        <p:txBody>
          <a:bodyPr vert="horz" lIns="91440" tIns="45720" rIns="91440" bIns="45720" rtlCol="0" anchor="t">
            <a:normAutofit fontScale="90000"/>
          </a:bodyPr>
          <a:lstStyle/>
          <a:p>
            <a:pPr>
              <a:lnSpc>
                <a:spcPct val="90000"/>
              </a:lnSpc>
            </a:pPr>
            <a:r>
              <a:rPr lang="en-US" sz="5400" dirty="0"/>
              <a:t>Topological Sorting</a:t>
            </a: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br>
              <a:rPr lang="en-US" sz="5000" b="1" kern="1200" dirty="0">
                <a:solidFill>
                  <a:schemeClr val="tx1"/>
                </a:solidFill>
                <a:latin typeface="+mj-lt"/>
                <a:ea typeface="+mj-ea"/>
                <a:cs typeface="+mj-cs"/>
              </a:rPr>
            </a:br>
            <a:endParaRPr lang="en-US" sz="5000" b="1" kern="1200" dirty="0">
              <a:solidFill>
                <a:schemeClr val="tx1"/>
              </a:solidFill>
              <a:latin typeface="+mj-lt"/>
              <a:ea typeface="+mj-ea"/>
              <a:cs typeface="+mj-cs"/>
            </a:endParaRPr>
          </a:p>
        </p:txBody>
      </p:sp>
      <p:pic>
        <p:nvPicPr>
          <p:cNvPr id="4" name="Picture 3" descr="Aqua and green fractal background like floral petal">
            <a:extLst>
              <a:ext uri="{FF2B5EF4-FFF2-40B4-BE49-F238E27FC236}">
                <a16:creationId xmlns:a16="http://schemas.microsoft.com/office/drawing/2014/main" id="{9EDDD50A-1398-C44F-F014-9607D99A48D5}"/>
              </a:ext>
            </a:extLst>
          </p:cNvPr>
          <p:cNvPicPr>
            <a:picLocks noChangeAspect="1"/>
          </p:cNvPicPr>
          <p:nvPr/>
        </p:nvPicPr>
        <p:blipFill>
          <a:blip r:embed="rId2"/>
          <a:srcRect l="13395" r="24521"/>
          <a:stretch>
            <a:fillRect/>
          </a:stretch>
        </p:blipFill>
        <p:spPr>
          <a:xfrm>
            <a:off x="6515100" y="10"/>
            <a:ext cx="5676900" cy="6857990"/>
          </a:xfrm>
          <a:prstGeom prst="rect">
            <a:avLst/>
          </a:prstGeom>
        </p:spPr>
      </p:pic>
    </p:spTree>
    <p:extLst>
      <p:ext uri="{BB962C8B-B14F-4D97-AF65-F5344CB8AC3E}">
        <p14:creationId xmlns:p14="http://schemas.microsoft.com/office/powerpoint/2010/main" val="324861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B6E9-A2A1-F256-C3F6-AE87B25C6EED}"/>
              </a:ext>
            </a:extLst>
          </p:cNvPr>
          <p:cNvSpPr>
            <a:spLocks noGrp="1"/>
          </p:cNvSpPr>
          <p:nvPr>
            <p:ph type="title"/>
          </p:nvPr>
        </p:nvSpPr>
        <p:spPr/>
        <p:txBody>
          <a:bodyPr/>
          <a:lstStyle/>
          <a:p>
            <a:r>
              <a:rPr lang="en-US" dirty="0"/>
              <a:t>What is Topological Sorting</a:t>
            </a:r>
          </a:p>
        </p:txBody>
      </p:sp>
      <p:sp>
        <p:nvSpPr>
          <p:cNvPr id="3" name="Content Placeholder 2">
            <a:extLst>
              <a:ext uri="{FF2B5EF4-FFF2-40B4-BE49-F238E27FC236}">
                <a16:creationId xmlns:a16="http://schemas.microsoft.com/office/drawing/2014/main" id="{B37A6778-616F-F620-7E46-482672747A2E}"/>
              </a:ext>
            </a:extLst>
          </p:cNvPr>
          <p:cNvSpPr>
            <a:spLocks noGrp="1"/>
          </p:cNvSpPr>
          <p:nvPr>
            <p:ph idx="1"/>
          </p:nvPr>
        </p:nvSpPr>
        <p:spPr/>
        <p:txBody>
          <a:bodyPr/>
          <a:lstStyle/>
          <a:p>
            <a:r>
              <a:rPr lang="en-US" altLang="en-US" dirty="0"/>
              <a:t>Topological Sorting is a linear ordering of nodes in a </a:t>
            </a:r>
            <a:r>
              <a:rPr lang="en-US" altLang="en-US" b="1" dirty="0"/>
              <a:t>Directed Acyclic Graph (DAG)</a:t>
            </a:r>
            <a:r>
              <a:rPr lang="en-US" altLang="en-US" dirty="0"/>
              <a:t> such that for every directed edge from node u to node v, u always appears before v.</a:t>
            </a:r>
          </a:p>
          <a:p>
            <a:r>
              <a:rPr lang="en-US" altLang="en-US" dirty="0"/>
              <a:t>Example:</a:t>
            </a:r>
          </a:p>
          <a:p>
            <a:pPr lvl="1" eaLnBrk="0" fontAlgn="base" hangingPunct="0">
              <a:lnSpc>
                <a:spcPct val="100000"/>
              </a:lnSpc>
              <a:spcBef>
                <a:spcPct val="0"/>
              </a:spcBef>
              <a:spcAft>
                <a:spcPct val="0"/>
              </a:spcAft>
              <a:buSzTx/>
            </a:pPr>
            <a:r>
              <a:rPr lang="en-US" altLang="en-US" dirty="0"/>
              <a:t> </a:t>
            </a:r>
            <a:r>
              <a:rPr lang="en-US" altLang="en-US" sz="2000" b="1" dirty="0"/>
              <a:t>University Course Prerequisites:</a:t>
            </a:r>
            <a:r>
              <a:rPr lang="en-US" altLang="en-US" sz="2000" dirty="0"/>
              <a:t> You can't take computing Alogrithm until you've passed Data structure.</a:t>
            </a:r>
          </a:p>
          <a:p>
            <a:pPr lvl="1" eaLnBrk="0" fontAlgn="base" hangingPunct="0">
              <a:lnSpc>
                <a:spcPct val="100000"/>
              </a:lnSpc>
              <a:spcBef>
                <a:spcPct val="0"/>
              </a:spcBef>
              <a:spcAft>
                <a:spcPct val="0"/>
              </a:spcAft>
              <a:buSzTx/>
            </a:pPr>
            <a:r>
              <a:rPr lang="en-US" altLang="en-US" sz="2000" b="1" dirty="0"/>
              <a:t>Build Systems (like Make or Gradle):</a:t>
            </a:r>
            <a:r>
              <a:rPr lang="en-US" altLang="en-US" sz="2000" dirty="0"/>
              <a:t> Compiling a software project requires compiling libraries in a specific order based on their dependencies.</a:t>
            </a:r>
          </a:p>
          <a:p>
            <a:pPr eaLnBrk="0" fontAlgn="base" hangingPunct="0">
              <a:lnSpc>
                <a:spcPct val="100000"/>
              </a:lnSpc>
              <a:spcBef>
                <a:spcPct val="0"/>
              </a:spcBef>
              <a:spcAft>
                <a:spcPct val="0"/>
              </a:spcAft>
              <a:buSzTx/>
            </a:pPr>
            <a:r>
              <a:rPr lang="en-US" altLang="en-US" sz="2200" dirty="0"/>
              <a:t> there are two algorithm defined to sort them:</a:t>
            </a:r>
          </a:p>
          <a:p>
            <a:pPr lvl="1" eaLnBrk="0" fontAlgn="base" hangingPunct="0">
              <a:lnSpc>
                <a:spcPct val="100000"/>
              </a:lnSpc>
              <a:spcBef>
                <a:spcPct val="0"/>
              </a:spcBef>
              <a:spcAft>
                <a:spcPct val="0"/>
              </a:spcAft>
              <a:buSzTx/>
            </a:pPr>
            <a:r>
              <a:rPr lang="en-US" sz="2000" dirty="0"/>
              <a:t>Depth-first search</a:t>
            </a:r>
          </a:p>
          <a:p>
            <a:pPr lvl="1" eaLnBrk="0" fontAlgn="base" hangingPunct="0">
              <a:lnSpc>
                <a:spcPct val="100000"/>
              </a:lnSpc>
              <a:spcBef>
                <a:spcPct val="0"/>
              </a:spcBef>
              <a:spcAft>
                <a:spcPct val="0"/>
              </a:spcAft>
              <a:buSzTx/>
            </a:pPr>
            <a:r>
              <a:rPr lang="en-US" altLang="en-US" sz="2000" dirty="0"/>
              <a:t>Source removal </a:t>
            </a:r>
          </a:p>
          <a:p>
            <a:pPr lvl="1"/>
            <a:endParaRPr lang="en-US" altLang="en-US" dirty="0"/>
          </a:p>
          <a:p>
            <a:endParaRPr lang="en-US" dirty="0"/>
          </a:p>
        </p:txBody>
      </p:sp>
    </p:spTree>
    <p:extLst>
      <p:ext uri="{BB962C8B-B14F-4D97-AF65-F5344CB8AC3E}">
        <p14:creationId xmlns:p14="http://schemas.microsoft.com/office/powerpoint/2010/main" val="29813749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666970-B131-0D19-B049-0450E075D195}"/>
              </a:ext>
            </a:extLst>
          </p:cNvPr>
          <p:cNvSpPr>
            <a:spLocks noGrp="1"/>
          </p:cNvSpPr>
          <p:nvPr>
            <p:ph type="title"/>
          </p:nvPr>
        </p:nvSpPr>
        <p:spPr>
          <a:xfrm>
            <a:off x="640080" y="1302091"/>
            <a:ext cx="3291840" cy="2770216"/>
          </a:xfrm>
        </p:spPr>
        <p:txBody>
          <a:bodyPr vert="horz" lIns="91440" tIns="45720" rIns="91440" bIns="45720" rtlCol="0" anchor="t">
            <a:normAutofit/>
          </a:bodyPr>
          <a:lstStyle/>
          <a:p>
            <a:r>
              <a:rPr lang="en-US" altLang="en-US" sz="4400"/>
              <a:t>Directed Acyclic Graph (DAG)</a:t>
            </a:r>
            <a:endParaRPr lang="en-US" sz="4400"/>
          </a:p>
        </p:txBody>
      </p:sp>
      <p:cxnSp>
        <p:nvCxnSpPr>
          <p:cNvPr id="14" name="Straight Connector 13">
            <a:extLst>
              <a:ext uri="{FF2B5EF4-FFF2-40B4-BE49-F238E27FC236}">
                <a16:creationId xmlns:a16="http://schemas.microsoft.com/office/drawing/2014/main" id="{59D7B6BE-A4E0-4483-BEC5-493AC3E5D2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4596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9347E3B7-8D28-0446-8CC0-70A53392C744}"/>
              </a:ext>
            </a:extLst>
          </p:cNvPr>
          <p:cNvPicPr>
            <a:picLocks noGrp="1" noChangeAspect="1"/>
          </p:cNvPicPr>
          <p:nvPr>
            <p:ph idx="1"/>
          </p:nvPr>
        </p:nvPicPr>
        <p:blipFill>
          <a:blip r:embed="rId2"/>
          <a:stretch>
            <a:fillRect/>
          </a:stretch>
        </p:blipFill>
        <p:spPr>
          <a:xfrm>
            <a:off x="4978400" y="966978"/>
            <a:ext cx="5445760" cy="4873752"/>
          </a:xfrm>
          <a:prstGeom prst="rect">
            <a:avLst/>
          </a:prstGeom>
        </p:spPr>
      </p:pic>
    </p:spTree>
    <p:extLst>
      <p:ext uri="{BB962C8B-B14F-4D97-AF65-F5344CB8AC3E}">
        <p14:creationId xmlns:p14="http://schemas.microsoft.com/office/powerpoint/2010/main" val="3391876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81273-0678-8BE4-5C1E-8BFEC8240B77}"/>
              </a:ext>
            </a:extLst>
          </p:cNvPr>
          <p:cNvSpPr>
            <a:spLocks noGrp="1"/>
          </p:cNvSpPr>
          <p:nvPr>
            <p:ph type="title"/>
          </p:nvPr>
        </p:nvSpPr>
        <p:spPr/>
        <p:txBody>
          <a:bodyPr/>
          <a:lstStyle/>
          <a:p>
            <a:r>
              <a:rPr lang="en-US" dirty="0"/>
              <a:t>DFS based Algorithm</a:t>
            </a:r>
          </a:p>
        </p:txBody>
      </p:sp>
      <p:pic>
        <p:nvPicPr>
          <p:cNvPr id="5" name="Content Placeholder 4">
            <a:extLst>
              <a:ext uri="{FF2B5EF4-FFF2-40B4-BE49-F238E27FC236}">
                <a16:creationId xmlns:a16="http://schemas.microsoft.com/office/drawing/2014/main" id="{E3AF16B5-857B-6105-D727-9B5BE3B2E44D}"/>
              </a:ext>
            </a:extLst>
          </p:cNvPr>
          <p:cNvPicPr>
            <a:picLocks noGrp="1" noChangeAspect="1"/>
          </p:cNvPicPr>
          <p:nvPr>
            <p:ph idx="1"/>
          </p:nvPr>
        </p:nvPicPr>
        <p:blipFill>
          <a:blip r:embed="rId2"/>
          <a:stretch>
            <a:fillRect/>
          </a:stretch>
        </p:blipFill>
        <p:spPr>
          <a:xfrm>
            <a:off x="1270000" y="2336800"/>
            <a:ext cx="9143999" cy="3555999"/>
          </a:xfrm>
          <a:prstGeom prst="rect">
            <a:avLst/>
          </a:prstGeom>
        </p:spPr>
      </p:pic>
      <p:sp>
        <p:nvSpPr>
          <p:cNvPr id="6" name="TextBox 5">
            <a:extLst>
              <a:ext uri="{FF2B5EF4-FFF2-40B4-BE49-F238E27FC236}">
                <a16:creationId xmlns:a16="http://schemas.microsoft.com/office/drawing/2014/main" id="{50213BDB-3357-7975-7E1B-CAEB580968FE}"/>
              </a:ext>
            </a:extLst>
          </p:cNvPr>
          <p:cNvSpPr txBox="1"/>
          <p:nvPr/>
        </p:nvSpPr>
        <p:spPr>
          <a:xfrm>
            <a:off x="3433510" y="6047874"/>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2779479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BB136-6A0F-C799-D324-E79577CFA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AFBE3-03AB-1CC2-8C6D-B2EDCF962FA8}"/>
              </a:ext>
            </a:extLst>
          </p:cNvPr>
          <p:cNvSpPr>
            <a:spLocks noGrp="1"/>
          </p:cNvSpPr>
          <p:nvPr>
            <p:ph type="title"/>
          </p:nvPr>
        </p:nvSpPr>
        <p:spPr/>
        <p:txBody>
          <a:bodyPr/>
          <a:lstStyle/>
          <a:p>
            <a:r>
              <a:rPr lang="en-US" dirty="0"/>
              <a:t>DFS based Algorithm</a:t>
            </a:r>
          </a:p>
        </p:txBody>
      </p:sp>
      <p:sp>
        <p:nvSpPr>
          <p:cNvPr id="4" name="Content Placeholder 3">
            <a:extLst>
              <a:ext uri="{FF2B5EF4-FFF2-40B4-BE49-F238E27FC236}">
                <a16:creationId xmlns:a16="http://schemas.microsoft.com/office/drawing/2014/main" id="{0FADC5FD-8EF0-4597-4010-AD7952450131}"/>
              </a:ext>
            </a:extLst>
          </p:cNvPr>
          <p:cNvSpPr>
            <a:spLocks noGrp="1"/>
          </p:cNvSpPr>
          <p:nvPr>
            <p:ph idx="1"/>
          </p:nvPr>
        </p:nvSpPr>
        <p:spPr/>
        <p:txBody>
          <a:bodyPr>
            <a:normAutofit/>
          </a:bodyPr>
          <a:lstStyle/>
          <a:p>
            <a:r>
              <a:rPr lang="en-US" dirty="0"/>
              <a:t>Performa DFS traversal and note the order in which vertices become dead-ends (i.e., popped off the traversal stack). </a:t>
            </a:r>
          </a:p>
          <a:p>
            <a:r>
              <a:rPr lang="en-US" dirty="0"/>
              <a:t>Reversing this order yields a solution to the topological sorting problem, provided, of course, no back edge has been encountered during the traversal. </a:t>
            </a:r>
          </a:p>
          <a:p>
            <a:r>
              <a:rPr lang="en-US" dirty="0"/>
              <a:t>If a back edge has been encountered, the digraph is not a </a:t>
            </a:r>
            <a:r>
              <a:rPr lang="en-US" dirty="0" err="1"/>
              <a:t>dag</a:t>
            </a:r>
            <a:r>
              <a:rPr lang="en-US" dirty="0"/>
              <a:t>, and topological sorting of its vertices is impossible</a:t>
            </a:r>
          </a:p>
          <a:p>
            <a:r>
              <a:rPr lang="en-US" dirty="0"/>
              <a:t>When a vertex v is popped off a DFS stack, no vertex u with an edge from u to v can be among the vertices popped off before v. (Otherwise, (u, v) would have been a back edge.) </a:t>
            </a:r>
          </a:p>
        </p:txBody>
      </p:sp>
    </p:spTree>
    <p:extLst>
      <p:ext uri="{BB962C8B-B14F-4D97-AF65-F5344CB8AC3E}">
        <p14:creationId xmlns:p14="http://schemas.microsoft.com/office/powerpoint/2010/main" val="2310319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B4626-7B60-0E03-EC7E-B36A06A62C0E}"/>
              </a:ext>
            </a:extLst>
          </p:cNvPr>
          <p:cNvSpPr>
            <a:spLocks noGrp="1"/>
          </p:cNvSpPr>
          <p:nvPr>
            <p:ph type="title"/>
          </p:nvPr>
        </p:nvSpPr>
        <p:spPr/>
        <p:txBody>
          <a:bodyPr/>
          <a:lstStyle/>
          <a:p>
            <a:r>
              <a:rPr lang="en-US" dirty="0"/>
              <a:t>DFS based algorithm Time Analysis </a:t>
            </a:r>
          </a:p>
        </p:txBody>
      </p:sp>
      <p:sp>
        <p:nvSpPr>
          <p:cNvPr id="3" name="Content Placeholder 2">
            <a:extLst>
              <a:ext uri="{FF2B5EF4-FFF2-40B4-BE49-F238E27FC236}">
                <a16:creationId xmlns:a16="http://schemas.microsoft.com/office/drawing/2014/main" id="{B010B8F1-91BA-7852-72C7-C2F8A5F419ED}"/>
              </a:ext>
            </a:extLst>
          </p:cNvPr>
          <p:cNvSpPr>
            <a:spLocks noGrp="1"/>
          </p:cNvSpPr>
          <p:nvPr>
            <p:ph idx="1"/>
          </p:nvPr>
        </p:nvSpPr>
        <p:spPr>
          <a:xfrm>
            <a:off x="640080" y="2633472"/>
            <a:ext cx="10890928" cy="4051808"/>
          </a:xfrm>
        </p:spPr>
        <p:txBody>
          <a:bodyPr>
            <a:normAutofit lnSpcReduction="10000"/>
          </a:bodyPr>
          <a:lstStyle/>
          <a:p>
            <a:r>
              <a:rPr lang="en-US" sz="2200" dirty="0"/>
              <a:t>While DFS is an exhaustive traversal technique, the Topological Sort algorithm uses it to implement </a:t>
            </a:r>
            <a:r>
              <a:rPr lang="en-US" sz="2200" b="1" dirty="0"/>
              <a:t>Decrease-and-Conquer</a:t>
            </a:r>
            <a:r>
              <a:rPr lang="en-US" sz="2200" dirty="0"/>
              <a:t>. It systematically identifies a node that can be 'finished' (the conquer step), effectively removing it from the dependency web and reducing the problem to a smaller sub-graph (the decrease step).</a:t>
            </a:r>
          </a:p>
          <a:p>
            <a:r>
              <a:rPr lang="en-US" altLang="en-US" sz="2200" dirty="0"/>
              <a:t>DFS-based sorting is efficient because it </a:t>
            </a:r>
            <a:r>
              <a:rPr lang="en-US" altLang="en-US" sz="2200" b="1" dirty="0"/>
              <a:t>follows the arrows</a:t>
            </a:r>
            <a:r>
              <a:rPr lang="en-US" altLang="en-US" sz="2200" dirty="0"/>
              <a:t>. It uses the edges E as a roadmap to find the "end" of the dependency chain</a:t>
            </a:r>
          </a:p>
          <a:p>
            <a:pPr lvl="1" eaLnBrk="0" fontAlgn="base" hangingPunct="0">
              <a:lnSpc>
                <a:spcPct val="100000"/>
              </a:lnSpc>
              <a:spcBef>
                <a:spcPct val="0"/>
              </a:spcBef>
              <a:spcAft>
                <a:spcPct val="0"/>
              </a:spcAft>
              <a:buSzTx/>
            </a:pPr>
            <a:r>
              <a:rPr lang="en-US" altLang="en-US" sz="1900" b="1" dirty="0"/>
              <a:t>Visit each Vertex V:</a:t>
            </a:r>
            <a:r>
              <a:rPr lang="en-US" altLang="en-US" sz="1900" dirty="0"/>
              <a:t> The algorithm visits each node exactly once. We mark nodes as "visiting" or "visited" so we never repeat work.</a:t>
            </a:r>
          </a:p>
          <a:p>
            <a:pPr lvl="1" eaLnBrk="0" fontAlgn="base" hangingPunct="0">
              <a:lnSpc>
                <a:spcPct val="100000"/>
              </a:lnSpc>
              <a:spcBef>
                <a:spcPct val="0"/>
              </a:spcBef>
              <a:spcAft>
                <a:spcPct val="0"/>
              </a:spcAft>
              <a:buSzTx/>
            </a:pPr>
            <a:r>
              <a:rPr lang="en-US" altLang="en-US" sz="1900" b="1" dirty="0"/>
              <a:t>Explore each Edge E:</a:t>
            </a:r>
            <a:r>
              <a:rPr lang="en-US" altLang="en-US" sz="1900" dirty="0"/>
              <a:t> For every node, we look at its outgoing edges to see where to go next. Each edge is crossed exactly once.</a:t>
            </a:r>
          </a:p>
          <a:p>
            <a:r>
              <a:rPr lang="en-US" altLang="en-US" dirty="0"/>
              <a:t>DFS-based sorting is O(V+E) because it uses the graph's structure to reduce the problem size.</a:t>
            </a:r>
            <a:endParaRPr lang="en-US" altLang="en-US" dirty="0">
              <a:latin typeface="Arial" panose="020B0604020202020204" pitchFamily="34" charset="0"/>
            </a:endParaRPr>
          </a:p>
          <a:p>
            <a:endParaRPr lang="en-US" dirty="0"/>
          </a:p>
          <a:p>
            <a:endParaRPr lang="en-US" dirty="0"/>
          </a:p>
          <a:p>
            <a:endParaRPr lang="en-US" dirty="0"/>
          </a:p>
        </p:txBody>
      </p:sp>
    </p:spTree>
    <p:extLst>
      <p:ext uri="{BB962C8B-B14F-4D97-AF65-F5344CB8AC3E}">
        <p14:creationId xmlns:p14="http://schemas.microsoft.com/office/powerpoint/2010/main" val="28631866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C5DB7-BB48-C240-C1AB-1332F01B663B}"/>
              </a:ext>
            </a:extLst>
          </p:cNvPr>
          <p:cNvSpPr>
            <a:spLocks noGrp="1"/>
          </p:cNvSpPr>
          <p:nvPr>
            <p:ph type="title"/>
          </p:nvPr>
        </p:nvSpPr>
        <p:spPr/>
        <p:txBody>
          <a:bodyPr/>
          <a:lstStyle/>
          <a:p>
            <a:r>
              <a:rPr lang="en-US" dirty="0"/>
              <a:t>Source removal algorithm</a:t>
            </a:r>
          </a:p>
        </p:txBody>
      </p:sp>
      <p:pic>
        <p:nvPicPr>
          <p:cNvPr id="5" name="Content Placeholder 4">
            <a:extLst>
              <a:ext uri="{FF2B5EF4-FFF2-40B4-BE49-F238E27FC236}">
                <a16:creationId xmlns:a16="http://schemas.microsoft.com/office/drawing/2014/main" id="{C1ACD70C-5817-FB43-BD36-E191B1045144}"/>
              </a:ext>
            </a:extLst>
          </p:cNvPr>
          <p:cNvPicPr>
            <a:picLocks noGrp="1" noChangeAspect="1"/>
          </p:cNvPicPr>
          <p:nvPr>
            <p:ph idx="1"/>
          </p:nvPr>
        </p:nvPicPr>
        <p:blipFill>
          <a:blip r:embed="rId2"/>
          <a:stretch>
            <a:fillRect/>
          </a:stretch>
        </p:blipFill>
        <p:spPr>
          <a:xfrm>
            <a:off x="1391920" y="2804160"/>
            <a:ext cx="8849359" cy="3434080"/>
          </a:xfrm>
          <a:prstGeom prst="rect">
            <a:avLst/>
          </a:prstGeom>
        </p:spPr>
      </p:pic>
      <p:sp>
        <p:nvSpPr>
          <p:cNvPr id="6" name="TextBox 5">
            <a:extLst>
              <a:ext uri="{FF2B5EF4-FFF2-40B4-BE49-F238E27FC236}">
                <a16:creationId xmlns:a16="http://schemas.microsoft.com/office/drawing/2014/main" id="{3BFF681D-9FA1-8C87-1B1A-9A68D278A8D4}"/>
              </a:ext>
            </a:extLst>
          </p:cNvPr>
          <p:cNvSpPr txBox="1"/>
          <p:nvPr/>
        </p:nvSpPr>
        <p:spPr>
          <a:xfrm>
            <a:off x="3409150" y="6238240"/>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3815952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88C87-4B19-DD75-32FD-A7B88E92C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7D36C-989B-B3A9-142B-F2F8D0D30C53}"/>
              </a:ext>
            </a:extLst>
          </p:cNvPr>
          <p:cNvSpPr>
            <a:spLocks noGrp="1"/>
          </p:cNvSpPr>
          <p:nvPr>
            <p:ph type="title"/>
          </p:nvPr>
        </p:nvSpPr>
        <p:spPr/>
        <p:txBody>
          <a:bodyPr/>
          <a:lstStyle/>
          <a:p>
            <a:r>
              <a:rPr lang="en-US" dirty="0"/>
              <a:t>Source removal algorithm</a:t>
            </a:r>
          </a:p>
        </p:txBody>
      </p:sp>
      <p:sp>
        <p:nvSpPr>
          <p:cNvPr id="4" name="Content Placeholder 3">
            <a:extLst>
              <a:ext uri="{FF2B5EF4-FFF2-40B4-BE49-F238E27FC236}">
                <a16:creationId xmlns:a16="http://schemas.microsoft.com/office/drawing/2014/main" id="{EE40D17A-EFEB-C962-D263-DF79A5860782}"/>
              </a:ext>
            </a:extLst>
          </p:cNvPr>
          <p:cNvSpPr>
            <a:spLocks noGrp="1"/>
          </p:cNvSpPr>
          <p:nvPr>
            <p:ph idx="1"/>
          </p:nvPr>
        </p:nvSpPr>
        <p:spPr/>
        <p:txBody>
          <a:bodyPr/>
          <a:lstStyle/>
          <a:p>
            <a:pPr marL="457200" lvl="0" indent="-457200" eaLnBrk="0" fontAlgn="base" hangingPunct="0">
              <a:lnSpc>
                <a:spcPct val="100000"/>
              </a:lnSpc>
              <a:spcBef>
                <a:spcPct val="0"/>
              </a:spcBef>
              <a:spcAft>
                <a:spcPct val="0"/>
              </a:spcAft>
              <a:buSzTx/>
              <a:buFont typeface="+mj-lt"/>
              <a:buAutoNum type="arabicPeriod"/>
            </a:pPr>
            <a:r>
              <a:rPr lang="en-US" altLang="en-US" sz="2400" b="1" dirty="0"/>
              <a:t>Calculate Indegrees:</a:t>
            </a:r>
            <a:r>
              <a:rPr lang="en-US" altLang="en-US" sz="2400" dirty="0"/>
              <a:t> For every node in the graph, count how many incoming edges (prerequisites) it has.</a:t>
            </a:r>
          </a:p>
          <a:p>
            <a:pPr marL="457200" lvl="0" indent="-457200" eaLnBrk="0" fontAlgn="base" hangingPunct="0">
              <a:lnSpc>
                <a:spcPct val="100000"/>
              </a:lnSpc>
              <a:spcBef>
                <a:spcPct val="0"/>
              </a:spcBef>
              <a:spcAft>
                <a:spcPct val="0"/>
              </a:spcAft>
              <a:buSzTx/>
              <a:buFont typeface="+mj-lt"/>
              <a:buAutoNum type="arabicPeriod"/>
            </a:pPr>
            <a:r>
              <a:rPr lang="en-US" altLang="en-US" sz="2400" b="1" dirty="0"/>
              <a:t>Identify the "Sources":</a:t>
            </a:r>
            <a:r>
              <a:rPr lang="en-US" altLang="en-US" sz="2400" dirty="0"/>
              <a:t> Find all nodes with an </a:t>
            </a:r>
            <a:r>
              <a:rPr lang="en-US" altLang="en-US" sz="2400" b="1" dirty="0"/>
              <a:t>indegree of 0</a:t>
            </a:r>
            <a:r>
              <a:rPr lang="en-US" altLang="en-US" sz="2400" dirty="0"/>
              <a:t> (no prerequisites) and place them into a queue.</a:t>
            </a:r>
          </a:p>
          <a:p>
            <a:pPr marL="457200" lvl="0" indent="-457200" eaLnBrk="0" fontAlgn="base" hangingPunct="0">
              <a:lnSpc>
                <a:spcPct val="100000"/>
              </a:lnSpc>
              <a:spcBef>
                <a:spcPct val="0"/>
              </a:spcBef>
              <a:spcAft>
                <a:spcPct val="0"/>
              </a:spcAft>
              <a:buSzTx/>
              <a:buFont typeface="+mj-lt"/>
              <a:buAutoNum type="arabicPeriod"/>
            </a:pPr>
            <a:r>
              <a:rPr lang="en-US" altLang="en-US" sz="2400" b="1" dirty="0"/>
              <a:t>Process and "Remove":</a:t>
            </a:r>
            <a:r>
              <a:rPr lang="en-US" altLang="en-US" sz="2400" dirty="0"/>
              <a:t> While the queue isn't empty, pull a node out, add it to your sorted list, and "delete" its outgoing edges from the graph.</a:t>
            </a:r>
          </a:p>
          <a:p>
            <a:pPr marL="457200" lvl="0" indent="-457200" eaLnBrk="0" fontAlgn="base" hangingPunct="0">
              <a:lnSpc>
                <a:spcPct val="100000"/>
              </a:lnSpc>
              <a:spcBef>
                <a:spcPct val="0"/>
              </a:spcBef>
              <a:spcAft>
                <a:spcPct val="0"/>
              </a:spcAft>
              <a:buSzTx/>
              <a:buFont typeface="+mj-lt"/>
              <a:buAutoNum type="arabicPeriod"/>
            </a:pPr>
            <a:r>
              <a:rPr lang="en-US" altLang="en-US" sz="2400" b="1" dirty="0"/>
              <a:t>Update and Repeat:</a:t>
            </a:r>
            <a:r>
              <a:rPr lang="en-US" altLang="en-US" sz="2400" dirty="0"/>
              <a:t> For every neighbor you just "freed," decrement its indegree count. If its count hits </a:t>
            </a:r>
            <a:r>
              <a:rPr lang="en-US" altLang="en-US" sz="2400" b="1" dirty="0"/>
              <a:t>0</a:t>
            </a:r>
            <a:r>
              <a:rPr lang="en-US" altLang="en-US" sz="2400" dirty="0"/>
              <a:t>, add it to the queue and repeat until the queue is empty.</a:t>
            </a:r>
          </a:p>
          <a:p>
            <a:endParaRPr lang="en-US" dirty="0"/>
          </a:p>
        </p:txBody>
      </p:sp>
    </p:spTree>
    <p:extLst>
      <p:ext uri="{BB962C8B-B14F-4D97-AF65-F5344CB8AC3E}">
        <p14:creationId xmlns:p14="http://schemas.microsoft.com/office/powerpoint/2010/main" val="12693406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346E0-41A3-5FCF-A961-43460C78014F}"/>
              </a:ext>
            </a:extLst>
          </p:cNvPr>
          <p:cNvSpPr>
            <a:spLocks noGrp="1"/>
          </p:cNvSpPr>
          <p:nvPr>
            <p:ph type="title"/>
          </p:nvPr>
        </p:nvSpPr>
        <p:spPr/>
        <p:txBody>
          <a:bodyPr/>
          <a:lstStyle/>
          <a:p>
            <a:r>
              <a:rPr lang="en-US" dirty="0"/>
              <a:t>Source-removal Time Analysis </a:t>
            </a:r>
          </a:p>
        </p:txBody>
      </p:sp>
      <p:sp>
        <p:nvSpPr>
          <p:cNvPr id="3" name="Content Placeholder 2">
            <a:extLst>
              <a:ext uri="{FF2B5EF4-FFF2-40B4-BE49-F238E27FC236}">
                <a16:creationId xmlns:a16="http://schemas.microsoft.com/office/drawing/2014/main" id="{AE83A2AE-5956-215F-9D65-A9F1DF264516}"/>
              </a:ext>
            </a:extLst>
          </p:cNvPr>
          <p:cNvSpPr>
            <a:spLocks noGrp="1"/>
          </p:cNvSpPr>
          <p:nvPr>
            <p:ph idx="1"/>
          </p:nvPr>
        </p:nvSpPr>
        <p:spPr/>
        <p:txBody>
          <a:bodyPr/>
          <a:lstStyle/>
          <a:p>
            <a:pPr eaLnBrk="0" fontAlgn="base" hangingPunct="0">
              <a:lnSpc>
                <a:spcPct val="150000"/>
              </a:lnSpc>
              <a:spcBef>
                <a:spcPct val="0"/>
              </a:spcBef>
              <a:spcAft>
                <a:spcPct val="0"/>
              </a:spcAft>
              <a:buSzTx/>
            </a:pPr>
            <a:r>
              <a:rPr lang="en-US" altLang="en-US" sz="2400" b="1" dirty="0"/>
              <a:t>Time complexity is also: O(V + E)</a:t>
            </a:r>
            <a:endParaRPr lang="en-US" altLang="en-US" b="1" dirty="0"/>
          </a:p>
          <a:p>
            <a:pPr marL="265176" lvl="1" indent="0" eaLnBrk="0" fontAlgn="base" hangingPunct="0">
              <a:lnSpc>
                <a:spcPct val="150000"/>
              </a:lnSpc>
              <a:spcBef>
                <a:spcPct val="0"/>
              </a:spcBef>
              <a:spcAft>
                <a:spcPct val="0"/>
              </a:spcAft>
              <a:buSzTx/>
              <a:buFontTx/>
              <a:buChar char="•"/>
            </a:pPr>
            <a:r>
              <a:rPr lang="en-US" altLang="en-US" sz="2200" b="1" dirty="0"/>
              <a:t>Each Vertex V:</a:t>
            </a:r>
            <a:r>
              <a:rPr lang="en-US" altLang="en-US" sz="2200" dirty="0"/>
              <a:t> Every node is placed into a queue and removed exactly once.</a:t>
            </a:r>
          </a:p>
          <a:p>
            <a:pPr marL="265176" lvl="1" indent="0" eaLnBrk="0" fontAlgn="base" hangingPunct="0">
              <a:lnSpc>
                <a:spcPct val="150000"/>
              </a:lnSpc>
              <a:spcBef>
                <a:spcPct val="0"/>
              </a:spcBef>
              <a:spcAft>
                <a:spcPct val="0"/>
              </a:spcAft>
              <a:buSzTx/>
              <a:buFontTx/>
              <a:buChar char="•"/>
            </a:pPr>
            <a:r>
              <a:rPr lang="en-US" altLang="en-US" sz="2200" b="1" dirty="0"/>
              <a:t>Each Edge E:</a:t>
            </a:r>
            <a:r>
              <a:rPr lang="en-US" altLang="en-US" sz="2200" dirty="0"/>
              <a:t> When a node is removed, the algorithm looks at all its outgoing edges to "decrement" the indegree of its neighbors. </a:t>
            </a:r>
          </a:p>
          <a:p>
            <a:pPr eaLnBrk="0" fontAlgn="base" hangingPunct="0">
              <a:lnSpc>
                <a:spcPct val="150000"/>
              </a:lnSpc>
              <a:spcBef>
                <a:spcPct val="0"/>
              </a:spcBef>
              <a:spcAft>
                <a:spcPct val="0"/>
              </a:spcAft>
              <a:buSzTx/>
            </a:pPr>
            <a:r>
              <a:rPr lang="en-US" altLang="en-US" sz="2400" dirty="0"/>
              <a:t>Since each edge is attached to exactly one source, each edge is processed exactly once.</a:t>
            </a:r>
          </a:p>
          <a:p>
            <a:pPr marL="0" lvl="0" indent="0" eaLnBrk="0" fontAlgn="base" hangingPunct="0">
              <a:lnSpc>
                <a:spcPct val="100000"/>
              </a:lnSpc>
              <a:spcBef>
                <a:spcPct val="0"/>
              </a:spcBef>
              <a:spcAft>
                <a:spcPct val="0"/>
              </a:spcAft>
              <a:buSzTx/>
              <a:buNone/>
            </a:pPr>
            <a:endParaRPr lang="en-US" altLang="en-US" dirty="0"/>
          </a:p>
          <a:p>
            <a:endParaRPr lang="en-US" dirty="0"/>
          </a:p>
        </p:txBody>
      </p:sp>
    </p:spTree>
    <p:extLst>
      <p:ext uri="{BB962C8B-B14F-4D97-AF65-F5344CB8AC3E}">
        <p14:creationId xmlns:p14="http://schemas.microsoft.com/office/powerpoint/2010/main" val="1057188201"/>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13809</TotalTime>
  <Words>3064</Words>
  <Application>Microsoft Office PowerPoint</Application>
  <PresentationFormat>Widescreen</PresentationFormat>
  <Paragraphs>785</Paragraphs>
  <Slides>66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Aptos</vt:lpstr>
      <vt:lpstr>Arial</vt:lpstr>
      <vt:lpstr>Cambria Math</vt:lpstr>
      <vt:lpstr>Google Sans</vt:lpstr>
      <vt:lpstr>Grandview Display</vt:lpstr>
      <vt:lpstr>Segoe UI</vt:lpstr>
      <vt:lpstr>DashVTI</vt:lpstr>
      <vt:lpstr>Computing Algorithms Lecture 6: Decrease and Conquer</vt:lpstr>
      <vt:lpstr>Agenda</vt:lpstr>
      <vt:lpstr>DFS and BFS   </vt:lpstr>
      <vt:lpstr>Depth First Search (DFS)</vt:lpstr>
      <vt:lpstr>DFS algorithm</vt:lpstr>
      <vt:lpstr>DFS time complexity </vt:lpstr>
      <vt:lpstr>DFS time complexity </vt:lpstr>
      <vt:lpstr>Breadth First Search (BFS)</vt:lpstr>
      <vt:lpstr>BFS Algorithm</vt:lpstr>
      <vt:lpstr>BFS time complexity </vt:lpstr>
      <vt:lpstr> Decrease and Conquer</vt:lpstr>
      <vt:lpstr>Introduction </vt:lpstr>
      <vt:lpstr>Decrease by a constant </vt:lpstr>
      <vt:lpstr>Decrease by a constant  factor</vt:lpstr>
      <vt:lpstr>Variable-size-decrease</vt:lpstr>
      <vt:lpstr>Insertion sort   </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Brute force vs Decrease and Conquer</vt:lpstr>
      <vt:lpstr>Insertion sort Time Analysis</vt:lpstr>
      <vt:lpstr>Insertion sort Time Analysis</vt:lpstr>
      <vt:lpstr>Topological Sorting   </vt:lpstr>
      <vt:lpstr>What is Topological Sorting</vt:lpstr>
      <vt:lpstr>Directed Acyclic Graph (DAG)</vt:lpstr>
      <vt:lpstr>DFS based Algorithm</vt:lpstr>
      <vt:lpstr>DFS based Algorithm</vt:lpstr>
      <vt:lpstr>DFS based algorithm Time Analysis </vt:lpstr>
      <vt:lpstr>Source removal algorithm</vt:lpstr>
      <vt:lpstr>Source removal algorithm</vt:lpstr>
      <vt:lpstr>Source-removal Time Analysis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Moheeb</dc:creator>
  <cp:lastModifiedBy>Mohamed Moheeb</cp:lastModifiedBy>
  <cp:revision>78</cp:revision>
  <dcterms:created xsi:type="dcterms:W3CDTF">2026-01-25T09:41:58Z</dcterms:created>
  <dcterms:modified xsi:type="dcterms:W3CDTF">2026-03-12T12:18:54Z</dcterms:modified>
</cp:coreProperties>
</file>