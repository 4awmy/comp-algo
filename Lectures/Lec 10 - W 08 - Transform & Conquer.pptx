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41"/>
  </p:notesMasterIdLst>
  <p:sldIdLst>
    <p:sldId id="256" r:id="rId2"/>
    <p:sldId id="257" r:id="rId3"/>
    <p:sldId id="346" r:id="rId4"/>
    <p:sldId id="347" r:id="rId5"/>
    <p:sldId id="349" r:id="rId6"/>
    <p:sldId id="348" r:id="rId7"/>
    <p:sldId id="350" r:id="rId8"/>
    <p:sldId id="351" r:id="rId9"/>
    <p:sldId id="352" r:id="rId10"/>
    <p:sldId id="354" r:id="rId11"/>
    <p:sldId id="355" r:id="rId12"/>
    <p:sldId id="357" r:id="rId13"/>
    <p:sldId id="358" r:id="rId14"/>
    <p:sldId id="356" r:id="rId15"/>
    <p:sldId id="359" r:id="rId16"/>
    <p:sldId id="353" r:id="rId17"/>
    <p:sldId id="360" r:id="rId18"/>
    <p:sldId id="361" r:id="rId19"/>
    <p:sldId id="362" r:id="rId20"/>
    <p:sldId id="363" r:id="rId21"/>
    <p:sldId id="364" r:id="rId22"/>
    <p:sldId id="365" r:id="rId23"/>
    <p:sldId id="366" r:id="rId24"/>
    <p:sldId id="367" r:id="rId25"/>
    <p:sldId id="369" r:id="rId26"/>
    <p:sldId id="368" r:id="rId27"/>
    <p:sldId id="371" r:id="rId28"/>
    <p:sldId id="370" r:id="rId29"/>
    <p:sldId id="372" r:id="rId30"/>
    <p:sldId id="373" r:id="rId31"/>
    <p:sldId id="374" r:id="rId32"/>
    <p:sldId id="375" r:id="rId33"/>
    <p:sldId id="376" r:id="rId34"/>
    <p:sldId id="377" r:id="rId35"/>
    <p:sldId id="378" r:id="rId36"/>
    <p:sldId id="379" r:id="rId37"/>
    <p:sldId id="380" r:id="rId38"/>
    <p:sldId id="381" r:id="rId39"/>
    <p:sldId id="382"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0940BD-C507-4104-B559-CD4946855FB1}" v="1" dt="2026-05-05T19:10:41.1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608" autoAdjust="0"/>
    <p:restoredTop sz="93447" autoAdjust="0"/>
  </p:normalViewPr>
  <p:slideViewPr>
    <p:cSldViewPr snapToGrid="0">
      <p:cViewPr varScale="1">
        <p:scale>
          <a:sx n="67" d="100"/>
          <a:sy n="67" d="100"/>
        </p:scale>
        <p:origin x="62" y="3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B52ECC-1B11-423C-B09A-13D0289A9C73}"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726EFB-E3F6-4F64-9528-97A47048DF40}" type="slidenum">
              <a:rPr lang="en-US" smtClean="0"/>
              <a:t>‹#›</a:t>
            </a:fld>
            <a:endParaRPr lang="en-US"/>
          </a:p>
        </p:txBody>
      </p:sp>
    </p:spTree>
    <p:extLst>
      <p:ext uri="{BB962C8B-B14F-4D97-AF65-F5344CB8AC3E}">
        <p14:creationId xmlns:p14="http://schemas.microsoft.com/office/powerpoint/2010/main" val="1472948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5/5/2026</a:t>
            </a:fld>
            <a:endParaRPr lang="en-US" dirty="0"/>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584463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5/5/2026</a:t>
            </a:fld>
            <a:endParaRPr lang="en-US" dirty="0"/>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2591633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5/5/2026</a:t>
            </a:fld>
            <a:endParaRPr lang="en-US" dirty="0"/>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dirty="0"/>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7403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5/5/2026</a:t>
            </a:fld>
            <a:endParaRPr lang="en-US" dirty="0"/>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46057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5/5/2026</a:t>
            </a:fld>
            <a:endParaRPr lang="en-US" dirty="0"/>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2075414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5/5/2026</a:t>
            </a:fld>
            <a:endParaRPr lang="en-US" dirty="0"/>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4254808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5/5/2026</a:t>
            </a:fld>
            <a:endParaRPr lang="en-US" dirty="0"/>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872344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5/5/2026</a:t>
            </a:fld>
            <a:endParaRPr lang="en-US" dirty="0"/>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996499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5/5/2026</a:t>
            </a:fld>
            <a:endParaRPr lang="en-US" dirty="0"/>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708374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5/5/2026</a:t>
            </a:fld>
            <a:endParaRPr lang="en-US" dirty="0"/>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87163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5/5/2026</a:t>
            </a:fld>
            <a:endParaRPr lang="en-US" dirty="0"/>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dirty="0"/>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6789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5/5/2026</a:t>
            </a:fld>
            <a:endParaRPr lang="en-US" dirty="0"/>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dirty="0"/>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4423882"/>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04" r:id="rId6"/>
    <p:sldLayoutId id="2147483700" r:id="rId7"/>
    <p:sldLayoutId id="2147483701" r:id="rId8"/>
    <p:sldLayoutId id="2147483702" r:id="rId9"/>
    <p:sldLayoutId id="2147483703" r:id="rId10"/>
    <p:sldLayoutId id="2147483705"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CEAE456-DA79-9895-19B2-CBCA5A8A7115}"/>
              </a:ext>
            </a:extLst>
          </p:cNvPr>
          <p:cNvSpPr>
            <a:spLocks noGrp="1"/>
          </p:cNvSpPr>
          <p:nvPr>
            <p:ph type="ctrTitle"/>
          </p:nvPr>
        </p:nvSpPr>
        <p:spPr>
          <a:xfrm>
            <a:off x="640080" y="1554037"/>
            <a:ext cx="4670661" cy="3030842"/>
          </a:xfrm>
        </p:spPr>
        <p:txBody>
          <a:bodyPr>
            <a:noAutofit/>
          </a:bodyPr>
          <a:lstStyle/>
          <a:p>
            <a:r>
              <a:rPr lang="en-US" sz="3600" dirty="0"/>
              <a:t>Computing Algorithms</a:t>
            </a:r>
            <a:br>
              <a:rPr lang="en-US" sz="3600" dirty="0"/>
            </a:br>
            <a:r>
              <a:rPr lang="en-US" sz="3600" dirty="0"/>
              <a:t>Lecture 10:</a:t>
            </a:r>
            <a:br>
              <a:rPr lang="en-US" sz="3600" dirty="0"/>
            </a:br>
            <a:r>
              <a:rPr lang="en-US" sz="3600" dirty="0"/>
              <a:t>Transform and Conquer </a:t>
            </a:r>
          </a:p>
        </p:txBody>
      </p:sp>
      <p:sp>
        <p:nvSpPr>
          <p:cNvPr id="3" name="Subtitle 2">
            <a:extLst>
              <a:ext uri="{FF2B5EF4-FFF2-40B4-BE49-F238E27FC236}">
                <a16:creationId xmlns:a16="http://schemas.microsoft.com/office/drawing/2014/main" id="{8B383053-DBC8-A47D-72F0-B866CFBE532C}"/>
              </a:ext>
            </a:extLst>
          </p:cNvPr>
          <p:cNvSpPr>
            <a:spLocks noGrp="1"/>
          </p:cNvSpPr>
          <p:nvPr>
            <p:ph type="subTitle" idx="1"/>
          </p:nvPr>
        </p:nvSpPr>
        <p:spPr>
          <a:xfrm>
            <a:off x="640080" y="4584879"/>
            <a:ext cx="4670660" cy="1287887"/>
          </a:xfrm>
        </p:spPr>
        <p:txBody>
          <a:bodyPr>
            <a:normAutofit/>
          </a:bodyPr>
          <a:lstStyle/>
          <a:p>
            <a:r>
              <a:rPr lang="en-US" dirty="0"/>
              <a:t>By: Dr. Mohamed Moheeb </a:t>
            </a:r>
          </a:p>
        </p:txBody>
      </p:sp>
      <p:cxnSp>
        <p:nvCxnSpPr>
          <p:cNvPr id="11" name="Straight Connector 10">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594A22F1-6EB7-DAD1-49EB-40097999324D}"/>
              </a:ext>
            </a:extLst>
          </p:cNvPr>
          <p:cNvPicPr>
            <a:picLocks noChangeAspect="1"/>
          </p:cNvPicPr>
          <p:nvPr/>
        </p:nvPicPr>
        <p:blipFill>
          <a:blip r:embed="rId2"/>
          <a:srcRect l="17422" r="27944" b="-1"/>
          <a:stretch>
            <a:fillRect/>
          </a:stretch>
        </p:blipFill>
        <p:spPr>
          <a:xfrm>
            <a:off x="6515100" y="10"/>
            <a:ext cx="5676900" cy="6857990"/>
          </a:xfrm>
          <a:prstGeom prst="rect">
            <a:avLst/>
          </a:prstGeom>
        </p:spPr>
      </p:pic>
    </p:spTree>
    <p:extLst>
      <p:ext uri="{BB962C8B-B14F-4D97-AF65-F5344CB8AC3E}">
        <p14:creationId xmlns:p14="http://schemas.microsoft.com/office/powerpoint/2010/main" val="1313403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8632-A97F-2592-E5E1-57A965B044D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731E22B-CE58-F133-934B-D7163601B3A9}"/>
              </a:ext>
            </a:extLst>
          </p:cNvPr>
          <p:cNvSpPr>
            <a:spLocks noGrp="1"/>
          </p:cNvSpPr>
          <p:nvPr>
            <p:ph idx="1"/>
          </p:nvPr>
        </p:nvSpPr>
        <p:spPr/>
        <p:txBody>
          <a:bodyPr>
            <a:normAutofit/>
          </a:bodyPr>
          <a:lstStyle/>
          <a:p>
            <a:r>
              <a:rPr lang="en-US" dirty="0"/>
              <a:t>Introduction</a:t>
            </a:r>
          </a:p>
          <a:p>
            <a:r>
              <a:rPr lang="en-US" dirty="0"/>
              <a:t>Presorting </a:t>
            </a:r>
          </a:p>
          <a:p>
            <a:r>
              <a:rPr lang="en-US" dirty="0"/>
              <a:t>Balanced search tree</a:t>
            </a:r>
          </a:p>
          <a:p>
            <a:r>
              <a:rPr lang="en-US" dirty="0"/>
              <a:t>Heap sort</a:t>
            </a:r>
          </a:p>
        </p:txBody>
      </p:sp>
    </p:spTree>
    <p:extLst>
      <p:ext uri="{BB962C8B-B14F-4D97-AF65-F5344CB8AC3E}">
        <p14:creationId xmlns:p14="http://schemas.microsoft.com/office/powerpoint/2010/main" val="192019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0EC46-FF09-5C09-DC90-0FF1044A9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95F7B-E7CD-700D-66DE-07406174D962}"/>
              </a:ext>
            </a:extLst>
          </p:cNvPr>
          <p:cNvSpPr>
            <a:spLocks noGrp="1"/>
          </p:cNvSpPr>
          <p:nvPr>
            <p:ph type="title"/>
          </p:nvPr>
        </p:nvSpPr>
        <p:spPr>
          <a:xfrm>
            <a:off x="640080" y="1371600"/>
            <a:ext cx="4670661" cy="3030842"/>
          </a:xfrm>
        </p:spPr>
        <p:txBody>
          <a:bodyPr vert="horz" lIns="91440" tIns="45720" rIns="91440" bIns="45720" rtlCol="0" anchor="t">
            <a:normAutofit/>
          </a:bodyPr>
          <a:lstStyle/>
          <a:p>
            <a:pPr>
              <a:lnSpc>
                <a:spcPct val="90000"/>
              </a:lnSpc>
            </a:pPr>
            <a:r>
              <a:rPr lang="en-US" sz="5400" dirty="0"/>
              <a:t>Introduction </a:t>
            </a:r>
            <a:br>
              <a:rPr lang="en-US" sz="5000" b="1" kern="1200" dirty="0">
                <a:solidFill>
                  <a:schemeClr val="tx1"/>
                </a:solidFill>
                <a:latin typeface="+mj-lt"/>
                <a:ea typeface="+mj-ea"/>
                <a:cs typeface="+mj-cs"/>
              </a:rPr>
            </a:br>
            <a:br>
              <a:rPr lang="en-US" sz="5000" b="1" kern="1200" dirty="0">
                <a:solidFill>
                  <a:schemeClr val="tx1"/>
                </a:solidFill>
                <a:latin typeface="+mj-lt"/>
                <a:ea typeface="+mj-ea"/>
                <a:cs typeface="+mj-cs"/>
              </a:rPr>
            </a:br>
            <a:br>
              <a:rPr lang="en-US" sz="5000" b="1" kern="1200" dirty="0">
                <a:solidFill>
                  <a:schemeClr val="tx1"/>
                </a:solidFill>
                <a:latin typeface="+mj-lt"/>
                <a:ea typeface="+mj-ea"/>
                <a:cs typeface="+mj-cs"/>
              </a:rPr>
            </a:br>
            <a:endParaRPr lang="en-US" sz="5000" b="1" kern="1200" dirty="0">
              <a:solidFill>
                <a:schemeClr val="tx1"/>
              </a:solidFill>
              <a:latin typeface="+mj-lt"/>
              <a:ea typeface="+mj-ea"/>
              <a:cs typeface="+mj-cs"/>
            </a:endParaRPr>
          </a:p>
        </p:txBody>
      </p:sp>
      <p:pic>
        <p:nvPicPr>
          <p:cNvPr id="4" name="Picture 3" descr="Aqua and green fractal background like floral petal">
            <a:extLst>
              <a:ext uri="{FF2B5EF4-FFF2-40B4-BE49-F238E27FC236}">
                <a16:creationId xmlns:a16="http://schemas.microsoft.com/office/drawing/2014/main" id="{9EDDD50A-1398-C44F-F014-9607D99A48D5}"/>
              </a:ext>
            </a:extLst>
          </p:cNvPr>
          <p:cNvPicPr>
            <a:picLocks noChangeAspect="1"/>
          </p:cNvPicPr>
          <p:nvPr/>
        </p:nvPicPr>
        <p:blipFill>
          <a:blip r:embed="rId2"/>
          <a:srcRect l="13395" r="24521"/>
          <a:stretch>
            <a:fillRect/>
          </a:stretch>
        </p:blipFill>
        <p:spPr>
          <a:xfrm>
            <a:off x="6515100" y="10"/>
            <a:ext cx="5676900" cy="6857990"/>
          </a:xfrm>
          <a:prstGeom prst="rect">
            <a:avLst/>
          </a:prstGeom>
        </p:spPr>
      </p:pic>
    </p:spTree>
    <p:extLst>
      <p:ext uri="{BB962C8B-B14F-4D97-AF65-F5344CB8AC3E}">
        <p14:creationId xmlns:p14="http://schemas.microsoft.com/office/powerpoint/2010/main" val="3248618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F5F9C-737D-04AA-3961-5D3B0CE6CD5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D9B6800-5562-4D3C-8FD0-9EE1480B2F86}"/>
              </a:ext>
            </a:extLst>
          </p:cNvPr>
          <p:cNvSpPr>
            <a:spLocks noGrp="1"/>
          </p:cNvSpPr>
          <p:nvPr>
            <p:ph idx="1"/>
          </p:nvPr>
        </p:nvSpPr>
        <p:spPr/>
        <p:txBody>
          <a:bodyPr/>
          <a:lstStyle/>
          <a:p>
            <a:r>
              <a:rPr lang="en-US" dirty="0"/>
              <a:t>That are based on the idea of transformation. We call this general technique transform-and-conquer because these methods work as two-stage procedures.</a:t>
            </a:r>
          </a:p>
          <a:p>
            <a:r>
              <a:rPr lang="en-US" dirty="0"/>
              <a:t> The transformation stage, the problem’s instance is modified to be, for one reason or another, more amenable to solution. </a:t>
            </a:r>
          </a:p>
          <a:p>
            <a:r>
              <a:rPr lang="en-US" dirty="0"/>
              <a:t>The conquering stage, it is solved</a:t>
            </a:r>
          </a:p>
          <a:p>
            <a:endParaRPr lang="en-US" dirty="0"/>
          </a:p>
        </p:txBody>
      </p:sp>
    </p:spTree>
    <p:extLst>
      <p:ext uri="{BB962C8B-B14F-4D97-AF65-F5344CB8AC3E}">
        <p14:creationId xmlns:p14="http://schemas.microsoft.com/office/powerpoint/2010/main" val="3138258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A9CAA-7BA0-43F8-5B89-EF48B4E60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7526D-8D0A-2D5F-A5E4-88883EA4E793}"/>
              </a:ext>
            </a:extLst>
          </p:cNvPr>
          <p:cNvSpPr>
            <a:spLocks noGrp="1"/>
          </p:cNvSpPr>
          <p:nvPr>
            <p:ph type="title"/>
          </p:nvPr>
        </p:nvSpPr>
        <p:spPr>
          <a:xfrm>
            <a:off x="640080" y="1371600"/>
            <a:ext cx="4670661" cy="3030842"/>
          </a:xfrm>
        </p:spPr>
        <p:txBody>
          <a:bodyPr vert="horz" lIns="91440" tIns="45720" rIns="91440" bIns="45720" rtlCol="0" anchor="t">
            <a:normAutofit/>
          </a:bodyPr>
          <a:lstStyle/>
          <a:p>
            <a:pPr>
              <a:lnSpc>
                <a:spcPct val="90000"/>
              </a:lnSpc>
            </a:pPr>
            <a:r>
              <a:rPr lang="en-US" sz="5400" dirty="0"/>
              <a:t>Presorting </a:t>
            </a:r>
            <a:br>
              <a:rPr lang="en-US" sz="5000" b="1" kern="1200" dirty="0">
                <a:solidFill>
                  <a:schemeClr val="tx1"/>
                </a:solidFill>
                <a:latin typeface="+mj-lt"/>
                <a:ea typeface="+mj-ea"/>
                <a:cs typeface="+mj-cs"/>
              </a:rPr>
            </a:br>
            <a:br>
              <a:rPr lang="en-US" sz="5000" b="1" kern="1200" dirty="0">
                <a:solidFill>
                  <a:schemeClr val="tx1"/>
                </a:solidFill>
                <a:latin typeface="+mj-lt"/>
                <a:ea typeface="+mj-ea"/>
                <a:cs typeface="+mj-cs"/>
              </a:rPr>
            </a:br>
            <a:br>
              <a:rPr lang="en-US" sz="5000" b="1" kern="1200" dirty="0">
                <a:solidFill>
                  <a:schemeClr val="tx1"/>
                </a:solidFill>
                <a:latin typeface="+mj-lt"/>
                <a:ea typeface="+mj-ea"/>
                <a:cs typeface="+mj-cs"/>
              </a:rPr>
            </a:br>
            <a:endParaRPr lang="en-US" sz="5000" b="1" kern="1200" dirty="0">
              <a:solidFill>
                <a:schemeClr val="tx1"/>
              </a:solidFill>
              <a:latin typeface="+mj-lt"/>
              <a:ea typeface="+mj-ea"/>
              <a:cs typeface="+mj-cs"/>
            </a:endParaRPr>
          </a:p>
        </p:txBody>
      </p:sp>
      <p:pic>
        <p:nvPicPr>
          <p:cNvPr id="4" name="Picture 3" descr="Aqua and green fractal background like floral petal">
            <a:extLst>
              <a:ext uri="{FF2B5EF4-FFF2-40B4-BE49-F238E27FC236}">
                <a16:creationId xmlns:a16="http://schemas.microsoft.com/office/drawing/2014/main" id="{7DFE9222-1930-DDC2-045C-AD118BF3E36B}"/>
              </a:ext>
            </a:extLst>
          </p:cNvPr>
          <p:cNvPicPr>
            <a:picLocks noChangeAspect="1"/>
          </p:cNvPicPr>
          <p:nvPr/>
        </p:nvPicPr>
        <p:blipFill>
          <a:blip r:embed="rId2"/>
          <a:srcRect l="13395" r="24521"/>
          <a:stretch>
            <a:fillRect/>
          </a:stretch>
        </p:blipFill>
        <p:spPr>
          <a:xfrm>
            <a:off x="6515100" y="10"/>
            <a:ext cx="5676900" cy="6857990"/>
          </a:xfrm>
          <a:prstGeom prst="rect">
            <a:avLst/>
          </a:prstGeom>
        </p:spPr>
      </p:pic>
    </p:spTree>
    <p:extLst>
      <p:ext uri="{BB962C8B-B14F-4D97-AF65-F5344CB8AC3E}">
        <p14:creationId xmlns:p14="http://schemas.microsoft.com/office/powerpoint/2010/main" val="1351397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A6DF3-E19B-8509-116D-A796D15C72FC}"/>
              </a:ext>
            </a:extLst>
          </p:cNvPr>
          <p:cNvSpPr>
            <a:spLocks noGrp="1"/>
          </p:cNvSpPr>
          <p:nvPr>
            <p:ph type="title"/>
          </p:nvPr>
        </p:nvSpPr>
        <p:spPr/>
        <p:txBody>
          <a:bodyPr/>
          <a:lstStyle/>
          <a:p>
            <a:r>
              <a:rPr lang="en-US" dirty="0"/>
              <a:t>Presorting</a:t>
            </a:r>
          </a:p>
        </p:txBody>
      </p:sp>
      <p:sp>
        <p:nvSpPr>
          <p:cNvPr id="3" name="Content Placeholder 2">
            <a:extLst>
              <a:ext uri="{FF2B5EF4-FFF2-40B4-BE49-F238E27FC236}">
                <a16:creationId xmlns:a16="http://schemas.microsoft.com/office/drawing/2014/main" id="{48465D61-C7B2-E024-C9CC-429D00145ECA}"/>
              </a:ext>
            </a:extLst>
          </p:cNvPr>
          <p:cNvSpPr>
            <a:spLocks noGrp="1"/>
          </p:cNvSpPr>
          <p:nvPr>
            <p:ph idx="1"/>
          </p:nvPr>
        </p:nvSpPr>
        <p:spPr/>
        <p:txBody>
          <a:bodyPr/>
          <a:lstStyle/>
          <a:p>
            <a:r>
              <a:rPr lang="en-US" dirty="0"/>
              <a:t>Presorting is an old idea in computer science.</a:t>
            </a:r>
          </a:p>
          <a:p>
            <a:r>
              <a:rPr lang="en-US" dirty="0"/>
              <a:t>In fact, interest in sorting algorithms is due, to a significant degree, to the fact that many questions about a list are easier to answer if the list is sorted.</a:t>
            </a:r>
          </a:p>
          <a:p>
            <a:r>
              <a:rPr lang="en-US" dirty="0"/>
              <a:t> The time efficiency of algorithms that involve sorting may depend on the efficiency of the sorting algorithm being used. </a:t>
            </a:r>
          </a:p>
        </p:txBody>
      </p:sp>
    </p:spTree>
    <p:extLst>
      <p:ext uri="{BB962C8B-B14F-4D97-AF65-F5344CB8AC3E}">
        <p14:creationId xmlns:p14="http://schemas.microsoft.com/office/powerpoint/2010/main" val="2056087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20918-E4CF-34DF-F2C1-0D807A42EEF3}"/>
              </a:ext>
            </a:extLst>
          </p:cNvPr>
          <p:cNvSpPr>
            <a:spLocks noGrp="1"/>
          </p:cNvSpPr>
          <p:nvPr>
            <p:ph type="title"/>
          </p:nvPr>
        </p:nvSpPr>
        <p:spPr/>
        <p:txBody>
          <a:bodyPr/>
          <a:lstStyle/>
          <a:p>
            <a:r>
              <a:rPr lang="en-US" dirty="0"/>
              <a:t>Checking element uniqueness in an array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DF2745-655C-5A84-F6A5-2FC6A0690E10}"/>
                  </a:ext>
                </a:extLst>
              </p:cNvPr>
              <p:cNvSpPr>
                <a:spLocks noGrp="1"/>
              </p:cNvSpPr>
              <p:nvPr>
                <p:ph idx="1"/>
              </p:nvPr>
            </p:nvSpPr>
            <p:spPr/>
            <p:txBody>
              <a:bodyPr>
                <a:normAutofit/>
              </a:bodyPr>
              <a:lstStyle/>
              <a:p>
                <a:r>
                  <a:rPr lang="en-US" dirty="0"/>
                  <a:t>The brute-force algorithm compared pairs of the array’s elements until either two equal elements were found or no more pairs were left.</a:t>
                </a:r>
              </a:p>
              <a:p>
                <a:r>
                  <a:rPr lang="en-US" dirty="0"/>
                  <a:t> Its worst-case efficiency was in </a:t>
                </a:r>
                <a:r>
                  <a:rPr lang="el-GR" dirty="0"/>
                  <a:t>θ</a:t>
                </a:r>
                <a:r>
                  <a:rPr lang="en-US" dirty="0"/>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 </m:t>
                    </m:r>
                  </m:oMath>
                </a14:m>
                <a:endParaRPr lang="en-US" dirty="0"/>
              </a:p>
              <a:p>
                <a:r>
                  <a:rPr lang="en-US" dirty="0"/>
                  <a:t>What if we sorted the Array using a divide and conquer algorithm like merge sort then the time complexity for this part is </a:t>
                </a:r>
                <a:r>
                  <a:rPr lang="el-GR" dirty="0"/>
                  <a:t>θ</a:t>
                </a:r>
                <a:r>
                  <a:rPr lang="en-US" dirty="0"/>
                  <a:t> (n.log(n)) (the transform part) </a:t>
                </a:r>
              </a:p>
              <a:p>
                <a:r>
                  <a:rPr lang="en-US" dirty="0"/>
                  <a:t>Then we create an algorithm that checks each element with the next element, because the elements are sorted then if two elements are the same, they must follow each other in the arrangement.</a:t>
                </a:r>
              </a:p>
            </p:txBody>
          </p:sp>
        </mc:Choice>
        <mc:Fallback xmlns="">
          <p:sp>
            <p:nvSpPr>
              <p:cNvPr id="3" name="Content Placeholder 2">
                <a:extLst>
                  <a:ext uri="{FF2B5EF4-FFF2-40B4-BE49-F238E27FC236}">
                    <a16:creationId xmlns:a16="http://schemas.microsoft.com/office/drawing/2014/main" id="{07DF2745-655C-5A84-F6A5-2FC6A0690E10}"/>
                  </a:ext>
                </a:extLst>
              </p:cNvPr>
              <p:cNvSpPr>
                <a:spLocks noGrp="1" noRot="1" noChangeAspect="1" noMove="1" noResize="1" noEditPoints="1" noAdjustHandles="1" noChangeArrowheads="1" noChangeShapeType="1" noTextEdit="1"/>
              </p:cNvSpPr>
              <p:nvPr>
                <p:ph idx="1"/>
              </p:nvPr>
            </p:nvSpPr>
            <p:spPr>
              <a:blipFill>
                <a:blip r:embed="rId2"/>
                <a:stretch>
                  <a:fillRect l="-336" t="-171" r="-895"/>
                </a:stretch>
              </a:blipFill>
            </p:spPr>
            <p:txBody>
              <a:bodyPr/>
              <a:lstStyle/>
              <a:p>
                <a:r>
                  <a:rPr lang="en-US">
                    <a:noFill/>
                  </a:rPr>
                  <a:t> </a:t>
                </a:r>
              </a:p>
            </p:txBody>
          </p:sp>
        </mc:Fallback>
      </mc:AlternateContent>
    </p:spTree>
    <p:extLst>
      <p:ext uri="{BB962C8B-B14F-4D97-AF65-F5344CB8AC3E}">
        <p14:creationId xmlns:p14="http://schemas.microsoft.com/office/powerpoint/2010/main" val="3521766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F0B0D5-3033-9B44-FE86-30A6F2E20728}"/>
              </a:ext>
            </a:extLst>
          </p:cNvPr>
          <p:cNvSpPr>
            <a:spLocks noGrp="1"/>
          </p:cNvSpPr>
          <p:nvPr>
            <p:ph type="title"/>
          </p:nvPr>
        </p:nvSpPr>
        <p:spPr/>
        <p:txBody>
          <a:bodyPr/>
          <a:lstStyle/>
          <a:p>
            <a:r>
              <a:rPr lang="en-US" dirty="0"/>
              <a:t>Checking element uniqueness in an array </a:t>
            </a:r>
          </a:p>
        </p:txBody>
      </p:sp>
      <p:pic>
        <p:nvPicPr>
          <p:cNvPr id="8" name="Content Placeholder 7">
            <a:extLst>
              <a:ext uri="{FF2B5EF4-FFF2-40B4-BE49-F238E27FC236}">
                <a16:creationId xmlns:a16="http://schemas.microsoft.com/office/drawing/2014/main" id="{E58192F6-7C56-29DC-9CFC-DF6FC650077C}"/>
              </a:ext>
            </a:extLst>
          </p:cNvPr>
          <p:cNvPicPr>
            <a:picLocks noGrp="1" noChangeAspect="1"/>
          </p:cNvPicPr>
          <p:nvPr>
            <p:ph sz="half" idx="1"/>
          </p:nvPr>
        </p:nvPicPr>
        <p:blipFill>
          <a:blip r:embed="rId2"/>
          <a:stretch>
            <a:fillRect/>
          </a:stretch>
        </p:blipFill>
        <p:spPr>
          <a:xfrm>
            <a:off x="640080" y="2633472"/>
            <a:ext cx="5334000" cy="3493007"/>
          </a:xfrm>
          <a:prstGeom prst="rect">
            <a:avLst/>
          </a:prstGeom>
        </p:spPr>
      </p:pic>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0B7B250B-D32B-157D-8962-FE3F7E8F9C5B}"/>
                  </a:ext>
                </a:extLst>
              </p:cNvPr>
              <p:cNvSpPr>
                <a:spLocks noGrp="1"/>
              </p:cNvSpPr>
              <p:nvPr>
                <p:ph sz="half" idx="2"/>
              </p:nvPr>
            </p:nvSpPr>
            <p:spPr/>
            <p:txBody>
              <a:bodyPr/>
              <a:lstStyle/>
              <a:p>
                <a:r>
                  <a:rPr lang="en-US" dirty="0"/>
                  <a:t>This is the conquer part</a:t>
                </a:r>
              </a:p>
              <a:p>
                <a:r>
                  <a:rPr lang="en-US" dirty="0"/>
                  <a:t>The basic operation is comparisons</a:t>
                </a:r>
              </a:p>
              <a:p>
                <a:r>
                  <a:rPr lang="en-US" dirty="0"/>
                  <a:t>T(n)=</a:t>
                </a:r>
                <a14:m>
                  <m:oMath xmlns:m="http://schemas.openxmlformats.org/officeDocument/2006/math">
                    <m:nary>
                      <m:naryPr>
                        <m:chr m:val="∑"/>
                        <m:limLoc m:val="undOvr"/>
                        <m:grow m:val="on"/>
                        <m:ctrlPr>
                          <a:rPr lang="en-US" i="1" smtClean="0">
                            <a:latin typeface="Cambria Math" panose="02040503050406030204" pitchFamily="18" charset="0"/>
                          </a:rPr>
                        </m:ctrlPr>
                      </m:naryPr>
                      <m:sub>
                        <m:r>
                          <a:rPr lang="en-US" i="1" smtClean="0">
                            <a:latin typeface="Cambria Math" panose="02040503050406030204" pitchFamily="18" charset="0"/>
                          </a:rPr>
                          <m:t>𝑖</m:t>
                        </m:r>
                        <m:r>
                          <a:rPr lang="en-US" i="1" smtClean="0">
                            <a:latin typeface="Cambria Math" panose="02040503050406030204" pitchFamily="18" charset="0"/>
                          </a:rPr>
                          <m:t>=0</m:t>
                        </m:r>
                      </m:sub>
                      <m:sup>
                        <m:r>
                          <a:rPr lang="en-US" i="1" smtClean="0">
                            <a:latin typeface="Cambria Math" panose="02040503050406030204" pitchFamily="18" charset="0"/>
                          </a:rPr>
                          <m:t>𝑛</m:t>
                        </m:r>
                        <m:r>
                          <a:rPr lang="en-US" i="1" smtClean="0">
                            <a:latin typeface="Cambria Math" panose="02040503050406030204" pitchFamily="18" charset="0"/>
                          </a:rPr>
                          <m:t>−2</m:t>
                        </m:r>
                      </m:sup>
                      <m:e>
                        <m:r>
                          <a:rPr lang="en-US" i="1" smtClean="0">
                            <a:latin typeface="Cambria Math" panose="02040503050406030204" pitchFamily="18" charset="0"/>
                          </a:rPr>
                          <m:t>1</m:t>
                        </m:r>
                      </m:e>
                    </m:nary>
                  </m:oMath>
                </a14:m>
                <a:r>
                  <a:rPr lang="en-US" dirty="0"/>
                  <a:t>= n-2-0+1=n-1 </a:t>
                </a:r>
                <a:r>
                  <a:rPr lang="el-GR" dirty="0"/>
                  <a:t>θ</a:t>
                </a:r>
                <a:r>
                  <a:rPr lang="en-US" dirty="0"/>
                  <a:t>(n)</a:t>
                </a:r>
              </a:p>
              <a:p>
                <a:r>
                  <a:rPr lang="en-US" dirty="0"/>
                  <a:t>The two parts transform and conquer:</a:t>
                </a:r>
              </a:p>
              <a:p>
                <a:r>
                  <a:rPr lang="en-US" dirty="0"/>
                  <a:t>T(n)= </a:t>
                </a:r>
                <a:r>
                  <a:rPr lang="el-GR" dirty="0"/>
                  <a:t>θ</a:t>
                </a:r>
                <a:r>
                  <a:rPr lang="en-US" dirty="0"/>
                  <a:t>(n.log(n)) + </a:t>
                </a:r>
                <a:r>
                  <a:rPr lang="el-GR" dirty="0"/>
                  <a:t>θ</a:t>
                </a:r>
                <a:r>
                  <a:rPr lang="en-US" dirty="0"/>
                  <a:t>(n) = </a:t>
                </a:r>
                <a:r>
                  <a:rPr lang="el-GR" dirty="0"/>
                  <a:t>θ</a:t>
                </a:r>
                <a:r>
                  <a:rPr lang="en-US" dirty="0"/>
                  <a:t>(n.log(n))</a:t>
                </a:r>
              </a:p>
            </p:txBody>
          </p:sp>
        </mc:Choice>
        <mc:Fallback xmlns="">
          <p:sp>
            <p:nvSpPr>
              <p:cNvPr id="6" name="Content Placeholder 5">
                <a:extLst>
                  <a:ext uri="{FF2B5EF4-FFF2-40B4-BE49-F238E27FC236}">
                    <a16:creationId xmlns:a16="http://schemas.microsoft.com/office/drawing/2014/main" id="{0B7B250B-D32B-157D-8962-FE3F7E8F9C5B}"/>
                  </a:ext>
                </a:extLst>
              </p:cNvPr>
              <p:cNvSpPr>
                <a:spLocks noGrp="1" noRot="1" noChangeAspect="1" noMove="1" noResize="1" noEditPoints="1" noAdjustHandles="1" noChangeArrowheads="1" noChangeShapeType="1" noTextEdit="1"/>
              </p:cNvSpPr>
              <p:nvPr>
                <p:ph sz="half" idx="2"/>
              </p:nvPr>
            </p:nvSpPr>
            <p:spPr>
              <a:blipFill>
                <a:blip r:embed="rId3"/>
                <a:stretch>
                  <a:fillRect l="-702" t="-171"/>
                </a:stretch>
              </a:blipFill>
            </p:spPr>
            <p:txBody>
              <a:bodyPr/>
              <a:lstStyle/>
              <a:p>
                <a:r>
                  <a:rPr lang="en-US">
                    <a:noFill/>
                  </a:rPr>
                  <a:t> </a:t>
                </a:r>
              </a:p>
            </p:txBody>
          </p:sp>
        </mc:Fallback>
      </mc:AlternateContent>
    </p:spTree>
    <p:extLst>
      <p:ext uri="{BB962C8B-B14F-4D97-AF65-F5344CB8AC3E}">
        <p14:creationId xmlns:p14="http://schemas.microsoft.com/office/powerpoint/2010/main" val="1078598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9DD58-4D3E-5307-CDA8-B1A0F6C9B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E2B0E-275C-9959-8569-E4511B6781D3}"/>
              </a:ext>
            </a:extLst>
          </p:cNvPr>
          <p:cNvSpPr>
            <a:spLocks noGrp="1"/>
          </p:cNvSpPr>
          <p:nvPr>
            <p:ph type="title"/>
          </p:nvPr>
        </p:nvSpPr>
        <p:spPr>
          <a:xfrm>
            <a:off x="640080" y="1371600"/>
            <a:ext cx="4670661" cy="3030842"/>
          </a:xfrm>
        </p:spPr>
        <p:txBody>
          <a:bodyPr vert="horz" lIns="91440" tIns="45720" rIns="91440" bIns="45720" rtlCol="0" anchor="t">
            <a:normAutofit fontScale="90000"/>
          </a:bodyPr>
          <a:lstStyle/>
          <a:p>
            <a:pPr>
              <a:lnSpc>
                <a:spcPct val="90000"/>
              </a:lnSpc>
            </a:pPr>
            <a:r>
              <a:rPr lang="en-US" sz="5400" dirty="0"/>
              <a:t>Balanced Binary Search Tree </a:t>
            </a:r>
            <a:br>
              <a:rPr lang="en-US" sz="5000" b="1" kern="1200" dirty="0">
                <a:solidFill>
                  <a:schemeClr val="tx1"/>
                </a:solidFill>
                <a:latin typeface="+mj-lt"/>
                <a:ea typeface="+mj-ea"/>
                <a:cs typeface="+mj-cs"/>
              </a:rPr>
            </a:br>
            <a:br>
              <a:rPr lang="en-US" sz="5000" b="1" kern="1200" dirty="0">
                <a:solidFill>
                  <a:schemeClr val="tx1"/>
                </a:solidFill>
                <a:latin typeface="+mj-lt"/>
                <a:ea typeface="+mj-ea"/>
                <a:cs typeface="+mj-cs"/>
              </a:rPr>
            </a:br>
            <a:br>
              <a:rPr lang="en-US" sz="5000" b="1" kern="1200" dirty="0">
                <a:solidFill>
                  <a:schemeClr val="tx1"/>
                </a:solidFill>
                <a:latin typeface="+mj-lt"/>
                <a:ea typeface="+mj-ea"/>
                <a:cs typeface="+mj-cs"/>
              </a:rPr>
            </a:br>
            <a:endParaRPr lang="en-US" sz="5000" b="1" kern="1200" dirty="0">
              <a:solidFill>
                <a:schemeClr val="tx1"/>
              </a:solidFill>
              <a:latin typeface="+mj-lt"/>
              <a:ea typeface="+mj-ea"/>
              <a:cs typeface="+mj-cs"/>
            </a:endParaRPr>
          </a:p>
        </p:txBody>
      </p:sp>
      <p:pic>
        <p:nvPicPr>
          <p:cNvPr id="4" name="Picture 3" descr="Aqua and green fractal background like floral petal">
            <a:extLst>
              <a:ext uri="{FF2B5EF4-FFF2-40B4-BE49-F238E27FC236}">
                <a16:creationId xmlns:a16="http://schemas.microsoft.com/office/drawing/2014/main" id="{1EDB6D26-BC40-94BB-04FC-0292841C6772}"/>
              </a:ext>
            </a:extLst>
          </p:cNvPr>
          <p:cNvPicPr>
            <a:picLocks noChangeAspect="1"/>
          </p:cNvPicPr>
          <p:nvPr/>
        </p:nvPicPr>
        <p:blipFill>
          <a:blip r:embed="rId2"/>
          <a:srcRect l="13395" r="24521"/>
          <a:stretch>
            <a:fillRect/>
          </a:stretch>
        </p:blipFill>
        <p:spPr>
          <a:xfrm>
            <a:off x="6515100" y="10"/>
            <a:ext cx="5676900" cy="6857990"/>
          </a:xfrm>
          <a:prstGeom prst="rect">
            <a:avLst/>
          </a:prstGeom>
        </p:spPr>
      </p:pic>
    </p:spTree>
    <p:extLst>
      <p:ext uri="{BB962C8B-B14F-4D97-AF65-F5344CB8AC3E}">
        <p14:creationId xmlns:p14="http://schemas.microsoft.com/office/powerpoint/2010/main" val="3791661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E4958-3435-74D1-65A9-BBACF9876EA6}"/>
              </a:ext>
            </a:extLst>
          </p:cNvPr>
          <p:cNvSpPr>
            <a:spLocks noGrp="1"/>
          </p:cNvSpPr>
          <p:nvPr>
            <p:ph type="title"/>
          </p:nvPr>
        </p:nvSpPr>
        <p:spPr/>
        <p:txBody>
          <a:bodyPr/>
          <a:lstStyle/>
          <a:p>
            <a:r>
              <a:rPr lang="en-US" dirty="0"/>
              <a:t>Binary search trees</a:t>
            </a:r>
          </a:p>
        </p:txBody>
      </p:sp>
      <p:sp>
        <p:nvSpPr>
          <p:cNvPr id="3" name="Content Placeholder 2">
            <a:extLst>
              <a:ext uri="{FF2B5EF4-FFF2-40B4-BE49-F238E27FC236}">
                <a16:creationId xmlns:a16="http://schemas.microsoft.com/office/drawing/2014/main" id="{900C0C87-7B1D-F142-804B-E912A200837D}"/>
              </a:ext>
            </a:extLst>
          </p:cNvPr>
          <p:cNvSpPr>
            <a:spLocks noGrp="1"/>
          </p:cNvSpPr>
          <p:nvPr>
            <p:ph idx="1"/>
          </p:nvPr>
        </p:nvSpPr>
        <p:spPr/>
        <p:txBody>
          <a:bodyPr>
            <a:normAutofit/>
          </a:bodyPr>
          <a:lstStyle/>
          <a:p>
            <a:r>
              <a:rPr lang="en-US" dirty="0"/>
              <a:t>Binary search tree (BTS) is a tree with at most two children nodes for each parent node</a:t>
            </a:r>
          </a:p>
          <a:p>
            <a:r>
              <a:rPr lang="en-US" dirty="0"/>
              <a:t>For any given node, all values in its left subtree must be smaller, and all values in its right subtree must be larger</a:t>
            </a:r>
          </a:p>
          <a:p>
            <a:r>
              <a:rPr lang="en-US" dirty="0"/>
              <a:t>Why use tree not just arrays or linked lists?</a:t>
            </a:r>
          </a:p>
          <a:p>
            <a:pPr marL="265176" lvl="1" indent="0" eaLnBrk="0" fontAlgn="base" hangingPunct="0">
              <a:lnSpc>
                <a:spcPct val="100000"/>
              </a:lnSpc>
              <a:spcBef>
                <a:spcPct val="0"/>
              </a:spcBef>
              <a:spcAft>
                <a:spcPct val="0"/>
              </a:spcAft>
              <a:buSzTx/>
              <a:buFontTx/>
              <a:buChar char="•"/>
            </a:pPr>
            <a:r>
              <a:rPr lang="en-US" altLang="en-US" dirty="0"/>
              <a:t>Arrays: While a sorted array allows for O(log n) search, inserting or deleting an element is slow (O(n)) because you have to shift all other elements.</a:t>
            </a:r>
          </a:p>
          <a:p>
            <a:pPr marL="265176" lvl="1" indent="0" eaLnBrk="0" fontAlgn="base" hangingPunct="0">
              <a:lnSpc>
                <a:spcPct val="100000"/>
              </a:lnSpc>
              <a:spcBef>
                <a:spcPct val="0"/>
              </a:spcBef>
              <a:spcAft>
                <a:spcPct val="0"/>
              </a:spcAft>
              <a:buSzTx/>
              <a:buFontTx/>
              <a:buChar char="•"/>
            </a:pPr>
            <a:r>
              <a:rPr lang="en-US" altLang="en-US" dirty="0"/>
              <a:t>Linked Lists: These allow for fast insertion once you find the spot, but searching is always O(n) because you have to traverse them linearly.</a:t>
            </a:r>
          </a:p>
          <a:p>
            <a:pPr marL="265176" lvl="1" indent="0" eaLnBrk="0" fontAlgn="base" hangingPunct="0">
              <a:lnSpc>
                <a:spcPct val="100000"/>
              </a:lnSpc>
              <a:spcBef>
                <a:spcPct val="0"/>
              </a:spcBef>
              <a:spcAft>
                <a:spcPct val="0"/>
              </a:spcAft>
              <a:buSzTx/>
              <a:buFontTx/>
              <a:buChar char="•"/>
            </a:pPr>
            <a:r>
              <a:rPr lang="en-US" altLang="en-US" dirty="0"/>
              <a:t>BST Advantage: BST aims to provide the "best of both worlds": efficient searching and efficient dynamic updates (insertions/deletions).</a:t>
            </a:r>
          </a:p>
        </p:txBody>
      </p:sp>
    </p:spTree>
    <p:extLst>
      <p:ext uri="{BB962C8B-B14F-4D97-AF65-F5344CB8AC3E}">
        <p14:creationId xmlns:p14="http://schemas.microsoft.com/office/powerpoint/2010/main" val="3975131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ABD40-F9E6-A9AF-49D2-B315C09EC389}"/>
              </a:ext>
            </a:extLst>
          </p:cNvPr>
          <p:cNvSpPr>
            <a:spLocks noGrp="1"/>
          </p:cNvSpPr>
          <p:nvPr>
            <p:ph type="title"/>
          </p:nvPr>
        </p:nvSpPr>
        <p:spPr/>
        <p:txBody>
          <a:bodyPr>
            <a:normAutofit/>
          </a:bodyPr>
          <a:lstStyle/>
          <a:p>
            <a:r>
              <a:rPr lang="en-US" dirty="0"/>
              <a:t>Balanced Binary Search Tree</a:t>
            </a:r>
          </a:p>
        </p:txBody>
      </p:sp>
      <p:sp>
        <p:nvSpPr>
          <p:cNvPr id="3" name="Content Placeholder 2">
            <a:extLst>
              <a:ext uri="{FF2B5EF4-FFF2-40B4-BE49-F238E27FC236}">
                <a16:creationId xmlns:a16="http://schemas.microsoft.com/office/drawing/2014/main" id="{0CB9DA95-D6EA-4EF0-5F3F-E271177F6D4E}"/>
              </a:ext>
            </a:extLst>
          </p:cNvPr>
          <p:cNvSpPr>
            <a:spLocks noGrp="1"/>
          </p:cNvSpPr>
          <p:nvPr>
            <p:ph idx="1"/>
          </p:nvPr>
        </p:nvSpPr>
        <p:spPr/>
        <p:txBody>
          <a:bodyPr>
            <a:normAutofit fontScale="92500" lnSpcReduction="10000"/>
          </a:bodyPr>
          <a:lstStyle/>
          <a:p>
            <a:r>
              <a:rPr lang="en-US" dirty="0"/>
              <a:t>In a randomly built tree, the height is logarithmic, making search, insertion, and deletion very efficient </a:t>
            </a:r>
            <a:r>
              <a:rPr lang="el-GR" dirty="0"/>
              <a:t>θ</a:t>
            </a:r>
            <a:r>
              <a:rPr lang="en-US" dirty="0"/>
              <a:t>(log(n)))</a:t>
            </a:r>
          </a:p>
          <a:p>
            <a:r>
              <a:rPr lang="en-US" dirty="0"/>
              <a:t>But if the elements are inserted in ascending or descending order the time complexity is </a:t>
            </a:r>
            <a:r>
              <a:rPr lang="el-GR" dirty="0"/>
              <a:t>θ</a:t>
            </a:r>
            <a:r>
              <a:rPr lang="en-US" dirty="0"/>
              <a:t>(n)</a:t>
            </a:r>
          </a:p>
          <a:p>
            <a:r>
              <a:rPr lang="en-US" dirty="0"/>
              <a:t>How to solve this problem ? by making creating a balanced binary tree </a:t>
            </a:r>
          </a:p>
          <a:p>
            <a:r>
              <a:rPr lang="en-US" dirty="0"/>
              <a:t>A Balanced (BTS) is method used to ensure the height of the tree doesn’t exceed a certain height on both sides</a:t>
            </a:r>
          </a:p>
          <a:p>
            <a:r>
              <a:rPr lang="en-US" dirty="0"/>
              <a:t>There is two types of algorithm:</a:t>
            </a:r>
          </a:p>
          <a:p>
            <a:pPr lvl="1"/>
            <a:r>
              <a:rPr lang="en-US" dirty="0"/>
              <a:t>AVL Tree</a:t>
            </a:r>
          </a:p>
          <a:p>
            <a:pPr lvl="1"/>
            <a:r>
              <a:rPr lang="en-US" dirty="0"/>
              <a:t>2-3 Tree </a:t>
            </a:r>
          </a:p>
          <a:p>
            <a:endParaRPr lang="en-US" dirty="0"/>
          </a:p>
        </p:txBody>
      </p:sp>
    </p:spTree>
    <p:extLst>
      <p:ext uri="{BB962C8B-B14F-4D97-AF65-F5344CB8AC3E}">
        <p14:creationId xmlns:p14="http://schemas.microsoft.com/office/powerpoint/2010/main" val="139932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7E3B8-E16C-34B8-D25D-BFD033D4C05D}"/>
              </a:ext>
            </a:extLst>
          </p:cNvPr>
          <p:cNvSpPr>
            <a:spLocks noGrp="1"/>
          </p:cNvSpPr>
          <p:nvPr>
            <p:ph type="title"/>
          </p:nvPr>
        </p:nvSpPr>
        <p:spPr/>
        <p:txBody>
          <a:bodyPr/>
          <a:lstStyle/>
          <a:p>
            <a:r>
              <a:rPr lang="en-US" dirty="0"/>
              <a:t>AVL tree</a:t>
            </a:r>
          </a:p>
        </p:txBody>
      </p:sp>
      <p:sp>
        <p:nvSpPr>
          <p:cNvPr id="3" name="Content Placeholder 2">
            <a:extLst>
              <a:ext uri="{FF2B5EF4-FFF2-40B4-BE49-F238E27FC236}">
                <a16:creationId xmlns:a16="http://schemas.microsoft.com/office/drawing/2014/main" id="{093B7A35-9E88-C600-CF70-7121AEFE779D}"/>
              </a:ext>
            </a:extLst>
          </p:cNvPr>
          <p:cNvSpPr>
            <a:spLocks noGrp="1"/>
          </p:cNvSpPr>
          <p:nvPr>
            <p:ph idx="1"/>
          </p:nvPr>
        </p:nvSpPr>
        <p:spPr/>
        <p:txBody>
          <a:bodyPr/>
          <a:lstStyle/>
          <a:p>
            <a:r>
              <a:rPr lang="en-US" sz="1900" dirty="0"/>
              <a:t>An AVL Tree (named after its inventors Adelson-</a:t>
            </a:r>
            <a:r>
              <a:rPr lang="en-US" sz="1900" dirty="0" err="1"/>
              <a:t>Velsky</a:t>
            </a:r>
            <a:r>
              <a:rPr lang="en-US" sz="1900" dirty="0"/>
              <a:t> and Landis) is a self-balancing Binary Search Tree (BST). </a:t>
            </a:r>
          </a:p>
          <a:p>
            <a:r>
              <a:rPr lang="en-US" sz="1900" dirty="0"/>
              <a:t>It was the first data structure of its kind to be developed, specifically designed to address the "skewing" problem where a standard BST can become inefficient and act like a linked list.</a:t>
            </a:r>
          </a:p>
          <a:p>
            <a:r>
              <a:rPr lang="en-US" sz="1900" dirty="0"/>
              <a:t>The defining characteristic of an AVL tree is that it maintains a strict balance during every insertion and deletion. This ensures that the tree height remains logarithmic relative to the number of nodes, guaranteeing that operations like search, insertion, and deletion </a:t>
            </a:r>
            <a:r>
              <a:rPr lang="el-GR" sz="1900" dirty="0"/>
              <a:t>ϴ</a:t>
            </a:r>
            <a:r>
              <a:rPr lang="en-US" sz="1900" dirty="0"/>
              <a:t>(log(n))</a:t>
            </a:r>
          </a:p>
        </p:txBody>
      </p:sp>
    </p:spTree>
    <p:extLst>
      <p:ext uri="{BB962C8B-B14F-4D97-AF65-F5344CB8AC3E}">
        <p14:creationId xmlns:p14="http://schemas.microsoft.com/office/powerpoint/2010/main" val="1724312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51087-5C75-AB57-9AE1-974B909B89B2}"/>
              </a:ext>
            </a:extLst>
          </p:cNvPr>
          <p:cNvSpPr>
            <a:spLocks noGrp="1"/>
          </p:cNvSpPr>
          <p:nvPr>
            <p:ph type="title"/>
          </p:nvPr>
        </p:nvSpPr>
        <p:spPr/>
        <p:txBody>
          <a:bodyPr/>
          <a:lstStyle/>
          <a:p>
            <a:r>
              <a:rPr lang="en-US" dirty="0"/>
              <a:t>AVL Tree</a:t>
            </a:r>
          </a:p>
        </p:txBody>
      </p:sp>
      <p:sp>
        <p:nvSpPr>
          <p:cNvPr id="3" name="Content Placeholder 2">
            <a:extLst>
              <a:ext uri="{FF2B5EF4-FFF2-40B4-BE49-F238E27FC236}">
                <a16:creationId xmlns:a16="http://schemas.microsoft.com/office/drawing/2014/main" id="{0B38861F-F6D2-06A2-6E3A-B453637323D7}"/>
              </a:ext>
            </a:extLst>
          </p:cNvPr>
          <p:cNvSpPr>
            <a:spLocks noGrp="1"/>
          </p:cNvSpPr>
          <p:nvPr>
            <p:ph idx="1"/>
          </p:nvPr>
        </p:nvSpPr>
        <p:spPr/>
        <p:txBody>
          <a:bodyPr>
            <a:normAutofit fontScale="92500"/>
          </a:bodyPr>
          <a:lstStyle/>
          <a:p>
            <a:r>
              <a:rPr lang="en-US" dirty="0"/>
              <a:t>an AVL tree is the Balance Factor (BF). For every node in the tree, the balance factor is calculated</a:t>
            </a:r>
          </a:p>
          <a:p>
            <a:pPr lvl="1"/>
            <a:r>
              <a:rPr lang="en-US" dirty="0"/>
              <a:t>Balance Factor = Height of Left Subtree – Height of Right Subtree</a:t>
            </a:r>
          </a:p>
          <a:p>
            <a:r>
              <a:rPr lang="en-US" dirty="0"/>
              <a:t>To remain "balanced," an AVL tree enforces a strict rule: the balance factor of every node must be either -1, 0, or +1.</a:t>
            </a:r>
          </a:p>
          <a:p>
            <a:r>
              <a:rPr lang="en-US" dirty="0"/>
              <a:t>If the BF of any node becomes +2 or -2 after an update, the tree is considered "unbalanced.“</a:t>
            </a:r>
          </a:p>
          <a:p>
            <a:r>
              <a:rPr lang="en-US" dirty="0"/>
              <a:t>The tree must then perform a rotation to restore its balance. </a:t>
            </a:r>
          </a:p>
          <a:p>
            <a:r>
              <a:rPr lang="en-US" dirty="0"/>
              <a:t>To restore balance without breaking the BST property (Left &lt; Parent &lt; Right), the tree performs one of four </a:t>
            </a:r>
            <a:r>
              <a:rPr lang="en-US" b="1" dirty="0"/>
              <a:t>rotations.</a:t>
            </a:r>
            <a:endParaRPr lang="en-US" dirty="0"/>
          </a:p>
          <a:p>
            <a:endParaRPr lang="en-US" dirty="0"/>
          </a:p>
        </p:txBody>
      </p:sp>
    </p:spTree>
    <p:extLst>
      <p:ext uri="{BB962C8B-B14F-4D97-AF65-F5344CB8AC3E}">
        <p14:creationId xmlns:p14="http://schemas.microsoft.com/office/powerpoint/2010/main" val="4000120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CB469-A6C0-C919-3A6F-029A2B298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D2EE0-0CA4-7176-21A3-111474A6F952}"/>
              </a:ext>
            </a:extLst>
          </p:cNvPr>
          <p:cNvSpPr>
            <a:spLocks noGrp="1"/>
          </p:cNvSpPr>
          <p:nvPr>
            <p:ph type="title"/>
          </p:nvPr>
        </p:nvSpPr>
        <p:spPr/>
        <p:txBody>
          <a:bodyPr/>
          <a:lstStyle/>
          <a:p>
            <a:r>
              <a:rPr lang="en-US" dirty="0"/>
              <a:t>AVL Tree</a:t>
            </a:r>
          </a:p>
        </p:txBody>
      </p:sp>
      <p:pic>
        <p:nvPicPr>
          <p:cNvPr id="8" name="Content Placeholder 7">
            <a:extLst>
              <a:ext uri="{FF2B5EF4-FFF2-40B4-BE49-F238E27FC236}">
                <a16:creationId xmlns:a16="http://schemas.microsoft.com/office/drawing/2014/main" id="{1ADC274A-F6E3-A723-DEB5-42224011F957}"/>
              </a:ext>
            </a:extLst>
          </p:cNvPr>
          <p:cNvPicPr>
            <a:picLocks noGrp="1" noChangeAspect="1"/>
          </p:cNvPicPr>
          <p:nvPr>
            <p:ph idx="1"/>
          </p:nvPr>
        </p:nvPicPr>
        <p:blipFill>
          <a:blip r:embed="rId2"/>
          <a:stretch>
            <a:fillRect/>
          </a:stretch>
        </p:blipFill>
        <p:spPr>
          <a:xfrm>
            <a:off x="1350335" y="2468880"/>
            <a:ext cx="9016409" cy="3283333"/>
          </a:xfrm>
          <a:prstGeom prst="rect">
            <a:avLst/>
          </a:prstGeom>
        </p:spPr>
      </p:pic>
    </p:spTree>
    <p:extLst>
      <p:ext uri="{BB962C8B-B14F-4D97-AF65-F5344CB8AC3E}">
        <p14:creationId xmlns:p14="http://schemas.microsoft.com/office/powerpoint/2010/main" val="2107230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279E1-EE74-B8C5-D1E7-F9A6BC2CE512}"/>
              </a:ext>
            </a:extLst>
          </p:cNvPr>
          <p:cNvSpPr>
            <a:spLocks noGrp="1"/>
          </p:cNvSpPr>
          <p:nvPr>
            <p:ph type="title"/>
          </p:nvPr>
        </p:nvSpPr>
        <p:spPr/>
        <p:txBody>
          <a:bodyPr/>
          <a:lstStyle/>
          <a:p>
            <a:r>
              <a:rPr lang="en-US" dirty="0"/>
              <a:t>AVL tree</a:t>
            </a:r>
          </a:p>
        </p:txBody>
      </p:sp>
      <p:pic>
        <p:nvPicPr>
          <p:cNvPr id="11" name="Content Placeholder 10">
            <a:extLst>
              <a:ext uri="{FF2B5EF4-FFF2-40B4-BE49-F238E27FC236}">
                <a16:creationId xmlns:a16="http://schemas.microsoft.com/office/drawing/2014/main" id="{4F21B4FA-A1C5-AEFB-DFE4-43D98794788A}"/>
              </a:ext>
            </a:extLst>
          </p:cNvPr>
          <p:cNvPicPr>
            <a:picLocks noGrp="1" noChangeAspect="1"/>
          </p:cNvPicPr>
          <p:nvPr>
            <p:ph idx="1"/>
          </p:nvPr>
        </p:nvPicPr>
        <p:blipFill>
          <a:blip r:embed="rId2"/>
          <a:stretch>
            <a:fillRect/>
          </a:stretch>
        </p:blipFill>
        <p:spPr>
          <a:xfrm>
            <a:off x="6085543" y="4473826"/>
            <a:ext cx="3670551" cy="2145649"/>
          </a:xfrm>
          <a:prstGeom prst="rect">
            <a:avLst/>
          </a:prstGeom>
        </p:spPr>
      </p:pic>
      <p:pic>
        <p:nvPicPr>
          <p:cNvPr id="5" name="Picture 4">
            <a:extLst>
              <a:ext uri="{FF2B5EF4-FFF2-40B4-BE49-F238E27FC236}">
                <a16:creationId xmlns:a16="http://schemas.microsoft.com/office/drawing/2014/main" id="{C83A2135-3671-E388-2E4F-510D274A7902}"/>
              </a:ext>
            </a:extLst>
          </p:cNvPr>
          <p:cNvPicPr>
            <a:picLocks noChangeAspect="1"/>
          </p:cNvPicPr>
          <p:nvPr/>
        </p:nvPicPr>
        <p:blipFill>
          <a:blip r:embed="rId3"/>
          <a:stretch>
            <a:fillRect/>
          </a:stretch>
        </p:blipFill>
        <p:spPr>
          <a:xfrm>
            <a:off x="1086388" y="1998922"/>
            <a:ext cx="4453175" cy="2334206"/>
          </a:xfrm>
          <a:prstGeom prst="rect">
            <a:avLst/>
          </a:prstGeom>
        </p:spPr>
      </p:pic>
      <p:pic>
        <p:nvPicPr>
          <p:cNvPr id="7" name="Picture 6">
            <a:extLst>
              <a:ext uri="{FF2B5EF4-FFF2-40B4-BE49-F238E27FC236}">
                <a16:creationId xmlns:a16="http://schemas.microsoft.com/office/drawing/2014/main" id="{1412BCB3-CF7F-0E4D-7CA1-6A9FC82BA1F9}"/>
              </a:ext>
            </a:extLst>
          </p:cNvPr>
          <p:cNvPicPr>
            <a:picLocks noChangeAspect="1"/>
          </p:cNvPicPr>
          <p:nvPr/>
        </p:nvPicPr>
        <p:blipFill>
          <a:blip r:embed="rId4"/>
          <a:stretch>
            <a:fillRect/>
          </a:stretch>
        </p:blipFill>
        <p:spPr>
          <a:xfrm>
            <a:off x="6085543" y="1998923"/>
            <a:ext cx="3670551" cy="2334206"/>
          </a:xfrm>
          <a:prstGeom prst="rect">
            <a:avLst/>
          </a:prstGeom>
        </p:spPr>
      </p:pic>
      <p:pic>
        <p:nvPicPr>
          <p:cNvPr id="9" name="Picture 8">
            <a:extLst>
              <a:ext uri="{FF2B5EF4-FFF2-40B4-BE49-F238E27FC236}">
                <a16:creationId xmlns:a16="http://schemas.microsoft.com/office/drawing/2014/main" id="{BF3098D9-B136-A01B-349F-C4FA4E9E6C6F}"/>
              </a:ext>
            </a:extLst>
          </p:cNvPr>
          <p:cNvPicPr>
            <a:picLocks noChangeAspect="1"/>
          </p:cNvPicPr>
          <p:nvPr/>
        </p:nvPicPr>
        <p:blipFill>
          <a:blip r:embed="rId5"/>
          <a:stretch>
            <a:fillRect/>
          </a:stretch>
        </p:blipFill>
        <p:spPr>
          <a:xfrm>
            <a:off x="1086388" y="4473827"/>
            <a:ext cx="3900282" cy="2145649"/>
          </a:xfrm>
          <a:prstGeom prst="rect">
            <a:avLst/>
          </a:prstGeom>
        </p:spPr>
      </p:pic>
    </p:spTree>
    <p:extLst>
      <p:ext uri="{BB962C8B-B14F-4D97-AF65-F5344CB8AC3E}">
        <p14:creationId xmlns:p14="http://schemas.microsoft.com/office/powerpoint/2010/main" val="1060914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C5AE6-031A-F6D6-E5B6-B91AD44B344B}"/>
              </a:ext>
            </a:extLst>
          </p:cNvPr>
          <p:cNvSpPr>
            <a:spLocks noGrp="1"/>
          </p:cNvSpPr>
          <p:nvPr>
            <p:ph type="title"/>
          </p:nvPr>
        </p:nvSpPr>
        <p:spPr/>
        <p:txBody>
          <a:bodyPr/>
          <a:lstStyle/>
          <a:p>
            <a:r>
              <a:rPr lang="en-US" dirty="0"/>
              <a:t>AVL Tree</a:t>
            </a:r>
          </a:p>
        </p:txBody>
      </p:sp>
      <p:pic>
        <p:nvPicPr>
          <p:cNvPr id="5" name="Content Placeholder 4">
            <a:extLst>
              <a:ext uri="{FF2B5EF4-FFF2-40B4-BE49-F238E27FC236}">
                <a16:creationId xmlns:a16="http://schemas.microsoft.com/office/drawing/2014/main" id="{F803406D-819B-E163-84B0-A70098EC9458}"/>
              </a:ext>
            </a:extLst>
          </p:cNvPr>
          <p:cNvPicPr>
            <a:picLocks noGrp="1" noChangeAspect="1"/>
          </p:cNvPicPr>
          <p:nvPr>
            <p:ph idx="1"/>
          </p:nvPr>
        </p:nvPicPr>
        <p:blipFill>
          <a:blip r:embed="rId2"/>
          <a:stretch>
            <a:fillRect/>
          </a:stretch>
        </p:blipFill>
        <p:spPr>
          <a:xfrm>
            <a:off x="5667154" y="2210256"/>
            <a:ext cx="5021569" cy="3134477"/>
          </a:xfrm>
          <a:prstGeom prst="rect">
            <a:avLst/>
          </a:prstGeom>
        </p:spPr>
      </p:pic>
      <p:pic>
        <p:nvPicPr>
          <p:cNvPr id="4" name="Picture 3">
            <a:extLst>
              <a:ext uri="{FF2B5EF4-FFF2-40B4-BE49-F238E27FC236}">
                <a16:creationId xmlns:a16="http://schemas.microsoft.com/office/drawing/2014/main" id="{5160A070-D153-08EF-856B-AB827027DA51}"/>
              </a:ext>
            </a:extLst>
          </p:cNvPr>
          <p:cNvPicPr>
            <a:picLocks noChangeAspect="1"/>
          </p:cNvPicPr>
          <p:nvPr/>
        </p:nvPicPr>
        <p:blipFill>
          <a:blip r:embed="rId3"/>
          <a:stretch>
            <a:fillRect/>
          </a:stretch>
        </p:blipFill>
        <p:spPr>
          <a:xfrm>
            <a:off x="640079" y="2210256"/>
            <a:ext cx="4899484" cy="3240803"/>
          </a:xfrm>
          <a:prstGeom prst="rect">
            <a:avLst/>
          </a:prstGeom>
        </p:spPr>
      </p:pic>
    </p:spTree>
    <p:extLst>
      <p:ext uri="{BB962C8B-B14F-4D97-AF65-F5344CB8AC3E}">
        <p14:creationId xmlns:p14="http://schemas.microsoft.com/office/powerpoint/2010/main" val="1114673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3448D-1026-4DC3-EDD5-FB63C3E12FCB}"/>
              </a:ext>
            </a:extLst>
          </p:cNvPr>
          <p:cNvSpPr>
            <a:spLocks noGrp="1"/>
          </p:cNvSpPr>
          <p:nvPr>
            <p:ph type="title"/>
          </p:nvPr>
        </p:nvSpPr>
        <p:spPr/>
        <p:txBody>
          <a:bodyPr/>
          <a:lstStyle/>
          <a:p>
            <a:r>
              <a:rPr lang="en-US" dirty="0"/>
              <a:t>AVL tree</a:t>
            </a:r>
          </a:p>
        </p:txBody>
      </p:sp>
      <p:pic>
        <p:nvPicPr>
          <p:cNvPr id="7" name="Content Placeholder 6">
            <a:extLst>
              <a:ext uri="{FF2B5EF4-FFF2-40B4-BE49-F238E27FC236}">
                <a16:creationId xmlns:a16="http://schemas.microsoft.com/office/drawing/2014/main" id="{ECF1BEEC-44A1-4652-7534-CC4A7CC2F778}"/>
              </a:ext>
            </a:extLst>
          </p:cNvPr>
          <p:cNvPicPr>
            <a:picLocks noGrp="1" noChangeAspect="1"/>
          </p:cNvPicPr>
          <p:nvPr>
            <p:ph idx="1"/>
          </p:nvPr>
        </p:nvPicPr>
        <p:blipFill>
          <a:blip r:embed="rId2"/>
          <a:stretch>
            <a:fillRect/>
          </a:stretch>
        </p:blipFill>
        <p:spPr>
          <a:xfrm>
            <a:off x="5901070" y="2397413"/>
            <a:ext cx="4784649" cy="3812001"/>
          </a:xfrm>
          <a:prstGeom prst="rect">
            <a:avLst/>
          </a:prstGeom>
        </p:spPr>
      </p:pic>
      <p:pic>
        <p:nvPicPr>
          <p:cNvPr id="5" name="Picture 4">
            <a:extLst>
              <a:ext uri="{FF2B5EF4-FFF2-40B4-BE49-F238E27FC236}">
                <a16:creationId xmlns:a16="http://schemas.microsoft.com/office/drawing/2014/main" id="{BBC7D045-6837-5828-287E-8634299A14FD}"/>
              </a:ext>
            </a:extLst>
          </p:cNvPr>
          <p:cNvPicPr>
            <a:picLocks noChangeAspect="1"/>
          </p:cNvPicPr>
          <p:nvPr/>
        </p:nvPicPr>
        <p:blipFill>
          <a:blip r:embed="rId3"/>
          <a:stretch>
            <a:fillRect/>
          </a:stretch>
        </p:blipFill>
        <p:spPr>
          <a:xfrm>
            <a:off x="159488" y="2317898"/>
            <a:ext cx="5390706" cy="3700129"/>
          </a:xfrm>
          <a:prstGeom prst="rect">
            <a:avLst/>
          </a:prstGeom>
        </p:spPr>
      </p:pic>
    </p:spTree>
    <p:extLst>
      <p:ext uri="{BB962C8B-B14F-4D97-AF65-F5344CB8AC3E}">
        <p14:creationId xmlns:p14="http://schemas.microsoft.com/office/powerpoint/2010/main" val="850851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2E7DF-18DD-A841-2020-FF5E81FCCA5F}"/>
              </a:ext>
            </a:extLst>
          </p:cNvPr>
          <p:cNvSpPr>
            <a:spLocks noGrp="1"/>
          </p:cNvSpPr>
          <p:nvPr>
            <p:ph type="title"/>
          </p:nvPr>
        </p:nvSpPr>
        <p:spPr/>
        <p:txBody>
          <a:bodyPr/>
          <a:lstStyle/>
          <a:p>
            <a:r>
              <a:rPr lang="en-US" dirty="0"/>
              <a:t>AVL Example</a:t>
            </a:r>
          </a:p>
        </p:txBody>
      </p:sp>
      <p:pic>
        <p:nvPicPr>
          <p:cNvPr id="5" name="Content Placeholder 4">
            <a:extLst>
              <a:ext uri="{FF2B5EF4-FFF2-40B4-BE49-F238E27FC236}">
                <a16:creationId xmlns:a16="http://schemas.microsoft.com/office/drawing/2014/main" id="{3E755743-59CE-694D-265D-5D8762F2C33E}"/>
              </a:ext>
            </a:extLst>
          </p:cNvPr>
          <p:cNvPicPr>
            <a:picLocks noGrp="1" noChangeAspect="1"/>
          </p:cNvPicPr>
          <p:nvPr>
            <p:ph idx="1"/>
          </p:nvPr>
        </p:nvPicPr>
        <p:blipFill>
          <a:blip r:embed="rId2"/>
          <a:stretch>
            <a:fillRect/>
          </a:stretch>
        </p:blipFill>
        <p:spPr>
          <a:xfrm>
            <a:off x="744279" y="2700670"/>
            <a:ext cx="9526771" cy="3561907"/>
          </a:xfrm>
          <a:prstGeom prst="rect">
            <a:avLst/>
          </a:prstGeom>
        </p:spPr>
      </p:pic>
      <p:sp>
        <p:nvSpPr>
          <p:cNvPr id="8" name="TextBox 7">
            <a:extLst>
              <a:ext uri="{FF2B5EF4-FFF2-40B4-BE49-F238E27FC236}">
                <a16:creationId xmlns:a16="http://schemas.microsoft.com/office/drawing/2014/main" id="{7831C10F-6655-625D-8228-13631C550783}"/>
              </a:ext>
            </a:extLst>
          </p:cNvPr>
          <p:cNvSpPr txBox="1"/>
          <p:nvPr/>
        </p:nvSpPr>
        <p:spPr>
          <a:xfrm>
            <a:off x="1222744" y="2215444"/>
            <a:ext cx="9367284" cy="369332"/>
          </a:xfrm>
          <a:prstGeom prst="rect">
            <a:avLst/>
          </a:prstGeom>
          <a:noFill/>
        </p:spPr>
        <p:txBody>
          <a:bodyPr wrap="square" rtlCol="0">
            <a:spAutoFit/>
          </a:bodyPr>
          <a:lstStyle/>
          <a:p>
            <a:r>
              <a:rPr lang="en-US" dirty="0"/>
              <a:t>Construction of an AVL tree for the list 5, 6, 8, 3, 2, 4, 7 by successive insertions.</a:t>
            </a:r>
          </a:p>
        </p:txBody>
      </p:sp>
    </p:spTree>
    <p:extLst>
      <p:ext uri="{BB962C8B-B14F-4D97-AF65-F5344CB8AC3E}">
        <p14:creationId xmlns:p14="http://schemas.microsoft.com/office/powerpoint/2010/main" val="2010910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ECE26-AFC7-93CF-6D84-895E530B8505}"/>
              </a:ext>
            </a:extLst>
          </p:cNvPr>
          <p:cNvSpPr>
            <a:spLocks noGrp="1"/>
          </p:cNvSpPr>
          <p:nvPr>
            <p:ph type="title"/>
          </p:nvPr>
        </p:nvSpPr>
        <p:spPr/>
        <p:txBody>
          <a:bodyPr/>
          <a:lstStyle/>
          <a:p>
            <a:r>
              <a:rPr lang="en-US" dirty="0"/>
              <a:t>AVL Example</a:t>
            </a:r>
          </a:p>
        </p:txBody>
      </p:sp>
      <p:pic>
        <p:nvPicPr>
          <p:cNvPr id="5" name="Content Placeholder 4">
            <a:extLst>
              <a:ext uri="{FF2B5EF4-FFF2-40B4-BE49-F238E27FC236}">
                <a16:creationId xmlns:a16="http://schemas.microsoft.com/office/drawing/2014/main" id="{566D4BCB-9ACF-CE2B-69A4-9713C8A5FA3A}"/>
              </a:ext>
            </a:extLst>
          </p:cNvPr>
          <p:cNvPicPr>
            <a:picLocks noGrp="1" noChangeAspect="1"/>
          </p:cNvPicPr>
          <p:nvPr>
            <p:ph idx="1"/>
          </p:nvPr>
        </p:nvPicPr>
        <p:blipFill>
          <a:blip r:embed="rId2"/>
          <a:stretch>
            <a:fillRect/>
          </a:stretch>
        </p:blipFill>
        <p:spPr>
          <a:xfrm>
            <a:off x="1392864" y="2700669"/>
            <a:ext cx="8708065" cy="3646967"/>
          </a:xfrm>
          <a:prstGeom prst="rect">
            <a:avLst/>
          </a:prstGeom>
        </p:spPr>
      </p:pic>
      <p:sp>
        <p:nvSpPr>
          <p:cNvPr id="6" name="TextBox 5">
            <a:extLst>
              <a:ext uri="{FF2B5EF4-FFF2-40B4-BE49-F238E27FC236}">
                <a16:creationId xmlns:a16="http://schemas.microsoft.com/office/drawing/2014/main" id="{00E66D41-4764-EFC3-34A6-05CEA4CDD472}"/>
              </a:ext>
            </a:extLst>
          </p:cNvPr>
          <p:cNvSpPr txBox="1"/>
          <p:nvPr/>
        </p:nvSpPr>
        <p:spPr>
          <a:xfrm>
            <a:off x="1222744" y="2215444"/>
            <a:ext cx="9367284" cy="369332"/>
          </a:xfrm>
          <a:prstGeom prst="rect">
            <a:avLst/>
          </a:prstGeom>
          <a:noFill/>
        </p:spPr>
        <p:txBody>
          <a:bodyPr wrap="square" rtlCol="0">
            <a:spAutoFit/>
          </a:bodyPr>
          <a:lstStyle/>
          <a:p>
            <a:r>
              <a:rPr lang="en-US" dirty="0"/>
              <a:t>Construction of an AVL tree for the list 5, 6, 8, 3, 2, 4, 7 by successive insertions.</a:t>
            </a:r>
          </a:p>
        </p:txBody>
      </p:sp>
    </p:spTree>
    <p:extLst>
      <p:ext uri="{BB962C8B-B14F-4D97-AF65-F5344CB8AC3E}">
        <p14:creationId xmlns:p14="http://schemas.microsoft.com/office/powerpoint/2010/main" val="3807076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CA31C-3933-6FA1-1FB2-48D59AD7330D}"/>
              </a:ext>
            </a:extLst>
          </p:cNvPr>
          <p:cNvSpPr>
            <a:spLocks noGrp="1"/>
          </p:cNvSpPr>
          <p:nvPr>
            <p:ph type="title"/>
          </p:nvPr>
        </p:nvSpPr>
        <p:spPr/>
        <p:txBody>
          <a:bodyPr/>
          <a:lstStyle/>
          <a:p>
            <a:r>
              <a:rPr lang="en-US" dirty="0"/>
              <a:t>2-3 tree</a:t>
            </a:r>
          </a:p>
        </p:txBody>
      </p:sp>
      <p:sp>
        <p:nvSpPr>
          <p:cNvPr id="3" name="Content Placeholder 2">
            <a:extLst>
              <a:ext uri="{FF2B5EF4-FFF2-40B4-BE49-F238E27FC236}">
                <a16:creationId xmlns:a16="http://schemas.microsoft.com/office/drawing/2014/main" id="{00DDE3C8-34A9-541B-0213-327FEB5B9F01}"/>
              </a:ext>
            </a:extLst>
          </p:cNvPr>
          <p:cNvSpPr>
            <a:spLocks noGrp="1"/>
          </p:cNvSpPr>
          <p:nvPr>
            <p:ph idx="1"/>
          </p:nvPr>
        </p:nvSpPr>
        <p:spPr/>
        <p:txBody>
          <a:bodyPr>
            <a:normAutofit lnSpcReduction="10000"/>
          </a:bodyPr>
          <a:lstStyle/>
          <a:p>
            <a:r>
              <a:rPr lang="en-US" dirty="0"/>
              <a:t>It is also used to balance a search tree is to allow more than one key in the same node of such a tree</a:t>
            </a:r>
          </a:p>
          <a:p>
            <a:r>
              <a:rPr lang="en-US" dirty="0"/>
              <a:t>A 2-3 tree is a tree that can have nodes of two kinds:2-nodes and 3-nodes. </a:t>
            </a:r>
          </a:p>
          <a:p>
            <a:r>
              <a:rPr lang="en-US" dirty="0"/>
              <a:t>A 2-node contains a single key K and has two children: </a:t>
            </a:r>
          </a:p>
          <a:p>
            <a:r>
              <a:rPr lang="en-US" dirty="0"/>
              <a:t>the left child serves as the root of a subtree whose keys are less than K </a:t>
            </a:r>
          </a:p>
          <a:p>
            <a:r>
              <a:rPr lang="en-US" dirty="0"/>
              <a:t>the right child serves as the root of a subtree whose keys are greater than K.</a:t>
            </a:r>
          </a:p>
          <a:p>
            <a:r>
              <a:rPr lang="en-US" dirty="0"/>
              <a:t> In other words, a 2-node is the same kind of node we have in the classical binary search tree.) </a:t>
            </a:r>
          </a:p>
          <a:p>
            <a:pPr marL="0" indent="0">
              <a:buNone/>
            </a:pPr>
            <a:endParaRPr lang="en-US" dirty="0"/>
          </a:p>
        </p:txBody>
      </p:sp>
    </p:spTree>
    <p:extLst>
      <p:ext uri="{BB962C8B-B14F-4D97-AF65-F5344CB8AC3E}">
        <p14:creationId xmlns:p14="http://schemas.microsoft.com/office/powerpoint/2010/main" val="531736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0F92F-6764-0A02-BDAB-86F939C104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B4E07-0BD4-A514-B724-32EA947B5C8E}"/>
              </a:ext>
            </a:extLst>
          </p:cNvPr>
          <p:cNvSpPr>
            <a:spLocks noGrp="1"/>
          </p:cNvSpPr>
          <p:nvPr>
            <p:ph type="title"/>
          </p:nvPr>
        </p:nvSpPr>
        <p:spPr/>
        <p:txBody>
          <a:bodyPr/>
          <a:lstStyle/>
          <a:p>
            <a:r>
              <a:rPr lang="en-US" dirty="0"/>
              <a:t>2-3 tree</a:t>
            </a:r>
          </a:p>
        </p:txBody>
      </p:sp>
      <p:sp>
        <p:nvSpPr>
          <p:cNvPr id="3" name="Content Placeholder 2">
            <a:extLst>
              <a:ext uri="{FF2B5EF4-FFF2-40B4-BE49-F238E27FC236}">
                <a16:creationId xmlns:a16="http://schemas.microsoft.com/office/drawing/2014/main" id="{F94B8FC3-611A-A2B4-47D2-4AFFDB9DE7D9}"/>
              </a:ext>
            </a:extLst>
          </p:cNvPr>
          <p:cNvSpPr>
            <a:spLocks noGrp="1"/>
          </p:cNvSpPr>
          <p:nvPr>
            <p:ph idx="1"/>
          </p:nvPr>
        </p:nvSpPr>
        <p:spPr/>
        <p:txBody>
          <a:bodyPr>
            <a:normAutofit/>
          </a:bodyPr>
          <a:lstStyle/>
          <a:p>
            <a:r>
              <a:rPr lang="en-US" dirty="0"/>
              <a:t>It is also used to balance a search tree is to allow more than one key in the same node of such a tree</a:t>
            </a:r>
          </a:p>
          <a:p>
            <a:r>
              <a:rPr lang="en-US" dirty="0"/>
              <a:t>A 2-3 tree is a tree that can have nodes of two kinds:2-nodes and 3-nodes. </a:t>
            </a:r>
          </a:p>
          <a:p>
            <a:r>
              <a:rPr lang="en-US" dirty="0"/>
              <a:t>A 2-node contains a single key K and has two children: </a:t>
            </a:r>
          </a:p>
          <a:p>
            <a:pPr lvl="1"/>
            <a:r>
              <a:rPr lang="en-US" dirty="0"/>
              <a:t>the left child serves as the root of a subtree whose keys are less than K </a:t>
            </a:r>
          </a:p>
          <a:p>
            <a:pPr lvl="1"/>
            <a:r>
              <a:rPr lang="en-US" dirty="0"/>
              <a:t>the right child serves as the root of a subtree whose keys are greater than K.</a:t>
            </a:r>
          </a:p>
          <a:p>
            <a:r>
              <a:rPr lang="en-US" dirty="0"/>
              <a:t> In other words, a 2-node is the same kind of node we have in the classical binary search tree.) </a:t>
            </a:r>
          </a:p>
          <a:p>
            <a:pPr marL="0" indent="0">
              <a:buNone/>
            </a:pPr>
            <a:endParaRPr lang="en-US" dirty="0"/>
          </a:p>
        </p:txBody>
      </p:sp>
    </p:spTree>
    <p:extLst>
      <p:ext uri="{BB962C8B-B14F-4D97-AF65-F5344CB8AC3E}">
        <p14:creationId xmlns:p14="http://schemas.microsoft.com/office/powerpoint/2010/main" val="4250546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2E1B1-DE4C-82EF-1D3E-B8264D1E8D69}"/>
              </a:ext>
            </a:extLst>
          </p:cNvPr>
          <p:cNvSpPr>
            <a:spLocks noGrp="1"/>
          </p:cNvSpPr>
          <p:nvPr>
            <p:ph type="title"/>
          </p:nvPr>
        </p:nvSpPr>
        <p:spPr/>
        <p:txBody>
          <a:bodyPr/>
          <a:lstStyle/>
          <a:p>
            <a:r>
              <a:rPr lang="en-US" dirty="0"/>
              <a:t>2-3 tree</a:t>
            </a:r>
          </a:p>
        </p:txBody>
      </p:sp>
      <p:sp>
        <p:nvSpPr>
          <p:cNvPr id="3" name="Content Placeholder 2">
            <a:extLst>
              <a:ext uri="{FF2B5EF4-FFF2-40B4-BE49-F238E27FC236}">
                <a16:creationId xmlns:a16="http://schemas.microsoft.com/office/drawing/2014/main" id="{5B370D0D-1172-533D-1895-DEB8C20ADF34}"/>
              </a:ext>
            </a:extLst>
          </p:cNvPr>
          <p:cNvSpPr>
            <a:spLocks noGrp="1"/>
          </p:cNvSpPr>
          <p:nvPr>
            <p:ph idx="1"/>
          </p:nvPr>
        </p:nvSpPr>
        <p:spPr/>
        <p:txBody>
          <a:bodyPr/>
          <a:lstStyle/>
          <a:p>
            <a:r>
              <a:rPr lang="en-US" dirty="0"/>
              <a:t>A 3-node contains two ordered keys K1 and K2 (K1 &lt; K2) and has three children.</a:t>
            </a:r>
          </a:p>
          <a:p>
            <a:pPr lvl="1"/>
            <a:r>
              <a:rPr lang="en-US" dirty="0"/>
              <a:t> The leftmost child serves as the root of a subtree with keys less than K1,</a:t>
            </a:r>
          </a:p>
          <a:p>
            <a:pPr lvl="1"/>
            <a:r>
              <a:rPr lang="en-US" dirty="0"/>
              <a:t>the middle child serves as the root of a subtree with keys between K1 and K2,</a:t>
            </a:r>
          </a:p>
          <a:p>
            <a:pPr lvl="1"/>
            <a:r>
              <a:rPr lang="en-US" dirty="0"/>
              <a:t>the rightmost child serves as the root of a subtree with keys greater than K2</a:t>
            </a:r>
          </a:p>
        </p:txBody>
      </p:sp>
    </p:spTree>
    <p:extLst>
      <p:ext uri="{BB962C8B-B14F-4D97-AF65-F5344CB8AC3E}">
        <p14:creationId xmlns:p14="http://schemas.microsoft.com/office/powerpoint/2010/main" val="1042884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65375-B5CA-534C-255E-93F43D0643ED}"/>
              </a:ext>
            </a:extLst>
          </p:cNvPr>
          <p:cNvSpPr>
            <a:spLocks noGrp="1"/>
          </p:cNvSpPr>
          <p:nvPr>
            <p:ph type="title"/>
          </p:nvPr>
        </p:nvSpPr>
        <p:spPr/>
        <p:txBody>
          <a:bodyPr/>
          <a:lstStyle/>
          <a:p>
            <a:r>
              <a:rPr lang="en-US" dirty="0"/>
              <a:t>2-3 tree</a:t>
            </a:r>
          </a:p>
        </p:txBody>
      </p:sp>
      <p:pic>
        <p:nvPicPr>
          <p:cNvPr id="5" name="Content Placeholder 4">
            <a:extLst>
              <a:ext uri="{FF2B5EF4-FFF2-40B4-BE49-F238E27FC236}">
                <a16:creationId xmlns:a16="http://schemas.microsoft.com/office/drawing/2014/main" id="{C7B70F6B-4A5C-4CE8-705C-0CCE165A7709}"/>
              </a:ext>
            </a:extLst>
          </p:cNvPr>
          <p:cNvPicPr>
            <a:picLocks noGrp="1" noChangeAspect="1"/>
          </p:cNvPicPr>
          <p:nvPr>
            <p:ph idx="1"/>
          </p:nvPr>
        </p:nvPicPr>
        <p:blipFill>
          <a:blip r:embed="rId2"/>
          <a:stretch>
            <a:fillRect/>
          </a:stretch>
        </p:blipFill>
        <p:spPr>
          <a:xfrm>
            <a:off x="1158949" y="2594344"/>
            <a:ext cx="8910084" cy="3200400"/>
          </a:xfrm>
          <a:prstGeom prst="rect">
            <a:avLst/>
          </a:prstGeom>
        </p:spPr>
      </p:pic>
    </p:spTree>
    <p:extLst>
      <p:ext uri="{BB962C8B-B14F-4D97-AF65-F5344CB8AC3E}">
        <p14:creationId xmlns:p14="http://schemas.microsoft.com/office/powerpoint/2010/main" val="32904529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EEBE1-D271-C643-CE50-F8BC30B5336A}"/>
              </a:ext>
            </a:extLst>
          </p:cNvPr>
          <p:cNvSpPr>
            <a:spLocks noGrp="1"/>
          </p:cNvSpPr>
          <p:nvPr>
            <p:ph type="title"/>
          </p:nvPr>
        </p:nvSpPr>
        <p:spPr/>
        <p:txBody>
          <a:bodyPr/>
          <a:lstStyle/>
          <a:p>
            <a:r>
              <a:rPr lang="en-US" dirty="0"/>
              <a:t>2-3 tree Example </a:t>
            </a:r>
          </a:p>
        </p:txBody>
      </p:sp>
      <p:sp>
        <p:nvSpPr>
          <p:cNvPr id="3" name="Content Placeholder 2">
            <a:extLst>
              <a:ext uri="{FF2B5EF4-FFF2-40B4-BE49-F238E27FC236}">
                <a16:creationId xmlns:a16="http://schemas.microsoft.com/office/drawing/2014/main" id="{B37201D1-CC89-FFA7-994E-864BB26F0DAF}"/>
              </a:ext>
            </a:extLst>
          </p:cNvPr>
          <p:cNvSpPr>
            <a:spLocks noGrp="1"/>
          </p:cNvSpPr>
          <p:nvPr>
            <p:ph idx="1"/>
          </p:nvPr>
        </p:nvSpPr>
        <p:spPr/>
        <p:txBody>
          <a:bodyPr/>
          <a:lstStyle/>
          <a:p>
            <a:r>
              <a:rPr lang="en-US" dirty="0"/>
              <a:t>Construction of a 2-3 tree for the list 9, 5, 8, 3, 2, 4, 7</a:t>
            </a:r>
          </a:p>
          <a:p>
            <a:endParaRPr lang="en-US" dirty="0"/>
          </a:p>
        </p:txBody>
      </p:sp>
      <p:pic>
        <p:nvPicPr>
          <p:cNvPr id="5" name="Picture 4">
            <a:extLst>
              <a:ext uri="{FF2B5EF4-FFF2-40B4-BE49-F238E27FC236}">
                <a16:creationId xmlns:a16="http://schemas.microsoft.com/office/drawing/2014/main" id="{C30B046A-504C-A3F0-D3D6-32B0A24CCC4E}"/>
              </a:ext>
            </a:extLst>
          </p:cNvPr>
          <p:cNvPicPr>
            <a:picLocks noChangeAspect="1"/>
          </p:cNvPicPr>
          <p:nvPr/>
        </p:nvPicPr>
        <p:blipFill>
          <a:blip r:embed="rId2"/>
          <a:stretch>
            <a:fillRect/>
          </a:stretch>
        </p:blipFill>
        <p:spPr>
          <a:xfrm>
            <a:off x="882501" y="3274829"/>
            <a:ext cx="9994605" cy="3089394"/>
          </a:xfrm>
          <a:prstGeom prst="rect">
            <a:avLst/>
          </a:prstGeom>
        </p:spPr>
      </p:pic>
    </p:spTree>
    <p:extLst>
      <p:ext uri="{BB962C8B-B14F-4D97-AF65-F5344CB8AC3E}">
        <p14:creationId xmlns:p14="http://schemas.microsoft.com/office/powerpoint/2010/main" val="1637552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34A3F-0A41-5318-507F-6A9F2ECBC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2F6DF-78B1-0271-1D25-2A23546A58F6}"/>
              </a:ext>
            </a:extLst>
          </p:cNvPr>
          <p:cNvSpPr>
            <a:spLocks noGrp="1"/>
          </p:cNvSpPr>
          <p:nvPr>
            <p:ph type="title"/>
          </p:nvPr>
        </p:nvSpPr>
        <p:spPr>
          <a:xfrm>
            <a:off x="640080" y="1371600"/>
            <a:ext cx="4670661" cy="3030842"/>
          </a:xfrm>
        </p:spPr>
        <p:txBody>
          <a:bodyPr vert="horz" lIns="91440" tIns="45720" rIns="91440" bIns="45720" rtlCol="0" anchor="t">
            <a:normAutofit/>
          </a:bodyPr>
          <a:lstStyle/>
          <a:p>
            <a:pPr>
              <a:lnSpc>
                <a:spcPct val="90000"/>
              </a:lnSpc>
            </a:pPr>
            <a:r>
              <a:rPr lang="en-US" sz="5400" dirty="0"/>
              <a:t>Heap sort </a:t>
            </a:r>
            <a:br>
              <a:rPr lang="en-US" sz="5000" b="1" kern="1200" dirty="0">
                <a:solidFill>
                  <a:schemeClr val="tx1"/>
                </a:solidFill>
                <a:latin typeface="+mj-lt"/>
                <a:ea typeface="+mj-ea"/>
                <a:cs typeface="+mj-cs"/>
              </a:rPr>
            </a:br>
            <a:br>
              <a:rPr lang="en-US" sz="5000" b="1" kern="1200" dirty="0">
                <a:solidFill>
                  <a:schemeClr val="tx1"/>
                </a:solidFill>
                <a:latin typeface="+mj-lt"/>
                <a:ea typeface="+mj-ea"/>
                <a:cs typeface="+mj-cs"/>
              </a:rPr>
            </a:br>
            <a:br>
              <a:rPr lang="en-US" sz="5000" b="1" kern="1200" dirty="0">
                <a:solidFill>
                  <a:schemeClr val="tx1"/>
                </a:solidFill>
                <a:latin typeface="+mj-lt"/>
                <a:ea typeface="+mj-ea"/>
                <a:cs typeface="+mj-cs"/>
              </a:rPr>
            </a:br>
            <a:endParaRPr lang="en-US" sz="5000" b="1" kern="1200" dirty="0">
              <a:solidFill>
                <a:schemeClr val="tx1"/>
              </a:solidFill>
              <a:latin typeface="+mj-lt"/>
              <a:ea typeface="+mj-ea"/>
              <a:cs typeface="+mj-cs"/>
            </a:endParaRPr>
          </a:p>
        </p:txBody>
      </p:sp>
      <p:pic>
        <p:nvPicPr>
          <p:cNvPr id="4" name="Picture 3" descr="Aqua and green fractal background like floral petal">
            <a:extLst>
              <a:ext uri="{FF2B5EF4-FFF2-40B4-BE49-F238E27FC236}">
                <a16:creationId xmlns:a16="http://schemas.microsoft.com/office/drawing/2014/main" id="{582C5420-5C87-704E-32F3-4FB37886254A}"/>
              </a:ext>
            </a:extLst>
          </p:cNvPr>
          <p:cNvPicPr>
            <a:picLocks noChangeAspect="1"/>
          </p:cNvPicPr>
          <p:nvPr/>
        </p:nvPicPr>
        <p:blipFill>
          <a:blip r:embed="rId2"/>
          <a:srcRect l="13395" r="24521"/>
          <a:stretch>
            <a:fillRect/>
          </a:stretch>
        </p:blipFill>
        <p:spPr>
          <a:xfrm>
            <a:off x="6515100" y="10"/>
            <a:ext cx="5676900" cy="6857990"/>
          </a:xfrm>
          <a:prstGeom prst="rect">
            <a:avLst/>
          </a:prstGeom>
        </p:spPr>
      </p:pic>
    </p:spTree>
    <p:extLst>
      <p:ext uri="{BB962C8B-B14F-4D97-AF65-F5344CB8AC3E}">
        <p14:creationId xmlns:p14="http://schemas.microsoft.com/office/powerpoint/2010/main" val="2002425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3E648-FB68-95BC-CACB-67878DF8789E}"/>
              </a:ext>
            </a:extLst>
          </p:cNvPr>
          <p:cNvSpPr>
            <a:spLocks noGrp="1"/>
          </p:cNvSpPr>
          <p:nvPr>
            <p:ph type="title"/>
          </p:nvPr>
        </p:nvSpPr>
        <p:spPr/>
        <p:txBody>
          <a:bodyPr/>
          <a:lstStyle/>
          <a:p>
            <a:r>
              <a:rPr lang="en-US" dirty="0"/>
              <a:t>Heap </a:t>
            </a:r>
          </a:p>
        </p:txBody>
      </p:sp>
      <p:sp>
        <p:nvSpPr>
          <p:cNvPr id="3" name="Content Placeholder 2">
            <a:extLst>
              <a:ext uri="{FF2B5EF4-FFF2-40B4-BE49-F238E27FC236}">
                <a16:creationId xmlns:a16="http://schemas.microsoft.com/office/drawing/2014/main" id="{CE11199A-0CB1-F456-EFCE-A5CA9C9AF739}"/>
              </a:ext>
            </a:extLst>
          </p:cNvPr>
          <p:cNvSpPr>
            <a:spLocks noGrp="1"/>
          </p:cNvSpPr>
          <p:nvPr>
            <p:ph idx="1"/>
          </p:nvPr>
        </p:nvSpPr>
        <p:spPr/>
        <p:txBody>
          <a:bodyPr/>
          <a:lstStyle/>
          <a:p>
            <a:r>
              <a:rPr lang="en-US" dirty="0"/>
              <a:t>A heap can be defined as a binary tree with keys assigned to its nodes, one key per node, provided the following two conditions are met: </a:t>
            </a:r>
          </a:p>
          <a:p>
            <a:pPr lvl="1"/>
            <a:r>
              <a:rPr lang="en-US" dirty="0"/>
              <a:t>The shape property—the binary tree is essentially complete (or simply complete), i.e., all its levels are full except possibly the last level, where only some rightmost leaves may be missing. </a:t>
            </a:r>
          </a:p>
          <a:p>
            <a:pPr lvl="1"/>
            <a:r>
              <a:rPr lang="en-US" dirty="0"/>
              <a:t>The parental dominance or heap property—the key in each node is greater than or equal to the keys in its children.</a:t>
            </a:r>
          </a:p>
        </p:txBody>
      </p:sp>
    </p:spTree>
    <p:extLst>
      <p:ext uri="{BB962C8B-B14F-4D97-AF65-F5344CB8AC3E}">
        <p14:creationId xmlns:p14="http://schemas.microsoft.com/office/powerpoint/2010/main" val="3589125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98CE8-77CF-AF51-A942-15141414C22B}"/>
              </a:ext>
            </a:extLst>
          </p:cNvPr>
          <p:cNvSpPr>
            <a:spLocks noGrp="1"/>
          </p:cNvSpPr>
          <p:nvPr>
            <p:ph type="title"/>
          </p:nvPr>
        </p:nvSpPr>
        <p:spPr/>
        <p:txBody>
          <a:bodyPr/>
          <a:lstStyle/>
          <a:p>
            <a:r>
              <a:rPr lang="en-US" dirty="0"/>
              <a:t>Heap </a:t>
            </a:r>
          </a:p>
        </p:txBody>
      </p:sp>
      <p:pic>
        <p:nvPicPr>
          <p:cNvPr id="5" name="Content Placeholder 4">
            <a:extLst>
              <a:ext uri="{FF2B5EF4-FFF2-40B4-BE49-F238E27FC236}">
                <a16:creationId xmlns:a16="http://schemas.microsoft.com/office/drawing/2014/main" id="{E210A287-326F-E69C-7A20-92D272B0D85D}"/>
              </a:ext>
            </a:extLst>
          </p:cNvPr>
          <p:cNvPicPr>
            <a:picLocks noGrp="1" noChangeAspect="1"/>
          </p:cNvPicPr>
          <p:nvPr>
            <p:ph idx="1"/>
          </p:nvPr>
        </p:nvPicPr>
        <p:blipFill>
          <a:blip r:embed="rId2"/>
          <a:stretch>
            <a:fillRect/>
          </a:stretch>
        </p:blipFill>
        <p:spPr>
          <a:xfrm>
            <a:off x="1350335" y="2371060"/>
            <a:ext cx="9611832" cy="3763925"/>
          </a:xfrm>
          <a:prstGeom prst="rect">
            <a:avLst/>
          </a:prstGeom>
        </p:spPr>
      </p:pic>
    </p:spTree>
    <p:extLst>
      <p:ext uri="{BB962C8B-B14F-4D97-AF65-F5344CB8AC3E}">
        <p14:creationId xmlns:p14="http://schemas.microsoft.com/office/powerpoint/2010/main" val="3313865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4991A-BCE0-45B8-9F1B-3DA1051BDD05}"/>
              </a:ext>
            </a:extLst>
          </p:cNvPr>
          <p:cNvSpPr>
            <a:spLocks noGrp="1"/>
          </p:cNvSpPr>
          <p:nvPr>
            <p:ph type="title"/>
          </p:nvPr>
        </p:nvSpPr>
        <p:spPr/>
        <p:txBody>
          <a:bodyPr/>
          <a:lstStyle/>
          <a:p>
            <a:r>
              <a:rPr lang="en-US" dirty="0"/>
              <a:t>Which one is heap ?</a:t>
            </a:r>
          </a:p>
        </p:txBody>
      </p:sp>
      <p:pic>
        <p:nvPicPr>
          <p:cNvPr id="5" name="Content Placeholder 4">
            <a:extLst>
              <a:ext uri="{FF2B5EF4-FFF2-40B4-BE49-F238E27FC236}">
                <a16:creationId xmlns:a16="http://schemas.microsoft.com/office/drawing/2014/main" id="{D1E29527-80C8-A19F-1099-9ED35DAC65B8}"/>
              </a:ext>
            </a:extLst>
          </p:cNvPr>
          <p:cNvPicPr>
            <a:picLocks noGrp="1" noChangeAspect="1"/>
          </p:cNvPicPr>
          <p:nvPr>
            <p:ph idx="1"/>
          </p:nvPr>
        </p:nvPicPr>
        <p:blipFill>
          <a:blip r:embed="rId2"/>
          <a:stretch>
            <a:fillRect/>
          </a:stretch>
        </p:blipFill>
        <p:spPr>
          <a:xfrm>
            <a:off x="1350336" y="2562447"/>
            <a:ext cx="8367822" cy="3009013"/>
          </a:xfrm>
          <a:prstGeom prst="rect">
            <a:avLst/>
          </a:prstGeom>
        </p:spPr>
      </p:pic>
    </p:spTree>
    <p:extLst>
      <p:ext uri="{BB962C8B-B14F-4D97-AF65-F5344CB8AC3E}">
        <p14:creationId xmlns:p14="http://schemas.microsoft.com/office/powerpoint/2010/main" val="23420656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AD937-1A9B-4A54-13B0-BD2FC78E401A}"/>
              </a:ext>
            </a:extLst>
          </p:cNvPr>
          <p:cNvSpPr>
            <a:spLocks noGrp="1"/>
          </p:cNvSpPr>
          <p:nvPr>
            <p:ph type="title"/>
          </p:nvPr>
        </p:nvSpPr>
        <p:spPr/>
        <p:txBody>
          <a:bodyPr/>
          <a:lstStyle/>
          <a:p>
            <a:r>
              <a:rPr lang="en-US" dirty="0"/>
              <a:t>Important properties of heaps</a:t>
            </a:r>
          </a:p>
        </p:txBody>
      </p:sp>
      <p:sp>
        <p:nvSpPr>
          <p:cNvPr id="3" name="Content Placeholder 2">
            <a:extLst>
              <a:ext uri="{FF2B5EF4-FFF2-40B4-BE49-F238E27FC236}">
                <a16:creationId xmlns:a16="http://schemas.microsoft.com/office/drawing/2014/main" id="{120C62EC-5EC2-D1D3-F088-48575595315F}"/>
              </a:ext>
            </a:extLst>
          </p:cNvPr>
          <p:cNvSpPr>
            <a:spLocks noGrp="1"/>
          </p:cNvSpPr>
          <p:nvPr>
            <p:ph idx="1"/>
          </p:nvPr>
        </p:nvSpPr>
        <p:spPr/>
        <p:txBody>
          <a:bodyPr>
            <a:normAutofit/>
          </a:bodyPr>
          <a:lstStyle/>
          <a:p>
            <a:pPr marL="457200" indent="-457200">
              <a:buAutoNum type="arabicPeriod"/>
            </a:pPr>
            <a:r>
              <a:rPr lang="en-US" dirty="0"/>
              <a:t>There exists exactly one essentially complete binary tree with n nodes. Its height is equal to [log2 n].</a:t>
            </a:r>
          </a:p>
          <a:p>
            <a:pPr marL="457200" indent="-457200">
              <a:buAutoNum type="arabicPeriod"/>
            </a:pPr>
            <a:r>
              <a:rPr lang="en-US" dirty="0"/>
              <a:t>The root of a heap always contains its largest element.</a:t>
            </a:r>
          </a:p>
          <a:p>
            <a:pPr marL="457200" indent="-457200">
              <a:buAutoNum type="arabicPeriod"/>
            </a:pPr>
            <a:r>
              <a:rPr lang="en-US" dirty="0"/>
              <a:t>A node of a heap considered with all its descendants is also a heap.</a:t>
            </a:r>
          </a:p>
        </p:txBody>
      </p:sp>
    </p:spTree>
    <p:extLst>
      <p:ext uri="{BB962C8B-B14F-4D97-AF65-F5344CB8AC3E}">
        <p14:creationId xmlns:p14="http://schemas.microsoft.com/office/powerpoint/2010/main" val="16121148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2CCCB-F349-CF95-1582-5741BD19D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93522-4F3C-BDD3-5047-03F504783010}"/>
              </a:ext>
            </a:extLst>
          </p:cNvPr>
          <p:cNvSpPr>
            <a:spLocks noGrp="1"/>
          </p:cNvSpPr>
          <p:nvPr>
            <p:ph type="title"/>
          </p:nvPr>
        </p:nvSpPr>
        <p:spPr/>
        <p:txBody>
          <a:bodyPr/>
          <a:lstStyle/>
          <a:p>
            <a:r>
              <a:rPr lang="en-US" dirty="0"/>
              <a:t>Important properties of heaps</a:t>
            </a:r>
          </a:p>
        </p:txBody>
      </p:sp>
      <p:sp>
        <p:nvSpPr>
          <p:cNvPr id="3" name="Content Placeholder 2">
            <a:extLst>
              <a:ext uri="{FF2B5EF4-FFF2-40B4-BE49-F238E27FC236}">
                <a16:creationId xmlns:a16="http://schemas.microsoft.com/office/drawing/2014/main" id="{8A774F0C-4D03-05C9-E8D6-8F40AB810D17}"/>
              </a:ext>
            </a:extLst>
          </p:cNvPr>
          <p:cNvSpPr>
            <a:spLocks noGrp="1"/>
          </p:cNvSpPr>
          <p:nvPr>
            <p:ph idx="1"/>
          </p:nvPr>
        </p:nvSpPr>
        <p:spPr/>
        <p:txBody>
          <a:bodyPr>
            <a:normAutofit/>
          </a:bodyPr>
          <a:lstStyle/>
          <a:p>
            <a:pPr marL="0" indent="0">
              <a:buNone/>
            </a:pPr>
            <a:r>
              <a:rPr lang="en-US" dirty="0"/>
              <a:t>4. A heap can be implemented as an array by recording its elements in the top-down, left-to-right fashion. It is convenient to store the heap's elements in positions 1 through n of such an array, leaving H[0] either unused or putting there a value that is greater than every element in the heap:</a:t>
            </a:r>
          </a:p>
          <a:p>
            <a:pPr marL="722376" lvl="1" indent="-457200">
              <a:buFont typeface="+mj-lt"/>
              <a:buAutoNum type="alphaLcPeriod"/>
            </a:pPr>
            <a:r>
              <a:rPr lang="en-US" dirty="0"/>
              <a:t>the parental node keys will be in the first [n/2] positions of the array, while the leaf keys will occupy the last [n/2] positions. </a:t>
            </a:r>
          </a:p>
          <a:p>
            <a:pPr marL="722376" lvl="1" indent="-457200">
              <a:buFont typeface="+mj-lt"/>
              <a:buAutoNum type="alphaLcPeriod"/>
            </a:pPr>
            <a:r>
              <a:rPr lang="en-US" dirty="0"/>
              <a:t>the children of a key in the array's parental position </a:t>
            </a:r>
            <a:r>
              <a:rPr lang="en-US" dirty="0" err="1"/>
              <a:t>i</a:t>
            </a:r>
            <a:r>
              <a:rPr lang="en-US" dirty="0"/>
              <a:t> (1 ≤ </a:t>
            </a:r>
            <a:r>
              <a:rPr lang="en-US" dirty="0" err="1"/>
              <a:t>i</a:t>
            </a:r>
            <a:r>
              <a:rPr lang="en-US" dirty="0"/>
              <a:t> ≤ [n/2]) will be in positions 2i and 2i + 1, and, correspondingly, the parent of a key in position </a:t>
            </a:r>
            <a:r>
              <a:rPr lang="en-US" dirty="0" err="1"/>
              <a:t>i</a:t>
            </a:r>
            <a:r>
              <a:rPr lang="en-US" dirty="0"/>
              <a:t> (2 ≤ </a:t>
            </a:r>
            <a:r>
              <a:rPr lang="en-US" dirty="0" err="1"/>
              <a:t>i</a:t>
            </a:r>
            <a:r>
              <a:rPr lang="en-US" dirty="0"/>
              <a:t> ≤ n) will be in position [</a:t>
            </a:r>
            <a:r>
              <a:rPr lang="en-US" dirty="0" err="1"/>
              <a:t>i</a:t>
            </a:r>
            <a:r>
              <a:rPr lang="en-US" dirty="0"/>
              <a:t>/2].</a:t>
            </a:r>
          </a:p>
        </p:txBody>
      </p:sp>
    </p:spTree>
    <p:extLst>
      <p:ext uri="{BB962C8B-B14F-4D97-AF65-F5344CB8AC3E}">
        <p14:creationId xmlns:p14="http://schemas.microsoft.com/office/powerpoint/2010/main" val="32788855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9A663-06F8-D03A-3ACF-1C595427778F}"/>
              </a:ext>
            </a:extLst>
          </p:cNvPr>
          <p:cNvSpPr>
            <a:spLocks noGrp="1"/>
          </p:cNvSpPr>
          <p:nvPr>
            <p:ph type="title"/>
          </p:nvPr>
        </p:nvSpPr>
        <p:spPr/>
        <p:txBody>
          <a:bodyPr/>
          <a:lstStyle/>
          <a:p>
            <a:r>
              <a:rPr lang="en-US" dirty="0"/>
              <a:t>Heap Bottom Up</a:t>
            </a:r>
          </a:p>
        </p:txBody>
      </p:sp>
      <p:pic>
        <p:nvPicPr>
          <p:cNvPr id="5" name="Content Placeholder 4">
            <a:extLst>
              <a:ext uri="{FF2B5EF4-FFF2-40B4-BE49-F238E27FC236}">
                <a16:creationId xmlns:a16="http://schemas.microsoft.com/office/drawing/2014/main" id="{B6911F7B-CA07-A110-1888-6B67AFE4E58A}"/>
              </a:ext>
            </a:extLst>
          </p:cNvPr>
          <p:cNvPicPr>
            <a:picLocks noGrp="1" noChangeAspect="1"/>
          </p:cNvPicPr>
          <p:nvPr>
            <p:ph idx="1"/>
          </p:nvPr>
        </p:nvPicPr>
        <p:blipFill>
          <a:blip r:embed="rId2"/>
          <a:stretch>
            <a:fillRect/>
          </a:stretch>
        </p:blipFill>
        <p:spPr>
          <a:xfrm>
            <a:off x="1052622" y="2392326"/>
            <a:ext cx="9165265" cy="3742660"/>
          </a:xfrm>
          <a:prstGeom prst="rect">
            <a:avLst/>
          </a:prstGeom>
        </p:spPr>
      </p:pic>
    </p:spTree>
    <p:extLst>
      <p:ext uri="{BB962C8B-B14F-4D97-AF65-F5344CB8AC3E}">
        <p14:creationId xmlns:p14="http://schemas.microsoft.com/office/powerpoint/2010/main" val="79234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447B3-39AE-EBC2-14CD-80FBC67BF162}"/>
              </a:ext>
            </a:extLst>
          </p:cNvPr>
          <p:cNvSpPr>
            <a:spLocks noGrp="1"/>
          </p:cNvSpPr>
          <p:nvPr>
            <p:ph type="title"/>
          </p:nvPr>
        </p:nvSpPr>
        <p:spPr/>
        <p:txBody>
          <a:bodyPr/>
          <a:lstStyle/>
          <a:p>
            <a:r>
              <a:rPr lang="en-US" dirty="0"/>
              <a:t>Heap-bottom up</a:t>
            </a:r>
          </a:p>
        </p:txBody>
      </p:sp>
      <p:pic>
        <p:nvPicPr>
          <p:cNvPr id="7" name="Content Placeholder 6">
            <a:extLst>
              <a:ext uri="{FF2B5EF4-FFF2-40B4-BE49-F238E27FC236}">
                <a16:creationId xmlns:a16="http://schemas.microsoft.com/office/drawing/2014/main" id="{E5502FBA-17AE-9372-3DA5-30FB31911C1E}"/>
              </a:ext>
            </a:extLst>
          </p:cNvPr>
          <p:cNvPicPr>
            <a:picLocks noGrp="1" noChangeAspect="1"/>
          </p:cNvPicPr>
          <p:nvPr>
            <p:ph sz="half" idx="1"/>
          </p:nvPr>
        </p:nvPicPr>
        <p:blipFill>
          <a:blip r:embed="rId2"/>
          <a:stretch>
            <a:fillRect/>
          </a:stretch>
        </p:blipFill>
        <p:spPr>
          <a:xfrm>
            <a:off x="660992" y="2468881"/>
            <a:ext cx="4793510" cy="4048877"/>
          </a:xfrm>
          <a:prstGeom prst="rect">
            <a:avLst/>
          </a:prstGeom>
        </p:spPr>
      </p:pic>
      <p:sp>
        <p:nvSpPr>
          <p:cNvPr id="5" name="Content Placeholder 4">
            <a:extLst>
              <a:ext uri="{FF2B5EF4-FFF2-40B4-BE49-F238E27FC236}">
                <a16:creationId xmlns:a16="http://schemas.microsoft.com/office/drawing/2014/main" id="{2A732AE7-32AB-89E0-BDD6-4160993BDDF8}"/>
              </a:ext>
            </a:extLst>
          </p:cNvPr>
          <p:cNvSpPr>
            <a:spLocks noGrp="1"/>
          </p:cNvSpPr>
          <p:nvPr>
            <p:ph sz="half" idx="2"/>
          </p:nvPr>
        </p:nvSpPr>
        <p:spPr/>
        <p:txBody>
          <a:bodyPr/>
          <a:lstStyle/>
          <a:p>
            <a:r>
              <a:rPr lang="en-US" dirty="0"/>
              <a:t>Let’s trace on this list 2, 9, 7, 6, 5, 8 using array this time</a:t>
            </a:r>
          </a:p>
        </p:txBody>
      </p:sp>
    </p:spTree>
    <p:extLst>
      <p:ext uri="{BB962C8B-B14F-4D97-AF65-F5344CB8AC3E}">
        <p14:creationId xmlns:p14="http://schemas.microsoft.com/office/powerpoint/2010/main" val="18893942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2799E-F203-00F4-44A9-CB2DBD873027}"/>
              </a:ext>
            </a:extLst>
          </p:cNvPr>
          <p:cNvSpPr>
            <a:spLocks noGrp="1"/>
          </p:cNvSpPr>
          <p:nvPr>
            <p:ph type="title"/>
          </p:nvPr>
        </p:nvSpPr>
        <p:spPr/>
        <p:txBody>
          <a:bodyPr/>
          <a:lstStyle/>
          <a:p>
            <a:r>
              <a:rPr lang="en-US" dirty="0"/>
              <a:t>Heap-bottom up time complexity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01285B-D15E-157F-DD9A-E9C364CC68EE}"/>
                  </a:ext>
                </a:extLst>
              </p:cNvPr>
              <p:cNvSpPr>
                <a:spLocks noGrp="1"/>
              </p:cNvSpPr>
              <p:nvPr>
                <p:ph sz="half" idx="1"/>
              </p:nvPr>
            </p:nvSpPr>
            <p:spPr/>
            <p:txBody>
              <a:bodyPr>
                <a:normAutofit lnSpcReduction="10000"/>
              </a:bodyPr>
              <a:lstStyle/>
              <a:p>
                <a:r>
                  <a:rPr lang="en-US" dirty="0"/>
                  <a:t>T(n)=</a:t>
                </a:r>
                <a:r>
                  <a:rPr lang="en-US" dirty="0">
                    <a:latin typeface="Arial" panose="020B0604020202020204" pitchFamily="34" charset="0"/>
                  </a:rPr>
                  <a:t> </a:t>
                </a:r>
                <a14:m>
                  <m:oMath xmlns:m="http://schemas.openxmlformats.org/officeDocument/2006/math">
                    <m:limUpp>
                      <m:limUppPr>
                        <m:ctrlPr>
                          <a:rPr lang="en-US" altLang="en-US" i="1" dirty="0">
                            <a:latin typeface="Cambria Math" panose="02040503050406030204" pitchFamily="18" charset="0"/>
                          </a:rPr>
                        </m:ctrlPr>
                      </m:limUppPr>
                      <m:e>
                        <m:limLow>
                          <m:limLowPr>
                            <m:ctrlPr>
                              <a:rPr lang="en-US" altLang="en-US" i="1" dirty="0">
                                <a:latin typeface="Cambria Math" panose="02040503050406030204" pitchFamily="18" charset="0"/>
                              </a:rPr>
                            </m:ctrlPr>
                          </m:limLowPr>
                          <m:e>
                            <m:nary>
                              <m:naryPr>
                                <m:chr m:val="∑"/>
                                <m:grow m:val="on"/>
                                <m:subHide m:val="on"/>
                                <m:supHide m:val="on"/>
                                <m:ctrlPr>
                                  <a:rPr lang="en-US" altLang="en-US" i="1" dirty="0">
                                    <a:latin typeface="Cambria Math" panose="02040503050406030204" pitchFamily="18" charset="0"/>
                                  </a:rPr>
                                </m:ctrlPr>
                              </m:naryPr>
                              <m:sub/>
                              <m:sup/>
                              <m:e>
                                <m:limLow>
                                  <m:limLowPr>
                                    <m:ctrlPr>
                                      <a:rPr lang="en-US" altLang="en-US" i="1" dirty="0">
                                        <a:latin typeface="Cambria Math" panose="02040503050406030204" pitchFamily="18" charset="0"/>
                                      </a:rPr>
                                    </m:ctrlPr>
                                  </m:limLowPr>
                                  <m:e>
                                    <m:nary>
                                      <m:naryPr>
                                        <m:chr m:val="∑"/>
                                        <m:grow m:val="on"/>
                                        <m:subHide m:val="on"/>
                                        <m:supHide m:val="on"/>
                                        <m:ctrlPr>
                                          <a:rPr lang="en-US" altLang="en-US" i="1" dirty="0">
                                            <a:latin typeface="Cambria Math" panose="02040503050406030204" pitchFamily="18" charset="0"/>
                                          </a:rPr>
                                        </m:ctrlPr>
                                      </m:naryPr>
                                      <m:sub/>
                                      <m:sup/>
                                      <m:e>
                                        <m:r>
                                          <a:rPr lang="en-US" altLang="en-US" dirty="0">
                                            <a:latin typeface="Cambria Math" panose="02040503050406030204" pitchFamily="18" charset="0"/>
                                          </a:rPr>
                                          <m:t>2</m:t>
                                        </m:r>
                                        <m:d>
                                          <m:dPr>
                                            <m:ctrlPr>
                                              <a:rPr lang="en-US" altLang="en-US" i="1" dirty="0">
                                                <a:latin typeface="Cambria Math" panose="02040503050406030204" pitchFamily="18" charset="0"/>
                                              </a:rPr>
                                            </m:ctrlPr>
                                          </m:dPr>
                                          <m:e>
                                            <m:r>
                                              <a:rPr lang="en-US" altLang="en-US" i="1" dirty="0">
                                                <a:latin typeface="Cambria Math" panose="02040503050406030204" pitchFamily="18" charset="0"/>
                                              </a:rPr>
                                              <m:t>h</m:t>
                                            </m:r>
                                            <m:r>
                                              <a:rPr lang="en-US" altLang="en-US" dirty="0">
                                                <a:latin typeface="Cambria Math" panose="02040503050406030204" pitchFamily="18" charset="0"/>
                                              </a:rPr>
                                              <m:t>−</m:t>
                                            </m:r>
                                            <m:r>
                                              <a:rPr lang="en-US" altLang="en-US" i="1" dirty="0">
                                                <a:latin typeface="Cambria Math" panose="02040503050406030204" pitchFamily="18" charset="0"/>
                                              </a:rPr>
                                              <m:t>𝑖</m:t>
                                            </m:r>
                                          </m:e>
                                        </m:d>
                                      </m:e>
                                    </m:nary>
                                  </m:e>
                                  <m:lim>
                                    <m:r>
                                      <m:rPr>
                                        <m:sty m:val="p"/>
                                      </m:rPr>
                                      <a:rPr lang="en-US" altLang="en-US" i="1" dirty="0">
                                        <a:latin typeface="Cambria Math" panose="02040503050406030204" pitchFamily="18" charset="0"/>
                                      </a:rPr>
                                      <m:t>level</m:t>
                                    </m:r>
                                    <m:r>
                                      <a:rPr lang="en-US" altLang="en-US" i="1" dirty="0">
                                        <a:latin typeface="Cambria Math" panose="02040503050406030204" pitchFamily="18" charset="0"/>
                                      </a:rPr>
                                      <m:t> </m:t>
                                    </m:r>
                                    <m:r>
                                      <a:rPr lang="en-US" altLang="en-US" i="1" dirty="0">
                                        <a:latin typeface="Cambria Math" panose="02040503050406030204" pitchFamily="18" charset="0"/>
                                      </a:rPr>
                                      <m:t>𝑖</m:t>
                                    </m:r>
                                    <m:r>
                                      <a:rPr lang="en-US" altLang="en-US" b="0" i="1" dirty="0" smtClean="0">
                                        <a:latin typeface="Cambria Math" panose="02040503050406030204" pitchFamily="18" charset="0"/>
                                      </a:rPr>
                                      <m:t> </m:t>
                                    </m:r>
                                    <m:r>
                                      <m:rPr>
                                        <m:sty m:val="p"/>
                                      </m:rPr>
                                      <a:rPr lang="en-US" altLang="en-US" dirty="0">
                                        <a:latin typeface="Cambria Math" panose="02040503050406030204" pitchFamily="18" charset="0"/>
                                      </a:rPr>
                                      <m:t>keys</m:t>
                                    </m:r>
                                  </m:lim>
                                </m:limLow>
                              </m:e>
                            </m:nary>
                          </m:e>
                          <m:lim>
                            <m:r>
                              <a:rPr lang="en-US" altLang="en-US" i="1" dirty="0">
                                <a:latin typeface="Cambria Math" panose="02040503050406030204" pitchFamily="18" charset="0"/>
                              </a:rPr>
                              <m:t>𝑖</m:t>
                            </m:r>
                            <m:r>
                              <a:rPr lang="en-US" altLang="en-US" i="0" dirty="0">
                                <a:latin typeface="Cambria Math" panose="02040503050406030204" pitchFamily="18" charset="0"/>
                              </a:rPr>
                              <m:t>=0</m:t>
                            </m:r>
                          </m:lim>
                        </m:limLow>
                      </m:e>
                      <m:lim>
                        <m:r>
                          <a:rPr lang="en-US" altLang="en-US" i="1" dirty="0">
                            <a:latin typeface="Cambria Math" panose="02040503050406030204" pitchFamily="18" charset="0"/>
                          </a:rPr>
                          <m:t>h</m:t>
                        </m:r>
                        <m:r>
                          <a:rPr lang="en-US" altLang="en-US" i="0" dirty="0">
                            <a:latin typeface="Cambria Math" panose="02040503050406030204" pitchFamily="18" charset="0"/>
                          </a:rPr>
                          <m:t>−1</m:t>
                        </m:r>
                      </m:lim>
                    </m:limUpp>
                    <m:r>
                      <a:rPr lang="en-US" altLang="en-US" i="0" dirty="0">
                        <a:latin typeface="Cambria Math" panose="02040503050406030204" pitchFamily="18" charset="0"/>
                      </a:rPr>
                      <m:t> </m:t>
                    </m:r>
                    <m:r>
                      <a:rPr lang="en-US" altLang="en-US" b="0" i="0" dirty="0">
                        <a:latin typeface="Cambria Math" panose="02040503050406030204" pitchFamily="18" charset="0"/>
                      </a:rPr>
                      <m:t> =</m:t>
                    </m:r>
                    <m:limUpp>
                      <m:limUppPr>
                        <m:ctrlPr>
                          <a:rPr lang="en-US" altLang="en-US" b="0" i="1" dirty="0">
                            <a:latin typeface="Cambria Math" panose="02040503050406030204" pitchFamily="18" charset="0"/>
                          </a:rPr>
                        </m:ctrlPr>
                      </m:limUppPr>
                      <m:e>
                        <m:limLow>
                          <m:limLowPr>
                            <m:ctrlPr>
                              <a:rPr lang="en-US" altLang="en-US" b="0" i="1" dirty="0">
                                <a:latin typeface="Cambria Math" panose="02040503050406030204" pitchFamily="18" charset="0"/>
                              </a:rPr>
                            </m:ctrlPr>
                          </m:limLowPr>
                          <m:e>
                            <m:nary>
                              <m:naryPr>
                                <m:chr m:val="∑"/>
                                <m:grow m:val="on"/>
                                <m:subHide m:val="on"/>
                                <m:supHide m:val="on"/>
                                <m:ctrlPr>
                                  <a:rPr lang="en-US" altLang="en-US" b="0" i="1" dirty="0">
                                    <a:latin typeface="Cambria Math" panose="02040503050406030204" pitchFamily="18" charset="0"/>
                                  </a:rPr>
                                </m:ctrlPr>
                              </m:naryPr>
                              <m:sub/>
                              <m:sup/>
                              <m:e>
                                <m:r>
                                  <a:rPr lang="en-US" altLang="en-US" dirty="0">
                                    <a:latin typeface="Cambria Math" panose="02040503050406030204" pitchFamily="18" charset="0"/>
                                  </a:rPr>
                                  <m:t>2</m:t>
                                </m:r>
                                <m:d>
                                  <m:dPr>
                                    <m:ctrlPr>
                                      <a:rPr lang="en-US" altLang="en-US" i="1" dirty="0">
                                        <a:latin typeface="Cambria Math" panose="02040503050406030204" pitchFamily="18" charset="0"/>
                                      </a:rPr>
                                    </m:ctrlPr>
                                  </m:dPr>
                                  <m:e>
                                    <m:r>
                                      <a:rPr lang="en-US" altLang="en-US" i="1" dirty="0">
                                        <a:latin typeface="Cambria Math" panose="02040503050406030204" pitchFamily="18" charset="0"/>
                                      </a:rPr>
                                      <m:t>h</m:t>
                                    </m:r>
                                    <m:r>
                                      <a:rPr lang="en-US" altLang="en-US" dirty="0">
                                        <a:latin typeface="Cambria Math" panose="02040503050406030204" pitchFamily="18" charset="0"/>
                                      </a:rPr>
                                      <m:t>−</m:t>
                                    </m:r>
                                    <m:r>
                                      <a:rPr lang="en-US" altLang="en-US" i="1" dirty="0">
                                        <a:latin typeface="Cambria Math" panose="02040503050406030204" pitchFamily="18" charset="0"/>
                                      </a:rPr>
                                      <m:t>𝑖</m:t>
                                    </m:r>
                                  </m:e>
                                </m:d>
                                <m:sSup>
                                  <m:sSupPr>
                                    <m:ctrlPr>
                                      <a:rPr lang="en-US" altLang="en-US" i="1" dirty="0">
                                        <a:latin typeface="Cambria Math" panose="02040503050406030204" pitchFamily="18" charset="0"/>
                                      </a:rPr>
                                    </m:ctrlPr>
                                  </m:sSupPr>
                                  <m:e>
                                    <m:r>
                                      <a:rPr lang="en-US" altLang="en-US" dirty="0">
                                        <a:latin typeface="Cambria Math" panose="02040503050406030204" pitchFamily="18" charset="0"/>
                                      </a:rPr>
                                      <m:t>2</m:t>
                                    </m:r>
                                  </m:e>
                                  <m:sup>
                                    <m:r>
                                      <a:rPr lang="en-US" altLang="en-US" i="1" dirty="0">
                                        <a:latin typeface="Cambria Math" panose="02040503050406030204" pitchFamily="18" charset="0"/>
                                      </a:rPr>
                                      <m:t>𝑖</m:t>
                                    </m:r>
                                  </m:sup>
                                </m:sSup>
                              </m:e>
                            </m:nary>
                          </m:e>
                          <m:lim>
                            <m:r>
                              <a:rPr lang="en-US" altLang="en-US" b="0" i="1" dirty="0">
                                <a:latin typeface="Cambria Math" panose="02040503050406030204" pitchFamily="18" charset="0"/>
                              </a:rPr>
                              <m:t>𝑖</m:t>
                            </m:r>
                            <m:r>
                              <a:rPr lang="en-US" altLang="en-US" b="0" i="0" dirty="0">
                                <a:latin typeface="Cambria Math" panose="02040503050406030204" pitchFamily="18" charset="0"/>
                              </a:rPr>
                              <m:t>=0</m:t>
                            </m:r>
                          </m:lim>
                        </m:limLow>
                      </m:e>
                      <m:lim>
                        <m:r>
                          <a:rPr lang="en-US" altLang="en-US" b="0" i="1" dirty="0">
                            <a:latin typeface="Cambria Math" panose="02040503050406030204" pitchFamily="18" charset="0"/>
                          </a:rPr>
                          <m:t>h</m:t>
                        </m:r>
                        <m:r>
                          <a:rPr lang="en-US" altLang="en-US" b="0" i="0" dirty="0">
                            <a:latin typeface="Cambria Math" panose="02040503050406030204" pitchFamily="18" charset="0"/>
                          </a:rPr>
                          <m:t>−1</m:t>
                        </m:r>
                      </m:lim>
                    </m:limUpp>
                    <m:r>
                      <a:rPr lang="en-US" altLang="en-US" b="0" i="0" dirty="0">
                        <a:latin typeface="Cambria Math" panose="02040503050406030204" pitchFamily="18" charset="0"/>
                      </a:rPr>
                      <m:t> </m:t>
                    </m:r>
                  </m:oMath>
                </a14:m>
                <a:endParaRPr lang="en-US" altLang="en-US" b="0" i="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en-US" b="0" i="0" dirty="0">
                          <a:latin typeface="Cambria Math" panose="02040503050406030204" pitchFamily="18" charset="0"/>
                        </a:rPr>
                        <m:t>=2</m:t>
                      </m:r>
                      <m:d>
                        <m:dPr>
                          <m:ctrlPr>
                            <a:rPr lang="en-US" altLang="en-US" b="0" i="1" dirty="0">
                              <a:latin typeface="Cambria Math" panose="02040503050406030204" pitchFamily="18" charset="0"/>
                            </a:rPr>
                          </m:ctrlPr>
                        </m:dPr>
                        <m:e>
                          <m:r>
                            <a:rPr lang="en-US" altLang="en-US" b="0" i="1" dirty="0">
                              <a:latin typeface="Cambria Math" panose="02040503050406030204" pitchFamily="18" charset="0"/>
                            </a:rPr>
                            <m:t>𝑛</m:t>
                          </m:r>
                          <m:r>
                            <a:rPr lang="en-US" altLang="en-US" b="0" i="0" dirty="0">
                              <a:latin typeface="Cambria Math" panose="02040503050406030204" pitchFamily="18" charset="0"/>
                            </a:rPr>
                            <m:t>−</m:t>
                          </m:r>
                          <m:sSub>
                            <m:sSubPr>
                              <m:ctrlPr>
                                <a:rPr lang="en-US" altLang="en-US" b="0" i="1" dirty="0">
                                  <a:latin typeface="Cambria Math" panose="02040503050406030204" pitchFamily="18" charset="0"/>
                                </a:rPr>
                              </m:ctrlPr>
                            </m:sSubPr>
                            <m:e>
                              <m:r>
                                <m:rPr>
                                  <m:sty m:val="p"/>
                                </m:rPr>
                                <a:rPr lang="en-US" altLang="en-US" b="0" i="0" dirty="0">
                                  <a:latin typeface="Cambria Math" panose="02040503050406030204" pitchFamily="18" charset="0"/>
                                </a:rPr>
                                <m:t>log</m:t>
                              </m:r>
                            </m:e>
                            <m:sub>
                              <m:r>
                                <a:rPr lang="en-US" altLang="en-US" b="0" i="0" dirty="0">
                                  <a:latin typeface="Cambria Math" panose="02040503050406030204" pitchFamily="18" charset="0"/>
                                </a:rPr>
                                <m:t>2</m:t>
                              </m:r>
                            </m:sub>
                          </m:sSub>
                          <m:r>
                            <a:rPr lang="en-US" altLang="en-US" b="0" i="0" dirty="0">
                              <a:latin typeface="Cambria Math" panose="02040503050406030204" pitchFamily="18" charset="0"/>
                            </a:rPr>
                            <m:t>⁡</m:t>
                          </m:r>
                          <m:d>
                            <m:dPr>
                              <m:ctrlPr>
                                <a:rPr lang="en-US" altLang="en-US" b="0" i="1" dirty="0">
                                  <a:latin typeface="Cambria Math" panose="02040503050406030204" pitchFamily="18" charset="0"/>
                                </a:rPr>
                              </m:ctrlPr>
                            </m:dPr>
                            <m:e>
                              <m:r>
                                <a:rPr lang="en-US" altLang="en-US" b="0" i="1" dirty="0">
                                  <a:latin typeface="Cambria Math" panose="02040503050406030204" pitchFamily="18" charset="0"/>
                                </a:rPr>
                                <m:t>𝑛</m:t>
                              </m:r>
                              <m:r>
                                <a:rPr lang="en-US" altLang="en-US" b="0" i="0" dirty="0">
                                  <a:latin typeface="Cambria Math" panose="02040503050406030204" pitchFamily="18" charset="0"/>
                                </a:rPr>
                                <m:t>+1</m:t>
                              </m:r>
                            </m:e>
                          </m:d>
                        </m:e>
                      </m:d>
                    </m:oMath>
                  </m:oMathPara>
                </a14:m>
                <a:endParaRPr lang="en-US" altLang="en-US" dirty="0">
                  <a:latin typeface="Arial" panose="020B0604020202020204" pitchFamily="34" charset="0"/>
                </a:endParaRPr>
              </a:p>
              <a:p>
                <a:pPr marL="0" indent="0">
                  <a:buNone/>
                </a:pPr>
                <a:endParaRPr lang="en-US" altLang="en-US" dirty="0">
                  <a:latin typeface="Arial" panose="020B0604020202020204" pitchFamily="34" charset="0"/>
                </a:endParaRPr>
              </a:p>
              <a:p>
                <a:endParaRPr lang="en-US" dirty="0"/>
              </a:p>
            </p:txBody>
          </p:sp>
        </mc:Choice>
        <mc:Fallback xmlns="">
          <p:sp>
            <p:nvSpPr>
              <p:cNvPr id="3" name="Content Placeholder 2">
                <a:extLst>
                  <a:ext uri="{FF2B5EF4-FFF2-40B4-BE49-F238E27FC236}">
                    <a16:creationId xmlns:a16="http://schemas.microsoft.com/office/drawing/2014/main" id="{6601285B-D15E-157F-DD9A-E9C364CC68EE}"/>
                  </a:ext>
                </a:extLst>
              </p:cNvPr>
              <p:cNvSpPr>
                <a:spLocks noGrp="1" noRot="1" noChangeAspect="1" noMove="1" noResize="1" noEditPoints="1" noAdjustHandles="1" noChangeArrowheads="1" noChangeShapeType="1" noTextEdit="1"/>
              </p:cNvSpPr>
              <p:nvPr>
                <p:ph sz="half" idx="1"/>
              </p:nvPr>
            </p:nvSpPr>
            <p:spPr>
              <a:blipFill>
                <a:blip r:embed="rId2"/>
                <a:stretch>
                  <a:fillRect l="-7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0E8F92E-26E9-012C-88ED-F4F193596ABF}"/>
                  </a:ext>
                </a:extLst>
              </p:cNvPr>
              <p:cNvSpPr>
                <a:spLocks noGrp="1"/>
              </p:cNvSpPr>
              <p:nvPr>
                <p:ph sz="half" idx="2"/>
              </p:nvPr>
            </p:nvSpPr>
            <p:spPr/>
            <p:txBody>
              <a:bodyPr>
                <a:normAutofit lnSpcReduction="10000"/>
              </a:bodyPr>
              <a:lstStyle/>
              <a:p>
                <a:r>
                  <a:rPr lang="en-US" dirty="0"/>
                  <a:t>Why h-1 because we didn’t perform the algorithm on leaves, we started from level above the bottom</a:t>
                </a:r>
              </a:p>
              <a:p>
                <a:r>
                  <a:rPr lang="en-US" dirty="0"/>
                  <a:t>2(h-</a:t>
                </a:r>
                <a:r>
                  <a:rPr lang="en-US" dirty="0" err="1"/>
                  <a:t>i</a:t>
                </a:r>
                <a:r>
                  <a:rPr lang="en-US" dirty="0"/>
                  <a:t>) is how many comparisons done depending on the level if level is further from the root and each key two comparisons are made</a:t>
                </a:r>
              </a:p>
              <a:p>
                <a14:m>
                  <m:oMath xmlns:m="http://schemas.openxmlformats.org/officeDocument/2006/math">
                    <m:sSup>
                      <m:sSupPr>
                        <m:ctrlPr>
                          <a:rPr lang="en-US" altLang="en-US" i="1" dirty="0">
                            <a:latin typeface="Cambria Math" panose="02040503050406030204" pitchFamily="18" charset="0"/>
                          </a:rPr>
                        </m:ctrlPr>
                      </m:sSupPr>
                      <m:e>
                        <m:r>
                          <a:rPr lang="en-US" altLang="en-US" dirty="0">
                            <a:latin typeface="Cambria Math" panose="02040503050406030204" pitchFamily="18" charset="0"/>
                          </a:rPr>
                          <m:t>2</m:t>
                        </m:r>
                      </m:e>
                      <m:sup>
                        <m:r>
                          <a:rPr lang="en-US" altLang="en-US" i="1" dirty="0">
                            <a:latin typeface="Cambria Math" panose="02040503050406030204" pitchFamily="18" charset="0"/>
                          </a:rPr>
                          <m:t>𝑖</m:t>
                        </m:r>
                      </m:sup>
                    </m:sSup>
                  </m:oMath>
                </a14:m>
                <a:r>
                  <a:rPr lang="en-US" dirty="0"/>
                  <a:t>= to the number of keys at each level</a:t>
                </a:r>
              </a:p>
              <a:p>
                <a:r>
                  <a:rPr lang="en-US" dirty="0"/>
                  <a:t>Highet of each the tree is </a:t>
                </a:r>
                <a14:m>
                  <m:oMath xmlns:m="http://schemas.openxmlformats.org/officeDocument/2006/math">
                    <m:sSub>
                      <m:sSubPr>
                        <m:ctrlPr>
                          <a:rPr lang="en-US" altLang="en-US" i="1" dirty="0">
                            <a:latin typeface="Cambria Math" panose="02040503050406030204" pitchFamily="18" charset="0"/>
                          </a:rPr>
                        </m:ctrlPr>
                      </m:sSubPr>
                      <m:e>
                        <m:r>
                          <m:rPr>
                            <m:sty m:val="p"/>
                          </m:rPr>
                          <a:rPr lang="en-US" altLang="en-US" dirty="0">
                            <a:latin typeface="Cambria Math" panose="02040503050406030204" pitchFamily="18" charset="0"/>
                          </a:rPr>
                          <m:t>log</m:t>
                        </m:r>
                      </m:e>
                      <m:sub>
                        <m:r>
                          <a:rPr lang="en-US" altLang="en-US" dirty="0">
                            <a:latin typeface="Cambria Math" panose="02040503050406030204" pitchFamily="18" charset="0"/>
                          </a:rPr>
                          <m:t>2</m:t>
                        </m:r>
                      </m:sub>
                    </m:sSub>
                    <m:r>
                      <a:rPr lang="en-US" altLang="en-US" dirty="0">
                        <a:latin typeface="Cambria Math" panose="02040503050406030204" pitchFamily="18" charset="0"/>
                      </a:rPr>
                      <m:t>⁡</m:t>
                    </m:r>
                    <m:d>
                      <m:dPr>
                        <m:ctrlPr>
                          <a:rPr lang="en-US" altLang="en-US" i="1" dirty="0">
                            <a:latin typeface="Cambria Math" panose="02040503050406030204" pitchFamily="18" charset="0"/>
                          </a:rPr>
                        </m:ctrlPr>
                      </m:dPr>
                      <m:e>
                        <m:r>
                          <a:rPr lang="en-US" altLang="en-US" i="1" dirty="0">
                            <a:latin typeface="Cambria Math" panose="02040503050406030204" pitchFamily="18" charset="0"/>
                          </a:rPr>
                          <m:t>𝑛</m:t>
                        </m:r>
                        <m:r>
                          <a:rPr lang="en-US" altLang="en-US" dirty="0">
                            <a:latin typeface="Cambria Math" panose="02040503050406030204" pitchFamily="18" charset="0"/>
                          </a:rPr>
                          <m:t>+1</m:t>
                        </m:r>
                      </m:e>
                    </m:d>
                  </m:oMath>
                </a14:m>
                <a:endParaRPr lang="en-US" dirty="0"/>
              </a:p>
              <a:p>
                <a:endParaRPr lang="en-US" dirty="0"/>
              </a:p>
            </p:txBody>
          </p:sp>
        </mc:Choice>
        <mc:Fallback xmlns="">
          <p:sp>
            <p:nvSpPr>
              <p:cNvPr id="4" name="Content Placeholder 3">
                <a:extLst>
                  <a:ext uri="{FF2B5EF4-FFF2-40B4-BE49-F238E27FC236}">
                    <a16:creationId xmlns:a16="http://schemas.microsoft.com/office/drawing/2014/main" id="{E0E8F92E-26E9-012C-88ED-F4F193596ABF}"/>
                  </a:ext>
                </a:extLst>
              </p:cNvPr>
              <p:cNvSpPr>
                <a:spLocks noGrp="1" noRot="1" noChangeAspect="1" noMove="1" noResize="1" noEditPoints="1" noAdjustHandles="1" noChangeArrowheads="1" noChangeShapeType="1" noTextEdit="1"/>
              </p:cNvSpPr>
              <p:nvPr>
                <p:ph sz="half" idx="2"/>
              </p:nvPr>
            </p:nvSpPr>
            <p:spPr>
              <a:blipFill>
                <a:blip r:embed="rId3"/>
                <a:stretch>
                  <a:fillRect l="-702" t="-855" b="-513"/>
                </a:stretch>
              </a:blipFill>
            </p:spPr>
            <p:txBody>
              <a:bodyPr/>
              <a:lstStyle/>
              <a:p>
                <a:r>
                  <a:rPr lang="en-US">
                    <a:noFill/>
                  </a:rPr>
                  <a:t> </a:t>
                </a:r>
              </a:p>
            </p:txBody>
          </p:sp>
        </mc:Fallback>
      </mc:AlternateContent>
    </p:spTree>
    <p:extLst>
      <p:ext uri="{BB962C8B-B14F-4D97-AF65-F5344CB8AC3E}">
        <p14:creationId xmlns:p14="http://schemas.microsoft.com/office/powerpoint/2010/main" val="12816058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06455-EE7A-22BA-1071-EC3BF05E840E}"/>
              </a:ext>
            </a:extLst>
          </p:cNvPr>
          <p:cNvSpPr>
            <a:spLocks noGrp="1"/>
          </p:cNvSpPr>
          <p:nvPr>
            <p:ph type="title"/>
          </p:nvPr>
        </p:nvSpPr>
        <p:spPr/>
        <p:txBody>
          <a:bodyPr/>
          <a:lstStyle/>
          <a:p>
            <a:r>
              <a:rPr lang="en-US" dirty="0"/>
              <a:t>Top-down heap construction</a:t>
            </a:r>
          </a:p>
        </p:txBody>
      </p:sp>
      <p:sp>
        <p:nvSpPr>
          <p:cNvPr id="3" name="Content Placeholder 2">
            <a:extLst>
              <a:ext uri="{FF2B5EF4-FFF2-40B4-BE49-F238E27FC236}">
                <a16:creationId xmlns:a16="http://schemas.microsoft.com/office/drawing/2014/main" id="{3639F3E1-7A0F-E5C1-08C7-DA0BB85388FA}"/>
              </a:ext>
            </a:extLst>
          </p:cNvPr>
          <p:cNvSpPr>
            <a:spLocks noGrp="1"/>
          </p:cNvSpPr>
          <p:nvPr>
            <p:ph sz="half" idx="1"/>
          </p:nvPr>
        </p:nvSpPr>
        <p:spPr>
          <a:xfrm>
            <a:off x="640079" y="2633472"/>
            <a:ext cx="5579967" cy="3841756"/>
          </a:xfrm>
        </p:spPr>
        <p:txBody>
          <a:bodyPr>
            <a:normAutofit fontScale="85000" lnSpcReduction="20000"/>
          </a:bodyPr>
          <a:lstStyle/>
          <a:p>
            <a:pPr marL="457200" indent="-457200">
              <a:buFont typeface="+mj-lt"/>
              <a:buAutoNum type="arabicPeriod"/>
            </a:pPr>
            <a:r>
              <a:rPr lang="en-US" b="1" dirty="0"/>
              <a:t>Initialize</a:t>
            </a:r>
            <a:r>
              <a:rPr lang="en-US" dirty="0"/>
              <a:t>: Start with an empty heap.</a:t>
            </a:r>
          </a:p>
          <a:p>
            <a:pPr marL="457200" indent="-457200">
              <a:buFont typeface="+mj-lt"/>
              <a:buAutoNum type="arabicPeriod"/>
            </a:pPr>
            <a:r>
              <a:rPr lang="en-US" b="1" dirty="0"/>
              <a:t>Insert</a:t>
            </a:r>
            <a:r>
              <a:rPr lang="en-US" dirty="0"/>
              <a:t>: For each element in the input set:</a:t>
            </a:r>
          </a:p>
          <a:p>
            <a:pPr marL="608076" lvl="1" indent="-342900">
              <a:buFont typeface="+mj-lt"/>
              <a:buAutoNum type="arabicPeriod"/>
            </a:pPr>
            <a:r>
              <a:rPr lang="en-US" dirty="0"/>
              <a:t>Place the element at the first available leaf position (the end of the heap array) to maintain the complete binary tree property.</a:t>
            </a:r>
          </a:p>
          <a:p>
            <a:pPr marL="608076" lvl="1" indent="-342900">
              <a:buFont typeface="+mj-lt"/>
              <a:buAutoNum type="arabicPeriod"/>
            </a:pPr>
            <a:r>
              <a:rPr lang="en-US" b="1" dirty="0"/>
              <a:t>Up-</a:t>
            </a:r>
            <a:r>
              <a:rPr lang="en-US" b="1" dirty="0" err="1"/>
              <a:t>Heapify</a:t>
            </a:r>
            <a:r>
              <a:rPr lang="en-US" b="1" dirty="0"/>
              <a:t> (Sift-Up)</a:t>
            </a:r>
            <a:r>
              <a:rPr lang="en-US" dirty="0"/>
              <a:t>: Compare the newly added element with its parent. If it violates the heap property (e.g., it is larger than its parent in a max-heap), swap them.</a:t>
            </a:r>
          </a:p>
          <a:p>
            <a:pPr marL="608076" lvl="1" indent="-342900">
              <a:buFont typeface="+mj-lt"/>
              <a:buAutoNum type="arabicPeriod"/>
            </a:pPr>
            <a:r>
              <a:rPr lang="en-US" dirty="0"/>
              <a:t>Continue swapping the element with its parent until it reaches the root or its correct position where the heap property is satisfied.</a:t>
            </a:r>
          </a:p>
          <a:p>
            <a:pPr marL="457200" indent="-457200">
              <a:buFont typeface="+mj-lt"/>
              <a:buAutoNum type="arabicPeriod"/>
            </a:pPr>
            <a:r>
              <a:rPr lang="en-US" b="1" dirty="0"/>
              <a:t>Repeat</a:t>
            </a:r>
            <a:r>
              <a:rPr lang="en-US" dirty="0"/>
              <a:t>: Repeat these steps until all input elements are processed</a:t>
            </a:r>
          </a:p>
          <a:p>
            <a:endParaRPr lang="en-US" dirty="0"/>
          </a:p>
        </p:txBody>
      </p:sp>
      <p:sp>
        <p:nvSpPr>
          <p:cNvPr id="4" name="Content Placeholder 3">
            <a:extLst>
              <a:ext uri="{FF2B5EF4-FFF2-40B4-BE49-F238E27FC236}">
                <a16:creationId xmlns:a16="http://schemas.microsoft.com/office/drawing/2014/main" id="{98CF9E2A-2AE5-0F26-BDE9-DA9A65038BD4}"/>
              </a:ext>
            </a:extLst>
          </p:cNvPr>
          <p:cNvSpPr>
            <a:spLocks noGrp="1"/>
          </p:cNvSpPr>
          <p:nvPr>
            <p:ph sz="half" idx="2"/>
          </p:nvPr>
        </p:nvSpPr>
        <p:spPr/>
        <p:txBody>
          <a:bodyPr>
            <a:normAutofit fontScale="85000" lnSpcReduction="20000"/>
          </a:bodyPr>
          <a:lstStyle/>
          <a:p>
            <a:r>
              <a:rPr lang="en-US" dirty="0"/>
              <a:t>Time complexity O(</a:t>
            </a:r>
            <a:r>
              <a:rPr lang="en-US" dirty="0" err="1"/>
              <a:t>nlogn</a:t>
            </a:r>
            <a:r>
              <a:rPr lang="en-US" dirty="0"/>
              <a:t>) </a:t>
            </a:r>
          </a:p>
          <a:p>
            <a:r>
              <a:rPr lang="en-US" dirty="0"/>
              <a:t>This is because each of the insertions can take up to log(n) time as the element "bubbles up" the height of the tree.</a:t>
            </a:r>
          </a:p>
        </p:txBody>
      </p:sp>
    </p:spTree>
    <p:extLst>
      <p:ext uri="{BB962C8B-B14F-4D97-AF65-F5344CB8AC3E}">
        <p14:creationId xmlns:p14="http://schemas.microsoft.com/office/powerpoint/2010/main" val="38508978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A4BCB-D05B-6D11-D563-C8AFB2354591}"/>
              </a:ext>
            </a:extLst>
          </p:cNvPr>
          <p:cNvSpPr>
            <a:spLocks noGrp="1"/>
          </p:cNvSpPr>
          <p:nvPr>
            <p:ph type="title"/>
          </p:nvPr>
        </p:nvSpPr>
        <p:spPr/>
        <p:txBody>
          <a:bodyPr>
            <a:normAutofit fontScale="90000"/>
          </a:bodyPr>
          <a:lstStyle/>
          <a:p>
            <a:r>
              <a:rPr lang="en-US" dirty="0"/>
              <a:t>Top-down heap construction (successive key insertions)</a:t>
            </a:r>
          </a:p>
        </p:txBody>
      </p:sp>
      <p:sp>
        <p:nvSpPr>
          <p:cNvPr id="5" name="Content Placeholder 4">
            <a:extLst>
              <a:ext uri="{FF2B5EF4-FFF2-40B4-BE49-F238E27FC236}">
                <a16:creationId xmlns:a16="http://schemas.microsoft.com/office/drawing/2014/main" id="{9AA36046-FA9C-7D5C-C101-5B8AC7DA7F24}"/>
              </a:ext>
            </a:extLst>
          </p:cNvPr>
          <p:cNvSpPr>
            <a:spLocks noGrp="1"/>
          </p:cNvSpPr>
          <p:nvPr>
            <p:ph idx="1"/>
          </p:nvPr>
        </p:nvSpPr>
        <p:spPr/>
        <p:txBody>
          <a:bodyPr/>
          <a:lstStyle/>
          <a:p>
            <a:r>
              <a:rPr lang="en-US" dirty="0"/>
              <a:t>Let’s trace on this list 2, 9, 7, 6, 5, 8 using the same array </a:t>
            </a:r>
          </a:p>
          <a:p>
            <a:r>
              <a:rPr lang="en-US" dirty="0"/>
              <a:t>[2]</a:t>
            </a:r>
          </a:p>
          <a:p>
            <a:r>
              <a:rPr lang="en-US" dirty="0"/>
              <a:t>[2,9] </a:t>
            </a:r>
            <a:r>
              <a:rPr lang="en-US" dirty="0">
                <a:sym typeface="Wingdings" panose="05000000000000000000" pitchFamily="2" charset="2"/>
              </a:rPr>
              <a:t> [9,2]</a:t>
            </a:r>
          </a:p>
          <a:p>
            <a:r>
              <a:rPr lang="en-US" dirty="0">
                <a:sym typeface="Wingdings" panose="05000000000000000000" pitchFamily="2" charset="2"/>
              </a:rPr>
              <a:t>[9,2,7]</a:t>
            </a:r>
          </a:p>
          <a:p>
            <a:r>
              <a:rPr lang="en-US" dirty="0">
                <a:sym typeface="Wingdings" panose="05000000000000000000" pitchFamily="2" charset="2"/>
              </a:rPr>
              <a:t>[9,2,7,6][9,6,7,2]</a:t>
            </a:r>
          </a:p>
          <a:p>
            <a:r>
              <a:rPr lang="en-US" dirty="0">
                <a:sym typeface="Wingdings" panose="05000000000000000000" pitchFamily="2" charset="2"/>
              </a:rPr>
              <a:t>[9,6,7,2,5]</a:t>
            </a:r>
          </a:p>
          <a:p>
            <a:r>
              <a:rPr lang="en-US" dirty="0">
                <a:sym typeface="Wingdings" panose="05000000000000000000" pitchFamily="2" charset="2"/>
              </a:rPr>
              <a:t>[9,6,7,2,5,8][9,6,8,2,5,7]</a:t>
            </a:r>
            <a:endParaRPr lang="en-US" dirty="0"/>
          </a:p>
          <a:p>
            <a:endParaRPr lang="en-US" dirty="0"/>
          </a:p>
        </p:txBody>
      </p:sp>
    </p:spTree>
    <p:extLst>
      <p:ext uri="{BB962C8B-B14F-4D97-AF65-F5344CB8AC3E}">
        <p14:creationId xmlns:p14="http://schemas.microsoft.com/office/powerpoint/2010/main" val="6195362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AFB78-6D49-42DB-C953-0D70399A8303}"/>
              </a:ext>
            </a:extLst>
          </p:cNvPr>
          <p:cNvSpPr>
            <a:spLocks noGrp="1"/>
          </p:cNvSpPr>
          <p:nvPr>
            <p:ph type="title"/>
          </p:nvPr>
        </p:nvSpPr>
        <p:spPr/>
        <p:txBody>
          <a:bodyPr/>
          <a:lstStyle/>
          <a:p>
            <a:r>
              <a:rPr lang="en-US" dirty="0"/>
              <a:t>Maximum Key Deletion algorithm</a:t>
            </a:r>
          </a:p>
        </p:txBody>
      </p:sp>
      <p:sp>
        <p:nvSpPr>
          <p:cNvPr id="3" name="Content Placeholder 2">
            <a:extLst>
              <a:ext uri="{FF2B5EF4-FFF2-40B4-BE49-F238E27FC236}">
                <a16:creationId xmlns:a16="http://schemas.microsoft.com/office/drawing/2014/main" id="{0029025B-ECA4-CAFB-ADC4-955CB1930A21}"/>
              </a:ext>
            </a:extLst>
          </p:cNvPr>
          <p:cNvSpPr>
            <a:spLocks noGrp="1"/>
          </p:cNvSpPr>
          <p:nvPr>
            <p:ph idx="1"/>
          </p:nvPr>
        </p:nvSpPr>
        <p:spPr/>
        <p:txBody>
          <a:bodyPr>
            <a:normAutofit fontScale="92500" lnSpcReduction="20000"/>
          </a:bodyPr>
          <a:lstStyle/>
          <a:p>
            <a:r>
              <a:rPr lang="en-US" dirty="0"/>
              <a:t>Algorithm</a:t>
            </a:r>
          </a:p>
          <a:p>
            <a:pPr lvl="1"/>
            <a:r>
              <a:rPr lang="en-US" dirty="0"/>
              <a:t>Step 1 Exchange the root’s key with the last key K of the heap. </a:t>
            </a:r>
          </a:p>
          <a:p>
            <a:pPr lvl="1"/>
            <a:r>
              <a:rPr lang="en-US" dirty="0"/>
              <a:t>Step 2 Decrease the heap’s size by 1. </a:t>
            </a:r>
          </a:p>
          <a:p>
            <a:pPr lvl="1"/>
            <a:r>
              <a:rPr lang="en-US" dirty="0"/>
              <a:t>Step 3 “</a:t>
            </a:r>
            <a:r>
              <a:rPr lang="en-US" dirty="0" err="1"/>
              <a:t>Heapify</a:t>
            </a:r>
            <a:r>
              <a:rPr lang="en-US" dirty="0"/>
              <a:t>” the smaller tree by sifting K down the tree exactly in the same way we did it in the bottom-up heap construction algorithm. That is, verify the parental dominance for K: if it holds, we are done; if not, swap K with the larger of its children and repeat this operation until the parental dominance condition holds for K in its new position.</a:t>
            </a:r>
          </a:p>
          <a:p>
            <a:r>
              <a:rPr lang="en-US" dirty="0"/>
              <a:t>The efficiency of deletion is determined by the number of key comparisons needed to “</a:t>
            </a:r>
            <a:r>
              <a:rPr lang="en-US" dirty="0" err="1"/>
              <a:t>heapify</a:t>
            </a:r>
            <a:r>
              <a:rPr lang="en-US" dirty="0"/>
              <a:t>” the tree after the swap has been made and the size of the tree is decreased by 1. Since this cannot require more key comparisons than twice the heap’s height, the time efficiency of deletion is in O(log n)  </a:t>
            </a:r>
          </a:p>
          <a:p>
            <a:endParaRPr lang="en-US" dirty="0"/>
          </a:p>
        </p:txBody>
      </p:sp>
    </p:spTree>
    <p:extLst>
      <p:ext uri="{BB962C8B-B14F-4D97-AF65-F5344CB8AC3E}">
        <p14:creationId xmlns:p14="http://schemas.microsoft.com/office/powerpoint/2010/main" val="29802435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3FF32-EE0E-F69A-C5EB-99D2700D0C31}"/>
              </a:ext>
            </a:extLst>
          </p:cNvPr>
          <p:cNvSpPr>
            <a:spLocks noGrp="1"/>
          </p:cNvSpPr>
          <p:nvPr>
            <p:ph type="title"/>
          </p:nvPr>
        </p:nvSpPr>
        <p:spPr/>
        <p:txBody>
          <a:bodyPr/>
          <a:lstStyle/>
          <a:p>
            <a:r>
              <a:rPr lang="en-US" dirty="0"/>
              <a:t>Heap sort</a:t>
            </a:r>
          </a:p>
        </p:txBody>
      </p:sp>
      <p:sp>
        <p:nvSpPr>
          <p:cNvPr id="3" name="Content Placeholder 2">
            <a:extLst>
              <a:ext uri="{FF2B5EF4-FFF2-40B4-BE49-F238E27FC236}">
                <a16:creationId xmlns:a16="http://schemas.microsoft.com/office/drawing/2014/main" id="{E725FEC2-F3D1-8084-CCBC-02BE4C73E668}"/>
              </a:ext>
            </a:extLst>
          </p:cNvPr>
          <p:cNvSpPr>
            <a:spLocks noGrp="1"/>
          </p:cNvSpPr>
          <p:nvPr>
            <p:ph idx="1"/>
          </p:nvPr>
        </p:nvSpPr>
        <p:spPr/>
        <p:txBody>
          <a:bodyPr/>
          <a:lstStyle/>
          <a:p>
            <a:r>
              <a:rPr lang="en-US" dirty="0"/>
              <a:t>Stage 1 (heap construction): Construct a heap for a given array. (Heap-bottom up)</a:t>
            </a:r>
          </a:p>
          <a:p>
            <a:r>
              <a:rPr lang="en-US" dirty="0"/>
              <a:t>Stage 2 (maximum deletions): Apply the root-deletion operation n − 1 times to the remaining heap. </a:t>
            </a:r>
          </a:p>
        </p:txBody>
      </p:sp>
    </p:spTree>
    <p:extLst>
      <p:ext uri="{BB962C8B-B14F-4D97-AF65-F5344CB8AC3E}">
        <p14:creationId xmlns:p14="http://schemas.microsoft.com/office/powerpoint/2010/main" val="23205530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507DFC-A828-B26B-64A1-1E17071E96CD}"/>
              </a:ext>
            </a:extLst>
          </p:cNvPr>
          <p:cNvSpPr>
            <a:spLocks noGrp="1"/>
          </p:cNvSpPr>
          <p:nvPr>
            <p:ph type="title"/>
          </p:nvPr>
        </p:nvSpPr>
        <p:spPr>
          <a:xfrm>
            <a:off x="640080" y="1434438"/>
            <a:ext cx="2983229" cy="2612976"/>
          </a:xfrm>
        </p:spPr>
        <p:txBody>
          <a:bodyPr vert="horz" lIns="91440" tIns="45720" rIns="91440" bIns="45720" rtlCol="0" anchor="t">
            <a:normAutofit/>
          </a:bodyPr>
          <a:lstStyle/>
          <a:p>
            <a:r>
              <a:rPr lang="en-US" sz="4400"/>
              <a:t>Heap sort </a:t>
            </a:r>
          </a:p>
        </p:txBody>
      </p:sp>
      <p:pic>
        <p:nvPicPr>
          <p:cNvPr id="5" name="Content Placeholder 4">
            <a:extLst>
              <a:ext uri="{FF2B5EF4-FFF2-40B4-BE49-F238E27FC236}">
                <a16:creationId xmlns:a16="http://schemas.microsoft.com/office/drawing/2014/main" id="{B89BF1C6-4995-46BF-69EF-DEBAA5052CDF}"/>
              </a:ext>
            </a:extLst>
          </p:cNvPr>
          <p:cNvPicPr>
            <a:picLocks noGrp="1" noChangeAspect="1"/>
          </p:cNvPicPr>
          <p:nvPr>
            <p:ph idx="1"/>
          </p:nvPr>
        </p:nvPicPr>
        <p:blipFill>
          <a:blip r:embed="rId2"/>
          <a:stretch>
            <a:fillRect/>
          </a:stretch>
        </p:blipFill>
        <p:spPr>
          <a:xfrm>
            <a:off x="4136066" y="990201"/>
            <a:ext cx="6106142" cy="4818027"/>
          </a:xfrm>
          <a:prstGeom prst="rect">
            <a:avLst/>
          </a:prstGeom>
        </p:spPr>
      </p:pic>
      <p:cxnSp>
        <p:nvCxnSpPr>
          <p:cNvPr id="14" name="Straight Connector 13">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1032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87341-33E4-E60F-3D0F-A3D899D60C2D}"/>
              </a:ext>
            </a:extLst>
          </p:cNvPr>
          <p:cNvSpPr>
            <a:spLocks noGrp="1"/>
          </p:cNvSpPr>
          <p:nvPr>
            <p:ph type="title"/>
          </p:nvPr>
        </p:nvSpPr>
        <p:spPr/>
        <p:txBody>
          <a:bodyPr/>
          <a:lstStyle/>
          <a:p>
            <a:r>
              <a:rPr lang="en-US" dirty="0"/>
              <a:t>Heap sort time complexity</a:t>
            </a:r>
          </a:p>
        </p:txBody>
      </p:sp>
      <p:sp>
        <p:nvSpPr>
          <p:cNvPr id="3" name="Content Placeholder 2">
            <a:extLst>
              <a:ext uri="{FF2B5EF4-FFF2-40B4-BE49-F238E27FC236}">
                <a16:creationId xmlns:a16="http://schemas.microsoft.com/office/drawing/2014/main" id="{AD04FD53-633E-6AA0-3813-4CFF7CCFD5B4}"/>
              </a:ext>
            </a:extLst>
          </p:cNvPr>
          <p:cNvSpPr>
            <a:spLocks noGrp="1"/>
          </p:cNvSpPr>
          <p:nvPr>
            <p:ph idx="1"/>
          </p:nvPr>
        </p:nvSpPr>
        <p:spPr/>
        <p:txBody>
          <a:bodyPr/>
          <a:lstStyle/>
          <a:p>
            <a:pPr fontAlgn="base">
              <a:spcAft>
                <a:spcPct val="0"/>
              </a:spcAft>
            </a:pPr>
            <a:r>
              <a:rPr lang="en-US" dirty="0"/>
              <a:t>Stage 1 : </a:t>
            </a:r>
            <a:r>
              <a:rPr lang="en-US" altLang="en-US" dirty="0"/>
              <a:t>As we just broke down in the previous math, we build the initial heap from an unordered array using the bottom-up approach. Time Complexity: O(n).</a:t>
            </a:r>
          </a:p>
          <a:p>
            <a:pPr fontAlgn="base">
              <a:spcAft>
                <a:spcPct val="0"/>
              </a:spcAft>
            </a:pPr>
            <a:r>
              <a:rPr lang="en-US" altLang="en-US" dirty="0"/>
              <a:t>Stage 2: As we stated before to delete one element and </a:t>
            </a:r>
            <a:r>
              <a:rPr lang="en-US" altLang="en-US" dirty="0" err="1"/>
              <a:t>heapifiy</a:t>
            </a:r>
            <a:r>
              <a:rPr lang="en-US" altLang="en-US" dirty="0"/>
              <a:t> the list will take O(log(n)) and since we are going to </a:t>
            </a:r>
            <a:r>
              <a:rPr lang="en-US" altLang="en-US" dirty="0" err="1"/>
              <a:t>heapifiy</a:t>
            </a:r>
            <a:r>
              <a:rPr lang="en-US" altLang="en-US" dirty="0"/>
              <a:t> the list n times then the total complexity is O(</a:t>
            </a:r>
            <a:r>
              <a:rPr lang="en-US" altLang="en-US" dirty="0" err="1"/>
              <a:t>nlog</a:t>
            </a:r>
            <a:r>
              <a:rPr lang="en-US" altLang="en-US" dirty="0"/>
              <a:t>(n)) </a:t>
            </a:r>
          </a:p>
          <a:p>
            <a:pPr fontAlgn="base">
              <a:spcAft>
                <a:spcPct val="0"/>
              </a:spcAft>
            </a:pPr>
            <a:r>
              <a:rPr lang="en-US" altLang="en-US" dirty="0"/>
              <a:t>By using both stages the final output is time complexity for heap sort is O(</a:t>
            </a:r>
            <a:r>
              <a:rPr lang="en-US" altLang="en-US" dirty="0" err="1"/>
              <a:t>nlog</a:t>
            </a:r>
            <a:r>
              <a:rPr lang="en-US" altLang="en-US"/>
              <a:t>(n)) </a:t>
            </a:r>
            <a:endParaRPr lang="en-US" altLang="en-US" dirty="0"/>
          </a:p>
          <a:p>
            <a:endParaRPr lang="en-US" dirty="0"/>
          </a:p>
        </p:txBody>
      </p:sp>
    </p:spTree>
    <p:extLst>
      <p:ext uri="{BB962C8B-B14F-4D97-AF65-F5344CB8AC3E}">
        <p14:creationId xmlns:p14="http://schemas.microsoft.com/office/powerpoint/2010/main" val="1236612646"/>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3">
    <wetp:webextensionref xmlns:r="http://schemas.openxmlformats.org/officeDocument/2006/relationships" r:id="rId2"/>
  </wetp:taskpane>
  <wetp:taskpane dockstate="right" visibility="0" width="438" row="2">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B31A46CC-CE7C-4423-8C99-67D3118CABA2}">
  <we:reference id="wa200006000" version="1.0.7.0" store="en-US" storeType="OMEX"/>
  <we:alternateReferences>
    <we:reference id="WA200006000" version="1.0.7.0"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72B45E50-37F3-44ED-A080-A405429E4E5C}">
  <we:reference id="wa200005566" version="3.0.0.2" store="en-US" storeType="OMEX"/>
  <we:alternateReferences>
    <we:reference id="WA200005566" version="3.0.0.2" store=""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550893C1-8690-425A-A63D-58C9D578594E}">
  <we:reference id="wa200010001" version="1.0.0.1" store="en-US" storeType="OMEX"/>
  <we:alternateReferences>
    <we:reference id="wa200010001" version="1.0.0.1" store="wa200010001" storeType="OMEX"/>
  </we:alternateReferences>
  <we:properties>
    <we:property name="claude.fileId" value="&quot;3e973b88-ee7e-46f7-a79b-423c99ba0c6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2013 - 2022 Theme</Template>
  <TotalTime>15042</TotalTime>
  <Words>2125</Words>
  <Application>Microsoft Office PowerPoint</Application>
  <PresentationFormat>Widescreen</PresentationFormat>
  <Paragraphs>140</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Arial</vt:lpstr>
      <vt:lpstr>Cambria Math</vt:lpstr>
      <vt:lpstr>Grandview Display</vt:lpstr>
      <vt:lpstr>Wingdings</vt:lpstr>
      <vt:lpstr>DashVTI</vt:lpstr>
      <vt:lpstr>Computing Algorithms Lecture 10: Transform and Conquer </vt:lpstr>
      <vt:lpstr>Agenda</vt:lpstr>
      <vt:lpstr>Introduction    </vt:lpstr>
      <vt:lpstr>PowerPoint Presentation</vt:lpstr>
      <vt:lpstr>Presorting    </vt:lpstr>
      <vt:lpstr>Presorting</vt:lpstr>
      <vt:lpstr>Checking element uniqueness in an array </vt:lpstr>
      <vt:lpstr>Checking element uniqueness in an array </vt:lpstr>
      <vt:lpstr>Balanced Binary Search Tree    </vt:lpstr>
      <vt:lpstr>Binary search trees</vt:lpstr>
      <vt:lpstr>Balanced Binary Search Tree</vt:lpstr>
      <vt:lpstr>AVL tree</vt:lpstr>
      <vt:lpstr>AVL Tree</vt:lpstr>
      <vt:lpstr>AVL Tree</vt:lpstr>
      <vt:lpstr>AVL tree</vt:lpstr>
      <vt:lpstr>AVL Tree</vt:lpstr>
      <vt:lpstr>AVL tree</vt:lpstr>
      <vt:lpstr>AVL Example</vt:lpstr>
      <vt:lpstr>AVL Example</vt:lpstr>
      <vt:lpstr>2-3 tree</vt:lpstr>
      <vt:lpstr>2-3 tree</vt:lpstr>
      <vt:lpstr>2-3 tree</vt:lpstr>
      <vt:lpstr>2-3 tree</vt:lpstr>
      <vt:lpstr>2-3 tree Example </vt:lpstr>
      <vt:lpstr>Heap sort    </vt:lpstr>
      <vt:lpstr>Heap </vt:lpstr>
      <vt:lpstr>Heap </vt:lpstr>
      <vt:lpstr>Which one is heap ?</vt:lpstr>
      <vt:lpstr>Important properties of heaps</vt:lpstr>
      <vt:lpstr>Important properties of heaps</vt:lpstr>
      <vt:lpstr>Heap Bottom Up</vt:lpstr>
      <vt:lpstr>Heap-bottom up</vt:lpstr>
      <vt:lpstr>Heap-bottom up time complexity </vt:lpstr>
      <vt:lpstr>Top-down heap construction</vt:lpstr>
      <vt:lpstr>Top-down heap construction (successive key insertions)</vt:lpstr>
      <vt:lpstr>Maximum Key Deletion algorithm</vt:lpstr>
      <vt:lpstr>Heap sort</vt:lpstr>
      <vt:lpstr>Heap sort </vt:lpstr>
      <vt:lpstr>Heap sort time complexity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Moheeb</dc:creator>
  <cp:lastModifiedBy>Omar Hossam</cp:lastModifiedBy>
  <cp:revision>93</cp:revision>
  <dcterms:created xsi:type="dcterms:W3CDTF">2026-01-25T09:41:58Z</dcterms:created>
  <dcterms:modified xsi:type="dcterms:W3CDTF">2026-05-05T19:10:52Z</dcterms:modified>
</cp:coreProperties>
</file>