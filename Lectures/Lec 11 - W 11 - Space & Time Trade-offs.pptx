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28"/>
  </p:notesMasterIdLst>
  <p:sldIdLst>
    <p:sldId id="256" r:id="rId2"/>
    <p:sldId id="257" r:id="rId3"/>
    <p:sldId id="346" r:id="rId4"/>
    <p:sldId id="347" r:id="rId5"/>
    <p:sldId id="348" r:id="rId6"/>
    <p:sldId id="349" r:id="rId7"/>
    <p:sldId id="350" r:id="rId8"/>
    <p:sldId id="352" r:id="rId9"/>
    <p:sldId id="351" r:id="rId10"/>
    <p:sldId id="354" r:id="rId11"/>
    <p:sldId id="353" r:id="rId12"/>
    <p:sldId id="355" r:id="rId13"/>
    <p:sldId id="356" r:id="rId14"/>
    <p:sldId id="357" r:id="rId15"/>
    <p:sldId id="358" r:id="rId16"/>
    <p:sldId id="359" r:id="rId17"/>
    <p:sldId id="360" r:id="rId18"/>
    <p:sldId id="361" r:id="rId19"/>
    <p:sldId id="362" r:id="rId20"/>
    <p:sldId id="363" r:id="rId21"/>
    <p:sldId id="364" r:id="rId22"/>
    <p:sldId id="365" r:id="rId23"/>
    <p:sldId id="367" r:id="rId24"/>
    <p:sldId id="366" r:id="rId25"/>
    <p:sldId id="368" r:id="rId26"/>
    <p:sldId id="369"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608" autoAdjust="0"/>
    <p:restoredTop sz="93447" autoAdjust="0"/>
  </p:normalViewPr>
  <p:slideViewPr>
    <p:cSldViewPr snapToGrid="0">
      <p:cViewPr varScale="1">
        <p:scale>
          <a:sx n="21" d="100"/>
          <a:sy n="21" d="100"/>
        </p:scale>
        <p:origin x="408"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mar Hossam" userId="1865a26e0f50c12e" providerId="LiveId" clId="{C2B84A39-BD6B-436C-8745-674175183BE6}"/>
    <pc:docChg chg="modSld">
      <pc:chgData name="Omar Hossam" userId="1865a26e0f50c12e" providerId="LiveId" clId="{C2B84A39-BD6B-436C-8745-674175183BE6}" dt="2026-06-01T10:44:46.026" v="1" actId="1076"/>
      <pc:docMkLst>
        <pc:docMk/>
      </pc:docMkLst>
      <pc:sldChg chg="modSp mod">
        <pc:chgData name="Omar Hossam" userId="1865a26e0f50c12e" providerId="LiveId" clId="{C2B84A39-BD6B-436C-8745-674175183BE6}" dt="2026-06-01T10:44:46.026" v="1" actId="1076"/>
        <pc:sldMkLst>
          <pc:docMk/>
          <pc:sldMk cId="4258362841" sldId="369"/>
        </pc:sldMkLst>
        <pc:spChg chg="mod">
          <ac:chgData name="Omar Hossam" userId="1865a26e0f50c12e" providerId="LiveId" clId="{C2B84A39-BD6B-436C-8745-674175183BE6}" dt="2026-06-01T10:44:46.026" v="1" actId="1076"/>
          <ac:spMkLst>
            <pc:docMk/>
            <pc:sldMk cId="4258362841" sldId="369"/>
            <ac:spMk id="2" creationId="{C6599D6D-FF55-9FC2-6EAE-DEE598AB7D6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B52ECC-1B11-423C-B09A-13D0289A9C73}" type="datetimeFigureOut">
              <a:rPr lang="en-US" smtClean="0"/>
              <a:t>6/1/2026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726EFB-E3F6-4F64-9528-97A47048DF40}" type="slidenum">
              <a:rPr lang="en-US" smtClean="0"/>
              <a:t>‹#›</a:t>
            </a:fld>
            <a:endParaRPr lang="en-US"/>
          </a:p>
        </p:txBody>
      </p:sp>
    </p:spTree>
    <p:extLst>
      <p:ext uri="{BB962C8B-B14F-4D97-AF65-F5344CB8AC3E}">
        <p14:creationId xmlns:p14="http://schemas.microsoft.com/office/powerpoint/2010/main" val="1472948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6/1/2026</a:t>
            </a:fld>
            <a:endParaRPr lang="en-US" dirty="0"/>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1584463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6/1/2026</a:t>
            </a:fld>
            <a:endParaRPr lang="en-US" dirty="0"/>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2591633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6/1/2026</a:t>
            </a:fld>
            <a:endParaRPr lang="en-US" dirty="0"/>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dirty="0"/>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7403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6/1/2026</a:t>
            </a:fld>
            <a:endParaRPr lang="en-US" dirty="0"/>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46057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6/1/2026</a:t>
            </a:fld>
            <a:endParaRPr lang="en-US" dirty="0"/>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2075414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6/1/2026</a:t>
            </a:fld>
            <a:endParaRPr lang="en-US" dirty="0"/>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4254808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6/1/2026</a:t>
            </a:fld>
            <a:endParaRPr lang="en-US" dirty="0"/>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1872344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6/1/2026</a:t>
            </a:fld>
            <a:endParaRPr lang="en-US" dirty="0"/>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1996499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6/1/2026</a:t>
            </a:fld>
            <a:endParaRPr lang="en-US" dirty="0"/>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1708374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6/1/2026</a:t>
            </a:fld>
            <a:endParaRPr lang="en-US" dirty="0"/>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187163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6/1/2026</a:t>
            </a:fld>
            <a:endParaRPr lang="en-US" dirty="0"/>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dirty="0"/>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6789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6/1/2026</a:t>
            </a:fld>
            <a:endParaRPr lang="en-US" dirty="0"/>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dirty="0"/>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4423882"/>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04" r:id="rId6"/>
    <p:sldLayoutId id="2147483700" r:id="rId7"/>
    <p:sldLayoutId id="2147483701" r:id="rId8"/>
    <p:sldLayoutId id="2147483702" r:id="rId9"/>
    <p:sldLayoutId id="2147483703" r:id="rId10"/>
    <p:sldLayoutId id="2147483705"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CEAE456-DA79-9895-19B2-CBCA5A8A7115}"/>
              </a:ext>
            </a:extLst>
          </p:cNvPr>
          <p:cNvSpPr>
            <a:spLocks noGrp="1"/>
          </p:cNvSpPr>
          <p:nvPr>
            <p:ph type="ctrTitle"/>
          </p:nvPr>
        </p:nvSpPr>
        <p:spPr>
          <a:xfrm>
            <a:off x="640080" y="1554037"/>
            <a:ext cx="4670661" cy="3030842"/>
          </a:xfrm>
        </p:spPr>
        <p:txBody>
          <a:bodyPr>
            <a:noAutofit/>
          </a:bodyPr>
          <a:lstStyle/>
          <a:p>
            <a:r>
              <a:rPr lang="en-US" sz="3600" dirty="0"/>
              <a:t>Computing Algorithms</a:t>
            </a:r>
            <a:br>
              <a:rPr lang="en-US" sz="3600" dirty="0"/>
            </a:br>
            <a:r>
              <a:rPr lang="en-US" sz="3600" dirty="0"/>
              <a:t>Lecture 11:</a:t>
            </a:r>
            <a:br>
              <a:rPr lang="en-US" sz="3600" dirty="0"/>
            </a:br>
            <a:r>
              <a:rPr lang="en-US" sz="3600" dirty="0"/>
              <a:t>Space and Time Trade-off</a:t>
            </a:r>
          </a:p>
        </p:txBody>
      </p:sp>
      <p:sp>
        <p:nvSpPr>
          <p:cNvPr id="3" name="Subtitle 2">
            <a:extLst>
              <a:ext uri="{FF2B5EF4-FFF2-40B4-BE49-F238E27FC236}">
                <a16:creationId xmlns:a16="http://schemas.microsoft.com/office/drawing/2014/main" id="{8B383053-DBC8-A47D-72F0-B866CFBE532C}"/>
              </a:ext>
            </a:extLst>
          </p:cNvPr>
          <p:cNvSpPr>
            <a:spLocks noGrp="1"/>
          </p:cNvSpPr>
          <p:nvPr>
            <p:ph type="subTitle" idx="1"/>
          </p:nvPr>
        </p:nvSpPr>
        <p:spPr>
          <a:xfrm>
            <a:off x="640080" y="4584879"/>
            <a:ext cx="4670660" cy="1287887"/>
          </a:xfrm>
        </p:spPr>
        <p:txBody>
          <a:bodyPr>
            <a:normAutofit/>
          </a:bodyPr>
          <a:lstStyle/>
          <a:p>
            <a:r>
              <a:rPr lang="en-US" dirty="0"/>
              <a:t>By: Dr. Mohamed Moheeb </a:t>
            </a:r>
          </a:p>
        </p:txBody>
      </p:sp>
      <p:cxnSp>
        <p:nvCxnSpPr>
          <p:cNvPr id="11" name="Straight Connector 10">
            <a:extLst>
              <a:ext uri="{FF2B5EF4-FFF2-40B4-BE49-F238E27FC236}">
                <a16:creationId xmlns:a16="http://schemas.microsoft.com/office/drawing/2014/main" id="{D132AEA7-A24A-45A9-BF8F-D0AFF34DF6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594A22F1-6EB7-DAD1-49EB-40097999324D}"/>
              </a:ext>
            </a:extLst>
          </p:cNvPr>
          <p:cNvPicPr>
            <a:picLocks noChangeAspect="1"/>
          </p:cNvPicPr>
          <p:nvPr/>
        </p:nvPicPr>
        <p:blipFill>
          <a:blip r:embed="rId2"/>
          <a:srcRect l="17422" r="27944" b="-1"/>
          <a:stretch>
            <a:fillRect/>
          </a:stretch>
        </p:blipFill>
        <p:spPr>
          <a:xfrm>
            <a:off x="6515100" y="10"/>
            <a:ext cx="5676900" cy="6857990"/>
          </a:xfrm>
          <a:prstGeom prst="rect">
            <a:avLst/>
          </a:prstGeom>
        </p:spPr>
      </p:pic>
    </p:spTree>
    <p:extLst>
      <p:ext uri="{BB962C8B-B14F-4D97-AF65-F5344CB8AC3E}">
        <p14:creationId xmlns:p14="http://schemas.microsoft.com/office/powerpoint/2010/main" val="1313403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8632-A97F-2592-E5E1-57A965B044DC}"/>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731E22B-CE58-F133-934B-D7163601B3A9}"/>
              </a:ext>
            </a:extLst>
          </p:cNvPr>
          <p:cNvSpPr>
            <a:spLocks noGrp="1"/>
          </p:cNvSpPr>
          <p:nvPr>
            <p:ph idx="1"/>
          </p:nvPr>
        </p:nvSpPr>
        <p:spPr/>
        <p:txBody>
          <a:bodyPr>
            <a:normAutofit/>
          </a:bodyPr>
          <a:lstStyle/>
          <a:p>
            <a:r>
              <a:rPr lang="en-US" dirty="0"/>
              <a:t>Introduction</a:t>
            </a:r>
          </a:p>
          <a:p>
            <a:r>
              <a:rPr lang="en-US" dirty="0"/>
              <a:t>Count Sorting</a:t>
            </a:r>
          </a:p>
          <a:p>
            <a:r>
              <a:rPr lang="en-US" dirty="0"/>
              <a:t>Horspool’s algorithm</a:t>
            </a:r>
          </a:p>
          <a:p>
            <a:r>
              <a:rPr lang="en-US" dirty="0"/>
              <a:t>Hashing</a:t>
            </a:r>
          </a:p>
        </p:txBody>
      </p:sp>
    </p:spTree>
    <p:extLst>
      <p:ext uri="{BB962C8B-B14F-4D97-AF65-F5344CB8AC3E}">
        <p14:creationId xmlns:p14="http://schemas.microsoft.com/office/powerpoint/2010/main" val="192019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0EC46-FF09-5C09-DC90-0FF1044A95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A95F7B-E7CD-700D-66DE-07406174D962}"/>
              </a:ext>
            </a:extLst>
          </p:cNvPr>
          <p:cNvSpPr>
            <a:spLocks noGrp="1"/>
          </p:cNvSpPr>
          <p:nvPr>
            <p:ph type="title"/>
          </p:nvPr>
        </p:nvSpPr>
        <p:spPr>
          <a:xfrm>
            <a:off x="640080" y="1371600"/>
            <a:ext cx="4670661" cy="3030842"/>
          </a:xfrm>
        </p:spPr>
        <p:txBody>
          <a:bodyPr vert="horz" lIns="91440" tIns="45720" rIns="91440" bIns="45720" rtlCol="0" anchor="t">
            <a:normAutofit/>
          </a:bodyPr>
          <a:lstStyle/>
          <a:p>
            <a:pPr>
              <a:lnSpc>
                <a:spcPct val="90000"/>
              </a:lnSpc>
            </a:pPr>
            <a:r>
              <a:rPr lang="en-US" sz="5400" dirty="0"/>
              <a:t>Introduction </a:t>
            </a:r>
            <a:br>
              <a:rPr lang="en-US" sz="5000" b="1" kern="1200" dirty="0">
                <a:solidFill>
                  <a:schemeClr val="tx1"/>
                </a:solidFill>
                <a:latin typeface="+mj-lt"/>
                <a:ea typeface="+mj-ea"/>
                <a:cs typeface="+mj-cs"/>
              </a:rPr>
            </a:br>
            <a:br>
              <a:rPr lang="en-US" sz="5000" b="1" kern="1200" dirty="0">
                <a:solidFill>
                  <a:schemeClr val="tx1"/>
                </a:solidFill>
                <a:latin typeface="+mj-lt"/>
                <a:ea typeface="+mj-ea"/>
                <a:cs typeface="+mj-cs"/>
              </a:rPr>
            </a:br>
            <a:br>
              <a:rPr lang="en-US" sz="5000" b="1" kern="1200" dirty="0">
                <a:solidFill>
                  <a:schemeClr val="tx1"/>
                </a:solidFill>
                <a:latin typeface="+mj-lt"/>
                <a:ea typeface="+mj-ea"/>
                <a:cs typeface="+mj-cs"/>
              </a:rPr>
            </a:br>
            <a:endParaRPr lang="en-US" sz="5000" b="1" kern="1200" dirty="0">
              <a:solidFill>
                <a:schemeClr val="tx1"/>
              </a:solidFill>
              <a:latin typeface="+mj-lt"/>
              <a:ea typeface="+mj-ea"/>
              <a:cs typeface="+mj-cs"/>
            </a:endParaRPr>
          </a:p>
        </p:txBody>
      </p:sp>
      <p:pic>
        <p:nvPicPr>
          <p:cNvPr id="4" name="Picture 3" descr="Aqua and green fractal background like floral petal">
            <a:extLst>
              <a:ext uri="{FF2B5EF4-FFF2-40B4-BE49-F238E27FC236}">
                <a16:creationId xmlns:a16="http://schemas.microsoft.com/office/drawing/2014/main" id="{9EDDD50A-1398-C44F-F014-9607D99A48D5}"/>
              </a:ext>
            </a:extLst>
          </p:cNvPr>
          <p:cNvPicPr>
            <a:picLocks noChangeAspect="1"/>
          </p:cNvPicPr>
          <p:nvPr/>
        </p:nvPicPr>
        <p:blipFill>
          <a:blip r:embed="rId2"/>
          <a:srcRect l="13395" r="24521"/>
          <a:stretch>
            <a:fillRect/>
          </a:stretch>
        </p:blipFill>
        <p:spPr>
          <a:xfrm>
            <a:off x="6515100" y="10"/>
            <a:ext cx="5676900" cy="6857990"/>
          </a:xfrm>
          <a:prstGeom prst="rect">
            <a:avLst/>
          </a:prstGeom>
        </p:spPr>
      </p:pic>
    </p:spTree>
    <p:extLst>
      <p:ext uri="{BB962C8B-B14F-4D97-AF65-F5344CB8AC3E}">
        <p14:creationId xmlns:p14="http://schemas.microsoft.com/office/powerpoint/2010/main" val="3248618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FC14A-F286-2FFF-A898-A5F850A4A26A}"/>
              </a:ext>
            </a:extLst>
          </p:cNvPr>
          <p:cNvSpPr>
            <a:spLocks noGrp="1"/>
          </p:cNvSpPr>
          <p:nvPr>
            <p:ph type="title"/>
          </p:nvPr>
        </p:nvSpPr>
        <p:spPr/>
        <p:txBody>
          <a:bodyPr/>
          <a:lstStyle/>
          <a:p>
            <a:r>
              <a:rPr lang="en-US" dirty="0"/>
              <a:t>Introduction </a:t>
            </a:r>
          </a:p>
        </p:txBody>
      </p:sp>
      <p:sp>
        <p:nvSpPr>
          <p:cNvPr id="3" name="Content Placeholder 2">
            <a:extLst>
              <a:ext uri="{FF2B5EF4-FFF2-40B4-BE49-F238E27FC236}">
                <a16:creationId xmlns:a16="http://schemas.microsoft.com/office/drawing/2014/main" id="{2B3D0FD3-6104-0B87-54F7-8A190490BEE1}"/>
              </a:ext>
            </a:extLst>
          </p:cNvPr>
          <p:cNvSpPr>
            <a:spLocks noGrp="1"/>
          </p:cNvSpPr>
          <p:nvPr>
            <p:ph idx="1"/>
          </p:nvPr>
        </p:nvSpPr>
        <p:spPr/>
        <p:txBody>
          <a:bodyPr/>
          <a:lstStyle/>
          <a:p>
            <a:r>
              <a:rPr lang="en-US" dirty="0"/>
              <a:t>Most algorithms can be optimized in one of two directions: </a:t>
            </a:r>
            <a:r>
              <a:rPr lang="en-US" b="1" dirty="0"/>
              <a:t>Time</a:t>
            </a:r>
            <a:r>
              <a:rPr lang="en-US" dirty="0"/>
              <a:t> (how long it takes to finish) or </a:t>
            </a:r>
            <a:r>
              <a:rPr lang="en-US" b="1" dirty="0"/>
              <a:t>Space</a:t>
            </a:r>
            <a:r>
              <a:rPr lang="en-US" dirty="0"/>
              <a:t> (how much RAM or disk space it uses). Improving one usually makes the other worse</a:t>
            </a:r>
          </a:p>
          <a:p>
            <a:r>
              <a:rPr lang="en-US" dirty="0"/>
              <a:t>You can speed up an algorithm by storing "pre-calculated" results in memory, so the computer doesn't have to calculate them again later (e.g., using a lookup table or a cache).</a:t>
            </a:r>
          </a:p>
          <a:p>
            <a:r>
              <a:rPr lang="en-US" dirty="0"/>
              <a:t>You can save memory by calculating data on-the-fly only when it is needed. This keeps your memory footprint small but requires the CPU to work harder and take more time every time that data is accessed.</a:t>
            </a:r>
          </a:p>
        </p:txBody>
      </p:sp>
    </p:spTree>
    <p:extLst>
      <p:ext uri="{BB962C8B-B14F-4D97-AF65-F5344CB8AC3E}">
        <p14:creationId xmlns:p14="http://schemas.microsoft.com/office/powerpoint/2010/main" val="1600845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5256A-B3F5-F6B3-A781-CE05B6089F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CEA1CE-6D86-59F8-24C4-994B218A1595}"/>
              </a:ext>
            </a:extLst>
          </p:cNvPr>
          <p:cNvSpPr>
            <a:spLocks noGrp="1"/>
          </p:cNvSpPr>
          <p:nvPr>
            <p:ph type="title"/>
          </p:nvPr>
        </p:nvSpPr>
        <p:spPr>
          <a:xfrm>
            <a:off x="640080" y="1371600"/>
            <a:ext cx="4670661" cy="3030842"/>
          </a:xfrm>
        </p:spPr>
        <p:txBody>
          <a:bodyPr vert="horz" lIns="91440" tIns="45720" rIns="91440" bIns="45720" rtlCol="0" anchor="t">
            <a:normAutofit/>
          </a:bodyPr>
          <a:lstStyle/>
          <a:p>
            <a:pPr>
              <a:lnSpc>
                <a:spcPct val="90000"/>
              </a:lnSpc>
            </a:pPr>
            <a:r>
              <a:rPr lang="en-US" sz="5400" dirty="0"/>
              <a:t>Count Sorting</a:t>
            </a:r>
            <a:br>
              <a:rPr lang="en-US" sz="5000" b="1" kern="1200" dirty="0">
                <a:solidFill>
                  <a:schemeClr val="tx1"/>
                </a:solidFill>
                <a:latin typeface="+mj-lt"/>
                <a:ea typeface="+mj-ea"/>
                <a:cs typeface="+mj-cs"/>
              </a:rPr>
            </a:br>
            <a:br>
              <a:rPr lang="en-US" sz="5000" b="1" kern="1200" dirty="0">
                <a:solidFill>
                  <a:schemeClr val="tx1"/>
                </a:solidFill>
                <a:latin typeface="+mj-lt"/>
                <a:ea typeface="+mj-ea"/>
                <a:cs typeface="+mj-cs"/>
              </a:rPr>
            </a:br>
            <a:endParaRPr lang="en-US" sz="5000" b="1" kern="1200" dirty="0">
              <a:solidFill>
                <a:schemeClr val="tx1"/>
              </a:solidFill>
              <a:latin typeface="+mj-lt"/>
              <a:ea typeface="+mj-ea"/>
              <a:cs typeface="+mj-cs"/>
            </a:endParaRPr>
          </a:p>
        </p:txBody>
      </p:sp>
      <p:pic>
        <p:nvPicPr>
          <p:cNvPr id="4" name="Picture 3" descr="Aqua and green fractal background like floral petal">
            <a:extLst>
              <a:ext uri="{FF2B5EF4-FFF2-40B4-BE49-F238E27FC236}">
                <a16:creationId xmlns:a16="http://schemas.microsoft.com/office/drawing/2014/main" id="{5DB30F11-D281-1C24-3B4F-538F9E5F1768}"/>
              </a:ext>
            </a:extLst>
          </p:cNvPr>
          <p:cNvPicPr>
            <a:picLocks noChangeAspect="1"/>
          </p:cNvPicPr>
          <p:nvPr/>
        </p:nvPicPr>
        <p:blipFill>
          <a:blip r:embed="rId2"/>
          <a:srcRect l="13395" r="24521"/>
          <a:stretch>
            <a:fillRect/>
          </a:stretch>
        </p:blipFill>
        <p:spPr>
          <a:xfrm>
            <a:off x="6515100" y="10"/>
            <a:ext cx="5676900" cy="6857990"/>
          </a:xfrm>
          <a:prstGeom prst="rect">
            <a:avLst/>
          </a:prstGeom>
        </p:spPr>
      </p:pic>
    </p:spTree>
    <p:extLst>
      <p:ext uri="{BB962C8B-B14F-4D97-AF65-F5344CB8AC3E}">
        <p14:creationId xmlns:p14="http://schemas.microsoft.com/office/powerpoint/2010/main" val="3350401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C7FF2-39A6-E285-FE5B-1AF3B96329B2}"/>
              </a:ext>
            </a:extLst>
          </p:cNvPr>
          <p:cNvSpPr>
            <a:spLocks noGrp="1"/>
          </p:cNvSpPr>
          <p:nvPr>
            <p:ph type="title"/>
          </p:nvPr>
        </p:nvSpPr>
        <p:spPr/>
        <p:txBody>
          <a:bodyPr/>
          <a:lstStyle/>
          <a:p>
            <a:r>
              <a:rPr lang="en-US" dirty="0"/>
              <a:t>Count Sorting</a:t>
            </a:r>
          </a:p>
        </p:txBody>
      </p:sp>
      <p:pic>
        <p:nvPicPr>
          <p:cNvPr id="7" name="Content Placeholder 6">
            <a:extLst>
              <a:ext uri="{FF2B5EF4-FFF2-40B4-BE49-F238E27FC236}">
                <a16:creationId xmlns:a16="http://schemas.microsoft.com/office/drawing/2014/main" id="{1604A066-5ED7-3453-E8C9-CF7BCFA8084F}"/>
              </a:ext>
            </a:extLst>
          </p:cNvPr>
          <p:cNvPicPr>
            <a:picLocks noGrp="1" noChangeAspect="1"/>
          </p:cNvPicPr>
          <p:nvPr>
            <p:ph sz="half" idx="1"/>
          </p:nvPr>
        </p:nvPicPr>
        <p:blipFill>
          <a:blip r:embed="rId2"/>
          <a:stretch>
            <a:fillRect/>
          </a:stretch>
        </p:blipFill>
        <p:spPr>
          <a:xfrm>
            <a:off x="640080" y="2367280"/>
            <a:ext cx="5354320" cy="3832352"/>
          </a:xfrm>
          <a:prstGeom prst="rect">
            <a:avLst/>
          </a:prstGeom>
        </p:spPr>
      </p:pic>
      <p:pic>
        <p:nvPicPr>
          <p:cNvPr id="9" name="Content Placeholder 8">
            <a:extLst>
              <a:ext uri="{FF2B5EF4-FFF2-40B4-BE49-F238E27FC236}">
                <a16:creationId xmlns:a16="http://schemas.microsoft.com/office/drawing/2014/main" id="{3B5751D8-63FC-C506-5666-47BB8B084579}"/>
              </a:ext>
            </a:extLst>
          </p:cNvPr>
          <p:cNvPicPr>
            <a:picLocks noGrp="1" noChangeAspect="1"/>
          </p:cNvPicPr>
          <p:nvPr>
            <p:ph sz="half" idx="2"/>
          </p:nvPr>
        </p:nvPicPr>
        <p:blipFill>
          <a:blip r:embed="rId3"/>
          <a:stretch>
            <a:fillRect/>
          </a:stretch>
        </p:blipFill>
        <p:spPr>
          <a:xfrm>
            <a:off x="6197602" y="2367280"/>
            <a:ext cx="5740398" cy="3596640"/>
          </a:xfrm>
          <a:prstGeom prst="rect">
            <a:avLst/>
          </a:prstGeom>
        </p:spPr>
      </p:pic>
    </p:spTree>
    <p:extLst>
      <p:ext uri="{BB962C8B-B14F-4D97-AF65-F5344CB8AC3E}">
        <p14:creationId xmlns:p14="http://schemas.microsoft.com/office/powerpoint/2010/main" val="3780270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51D41-D6E8-C65D-063A-AD4DF348F1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581F1E-ED87-CFFD-8080-BB5F7FA78F0F}"/>
              </a:ext>
            </a:extLst>
          </p:cNvPr>
          <p:cNvSpPr>
            <a:spLocks noGrp="1"/>
          </p:cNvSpPr>
          <p:nvPr>
            <p:ph type="title"/>
          </p:nvPr>
        </p:nvSpPr>
        <p:spPr/>
        <p:txBody>
          <a:bodyPr/>
          <a:lstStyle/>
          <a:p>
            <a:r>
              <a:rPr lang="en-US" dirty="0"/>
              <a:t>Count Sorting</a:t>
            </a:r>
          </a:p>
        </p:txBody>
      </p:sp>
      <p:pic>
        <p:nvPicPr>
          <p:cNvPr id="7" name="Content Placeholder 6">
            <a:extLst>
              <a:ext uri="{FF2B5EF4-FFF2-40B4-BE49-F238E27FC236}">
                <a16:creationId xmlns:a16="http://schemas.microsoft.com/office/drawing/2014/main" id="{AB0A741D-8F63-7154-D67D-F7941CB6965A}"/>
              </a:ext>
            </a:extLst>
          </p:cNvPr>
          <p:cNvPicPr>
            <a:picLocks noGrp="1" noChangeAspect="1"/>
          </p:cNvPicPr>
          <p:nvPr>
            <p:ph sz="half" idx="1"/>
          </p:nvPr>
        </p:nvPicPr>
        <p:blipFill>
          <a:blip r:embed="rId2"/>
          <a:stretch>
            <a:fillRect/>
          </a:stretch>
        </p:blipFill>
        <p:spPr>
          <a:xfrm>
            <a:off x="640080" y="2367280"/>
            <a:ext cx="5354320" cy="3832352"/>
          </a:xfrm>
          <a:prstGeom prst="rect">
            <a:avLst/>
          </a:prstGeom>
        </p:spPr>
      </p:pic>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00D876F-ECC4-C027-3CBD-5B5BAB65DA47}"/>
                  </a:ext>
                </a:extLst>
              </p:cNvPr>
              <p:cNvSpPr>
                <a:spLocks noGrp="1"/>
              </p:cNvSpPr>
              <p:nvPr>
                <p:ph sz="half" idx="2"/>
              </p:nvPr>
            </p:nvSpPr>
            <p:spPr/>
            <p:txBody>
              <a:bodyPr/>
              <a:lstStyle/>
              <a:p>
                <a:r>
                  <a:rPr lang="en-US" dirty="0"/>
                  <a:t>Basic operation= comparison </a:t>
                </a:r>
              </a:p>
              <a:p>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nary>
                      <m:naryPr>
                        <m:chr m:val="∑"/>
                        <m:limLoc m:val="undOvr"/>
                        <m:grow m:val="on"/>
                        <m:ctrlPr>
                          <a:rPr lang="en-US" i="1" dirty="0" smtClean="0">
                            <a:latin typeface="Cambria Math" panose="02040503050406030204" pitchFamily="18" charset="0"/>
                          </a:rPr>
                        </m:ctrlPr>
                      </m:naryPr>
                      <m:sub>
                        <m:r>
                          <a:rPr lang="en-US" i="1" dirty="0">
                            <a:latin typeface="Cambria Math" panose="02040503050406030204" pitchFamily="18" charset="0"/>
                          </a:rPr>
                          <m:t>𝑖</m:t>
                        </m:r>
                        <m:r>
                          <a:rPr lang="en-US" i="0" dirty="0">
                            <a:latin typeface="Cambria Math" panose="02040503050406030204" pitchFamily="18" charset="0"/>
                          </a:rPr>
                          <m:t>=0</m:t>
                        </m:r>
                      </m:sub>
                      <m:sup>
                        <m:r>
                          <a:rPr lang="en-US" i="1" dirty="0">
                            <a:latin typeface="Cambria Math" panose="02040503050406030204" pitchFamily="18" charset="0"/>
                          </a:rPr>
                          <m:t>𝑛</m:t>
                        </m:r>
                        <m:r>
                          <a:rPr lang="en-US" i="0" dirty="0">
                            <a:latin typeface="Cambria Math" panose="02040503050406030204" pitchFamily="18" charset="0"/>
                          </a:rPr>
                          <m:t>−</m:t>
                        </m:r>
                        <m:r>
                          <a:rPr lang="en-US" b="0" i="1" dirty="0" smtClean="0">
                            <a:latin typeface="Cambria Math" panose="02040503050406030204" pitchFamily="18" charset="0"/>
                          </a:rPr>
                          <m:t>1</m:t>
                        </m:r>
                      </m:sup>
                      <m:e>
                        <m:nary>
                          <m:naryPr>
                            <m:chr m:val="∑"/>
                            <m:ctrlPr>
                              <a:rPr lang="en-US" i="1" dirty="0" smtClean="0">
                                <a:latin typeface="Cambria Math" panose="02040503050406030204" pitchFamily="18" charset="0"/>
                              </a:rPr>
                            </m:ctrlPr>
                          </m:naryPr>
                          <m:sub>
                            <m:r>
                              <m:rPr>
                                <m:brk m:alnAt="23"/>
                              </m:rPr>
                              <a:rPr lang="en-US" b="0" i="1" dirty="0" smtClean="0">
                                <a:latin typeface="Cambria Math" panose="02040503050406030204" pitchFamily="18" charset="0"/>
                              </a:rPr>
                              <m:t>𝑗</m:t>
                            </m:r>
                            <m:r>
                              <a:rPr lang="en-US" b="0" i="1" dirty="0" smtClean="0">
                                <a:latin typeface="Cambria Math" panose="02040503050406030204" pitchFamily="18" charset="0"/>
                              </a:rPr>
                              <m:t>=</m:t>
                            </m:r>
                            <m:r>
                              <a:rPr lang="en-US" b="0" i="1" dirty="0" smtClean="0">
                                <a:latin typeface="Cambria Math" panose="02040503050406030204" pitchFamily="18" charset="0"/>
                              </a:rPr>
                              <m:t>𝑖</m:t>
                            </m:r>
                            <m:r>
                              <a:rPr lang="en-US" b="0" i="1" dirty="0" smtClean="0">
                                <a:latin typeface="Cambria Math" panose="02040503050406030204" pitchFamily="18" charset="0"/>
                              </a:rPr>
                              <m:t>+1</m:t>
                            </m:r>
                          </m:sub>
                          <m:sup>
                            <m:r>
                              <a:rPr lang="en-US" b="0" i="1" dirty="0" smtClean="0">
                                <a:latin typeface="Cambria Math" panose="02040503050406030204" pitchFamily="18" charset="0"/>
                              </a:rPr>
                              <m:t>𝑛</m:t>
                            </m:r>
                            <m:r>
                              <a:rPr lang="en-US" b="0" i="1" dirty="0" smtClean="0">
                                <a:latin typeface="Cambria Math" panose="02040503050406030204" pitchFamily="18" charset="0"/>
                              </a:rPr>
                              <m:t>−2</m:t>
                            </m:r>
                          </m:sup>
                          <m:e>
                            <m:r>
                              <a:rPr lang="en-US" b="0" i="1" dirty="0" smtClean="0">
                                <a:latin typeface="Cambria Math" panose="02040503050406030204" pitchFamily="18" charset="0"/>
                              </a:rPr>
                              <m:t>1</m:t>
                            </m:r>
                          </m:e>
                        </m:nary>
                      </m:e>
                    </m:nary>
                    <m:r>
                      <a:rPr lang="en-US" b="0" i="1" dirty="0" smtClean="0">
                        <a:latin typeface="Cambria Math" panose="02040503050406030204" pitchFamily="18" charset="0"/>
                      </a:rPr>
                      <m:t>=</m:t>
                    </m:r>
                    <m:nary>
                      <m:naryPr>
                        <m:chr m:val="∑"/>
                        <m:limLoc m:val="undOvr"/>
                        <m:grow m:val="on"/>
                        <m:ctrlPr>
                          <a:rPr lang="en-US" i="1" dirty="0">
                            <a:latin typeface="Cambria Math" panose="02040503050406030204" pitchFamily="18" charset="0"/>
                          </a:rPr>
                        </m:ctrlPr>
                      </m:naryPr>
                      <m:sub>
                        <m:r>
                          <a:rPr lang="en-US" i="1" dirty="0">
                            <a:latin typeface="Cambria Math" panose="02040503050406030204" pitchFamily="18" charset="0"/>
                          </a:rPr>
                          <m:t>𝑖</m:t>
                        </m:r>
                        <m:r>
                          <a:rPr lang="en-US" dirty="0">
                            <a:latin typeface="Cambria Math" panose="02040503050406030204" pitchFamily="18" charset="0"/>
                          </a:rPr>
                          <m:t>=0</m:t>
                        </m:r>
                      </m:sub>
                      <m:sup>
                        <m:r>
                          <a:rPr lang="en-US" i="1" dirty="0">
                            <a:latin typeface="Cambria Math" panose="02040503050406030204" pitchFamily="18" charset="0"/>
                          </a:rPr>
                          <m:t>𝑛</m:t>
                        </m:r>
                        <m:r>
                          <a:rPr lang="en-US" dirty="0">
                            <a:latin typeface="Cambria Math" panose="02040503050406030204" pitchFamily="18" charset="0"/>
                          </a:rPr>
                          <m:t>−</m:t>
                        </m:r>
                        <m:r>
                          <a:rPr lang="en-US" i="1" dirty="0">
                            <a:latin typeface="Cambria Math" panose="02040503050406030204" pitchFamily="18" charset="0"/>
                          </a:rPr>
                          <m:t>1</m:t>
                        </m:r>
                      </m:sup>
                      <m:e>
                        <m:r>
                          <a:rPr lang="en-US" i="1" dirty="0">
                            <a:latin typeface="Cambria Math" panose="02040503050406030204" pitchFamily="18" charset="0"/>
                          </a:rPr>
                          <m:t>𝑛</m:t>
                        </m:r>
                        <m:r>
                          <a:rPr lang="en-US" i="1" dirty="0">
                            <a:latin typeface="Cambria Math" panose="02040503050406030204" pitchFamily="18" charset="0"/>
                          </a:rPr>
                          <m:t>−1−</m:t>
                        </m:r>
                        <m:d>
                          <m:dPr>
                            <m:ctrlPr>
                              <a:rPr lang="en-US" i="1" dirty="0">
                                <a:latin typeface="Cambria Math" panose="02040503050406030204" pitchFamily="18" charset="0"/>
                              </a:rPr>
                            </m:ctrlPr>
                          </m:dPr>
                          <m:e>
                            <m:r>
                              <a:rPr lang="en-US" i="1" dirty="0">
                                <a:latin typeface="Cambria Math" panose="02040503050406030204" pitchFamily="18" charset="0"/>
                              </a:rPr>
                              <m:t>𝑖</m:t>
                            </m:r>
                            <m:r>
                              <a:rPr lang="en-US" i="1" dirty="0">
                                <a:latin typeface="Cambria Math" panose="02040503050406030204" pitchFamily="18" charset="0"/>
                              </a:rPr>
                              <m:t>+1</m:t>
                            </m:r>
                          </m:e>
                        </m:d>
                        <m:r>
                          <a:rPr lang="en-US" i="1" dirty="0">
                            <a:latin typeface="Cambria Math" panose="02040503050406030204" pitchFamily="18" charset="0"/>
                          </a:rPr>
                          <m:t>+1</m:t>
                        </m:r>
                      </m:e>
                    </m:nary>
                    <m:r>
                      <a:rPr lang="en-US" b="0" i="1" dirty="0" smtClean="0">
                        <a:latin typeface="Cambria Math" panose="02040503050406030204" pitchFamily="18" charset="0"/>
                      </a:rPr>
                      <m:t>=</m:t>
                    </m:r>
                  </m:oMath>
                </a14:m>
                <a:r>
                  <a:rPr lang="en-US" dirty="0"/>
                  <a:t> </a:t>
                </a:r>
                <a14:m>
                  <m:oMath xmlns:m="http://schemas.openxmlformats.org/officeDocument/2006/math">
                    <m:nary>
                      <m:naryPr>
                        <m:chr m:val="∑"/>
                        <m:limLoc m:val="undOvr"/>
                        <m:grow m:val="on"/>
                        <m:ctrlPr>
                          <a:rPr lang="en-US" i="1" dirty="0">
                            <a:latin typeface="Cambria Math" panose="02040503050406030204" pitchFamily="18" charset="0"/>
                          </a:rPr>
                        </m:ctrlPr>
                      </m:naryPr>
                      <m:sub>
                        <m:r>
                          <a:rPr lang="en-US" i="1" dirty="0">
                            <a:latin typeface="Cambria Math" panose="02040503050406030204" pitchFamily="18" charset="0"/>
                          </a:rPr>
                          <m:t>𝑖</m:t>
                        </m:r>
                        <m:r>
                          <a:rPr lang="en-US" dirty="0">
                            <a:latin typeface="Cambria Math" panose="02040503050406030204" pitchFamily="18" charset="0"/>
                          </a:rPr>
                          <m:t>=0</m:t>
                        </m:r>
                      </m:sub>
                      <m:sup>
                        <m:r>
                          <a:rPr lang="en-US" i="1" dirty="0">
                            <a:latin typeface="Cambria Math" panose="02040503050406030204" pitchFamily="18" charset="0"/>
                          </a:rPr>
                          <m:t>𝑛</m:t>
                        </m:r>
                        <m:r>
                          <a:rPr lang="en-US" dirty="0">
                            <a:latin typeface="Cambria Math" panose="02040503050406030204" pitchFamily="18" charset="0"/>
                          </a:rPr>
                          <m:t>−</m:t>
                        </m:r>
                        <m:r>
                          <a:rPr lang="en-US" i="1" dirty="0">
                            <a:latin typeface="Cambria Math" panose="02040503050406030204" pitchFamily="18" charset="0"/>
                          </a:rPr>
                          <m:t>1</m:t>
                        </m:r>
                      </m:sup>
                      <m:e>
                        <m:r>
                          <a:rPr lang="en-US" i="1" dirty="0">
                            <a:latin typeface="Cambria Math" panose="02040503050406030204" pitchFamily="18" charset="0"/>
                          </a:rPr>
                          <m:t>𝑛</m:t>
                        </m:r>
                        <m:r>
                          <a:rPr lang="en-US" i="1" dirty="0">
                            <a:latin typeface="Cambria Math" panose="02040503050406030204" pitchFamily="18" charset="0"/>
                          </a:rPr>
                          <m:t>−1−</m:t>
                        </m:r>
                        <m:r>
                          <a:rPr lang="en-US" b="0" i="1" dirty="0" smtClean="0">
                            <a:latin typeface="Cambria Math" panose="02040503050406030204" pitchFamily="18" charset="0"/>
                          </a:rPr>
                          <m:t>𝑖</m:t>
                        </m:r>
                      </m:e>
                    </m:nary>
                  </m:oMath>
                </a14:m>
                <a:endParaRPr lang="en-US" dirty="0"/>
              </a:p>
              <a:p>
                <a:r>
                  <a:rPr lang="en-US" dirty="0"/>
                  <a:t>First= n-2 last= n-1-n+1=0   size= n</a:t>
                </a:r>
              </a:p>
              <a:p>
                <a:r>
                  <a:rPr lang="en-US" dirty="0"/>
                  <a:t>T(n)=</a:t>
                </a:r>
                <a14:m>
                  <m:oMath xmlns:m="http://schemas.openxmlformats.org/officeDocument/2006/math">
                    <m:f>
                      <m:fPr>
                        <m:ctrlPr>
                          <a:rPr lang="en-US" i="1" smtClean="0">
                            <a:latin typeface="Cambria Math" panose="02040503050406030204" pitchFamily="18" charset="0"/>
                          </a:rPr>
                        </m:ctrlPr>
                      </m:fPr>
                      <m:num>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−2+0</m:t>
                            </m:r>
                          </m:e>
                        </m:d>
                        <m:r>
                          <a:rPr lang="en-US" b="0" i="1" smtClean="0">
                            <a:latin typeface="Cambria Math" panose="02040503050406030204" pitchFamily="18" charset="0"/>
                          </a:rPr>
                          <m:t>𝑛</m:t>
                        </m:r>
                        <m:r>
                          <a:rPr lang="en-US" b="0" i="1" smtClean="0">
                            <a:latin typeface="Cambria Math" panose="02040503050406030204" pitchFamily="18" charset="0"/>
                          </a:rPr>
                          <m:t> </m:t>
                        </m:r>
                      </m:num>
                      <m:den>
                        <m:r>
                          <a:rPr lang="en-US" b="0" i="1" smtClean="0">
                            <a:latin typeface="Cambria Math" panose="02040503050406030204" pitchFamily="18" charset="0"/>
                          </a:rPr>
                          <m:t>2</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−2</m:t>
                        </m:r>
                        <m:r>
                          <a:rPr lang="en-US" b="0" i="1" smtClean="0">
                            <a:latin typeface="Cambria Math" panose="02040503050406030204" pitchFamily="18" charset="0"/>
                          </a:rPr>
                          <m:t>𝑛</m:t>
                        </m:r>
                      </m:num>
                      <m:den>
                        <m:r>
                          <a:rPr lang="en-US" b="0" i="1" smtClean="0">
                            <a:latin typeface="Cambria Math" panose="02040503050406030204" pitchFamily="18" charset="0"/>
                          </a:rPr>
                          <m:t>2</m:t>
                        </m:r>
                      </m:den>
                    </m:f>
                    <m:r>
                      <a:rPr lang="en-US" b="0" i="1" smtClean="0">
                        <a:latin typeface="Cambria Math" panose="02040503050406030204" pitchFamily="18" charset="0"/>
                      </a:rPr>
                      <m:t>                 </m:t>
                    </m:r>
                    <m:r>
                      <m:rPr>
                        <m:sty m:val="p"/>
                      </m:rPr>
                      <a:rPr lang="el-GR" b="0" i="1" smtClean="0">
                        <a:latin typeface="Cambria Math" panose="02040503050406030204" pitchFamily="18" charset="0"/>
                      </a:rPr>
                      <m:t>ϴ</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e>
                    </m:d>
                    <m:r>
                      <a:rPr lang="en-US" b="0" i="1" smtClean="0">
                        <a:latin typeface="Cambria Math" panose="02040503050406030204" pitchFamily="18" charset="0"/>
                      </a:rPr>
                      <m:t> </m:t>
                    </m:r>
                  </m:oMath>
                </a14:m>
                <a:endParaRPr lang="en-US" dirty="0"/>
              </a:p>
            </p:txBody>
          </p:sp>
        </mc:Choice>
        <mc:Fallback xmlns="">
          <p:sp>
            <p:nvSpPr>
              <p:cNvPr id="4" name="Content Placeholder 3">
                <a:extLst>
                  <a:ext uri="{FF2B5EF4-FFF2-40B4-BE49-F238E27FC236}">
                    <a16:creationId xmlns:a16="http://schemas.microsoft.com/office/drawing/2014/main" id="{700D876F-ECC4-C027-3CBD-5B5BAB65DA47}"/>
                  </a:ext>
                </a:extLst>
              </p:cNvPr>
              <p:cNvSpPr>
                <a:spLocks noGrp="1" noRot="1" noChangeAspect="1" noMove="1" noResize="1" noEditPoints="1" noAdjustHandles="1" noChangeArrowheads="1" noChangeShapeType="1" noTextEdit="1"/>
              </p:cNvSpPr>
              <p:nvPr>
                <p:ph sz="half" idx="2"/>
              </p:nvPr>
            </p:nvSpPr>
            <p:spPr>
              <a:blipFill>
                <a:blip r:embed="rId3"/>
                <a:stretch>
                  <a:fillRect l="-702" t="-171"/>
                </a:stretch>
              </a:blipFill>
            </p:spPr>
            <p:txBody>
              <a:bodyPr/>
              <a:lstStyle/>
              <a:p>
                <a:r>
                  <a:rPr lang="en-US">
                    <a:noFill/>
                  </a:rPr>
                  <a:t> </a:t>
                </a:r>
              </a:p>
            </p:txBody>
          </p:sp>
        </mc:Fallback>
      </mc:AlternateContent>
    </p:spTree>
    <p:extLst>
      <p:ext uri="{BB962C8B-B14F-4D97-AF65-F5344CB8AC3E}">
        <p14:creationId xmlns:p14="http://schemas.microsoft.com/office/powerpoint/2010/main" val="4178581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2403C-5C93-4BF3-B64E-3FA21130F6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CF353E-8D28-648B-8C8C-F4F32026A7F5}"/>
              </a:ext>
            </a:extLst>
          </p:cNvPr>
          <p:cNvSpPr>
            <a:spLocks noGrp="1"/>
          </p:cNvSpPr>
          <p:nvPr>
            <p:ph type="title"/>
          </p:nvPr>
        </p:nvSpPr>
        <p:spPr>
          <a:xfrm>
            <a:off x="640080" y="1371600"/>
            <a:ext cx="4670661" cy="3030842"/>
          </a:xfrm>
        </p:spPr>
        <p:txBody>
          <a:bodyPr vert="horz" lIns="91440" tIns="45720" rIns="91440" bIns="45720" rtlCol="0" anchor="t">
            <a:normAutofit/>
          </a:bodyPr>
          <a:lstStyle/>
          <a:p>
            <a:pPr>
              <a:lnSpc>
                <a:spcPct val="90000"/>
              </a:lnSpc>
            </a:pPr>
            <a:r>
              <a:rPr lang="en-US" sz="5400" dirty="0"/>
              <a:t>Horspool’s Algorithm</a:t>
            </a:r>
            <a:br>
              <a:rPr lang="en-US" sz="5000" b="1" kern="1200" dirty="0">
                <a:solidFill>
                  <a:schemeClr val="tx1"/>
                </a:solidFill>
                <a:latin typeface="+mj-lt"/>
                <a:ea typeface="+mj-ea"/>
                <a:cs typeface="+mj-cs"/>
              </a:rPr>
            </a:br>
            <a:br>
              <a:rPr lang="en-US" sz="5000" b="1" kern="1200" dirty="0">
                <a:solidFill>
                  <a:schemeClr val="tx1"/>
                </a:solidFill>
                <a:latin typeface="+mj-lt"/>
                <a:ea typeface="+mj-ea"/>
                <a:cs typeface="+mj-cs"/>
              </a:rPr>
            </a:br>
            <a:endParaRPr lang="en-US" sz="5000" b="1" kern="1200" dirty="0">
              <a:solidFill>
                <a:schemeClr val="tx1"/>
              </a:solidFill>
              <a:latin typeface="+mj-lt"/>
              <a:ea typeface="+mj-ea"/>
              <a:cs typeface="+mj-cs"/>
            </a:endParaRPr>
          </a:p>
        </p:txBody>
      </p:sp>
      <p:pic>
        <p:nvPicPr>
          <p:cNvPr id="4" name="Picture 3" descr="Aqua and green fractal background like floral petal">
            <a:extLst>
              <a:ext uri="{FF2B5EF4-FFF2-40B4-BE49-F238E27FC236}">
                <a16:creationId xmlns:a16="http://schemas.microsoft.com/office/drawing/2014/main" id="{5D78AC8A-A006-A4A4-C918-5314E41D8CF4}"/>
              </a:ext>
            </a:extLst>
          </p:cNvPr>
          <p:cNvPicPr>
            <a:picLocks noChangeAspect="1"/>
          </p:cNvPicPr>
          <p:nvPr/>
        </p:nvPicPr>
        <p:blipFill>
          <a:blip r:embed="rId2"/>
          <a:srcRect l="13395" r="24521"/>
          <a:stretch>
            <a:fillRect/>
          </a:stretch>
        </p:blipFill>
        <p:spPr>
          <a:xfrm>
            <a:off x="6515100" y="10"/>
            <a:ext cx="5676900" cy="6857990"/>
          </a:xfrm>
          <a:prstGeom prst="rect">
            <a:avLst/>
          </a:prstGeom>
        </p:spPr>
      </p:pic>
    </p:spTree>
    <p:extLst>
      <p:ext uri="{BB962C8B-B14F-4D97-AF65-F5344CB8AC3E}">
        <p14:creationId xmlns:p14="http://schemas.microsoft.com/office/powerpoint/2010/main" val="2271056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4D343-5C19-1CEC-7C41-ACDCBB4F6D9A}"/>
              </a:ext>
            </a:extLst>
          </p:cNvPr>
          <p:cNvSpPr>
            <a:spLocks noGrp="1"/>
          </p:cNvSpPr>
          <p:nvPr>
            <p:ph type="title"/>
          </p:nvPr>
        </p:nvSpPr>
        <p:spPr/>
        <p:txBody>
          <a:bodyPr/>
          <a:lstStyle/>
          <a:p>
            <a:r>
              <a:rPr lang="en-US" dirty="0"/>
              <a:t>Horspool’s algorithm</a:t>
            </a:r>
          </a:p>
        </p:txBody>
      </p:sp>
      <p:sp>
        <p:nvSpPr>
          <p:cNvPr id="3" name="Content Placeholder 2">
            <a:extLst>
              <a:ext uri="{FF2B5EF4-FFF2-40B4-BE49-F238E27FC236}">
                <a16:creationId xmlns:a16="http://schemas.microsoft.com/office/drawing/2014/main" id="{CB2898C3-DC49-6CDC-509A-A4257E231637}"/>
              </a:ext>
            </a:extLst>
          </p:cNvPr>
          <p:cNvSpPr>
            <a:spLocks noGrp="1"/>
          </p:cNvSpPr>
          <p:nvPr>
            <p:ph idx="1"/>
          </p:nvPr>
        </p:nvSpPr>
        <p:spPr/>
        <p:txBody>
          <a:bodyPr>
            <a:normAutofit/>
          </a:bodyPr>
          <a:lstStyle/>
          <a:p>
            <a:r>
              <a:rPr lang="en-US" dirty="0"/>
              <a:t>Before looking at the text, the algorithm analyzes the </a:t>
            </a:r>
            <a:r>
              <a:rPr lang="en-US" b="1" dirty="0"/>
              <a:t>pattern</a:t>
            </a:r>
            <a:r>
              <a:rPr lang="en-US" dirty="0"/>
              <a:t> and creates a shift table. This table tells the algorithm exactly how many positions to jump ahead based on the character in the text that aligns with the </a:t>
            </a:r>
            <a:r>
              <a:rPr lang="en-US" i="1" dirty="0"/>
              <a:t>last</a:t>
            </a:r>
            <a:r>
              <a:rPr lang="en-US" dirty="0"/>
              <a:t> character of your pattern</a:t>
            </a:r>
          </a:p>
          <a:p>
            <a:r>
              <a:rPr lang="en-US" dirty="0"/>
              <a:t>The algorithm aligns the pattern with the start of the text but, crucially, it compares characters from </a:t>
            </a:r>
            <a:r>
              <a:rPr lang="en-US" b="1" dirty="0"/>
              <a:t>right to left</a:t>
            </a:r>
          </a:p>
          <a:p>
            <a:r>
              <a:rPr lang="en-US" dirty="0"/>
              <a:t>When a mismatch occurs (or even after a match is found), the algorithm doesn't just move one step. It looks at the character in the text that was aligned with the pattern's tail, checks your shift table, and "slides" the pattern forward by that amount.</a:t>
            </a:r>
          </a:p>
        </p:txBody>
      </p:sp>
    </p:spTree>
    <p:extLst>
      <p:ext uri="{BB962C8B-B14F-4D97-AF65-F5344CB8AC3E}">
        <p14:creationId xmlns:p14="http://schemas.microsoft.com/office/powerpoint/2010/main" val="2298704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86CB4-05E0-2694-48A5-3ADA2C848E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0F76BF-1C2E-5D63-0187-FE0844868F76}"/>
              </a:ext>
            </a:extLst>
          </p:cNvPr>
          <p:cNvSpPr>
            <a:spLocks noGrp="1"/>
          </p:cNvSpPr>
          <p:nvPr>
            <p:ph type="title"/>
          </p:nvPr>
        </p:nvSpPr>
        <p:spPr/>
        <p:txBody>
          <a:bodyPr/>
          <a:lstStyle/>
          <a:p>
            <a:r>
              <a:rPr lang="en-US" dirty="0"/>
              <a:t>Horspool’s algorithm</a:t>
            </a:r>
          </a:p>
        </p:txBody>
      </p:sp>
      <p:sp>
        <p:nvSpPr>
          <p:cNvPr id="3" name="Content Placeholder 2">
            <a:extLst>
              <a:ext uri="{FF2B5EF4-FFF2-40B4-BE49-F238E27FC236}">
                <a16:creationId xmlns:a16="http://schemas.microsoft.com/office/drawing/2014/main" id="{898F2F9B-C610-AAAD-DAFF-0CCFA6E3022F}"/>
              </a:ext>
            </a:extLst>
          </p:cNvPr>
          <p:cNvSpPr>
            <a:spLocks noGrp="1"/>
          </p:cNvSpPr>
          <p:nvPr>
            <p:ph idx="1"/>
          </p:nvPr>
        </p:nvSpPr>
        <p:spPr/>
        <p:txBody>
          <a:bodyPr>
            <a:normAutofit/>
          </a:bodyPr>
          <a:lstStyle/>
          <a:p>
            <a:r>
              <a:rPr lang="en-US" dirty="0"/>
              <a:t>The rule for constructing the shifting table </a:t>
            </a:r>
          </a:p>
          <a:p>
            <a:endParaRPr lang="en-US" dirty="0"/>
          </a:p>
        </p:txBody>
      </p:sp>
      <p:pic>
        <p:nvPicPr>
          <p:cNvPr id="5" name="Picture 4">
            <a:extLst>
              <a:ext uri="{FF2B5EF4-FFF2-40B4-BE49-F238E27FC236}">
                <a16:creationId xmlns:a16="http://schemas.microsoft.com/office/drawing/2014/main" id="{040EBE75-9955-8ABD-0A1C-4933823CC759}"/>
              </a:ext>
            </a:extLst>
          </p:cNvPr>
          <p:cNvPicPr>
            <a:picLocks noChangeAspect="1"/>
          </p:cNvPicPr>
          <p:nvPr/>
        </p:nvPicPr>
        <p:blipFill>
          <a:blip r:embed="rId2"/>
          <a:stretch>
            <a:fillRect/>
          </a:stretch>
        </p:blipFill>
        <p:spPr>
          <a:xfrm>
            <a:off x="1161535" y="3633498"/>
            <a:ext cx="8686799" cy="1566107"/>
          </a:xfrm>
          <a:prstGeom prst="rect">
            <a:avLst/>
          </a:prstGeom>
        </p:spPr>
      </p:pic>
    </p:spTree>
    <p:extLst>
      <p:ext uri="{BB962C8B-B14F-4D97-AF65-F5344CB8AC3E}">
        <p14:creationId xmlns:p14="http://schemas.microsoft.com/office/powerpoint/2010/main" val="3114634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86DA1-E7B4-9361-46A2-8506C633A3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E30215-4682-3AA9-06FA-6520DFF13894}"/>
              </a:ext>
            </a:extLst>
          </p:cNvPr>
          <p:cNvSpPr>
            <a:spLocks noGrp="1"/>
          </p:cNvSpPr>
          <p:nvPr>
            <p:ph type="title"/>
          </p:nvPr>
        </p:nvSpPr>
        <p:spPr/>
        <p:txBody>
          <a:bodyPr/>
          <a:lstStyle/>
          <a:p>
            <a:r>
              <a:rPr lang="en-US" dirty="0"/>
              <a:t>Horspool’s algorithm</a:t>
            </a:r>
          </a:p>
        </p:txBody>
      </p:sp>
      <p:pic>
        <p:nvPicPr>
          <p:cNvPr id="7" name="Content Placeholder 6">
            <a:extLst>
              <a:ext uri="{FF2B5EF4-FFF2-40B4-BE49-F238E27FC236}">
                <a16:creationId xmlns:a16="http://schemas.microsoft.com/office/drawing/2014/main" id="{314DBEEB-0415-C3CB-93A5-2EE939C2D7D0}"/>
              </a:ext>
            </a:extLst>
          </p:cNvPr>
          <p:cNvPicPr>
            <a:picLocks noGrp="1" noChangeAspect="1"/>
          </p:cNvPicPr>
          <p:nvPr>
            <p:ph sz="half" idx="1"/>
          </p:nvPr>
        </p:nvPicPr>
        <p:blipFill>
          <a:blip r:embed="rId2"/>
          <a:stretch>
            <a:fillRect/>
          </a:stretch>
        </p:blipFill>
        <p:spPr>
          <a:xfrm>
            <a:off x="640079" y="2633472"/>
            <a:ext cx="5212079" cy="3198917"/>
          </a:xfrm>
          <a:prstGeom prst="rect">
            <a:avLst/>
          </a:prstGeom>
        </p:spPr>
      </p:pic>
      <p:sp>
        <p:nvSpPr>
          <p:cNvPr id="5" name="Content Placeholder 4">
            <a:extLst>
              <a:ext uri="{FF2B5EF4-FFF2-40B4-BE49-F238E27FC236}">
                <a16:creationId xmlns:a16="http://schemas.microsoft.com/office/drawing/2014/main" id="{970899AC-76C1-7669-D719-CF4EFB4DDCF3}"/>
              </a:ext>
            </a:extLst>
          </p:cNvPr>
          <p:cNvSpPr>
            <a:spLocks noGrp="1"/>
          </p:cNvSpPr>
          <p:nvPr>
            <p:ph sz="half" idx="2"/>
          </p:nvPr>
        </p:nvSpPr>
        <p:spPr/>
        <p:txBody>
          <a:bodyPr/>
          <a:lstStyle/>
          <a:p>
            <a:r>
              <a:rPr lang="en-US" dirty="0"/>
              <a:t>Consider, as an example, searching for the pattern BARBER in some text</a:t>
            </a:r>
          </a:p>
          <a:p>
            <a:endParaRPr lang="en-US" dirty="0"/>
          </a:p>
        </p:txBody>
      </p:sp>
      <p:pic>
        <p:nvPicPr>
          <p:cNvPr id="9" name="Picture 8">
            <a:extLst>
              <a:ext uri="{FF2B5EF4-FFF2-40B4-BE49-F238E27FC236}">
                <a16:creationId xmlns:a16="http://schemas.microsoft.com/office/drawing/2014/main" id="{A836CD69-A2FB-0693-0DF2-C775E375F504}"/>
              </a:ext>
            </a:extLst>
          </p:cNvPr>
          <p:cNvPicPr>
            <a:picLocks noChangeAspect="1"/>
          </p:cNvPicPr>
          <p:nvPr/>
        </p:nvPicPr>
        <p:blipFill>
          <a:blip r:embed="rId3"/>
          <a:stretch>
            <a:fillRect/>
          </a:stretch>
        </p:blipFill>
        <p:spPr>
          <a:xfrm>
            <a:off x="6454699" y="3857723"/>
            <a:ext cx="5212080" cy="2341909"/>
          </a:xfrm>
          <a:prstGeom prst="rect">
            <a:avLst/>
          </a:prstGeom>
        </p:spPr>
      </p:pic>
    </p:spTree>
    <p:extLst>
      <p:ext uri="{BB962C8B-B14F-4D97-AF65-F5344CB8AC3E}">
        <p14:creationId xmlns:p14="http://schemas.microsoft.com/office/powerpoint/2010/main" val="4008600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C5267-1405-2B1B-DB99-57DC59EDF5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3C57A0-2BCE-C73A-F618-94EAC946AFB0}"/>
              </a:ext>
            </a:extLst>
          </p:cNvPr>
          <p:cNvSpPr>
            <a:spLocks noGrp="1"/>
          </p:cNvSpPr>
          <p:nvPr>
            <p:ph type="title"/>
          </p:nvPr>
        </p:nvSpPr>
        <p:spPr/>
        <p:txBody>
          <a:bodyPr/>
          <a:lstStyle/>
          <a:p>
            <a:r>
              <a:rPr lang="en-US" dirty="0"/>
              <a:t>Horspool’s algorithm</a:t>
            </a:r>
          </a:p>
        </p:txBody>
      </p:sp>
      <p:sp>
        <p:nvSpPr>
          <p:cNvPr id="3" name="Content Placeholder 2">
            <a:extLst>
              <a:ext uri="{FF2B5EF4-FFF2-40B4-BE49-F238E27FC236}">
                <a16:creationId xmlns:a16="http://schemas.microsoft.com/office/drawing/2014/main" id="{0D79566E-B636-4E41-2FC5-05AF85DA25F3}"/>
              </a:ext>
            </a:extLst>
          </p:cNvPr>
          <p:cNvSpPr>
            <a:spLocks noGrp="1"/>
          </p:cNvSpPr>
          <p:nvPr>
            <p:ph idx="1"/>
          </p:nvPr>
        </p:nvSpPr>
        <p:spPr/>
        <p:txBody>
          <a:bodyPr>
            <a:normAutofit fontScale="85000" lnSpcReduction="10000"/>
          </a:bodyPr>
          <a:lstStyle/>
          <a:p>
            <a:r>
              <a:rPr lang="en-US" dirty="0"/>
              <a:t>Horspool’s algorithm </a:t>
            </a:r>
          </a:p>
          <a:p>
            <a:r>
              <a:rPr lang="en-US" b="1" dirty="0"/>
              <a:t>Step 1</a:t>
            </a:r>
            <a:r>
              <a:rPr lang="en-US" dirty="0"/>
              <a:t> For a given pattern of length m and the alphabet used in both the pattern and text, construct the shift table as described above. </a:t>
            </a:r>
          </a:p>
          <a:p>
            <a:r>
              <a:rPr lang="en-US" b="1" dirty="0"/>
              <a:t>Step 2 </a:t>
            </a:r>
            <a:r>
              <a:rPr lang="en-US" dirty="0"/>
              <a:t>Align the pattern against the beginning of the text. </a:t>
            </a:r>
          </a:p>
          <a:p>
            <a:r>
              <a:rPr lang="en-US" b="1" dirty="0"/>
              <a:t>Step 3</a:t>
            </a:r>
            <a:r>
              <a:rPr lang="en-US" dirty="0"/>
              <a:t> Repeat the following until either a matching substring is found or the pattern reaches beyond the last character of the text. </a:t>
            </a:r>
          </a:p>
          <a:p>
            <a:pPr lvl="1"/>
            <a:r>
              <a:rPr lang="en-US" dirty="0"/>
              <a:t>Starting with the last character in the pattern, compare the corresponding characters in the pattern and text until either all m characters are matched (then stop) or a mismatching pair is encountered. </a:t>
            </a:r>
          </a:p>
          <a:p>
            <a:pPr lvl="1"/>
            <a:r>
              <a:rPr lang="en-US" dirty="0"/>
              <a:t>In the latter case, retrieve the entry t(c)from the c’s column of the shift table where c is the text’s character currently aligned against the last character of the pattern, and shift the pattern by t(c) characters to the right along the text.</a:t>
            </a:r>
          </a:p>
        </p:txBody>
      </p:sp>
    </p:spTree>
    <p:extLst>
      <p:ext uri="{BB962C8B-B14F-4D97-AF65-F5344CB8AC3E}">
        <p14:creationId xmlns:p14="http://schemas.microsoft.com/office/powerpoint/2010/main" val="886585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9FD28-12F2-C7A2-F199-93E14BA0DE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1BA550-5496-1823-A758-DE2BBF13FF92}"/>
              </a:ext>
            </a:extLst>
          </p:cNvPr>
          <p:cNvSpPr>
            <a:spLocks noGrp="1"/>
          </p:cNvSpPr>
          <p:nvPr>
            <p:ph type="title"/>
          </p:nvPr>
        </p:nvSpPr>
        <p:spPr/>
        <p:txBody>
          <a:bodyPr/>
          <a:lstStyle/>
          <a:p>
            <a:r>
              <a:rPr lang="en-US" dirty="0"/>
              <a:t>Horspool’s algorithm</a:t>
            </a:r>
          </a:p>
        </p:txBody>
      </p:sp>
      <p:pic>
        <p:nvPicPr>
          <p:cNvPr id="5" name="Content Placeholder 4">
            <a:extLst>
              <a:ext uri="{FF2B5EF4-FFF2-40B4-BE49-F238E27FC236}">
                <a16:creationId xmlns:a16="http://schemas.microsoft.com/office/drawing/2014/main" id="{B89606CA-CA66-7974-45E4-2FAF6392A2CD}"/>
              </a:ext>
            </a:extLst>
          </p:cNvPr>
          <p:cNvPicPr>
            <a:picLocks noGrp="1" noChangeAspect="1"/>
          </p:cNvPicPr>
          <p:nvPr>
            <p:ph idx="1"/>
          </p:nvPr>
        </p:nvPicPr>
        <p:blipFill>
          <a:blip r:embed="rId2"/>
          <a:stretch>
            <a:fillRect/>
          </a:stretch>
        </p:blipFill>
        <p:spPr>
          <a:xfrm>
            <a:off x="640079" y="2783840"/>
            <a:ext cx="10890928" cy="2912625"/>
          </a:xfrm>
          <a:prstGeom prst="rect">
            <a:avLst/>
          </a:prstGeom>
        </p:spPr>
      </p:pic>
      <p:pic>
        <p:nvPicPr>
          <p:cNvPr id="6" name="Picture 5">
            <a:extLst>
              <a:ext uri="{FF2B5EF4-FFF2-40B4-BE49-F238E27FC236}">
                <a16:creationId xmlns:a16="http://schemas.microsoft.com/office/drawing/2014/main" id="{1B484D3B-265B-8C14-60FE-6CF026C27140}"/>
              </a:ext>
            </a:extLst>
          </p:cNvPr>
          <p:cNvPicPr>
            <a:picLocks noChangeAspect="1"/>
          </p:cNvPicPr>
          <p:nvPr/>
        </p:nvPicPr>
        <p:blipFill>
          <a:blip r:embed="rId3"/>
          <a:stretch>
            <a:fillRect/>
          </a:stretch>
        </p:blipFill>
        <p:spPr>
          <a:xfrm>
            <a:off x="6318928" y="651666"/>
            <a:ext cx="5212080" cy="2341909"/>
          </a:xfrm>
          <a:prstGeom prst="rect">
            <a:avLst/>
          </a:prstGeom>
        </p:spPr>
      </p:pic>
    </p:spTree>
    <p:extLst>
      <p:ext uri="{BB962C8B-B14F-4D97-AF65-F5344CB8AC3E}">
        <p14:creationId xmlns:p14="http://schemas.microsoft.com/office/powerpoint/2010/main" val="3726755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822C3-235C-FF72-AABE-8C48B084A383}"/>
              </a:ext>
            </a:extLst>
          </p:cNvPr>
          <p:cNvSpPr>
            <a:spLocks noGrp="1"/>
          </p:cNvSpPr>
          <p:nvPr>
            <p:ph type="title"/>
          </p:nvPr>
        </p:nvSpPr>
        <p:spPr/>
        <p:txBody>
          <a:bodyPr/>
          <a:lstStyle/>
          <a:p>
            <a:r>
              <a:rPr lang="en-US" dirty="0"/>
              <a:t>Horspool’s algorithm</a:t>
            </a:r>
          </a:p>
        </p:txBody>
      </p:sp>
      <p:pic>
        <p:nvPicPr>
          <p:cNvPr id="7" name="Content Placeholder 6">
            <a:extLst>
              <a:ext uri="{FF2B5EF4-FFF2-40B4-BE49-F238E27FC236}">
                <a16:creationId xmlns:a16="http://schemas.microsoft.com/office/drawing/2014/main" id="{53547296-8C6F-AAA5-368F-A6BDA33DF252}"/>
              </a:ext>
            </a:extLst>
          </p:cNvPr>
          <p:cNvPicPr>
            <a:picLocks noGrp="1" noChangeAspect="1"/>
          </p:cNvPicPr>
          <p:nvPr>
            <p:ph sz="half" idx="1"/>
          </p:nvPr>
        </p:nvPicPr>
        <p:blipFill>
          <a:blip r:embed="rId2"/>
          <a:stretch>
            <a:fillRect/>
          </a:stretch>
        </p:blipFill>
        <p:spPr>
          <a:xfrm>
            <a:off x="640079" y="2468881"/>
            <a:ext cx="5232994" cy="3845422"/>
          </a:xfrm>
          <a:prstGeom prst="rect">
            <a:avLst/>
          </a:prstGeom>
        </p:spPr>
      </p:pic>
      <p:sp>
        <p:nvSpPr>
          <p:cNvPr id="5" name="Content Placeholder 4">
            <a:extLst>
              <a:ext uri="{FF2B5EF4-FFF2-40B4-BE49-F238E27FC236}">
                <a16:creationId xmlns:a16="http://schemas.microsoft.com/office/drawing/2014/main" id="{F49851C2-622C-25D6-62D9-99DC0A9D16B6}"/>
              </a:ext>
            </a:extLst>
          </p:cNvPr>
          <p:cNvSpPr>
            <a:spLocks noGrp="1"/>
          </p:cNvSpPr>
          <p:nvPr>
            <p:ph sz="half" idx="2"/>
          </p:nvPr>
        </p:nvSpPr>
        <p:spPr/>
        <p:txBody>
          <a:bodyPr/>
          <a:lstStyle/>
          <a:p>
            <a:r>
              <a:rPr lang="en-US" dirty="0"/>
              <a:t>The best case is same as brute force is </a:t>
            </a:r>
            <a:r>
              <a:rPr lang="el-GR" dirty="0"/>
              <a:t>ϴ</a:t>
            </a:r>
            <a:r>
              <a:rPr lang="en-US" dirty="0"/>
              <a:t>(n)</a:t>
            </a:r>
          </a:p>
          <a:p>
            <a:r>
              <a:rPr lang="en-US" dirty="0"/>
              <a:t>The worst case is O(</a:t>
            </a:r>
            <a:r>
              <a:rPr lang="en-US" dirty="0" err="1"/>
              <a:t>n.m</a:t>
            </a:r>
            <a:r>
              <a:rPr lang="en-US" dirty="0"/>
              <a:t>)</a:t>
            </a:r>
          </a:p>
          <a:p>
            <a:r>
              <a:rPr lang="en-US" dirty="0"/>
              <a:t>Why ?</a:t>
            </a:r>
          </a:p>
          <a:p>
            <a:r>
              <a:rPr lang="en-US" dirty="0"/>
              <a:t>Please solve this problem the pattern is ‘</a:t>
            </a:r>
            <a:r>
              <a:rPr lang="en-US" dirty="0" err="1"/>
              <a:t>baaaa</a:t>
            </a:r>
            <a:r>
              <a:rPr lang="en-US" dirty="0"/>
              <a:t>’ and text is ‘</a:t>
            </a:r>
            <a:r>
              <a:rPr lang="en-US" dirty="0" err="1"/>
              <a:t>aaaaaaaaaaaaaaaaaa</a:t>
            </a:r>
            <a:r>
              <a:rPr lang="en-US" dirty="0"/>
              <a:t>’</a:t>
            </a:r>
          </a:p>
        </p:txBody>
      </p:sp>
    </p:spTree>
    <p:extLst>
      <p:ext uri="{BB962C8B-B14F-4D97-AF65-F5344CB8AC3E}">
        <p14:creationId xmlns:p14="http://schemas.microsoft.com/office/powerpoint/2010/main" val="5133592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6C7CB-D4D2-D296-CB95-6627A4FBD4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2104EF-7D4B-FD77-3255-DD1217B8D693}"/>
              </a:ext>
            </a:extLst>
          </p:cNvPr>
          <p:cNvSpPr>
            <a:spLocks noGrp="1"/>
          </p:cNvSpPr>
          <p:nvPr>
            <p:ph type="title"/>
          </p:nvPr>
        </p:nvSpPr>
        <p:spPr>
          <a:xfrm>
            <a:off x="640080" y="1371600"/>
            <a:ext cx="4670661" cy="3030842"/>
          </a:xfrm>
        </p:spPr>
        <p:txBody>
          <a:bodyPr vert="horz" lIns="91440" tIns="45720" rIns="91440" bIns="45720" rtlCol="0" anchor="t">
            <a:normAutofit/>
          </a:bodyPr>
          <a:lstStyle/>
          <a:p>
            <a:pPr>
              <a:lnSpc>
                <a:spcPct val="90000"/>
              </a:lnSpc>
            </a:pPr>
            <a:r>
              <a:rPr lang="en-US" sz="5400" dirty="0"/>
              <a:t>Hashing</a:t>
            </a:r>
            <a:br>
              <a:rPr lang="en-US" sz="5000" b="1" kern="1200" dirty="0">
                <a:solidFill>
                  <a:schemeClr val="tx1"/>
                </a:solidFill>
                <a:latin typeface="+mj-lt"/>
                <a:ea typeface="+mj-ea"/>
                <a:cs typeface="+mj-cs"/>
              </a:rPr>
            </a:br>
            <a:br>
              <a:rPr lang="en-US" sz="5000" b="1" kern="1200" dirty="0">
                <a:solidFill>
                  <a:schemeClr val="tx1"/>
                </a:solidFill>
                <a:latin typeface="+mj-lt"/>
                <a:ea typeface="+mj-ea"/>
                <a:cs typeface="+mj-cs"/>
              </a:rPr>
            </a:br>
            <a:endParaRPr lang="en-US" sz="5000" b="1" kern="1200" dirty="0">
              <a:solidFill>
                <a:schemeClr val="tx1"/>
              </a:solidFill>
              <a:latin typeface="+mj-lt"/>
              <a:ea typeface="+mj-ea"/>
              <a:cs typeface="+mj-cs"/>
            </a:endParaRPr>
          </a:p>
        </p:txBody>
      </p:sp>
      <p:pic>
        <p:nvPicPr>
          <p:cNvPr id="4" name="Picture 3" descr="Aqua and green fractal background like floral petal">
            <a:extLst>
              <a:ext uri="{FF2B5EF4-FFF2-40B4-BE49-F238E27FC236}">
                <a16:creationId xmlns:a16="http://schemas.microsoft.com/office/drawing/2014/main" id="{F686AC2B-D7E5-3027-8449-3C88AD1FD204}"/>
              </a:ext>
            </a:extLst>
          </p:cNvPr>
          <p:cNvPicPr>
            <a:picLocks noChangeAspect="1"/>
          </p:cNvPicPr>
          <p:nvPr/>
        </p:nvPicPr>
        <p:blipFill>
          <a:blip r:embed="rId2"/>
          <a:srcRect l="13395" r="24521"/>
          <a:stretch>
            <a:fillRect/>
          </a:stretch>
        </p:blipFill>
        <p:spPr>
          <a:xfrm>
            <a:off x="6515100" y="10"/>
            <a:ext cx="5676900" cy="6857990"/>
          </a:xfrm>
          <a:prstGeom prst="rect">
            <a:avLst/>
          </a:prstGeom>
        </p:spPr>
      </p:pic>
    </p:spTree>
    <p:extLst>
      <p:ext uri="{BB962C8B-B14F-4D97-AF65-F5344CB8AC3E}">
        <p14:creationId xmlns:p14="http://schemas.microsoft.com/office/powerpoint/2010/main" val="2072597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75A1F-6980-291F-2BFA-363E71BC3597}"/>
              </a:ext>
            </a:extLst>
          </p:cNvPr>
          <p:cNvSpPr>
            <a:spLocks noGrp="1"/>
          </p:cNvSpPr>
          <p:nvPr>
            <p:ph type="title"/>
          </p:nvPr>
        </p:nvSpPr>
        <p:spPr/>
        <p:txBody>
          <a:bodyPr/>
          <a:lstStyle/>
          <a:p>
            <a:r>
              <a:rPr lang="en-US" dirty="0"/>
              <a:t>Hashing </a:t>
            </a:r>
          </a:p>
        </p:txBody>
      </p:sp>
      <p:sp>
        <p:nvSpPr>
          <p:cNvPr id="3" name="Content Placeholder 2">
            <a:extLst>
              <a:ext uri="{FF2B5EF4-FFF2-40B4-BE49-F238E27FC236}">
                <a16:creationId xmlns:a16="http://schemas.microsoft.com/office/drawing/2014/main" id="{ECFBD544-E80C-5F88-CFEA-E2BBBFDABECD}"/>
              </a:ext>
            </a:extLst>
          </p:cNvPr>
          <p:cNvSpPr>
            <a:spLocks noGrp="1"/>
          </p:cNvSpPr>
          <p:nvPr>
            <p:ph idx="1"/>
          </p:nvPr>
        </p:nvSpPr>
        <p:spPr/>
        <p:txBody>
          <a:bodyPr/>
          <a:lstStyle/>
          <a:p>
            <a:r>
              <a:rPr lang="en-US" dirty="0"/>
              <a:t>The Problem: Direct addressing is impossible when the universe of keys  is significantly larger than the available memory slots.</a:t>
            </a:r>
          </a:p>
          <a:p>
            <a:r>
              <a:rPr lang="en-US" dirty="0"/>
              <a:t>A technique that maps a large set of keys into a smaller, fixed-size array called a Hash Table.</a:t>
            </a:r>
          </a:p>
          <a:p>
            <a:r>
              <a:rPr lang="en-US" dirty="0"/>
              <a:t>Objective: To achieve constant time O(1) for Search, Insert, and Delete operations on average.</a:t>
            </a:r>
          </a:p>
        </p:txBody>
      </p:sp>
    </p:spTree>
    <p:extLst>
      <p:ext uri="{BB962C8B-B14F-4D97-AF65-F5344CB8AC3E}">
        <p14:creationId xmlns:p14="http://schemas.microsoft.com/office/powerpoint/2010/main" val="42866330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436E1-6617-6EB6-7D19-D6DA74A37ED9}"/>
              </a:ext>
            </a:extLst>
          </p:cNvPr>
          <p:cNvSpPr>
            <a:spLocks noGrp="1"/>
          </p:cNvSpPr>
          <p:nvPr>
            <p:ph type="title"/>
          </p:nvPr>
        </p:nvSpPr>
        <p:spPr/>
        <p:txBody>
          <a:bodyPr/>
          <a:lstStyle/>
          <a:p>
            <a:r>
              <a:rPr lang="en-US" dirty="0"/>
              <a:t>Hash function</a:t>
            </a:r>
          </a:p>
        </p:txBody>
      </p:sp>
      <p:sp>
        <p:nvSpPr>
          <p:cNvPr id="3" name="Content Placeholder 2">
            <a:extLst>
              <a:ext uri="{FF2B5EF4-FFF2-40B4-BE49-F238E27FC236}">
                <a16:creationId xmlns:a16="http://schemas.microsoft.com/office/drawing/2014/main" id="{580C4F27-F9C5-064A-44FD-C0E6227A278B}"/>
              </a:ext>
            </a:extLst>
          </p:cNvPr>
          <p:cNvSpPr>
            <a:spLocks noGrp="1"/>
          </p:cNvSpPr>
          <p:nvPr>
            <p:ph idx="1"/>
          </p:nvPr>
        </p:nvSpPr>
        <p:spPr/>
        <p:txBody>
          <a:bodyPr/>
          <a:lstStyle/>
          <a:p>
            <a:r>
              <a:rPr lang="en-US" dirty="0"/>
              <a:t>Definition: A mathematical function h(K) that transforms a key K into an integer index </a:t>
            </a:r>
            <a:r>
              <a:rPr lang="en-US" dirty="0" err="1"/>
              <a:t>i</a:t>
            </a:r>
            <a:r>
              <a:rPr lang="en-US" dirty="0"/>
              <a:t> within the range [0, m-1].</a:t>
            </a:r>
          </a:p>
          <a:p>
            <a:r>
              <a:rPr lang="en-US" dirty="0"/>
              <a:t>The Mapping: h: K to {0, 1, ……, m-1\}.</a:t>
            </a:r>
          </a:p>
          <a:p>
            <a:r>
              <a:rPr lang="en-US" dirty="0"/>
              <a:t>Since |K| &gt; m, two different keys K1 and K2 will eventually map to the same index. This is known as a Collision, which the system must resolve.</a:t>
            </a:r>
          </a:p>
        </p:txBody>
      </p:sp>
    </p:spTree>
    <p:extLst>
      <p:ext uri="{BB962C8B-B14F-4D97-AF65-F5344CB8AC3E}">
        <p14:creationId xmlns:p14="http://schemas.microsoft.com/office/powerpoint/2010/main" val="5194443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43753-5BF4-369F-B209-D19B0ED09201}"/>
              </a:ext>
            </a:extLst>
          </p:cNvPr>
          <p:cNvSpPr>
            <a:spLocks noGrp="1"/>
          </p:cNvSpPr>
          <p:nvPr>
            <p:ph type="title"/>
          </p:nvPr>
        </p:nvSpPr>
        <p:spPr/>
        <p:txBody>
          <a:bodyPr/>
          <a:lstStyle/>
          <a:p>
            <a:r>
              <a:rPr lang="en-US" dirty="0"/>
              <a:t>Designing a "Good" Hash Function</a:t>
            </a:r>
          </a:p>
        </p:txBody>
      </p:sp>
      <p:sp>
        <p:nvSpPr>
          <p:cNvPr id="3" name="Content Placeholder 2">
            <a:extLst>
              <a:ext uri="{FF2B5EF4-FFF2-40B4-BE49-F238E27FC236}">
                <a16:creationId xmlns:a16="http://schemas.microsoft.com/office/drawing/2014/main" id="{9D7B4962-F1DC-45F2-2C1C-3EAF5EA1429D}"/>
              </a:ext>
            </a:extLst>
          </p:cNvPr>
          <p:cNvSpPr>
            <a:spLocks noGrp="1"/>
          </p:cNvSpPr>
          <p:nvPr>
            <p:ph idx="1"/>
          </p:nvPr>
        </p:nvSpPr>
        <p:spPr/>
        <p:txBody>
          <a:bodyPr>
            <a:normAutofit/>
          </a:bodyPr>
          <a:lstStyle/>
          <a:p>
            <a:r>
              <a:rPr lang="en-US" dirty="0"/>
              <a:t>Determinism: The same input must always produce the same hash value.</a:t>
            </a:r>
          </a:p>
          <a:p>
            <a:r>
              <a:rPr lang="en-US" dirty="0"/>
              <a:t>Efficiency: The function must be O(1) and computationally inexpensive.</a:t>
            </a:r>
          </a:p>
          <a:p>
            <a:r>
              <a:rPr lang="en-US" dirty="0"/>
              <a:t>Uniformity: It should distribute keys evenly across all slots to minimize clustering and collisions.</a:t>
            </a:r>
          </a:p>
          <a:p>
            <a:r>
              <a:rPr lang="en-US" dirty="0"/>
              <a:t>Common Techniques:</a:t>
            </a:r>
          </a:p>
          <a:p>
            <a:pPr lvl="1"/>
            <a:r>
              <a:rPr lang="en-US" dirty="0"/>
              <a:t>Division Method: h(K) = K mod m (Best when m is a prime number not close to a power of 2).</a:t>
            </a:r>
          </a:p>
        </p:txBody>
      </p:sp>
    </p:spTree>
    <p:extLst>
      <p:ext uri="{BB962C8B-B14F-4D97-AF65-F5344CB8AC3E}">
        <p14:creationId xmlns:p14="http://schemas.microsoft.com/office/powerpoint/2010/main" val="1368639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03587-416D-1C76-962E-E79AA6023E67}"/>
              </a:ext>
            </a:extLst>
          </p:cNvPr>
          <p:cNvSpPr>
            <a:spLocks noGrp="1"/>
          </p:cNvSpPr>
          <p:nvPr>
            <p:ph type="title"/>
          </p:nvPr>
        </p:nvSpPr>
        <p:spPr/>
        <p:txBody>
          <a:bodyPr/>
          <a:lstStyle/>
          <a:p>
            <a:r>
              <a:rPr lang="en-US" dirty="0"/>
              <a:t>Open Hashing (Separate Chaining)</a:t>
            </a:r>
          </a:p>
        </p:txBody>
      </p:sp>
      <p:sp>
        <p:nvSpPr>
          <p:cNvPr id="3" name="Content Placeholder 2">
            <a:extLst>
              <a:ext uri="{FF2B5EF4-FFF2-40B4-BE49-F238E27FC236}">
                <a16:creationId xmlns:a16="http://schemas.microsoft.com/office/drawing/2014/main" id="{C828029E-E489-0712-29FA-188C234D6E68}"/>
              </a:ext>
            </a:extLst>
          </p:cNvPr>
          <p:cNvSpPr>
            <a:spLocks noGrp="1"/>
          </p:cNvSpPr>
          <p:nvPr>
            <p:ph idx="1"/>
          </p:nvPr>
        </p:nvSpPr>
        <p:spPr/>
        <p:txBody>
          <a:bodyPr>
            <a:normAutofit/>
          </a:bodyPr>
          <a:lstStyle/>
          <a:p>
            <a:r>
              <a:rPr lang="en-US" dirty="0"/>
              <a:t>The hash table is an array of pointers. Each slot (bucket) points to a linked list of all records that hash to that same index</a:t>
            </a:r>
          </a:p>
          <a:p>
            <a:r>
              <a:rPr lang="en-US" dirty="0"/>
              <a:t>Advantages:</a:t>
            </a:r>
          </a:p>
          <a:p>
            <a:pPr lvl="1"/>
            <a:r>
              <a:rPr lang="en-US" dirty="0"/>
              <a:t>The table never truly "fills up" (limited only by system memory).</a:t>
            </a:r>
          </a:p>
          <a:p>
            <a:pPr lvl="1"/>
            <a:r>
              <a:rPr lang="en-US" dirty="0"/>
              <a:t>Simple to implement and handles deletions gracefully.</a:t>
            </a:r>
          </a:p>
          <a:p>
            <a:r>
              <a:rPr lang="en-US" dirty="0"/>
              <a:t>Disadvantage: </a:t>
            </a:r>
          </a:p>
          <a:p>
            <a:pPr lvl="1"/>
            <a:r>
              <a:rPr lang="en-US" dirty="0"/>
              <a:t>Extra memory overhead for pointers and potential O(n) performance if one list becomes too long.</a:t>
            </a:r>
          </a:p>
        </p:txBody>
      </p:sp>
    </p:spTree>
    <p:extLst>
      <p:ext uri="{BB962C8B-B14F-4D97-AF65-F5344CB8AC3E}">
        <p14:creationId xmlns:p14="http://schemas.microsoft.com/office/powerpoint/2010/main" val="19487941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AC03-619A-EB42-619C-BFE792F8A31B}"/>
              </a:ext>
            </a:extLst>
          </p:cNvPr>
          <p:cNvSpPr>
            <a:spLocks noGrp="1"/>
          </p:cNvSpPr>
          <p:nvPr>
            <p:ph type="title"/>
          </p:nvPr>
        </p:nvSpPr>
        <p:spPr/>
        <p:txBody>
          <a:bodyPr/>
          <a:lstStyle/>
          <a:p>
            <a:r>
              <a:rPr lang="en-US" dirty="0"/>
              <a:t>Open Hashing example</a:t>
            </a:r>
          </a:p>
        </p:txBody>
      </p:sp>
      <p:sp>
        <p:nvSpPr>
          <p:cNvPr id="3" name="Content Placeholder 2">
            <a:extLst>
              <a:ext uri="{FF2B5EF4-FFF2-40B4-BE49-F238E27FC236}">
                <a16:creationId xmlns:a16="http://schemas.microsoft.com/office/drawing/2014/main" id="{C7BB54DC-3BC4-D6B8-FBA5-FC5CA1CF8BC0}"/>
              </a:ext>
            </a:extLst>
          </p:cNvPr>
          <p:cNvSpPr>
            <a:spLocks noGrp="1"/>
          </p:cNvSpPr>
          <p:nvPr>
            <p:ph idx="1"/>
          </p:nvPr>
        </p:nvSpPr>
        <p:spPr/>
        <p:txBody>
          <a:bodyPr/>
          <a:lstStyle/>
          <a:p>
            <a:r>
              <a:rPr lang="en-US" dirty="0"/>
              <a:t>Each list contains all the keys hashed to its cell. Consider, as an example, the following list of words: A, FOOL, AND, HIS, MONEY, ARE, SOON, PARTED.</a:t>
            </a:r>
          </a:p>
          <a:p>
            <a:r>
              <a:rPr lang="en-US" dirty="0"/>
              <a:t>Hash function we will add the positions of a word’s letters in the alphabet and compute the sum’s remainder after division by 13</a:t>
            </a:r>
          </a:p>
          <a:p>
            <a:r>
              <a:rPr lang="en-US" dirty="0"/>
              <a:t>Example:</a:t>
            </a:r>
          </a:p>
          <a:p>
            <a:r>
              <a:rPr lang="en-US" dirty="0"/>
              <a:t>FOOL—is installed in the ninth cell since (6 + 15+15+12)mod13=9</a:t>
            </a:r>
          </a:p>
        </p:txBody>
      </p:sp>
    </p:spTree>
    <p:extLst>
      <p:ext uri="{BB962C8B-B14F-4D97-AF65-F5344CB8AC3E}">
        <p14:creationId xmlns:p14="http://schemas.microsoft.com/office/powerpoint/2010/main" val="2809380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99E2C-DB6E-7E2D-9DE6-AC7AA04C125A}"/>
              </a:ext>
            </a:extLst>
          </p:cNvPr>
          <p:cNvSpPr>
            <a:spLocks noGrp="1"/>
          </p:cNvSpPr>
          <p:nvPr>
            <p:ph type="title"/>
          </p:nvPr>
        </p:nvSpPr>
        <p:spPr/>
        <p:txBody>
          <a:bodyPr/>
          <a:lstStyle/>
          <a:p>
            <a:r>
              <a:rPr lang="en-US" dirty="0"/>
              <a:t>Open hashing </a:t>
            </a:r>
          </a:p>
        </p:txBody>
      </p:sp>
      <p:pic>
        <p:nvPicPr>
          <p:cNvPr id="5" name="Content Placeholder 4">
            <a:extLst>
              <a:ext uri="{FF2B5EF4-FFF2-40B4-BE49-F238E27FC236}">
                <a16:creationId xmlns:a16="http://schemas.microsoft.com/office/drawing/2014/main" id="{C22558E8-35DD-4DE2-C38D-6A496435033D}"/>
              </a:ext>
            </a:extLst>
          </p:cNvPr>
          <p:cNvPicPr>
            <a:picLocks noGrp="1" noChangeAspect="1"/>
          </p:cNvPicPr>
          <p:nvPr>
            <p:ph idx="1"/>
          </p:nvPr>
        </p:nvPicPr>
        <p:blipFill>
          <a:blip r:embed="rId2"/>
          <a:stretch>
            <a:fillRect/>
          </a:stretch>
        </p:blipFill>
        <p:spPr>
          <a:xfrm>
            <a:off x="753762" y="2468881"/>
            <a:ext cx="9959546" cy="3277011"/>
          </a:xfrm>
          <a:prstGeom prst="rect">
            <a:avLst/>
          </a:prstGeom>
        </p:spPr>
      </p:pic>
    </p:spTree>
    <p:extLst>
      <p:ext uri="{BB962C8B-B14F-4D97-AF65-F5344CB8AC3E}">
        <p14:creationId xmlns:p14="http://schemas.microsoft.com/office/powerpoint/2010/main" val="30824795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53AC3-B531-FECE-94B3-0F74FD7B851A}"/>
              </a:ext>
            </a:extLst>
          </p:cNvPr>
          <p:cNvSpPr>
            <a:spLocks noGrp="1"/>
          </p:cNvSpPr>
          <p:nvPr>
            <p:ph type="title"/>
          </p:nvPr>
        </p:nvSpPr>
        <p:spPr/>
        <p:txBody>
          <a:bodyPr/>
          <a:lstStyle/>
          <a:p>
            <a:r>
              <a:rPr lang="en-US" dirty="0"/>
              <a:t>Closed Hashing</a:t>
            </a:r>
          </a:p>
        </p:txBody>
      </p:sp>
      <p:sp>
        <p:nvSpPr>
          <p:cNvPr id="3" name="Content Placeholder 2">
            <a:extLst>
              <a:ext uri="{FF2B5EF4-FFF2-40B4-BE49-F238E27FC236}">
                <a16:creationId xmlns:a16="http://schemas.microsoft.com/office/drawing/2014/main" id="{ACAD140C-0BAE-09BC-CE54-FD1483B273D3}"/>
              </a:ext>
            </a:extLst>
          </p:cNvPr>
          <p:cNvSpPr>
            <a:spLocks noGrp="1"/>
          </p:cNvSpPr>
          <p:nvPr>
            <p:ph idx="1"/>
          </p:nvPr>
        </p:nvSpPr>
        <p:spPr/>
        <p:txBody>
          <a:bodyPr/>
          <a:lstStyle/>
          <a:p>
            <a:r>
              <a:rPr lang="en-US" dirty="0"/>
              <a:t>All elements are stored within the hash table itself. No links or pointers are used outside the array.</a:t>
            </a:r>
          </a:p>
          <a:p>
            <a:r>
              <a:rPr lang="en-US" dirty="0"/>
              <a:t> If h(K) is occupied, the algorithm systematically probes for the next available "open" slot.</a:t>
            </a:r>
          </a:p>
          <a:p>
            <a:r>
              <a:rPr lang="en-US" dirty="0"/>
              <a:t>Strategies: </a:t>
            </a:r>
          </a:p>
          <a:p>
            <a:pPr lvl="1"/>
            <a:r>
              <a:rPr lang="en-US" dirty="0"/>
              <a:t>Linear Probing: Checking slots sequentially (i+1, i+2 ………).</a:t>
            </a:r>
          </a:p>
        </p:txBody>
      </p:sp>
    </p:spTree>
    <p:extLst>
      <p:ext uri="{BB962C8B-B14F-4D97-AF65-F5344CB8AC3E}">
        <p14:creationId xmlns:p14="http://schemas.microsoft.com/office/powerpoint/2010/main" val="32855910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16618-2F9B-58FB-8C9C-A6EA3EA676DA}"/>
              </a:ext>
            </a:extLst>
          </p:cNvPr>
          <p:cNvSpPr>
            <a:spLocks noGrp="1"/>
          </p:cNvSpPr>
          <p:nvPr>
            <p:ph type="title"/>
          </p:nvPr>
        </p:nvSpPr>
        <p:spPr/>
        <p:txBody>
          <a:bodyPr/>
          <a:lstStyle/>
          <a:p>
            <a:r>
              <a:rPr lang="en-US" dirty="0"/>
              <a:t>Closed Hashing</a:t>
            </a:r>
          </a:p>
        </p:txBody>
      </p:sp>
      <p:pic>
        <p:nvPicPr>
          <p:cNvPr id="5" name="Content Placeholder 4">
            <a:extLst>
              <a:ext uri="{FF2B5EF4-FFF2-40B4-BE49-F238E27FC236}">
                <a16:creationId xmlns:a16="http://schemas.microsoft.com/office/drawing/2014/main" id="{C209370E-73EF-82E7-2CCD-E04B9DD5D92E}"/>
              </a:ext>
            </a:extLst>
          </p:cNvPr>
          <p:cNvPicPr>
            <a:picLocks noGrp="1" noChangeAspect="1"/>
          </p:cNvPicPr>
          <p:nvPr>
            <p:ph idx="1"/>
          </p:nvPr>
        </p:nvPicPr>
        <p:blipFill>
          <a:blip r:embed="rId2"/>
          <a:stretch>
            <a:fillRect/>
          </a:stretch>
        </p:blipFill>
        <p:spPr>
          <a:xfrm>
            <a:off x="1209041" y="2187146"/>
            <a:ext cx="9874970" cy="4250724"/>
          </a:xfrm>
          <a:prstGeom prst="rect">
            <a:avLst/>
          </a:prstGeom>
        </p:spPr>
      </p:pic>
    </p:spTree>
    <p:extLst>
      <p:ext uri="{BB962C8B-B14F-4D97-AF65-F5344CB8AC3E}">
        <p14:creationId xmlns:p14="http://schemas.microsoft.com/office/powerpoint/2010/main" val="7227144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02B71-F8B8-C3CA-0FE1-390C16FB3759}"/>
              </a:ext>
            </a:extLst>
          </p:cNvPr>
          <p:cNvSpPr>
            <a:spLocks noGrp="1"/>
          </p:cNvSpPr>
          <p:nvPr>
            <p:ph type="title"/>
          </p:nvPr>
        </p:nvSpPr>
        <p:spPr/>
        <p:txBody>
          <a:bodyPr/>
          <a:lstStyle/>
          <a:p>
            <a:r>
              <a:rPr lang="en-US" dirty="0"/>
              <a:t>The Load Factor (</a:t>
            </a:r>
            <a:r>
              <a:rPr lang="el-GR" dirty="0"/>
              <a:t>α</a:t>
            </a:r>
            <a:r>
              <a:rPr lang="en-US" dirty="0"/>
              <a:t>)</a:t>
            </a:r>
          </a:p>
        </p:txBody>
      </p:sp>
      <p:sp>
        <p:nvSpPr>
          <p:cNvPr id="3" name="Content Placeholder 2">
            <a:extLst>
              <a:ext uri="{FF2B5EF4-FFF2-40B4-BE49-F238E27FC236}">
                <a16:creationId xmlns:a16="http://schemas.microsoft.com/office/drawing/2014/main" id="{D31B3D6C-BEDF-9978-76DD-C804C47A838B}"/>
              </a:ext>
            </a:extLst>
          </p:cNvPr>
          <p:cNvSpPr>
            <a:spLocks noGrp="1"/>
          </p:cNvSpPr>
          <p:nvPr>
            <p:ph idx="1"/>
          </p:nvPr>
        </p:nvSpPr>
        <p:spPr/>
        <p:txBody>
          <a:bodyPr/>
          <a:lstStyle/>
          <a:p>
            <a:r>
              <a:rPr lang="en-US" dirty="0"/>
              <a:t> The ratio of the number of occupied slots n to the total table size m:</a:t>
            </a:r>
            <a:r>
              <a:rPr lang="el-GR" dirty="0"/>
              <a:t> α</a:t>
            </a:r>
            <a:r>
              <a:rPr lang="en-US" dirty="0"/>
              <a:t> =n/m </a:t>
            </a:r>
          </a:p>
          <a:p>
            <a:r>
              <a:rPr lang="en-US" dirty="0"/>
              <a:t>Significance: It measures the performance health of the table.</a:t>
            </a:r>
          </a:p>
          <a:p>
            <a:r>
              <a:rPr lang="en-US" dirty="0"/>
              <a:t>Thresholds: </a:t>
            </a:r>
          </a:p>
          <a:p>
            <a:pPr lvl="1"/>
            <a:r>
              <a:rPr lang="en-US" dirty="0"/>
              <a:t>Open Addressing, </a:t>
            </a:r>
            <a:r>
              <a:rPr lang="el-GR" dirty="0"/>
              <a:t>α</a:t>
            </a:r>
            <a:r>
              <a:rPr lang="en-US" dirty="0"/>
              <a:t> must be &lt; 1.Performance degrades sharply as </a:t>
            </a:r>
            <a:r>
              <a:rPr lang="el-GR" dirty="0"/>
              <a:t>α </a:t>
            </a:r>
            <a:r>
              <a:rPr lang="en-US" dirty="0"/>
              <a:t> to 1.</a:t>
            </a:r>
          </a:p>
          <a:p>
            <a:pPr lvl="1"/>
            <a:r>
              <a:rPr lang="en-US" dirty="0"/>
              <a:t>Rehashing: When </a:t>
            </a:r>
            <a:r>
              <a:rPr lang="el-GR" dirty="0"/>
              <a:t>α</a:t>
            </a:r>
            <a:r>
              <a:rPr lang="en-US" dirty="0"/>
              <a:t> exceeds a threshold (typically 0.7 or 0.8), the table size is usually doubled to a new prime, and all keys are re-inserted.</a:t>
            </a:r>
          </a:p>
        </p:txBody>
      </p:sp>
      <p:pic>
        <p:nvPicPr>
          <p:cNvPr id="3075" name="Picture 3">
            <a:extLst>
              <a:ext uri="{FF2B5EF4-FFF2-40B4-BE49-F238E27FC236}">
                <a16:creationId xmlns:a16="http://schemas.microsoft.com/office/drawing/2014/main" id="{98E6C69B-72ED-76F0-017E-F3D539AD6B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1238" y="3424238"/>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5">
            <a:extLst>
              <a:ext uri="{FF2B5EF4-FFF2-40B4-BE49-F238E27FC236}">
                <a16:creationId xmlns:a16="http://schemas.microsoft.com/office/drawing/2014/main" id="{ED122EA9-261E-615D-EB1C-F18905836B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3638" y="3576638"/>
            <a:ext cx="9525" cy="9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0152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0A726-A0D7-9B99-0CDD-8E68CC725177}"/>
              </a:ext>
            </a:extLst>
          </p:cNvPr>
          <p:cNvSpPr>
            <a:spLocks noGrp="1"/>
          </p:cNvSpPr>
          <p:nvPr>
            <p:ph type="title"/>
          </p:nvPr>
        </p:nvSpPr>
        <p:spPr/>
        <p:txBody>
          <a:bodyPr/>
          <a:lstStyle/>
          <a:p>
            <a:r>
              <a:rPr lang="en-US" dirty="0"/>
              <a:t>Double Hashing</a:t>
            </a:r>
          </a:p>
        </p:txBody>
      </p:sp>
      <p:sp>
        <p:nvSpPr>
          <p:cNvPr id="3" name="Content Placeholder 2">
            <a:extLst>
              <a:ext uri="{FF2B5EF4-FFF2-40B4-BE49-F238E27FC236}">
                <a16:creationId xmlns:a16="http://schemas.microsoft.com/office/drawing/2014/main" id="{3C1011C8-115A-F417-2966-B87FD2B39F67}"/>
              </a:ext>
            </a:extLst>
          </p:cNvPr>
          <p:cNvSpPr>
            <a:spLocks noGrp="1"/>
          </p:cNvSpPr>
          <p:nvPr>
            <p:ph idx="1"/>
          </p:nvPr>
        </p:nvSpPr>
        <p:spPr/>
        <p:txBody>
          <a:bodyPr/>
          <a:lstStyle/>
          <a:p>
            <a:r>
              <a:rPr lang="en-US" dirty="0"/>
              <a:t>too avoid the clustering issues of linear probing, use a second hash function h2(K) to determine the "step size" for probes.</a:t>
            </a:r>
          </a:p>
          <a:p>
            <a:r>
              <a:rPr lang="en-US" dirty="0"/>
              <a:t>h(K, </a:t>
            </a:r>
            <a:r>
              <a:rPr lang="en-US" dirty="0" err="1"/>
              <a:t>i</a:t>
            </a:r>
            <a:r>
              <a:rPr lang="en-US" dirty="0"/>
              <a:t>) = (h1(K) + </a:t>
            </a:r>
            <a:r>
              <a:rPr lang="en-US" dirty="0" err="1"/>
              <a:t>i</a:t>
            </a:r>
            <a:r>
              <a:rPr lang="en-US" dirty="0"/>
              <a:t> . h2(K)) mod m </a:t>
            </a:r>
          </a:p>
          <a:p>
            <a:r>
              <a:rPr lang="en-US" dirty="0"/>
              <a:t>Rules for h2(K):</a:t>
            </a:r>
          </a:p>
          <a:p>
            <a:pPr lvl="1"/>
            <a:r>
              <a:rPr lang="en-US" dirty="0"/>
              <a:t>It must never return 0 (which would result in an infinite loop).</a:t>
            </a:r>
          </a:p>
          <a:p>
            <a:pPr lvl="1"/>
            <a:r>
              <a:rPr lang="en-US" dirty="0"/>
              <a:t>It should be relatively prime to the table size m to ensure all slots are reachable.</a:t>
            </a:r>
          </a:p>
        </p:txBody>
      </p:sp>
    </p:spTree>
    <p:extLst>
      <p:ext uri="{BB962C8B-B14F-4D97-AF65-F5344CB8AC3E}">
        <p14:creationId xmlns:p14="http://schemas.microsoft.com/office/powerpoint/2010/main" val="27632801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99D6D-FF55-9FC2-6EAE-DEE598AB7D6A}"/>
              </a:ext>
            </a:extLst>
          </p:cNvPr>
          <p:cNvSpPr>
            <a:spLocks noGrp="1"/>
          </p:cNvSpPr>
          <p:nvPr>
            <p:ph type="title"/>
          </p:nvPr>
        </p:nvSpPr>
        <p:spPr>
          <a:xfrm>
            <a:off x="293715" y="1177637"/>
            <a:ext cx="10890929" cy="1097280"/>
          </a:xfrm>
        </p:spPr>
        <p:txBody>
          <a:bodyPr/>
          <a:lstStyle/>
          <a:p>
            <a:r>
              <a:rPr lang="en-US" dirty="0"/>
              <a:t>Double Hashing example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BB359C-DC84-C1C7-D3F1-7B710BE27DF4}"/>
                  </a:ext>
                </a:extLst>
              </p:cNvPr>
              <p:cNvSpPr>
                <a:spLocks noGrp="1"/>
              </p:cNvSpPr>
              <p:nvPr>
                <p:ph idx="1"/>
              </p:nvPr>
            </p:nvSpPr>
            <p:spPr/>
            <p:txBody>
              <a:bodyPr>
                <a:normAutofit fontScale="92500" lnSpcReduction="10000"/>
              </a:bodyPr>
              <a:lstStyle/>
              <a:p>
                <a:r>
                  <a:rPr lang="en-US" dirty="0"/>
                  <a:t>Let’s take a simpler example the list elements 7,8,21 and m=7 and we use close hashing</a:t>
                </a:r>
              </a:p>
              <a:p>
                <a:r>
                  <a:rPr lang="en-US" dirty="0"/>
                  <a:t>h1(k)= k mode m , h2</a:t>
                </a:r>
                <a14:m>
                  <m:oMath xmlns:m="http://schemas.openxmlformats.org/officeDocument/2006/math">
                    <m:d>
                      <m:dPr>
                        <m:ctrlPr>
                          <a:rPr lang="en-US" i="1" smtClean="0">
                            <a:latin typeface="Cambria Math" panose="02040503050406030204" pitchFamily="18" charset="0"/>
                          </a:rPr>
                        </m:ctrlPr>
                      </m:dPr>
                      <m:e>
                        <m:r>
                          <a:rPr lang="en-US" i="1" smtClean="0">
                            <a:latin typeface="Cambria Math" panose="02040503050406030204" pitchFamily="18" charset="0"/>
                          </a:rPr>
                          <m:t>𝐾</m:t>
                        </m:r>
                      </m:e>
                    </m:d>
                    <m:r>
                      <a:rPr lang="en-US" i="1" smtClean="0">
                        <a:latin typeface="Cambria Math" panose="02040503050406030204" pitchFamily="18" charset="0"/>
                      </a:rPr>
                      <m:t>=</m:t>
                    </m:r>
                    <m:r>
                      <a:rPr lang="en-US" i="1" smtClean="0">
                        <a:latin typeface="Cambria Math" panose="02040503050406030204" pitchFamily="18" charset="0"/>
                      </a:rPr>
                      <m:t>𝑅</m:t>
                    </m:r>
                    <m:r>
                      <a:rPr lang="en-US" i="1" smtClean="0">
                        <a:latin typeface="Cambria Math" panose="02040503050406030204" pitchFamily="18" charset="0"/>
                      </a:rPr>
                      <m:t>−</m:t>
                    </m:r>
                    <m:d>
                      <m:dPr>
                        <m:ctrlPr>
                          <a:rPr lang="en-US" i="1" smtClean="0">
                            <a:latin typeface="Cambria Math" panose="02040503050406030204" pitchFamily="18" charset="0"/>
                          </a:rPr>
                        </m:ctrlPr>
                      </m:dPr>
                      <m:e>
                        <m:r>
                          <a:rPr lang="en-US" i="1" smtClean="0">
                            <a:latin typeface="Cambria Math" panose="02040503050406030204" pitchFamily="18" charset="0"/>
                          </a:rPr>
                          <m:t>𝐾</m:t>
                        </m:r>
                        <m:r>
                          <a:rPr lang="en-US" b="0" i="1" smtClean="0">
                            <a:latin typeface="Cambria Math" panose="02040503050406030204" pitchFamily="18" charset="0"/>
                          </a:rPr>
                          <m:t> </m:t>
                        </m:r>
                        <m:r>
                          <m:rPr>
                            <m:sty m:val="p"/>
                          </m:rPr>
                          <a:rPr lang="en-US" i="1" smtClean="0">
                            <a:latin typeface="Cambria Math" panose="02040503050406030204" pitchFamily="18" charset="0"/>
                          </a:rPr>
                          <m:t>mod</m:t>
                        </m:r>
                        <m:r>
                          <a:rPr lang="en-US" b="0" i="1" smtClean="0">
                            <a:latin typeface="Cambria Math" panose="02040503050406030204" pitchFamily="18" charset="0"/>
                          </a:rPr>
                          <m:t> </m:t>
                        </m:r>
                        <m:r>
                          <a:rPr lang="en-US" i="1" smtClean="0">
                            <a:latin typeface="Cambria Math" panose="02040503050406030204" pitchFamily="18" charset="0"/>
                          </a:rPr>
                          <m:t>𝑅</m:t>
                        </m:r>
                      </m:e>
                    </m:d>
                  </m:oMath>
                </a14:m>
                <a:endParaRPr lang="en-US" dirty="0"/>
              </a:p>
              <a:p>
                <a:r>
                  <a:rPr lang="en-US" dirty="0"/>
                  <a:t>Where R is prime number less than m size (in this example make it R=5)</a:t>
                </a:r>
              </a:p>
              <a:p>
                <a:r>
                  <a:rPr lang="en-US" dirty="0"/>
                  <a:t>7 mod 7=0 and 0 slot is empty (no Collison)</a:t>
                </a:r>
              </a:p>
              <a:p>
                <a:r>
                  <a:rPr lang="en-US" dirty="0"/>
                  <a:t>8 mod 7=1 and 1 slot is empty ( no Collison)</a:t>
                </a:r>
              </a:p>
              <a:p>
                <a:r>
                  <a:rPr lang="en-US" dirty="0"/>
                  <a:t>21 mod 7=0 (collision Occurs) go to h2(K)= 5-(21 mod 5)=4 </a:t>
                </a:r>
              </a:p>
              <a:p>
                <a:r>
                  <a:rPr lang="en-US" dirty="0"/>
                  <a:t>Next to handle double collision if occurred we must apply this formula </a:t>
                </a:r>
                <a14:m>
                  <m:oMath xmlns:m="http://schemas.openxmlformats.org/officeDocument/2006/math">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i="1" smtClean="0">
                                <a:latin typeface="Cambria Math" panose="02040503050406030204" pitchFamily="18" charset="0"/>
                              </a:rPr>
                              <m:t>h</m:t>
                            </m:r>
                          </m:e>
                          <m:sub>
                            <m:r>
                              <a:rPr lang="en-US" i="1" smtClean="0">
                                <a:latin typeface="Cambria Math" panose="02040503050406030204" pitchFamily="18" charset="0"/>
                              </a:rPr>
                              <m:t>1</m:t>
                            </m:r>
                          </m:sub>
                        </m:sSub>
                        <m:r>
                          <a:rPr lang="en-US" i="1" smtClean="0">
                            <a:latin typeface="Cambria Math" panose="02040503050406030204" pitchFamily="18" charset="0"/>
                          </a:rPr>
                          <m:t>+</m:t>
                        </m:r>
                        <m:r>
                          <a:rPr lang="en-US" i="1" smtClean="0">
                            <a:latin typeface="Cambria Math" panose="02040503050406030204" pitchFamily="18" charset="0"/>
                          </a:rPr>
                          <m:t>𝑖</m:t>
                        </m:r>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h</m:t>
                            </m:r>
                          </m:e>
                          <m:sub>
                            <m:r>
                              <a:rPr lang="en-US" i="1" smtClean="0">
                                <a:latin typeface="Cambria Math" panose="02040503050406030204" pitchFamily="18" charset="0"/>
                              </a:rPr>
                              <m:t>2</m:t>
                            </m:r>
                          </m:sub>
                        </m:sSub>
                      </m:e>
                    </m:d>
                    <m:r>
                      <a:rPr lang="en-US" b="0" i="1" smtClean="0">
                        <a:latin typeface="Cambria Math" panose="02040503050406030204" pitchFamily="18" charset="0"/>
                      </a:rPr>
                      <m:t> </m:t>
                    </m:r>
                    <m:r>
                      <m:rPr>
                        <m:sty m:val="p"/>
                      </m:rPr>
                      <a:rPr lang="en-US" i="1" smtClean="0">
                        <a:latin typeface="Cambria Math" panose="02040503050406030204" pitchFamily="18" charset="0"/>
                      </a:rPr>
                      <m:t>mod</m:t>
                    </m:r>
                    <m:r>
                      <a:rPr lang="en-US" b="0" i="1" smtClean="0">
                        <a:latin typeface="Cambria Math" panose="02040503050406030204" pitchFamily="18" charset="0"/>
                      </a:rPr>
                      <m:t> </m:t>
                    </m:r>
                    <m:r>
                      <a:rPr lang="en-US" i="1" smtClean="0">
                        <a:latin typeface="Cambria Math" panose="02040503050406030204" pitchFamily="18" charset="0"/>
                      </a:rPr>
                      <m:t>7</m:t>
                    </m:r>
                  </m:oMath>
                </a14:m>
                <a:r>
                  <a:rPr lang="en-US" dirty="0"/>
                  <a:t> </a:t>
                </a:r>
              </a:p>
              <a:p>
                <a:r>
                  <a:rPr lang="en-US" dirty="0"/>
                  <a:t>Prob 1 </a:t>
                </a:r>
                <a:r>
                  <a:rPr lang="en-US" dirty="0" err="1"/>
                  <a:t>i</a:t>
                </a:r>
                <a:r>
                  <a:rPr lang="en-US" dirty="0"/>
                  <a:t>=1 , 0 + 1 x 4 mode 7 = 4 slot 4 is empty (no Collison)</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23BB359C-DC84-C1C7-D3F1-7B710BE27DF4}"/>
                  </a:ext>
                </a:extLst>
              </p:cNvPr>
              <p:cNvSpPr>
                <a:spLocks noGrp="1" noRot="1" noChangeAspect="1" noMove="1" noResize="1" noEditPoints="1" noAdjustHandles="1" noChangeArrowheads="1" noChangeShapeType="1" noTextEdit="1"/>
              </p:cNvSpPr>
              <p:nvPr>
                <p:ph idx="1"/>
              </p:nvPr>
            </p:nvSpPr>
            <p:spPr>
              <a:blipFill>
                <a:blip r:embed="rId2"/>
                <a:stretch>
                  <a:fillRect l="-224" t="-1026" b="-1026"/>
                </a:stretch>
              </a:blipFill>
            </p:spPr>
            <p:txBody>
              <a:bodyPr/>
              <a:lstStyle/>
              <a:p>
                <a:r>
                  <a:rPr lang="en-US">
                    <a:noFill/>
                  </a:rPr>
                  <a:t> </a:t>
                </a:r>
              </a:p>
            </p:txBody>
          </p:sp>
        </mc:Fallback>
      </mc:AlternateContent>
    </p:spTree>
    <p:extLst>
      <p:ext uri="{BB962C8B-B14F-4D97-AF65-F5344CB8AC3E}">
        <p14:creationId xmlns:p14="http://schemas.microsoft.com/office/powerpoint/2010/main" val="4258362841"/>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16112</TotalTime>
  <Words>1300</Words>
  <Application>Microsoft Office PowerPoint</Application>
  <PresentationFormat>Widescreen</PresentationFormat>
  <Paragraphs>96</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Arial</vt:lpstr>
      <vt:lpstr>Cambria Math</vt:lpstr>
      <vt:lpstr>Grandview Display</vt:lpstr>
      <vt:lpstr>DashVTI</vt:lpstr>
      <vt:lpstr>Computing Algorithms Lecture 11: Space and Time Trade-off</vt:lpstr>
      <vt:lpstr>Agenda</vt:lpstr>
      <vt:lpstr>Introduction    </vt:lpstr>
      <vt:lpstr>Introduction </vt:lpstr>
      <vt:lpstr>Count Sorting  </vt:lpstr>
      <vt:lpstr>Count Sorting</vt:lpstr>
      <vt:lpstr>Count Sorting</vt:lpstr>
      <vt:lpstr>Horspool’s Algorithm  </vt:lpstr>
      <vt:lpstr>Horspool’s algorithm</vt:lpstr>
      <vt:lpstr>Horspool’s algorithm</vt:lpstr>
      <vt:lpstr>Horspool’s algorithm</vt:lpstr>
      <vt:lpstr>Horspool’s algorithm</vt:lpstr>
      <vt:lpstr>Horspool’s algorithm</vt:lpstr>
      <vt:lpstr>Horspool’s algorithm</vt:lpstr>
      <vt:lpstr>Hashing  </vt:lpstr>
      <vt:lpstr>Hashing </vt:lpstr>
      <vt:lpstr>Hash function</vt:lpstr>
      <vt:lpstr>Designing a "Good" Hash Function</vt:lpstr>
      <vt:lpstr>Open Hashing (Separate Chaining)</vt:lpstr>
      <vt:lpstr>Open Hashing example</vt:lpstr>
      <vt:lpstr>Open hashing </vt:lpstr>
      <vt:lpstr>Closed Hashing</vt:lpstr>
      <vt:lpstr>Closed Hashing</vt:lpstr>
      <vt:lpstr>The Load Factor (α)</vt:lpstr>
      <vt:lpstr>Double Hashing</vt:lpstr>
      <vt:lpstr>Double Hashing example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Moheeb</dc:creator>
  <cp:lastModifiedBy>Omar Hossam</cp:lastModifiedBy>
  <cp:revision>95</cp:revision>
  <dcterms:created xsi:type="dcterms:W3CDTF">2026-01-25T09:41:58Z</dcterms:created>
  <dcterms:modified xsi:type="dcterms:W3CDTF">2026-06-01T10:44:53Z</dcterms:modified>
</cp:coreProperties>
</file>