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58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20" r:id="rId63"/>
    <p:sldId id="321" r:id="rId64"/>
    <p:sldId id="322" r:id="rId65"/>
    <p:sldId id="323" r:id="rId66"/>
    <p:sldId id="324" r:id="rId67"/>
    <p:sldId id="325" r:id="rId68"/>
    <p:sldId id="326" r:id="rId69"/>
    <p:sldId id="327" r:id="rId70"/>
    <p:sldId id="328" r:id="rId71"/>
    <p:sldId id="329" r:id="rId72"/>
    <p:sldId id="330" r:id="rId73"/>
    <p:sldId id="331" r:id="rId74"/>
    <p:sldId id="332" r:id="rId75"/>
    <p:sldId id="333" r:id="rId76"/>
    <p:sldId id="334" r:id="rId77"/>
    <p:sldId id="336" r:id="rId78"/>
    <p:sldId id="335" r:id="rId79"/>
    <p:sldId id="337" r:id="rId80"/>
    <p:sldId id="338" r:id="rId81"/>
    <p:sldId id="339" r:id="rId82"/>
    <p:sldId id="340" r:id="rId83"/>
    <p:sldId id="341" r:id="rId84"/>
    <p:sldId id="342" r:id="rId85"/>
    <p:sldId id="343" r:id="rId86"/>
    <p:sldId id="344" r:id="rId87"/>
    <p:sldId id="346" r:id="rId88"/>
    <p:sldId id="347" r:id="rId89"/>
    <p:sldId id="348" r:id="rId90"/>
    <p:sldId id="349" r:id="rId91"/>
    <p:sldId id="350" r:id="rId92"/>
    <p:sldId id="351" r:id="rId93"/>
    <p:sldId id="352" r:id="rId94"/>
    <p:sldId id="353" r:id="rId95"/>
    <p:sldId id="354" r:id="rId96"/>
    <p:sldId id="355" r:id="rId97"/>
    <p:sldId id="356" r:id="rId98"/>
    <p:sldId id="357" r:id="rId99"/>
    <p:sldId id="358" r:id="rId100"/>
    <p:sldId id="359" r:id="rId101"/>
    <p:sldId id="360" r:id="rId102"/>
    <p:sldId id="361" r:id="rId103"/>
    <p:sldId id="362" r:id="rId104"/>
    <p:sldId id="363" r:id="rId105"/>
    <p:sldId id="364" r:id="rId106"/>
    <p:sldId id="365" r:id="rId107"/>
    <p:sldId id="366" r:id="rId108"/>
    <p:sldId id="368" r:id="rId109"/>
    <p:sldId id="369" r:id="rId110"/>
    <p:sldId id="370" r:id="rId111"/>
    <p:sldId id="371" r:id="rId112"/>
    <p:sldId id="367" r:id="rId113"/>
    <p:sldId id="372" r:id="rId1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3447" autoAdjust="0"/>
  </p:normalViewPr>
  <p:slideViewPr>
    <p:cSldViewPr snapToGrid="0">
      <p:cViewPr>
        <p:scale>
          <a:sx n="58" d="100"/>
          <a:sy n="58" d="100"/>
        </p:scale>
        <p:origin x="988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theme" Target="theme/theme1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tableStyles" Target="tableStyle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2/26/2026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4463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2/26/2026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1633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2/26/2026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7403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2/26/2026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057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2/26/2026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5414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2/26/2026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4808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2/26/2026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2344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2/26/2026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499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2/26/2026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8374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2/26/2026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163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2/26/2026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6789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2/26/2026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4423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04" r:id="rId6"/>
    <p:sldLayoutId id="2147483700" r:id="rId7"/>
    <p:sldLayoutId id="2147483701" r:id="rId8"/>
    <p:sldLayoutId id="2147483702" r:id="rId9"/>
    <p:sldLayoutId id="2147483703" r:id="rId10"/>
    <p:sldLayoutId id="2147483705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FD1D2CD-954D-4C4D-B505-05EAD159B2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EAE456-DA79-9895-19B2-CBCA5A8A71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600"/>
            <a:ext cx="4670661" cy="3030842"/>
          </a:xfrm>
        </p:spPr>
        <p:txBody>
          <a:bodyPr>
            <a:noAutofit/>
          </a:bodyPr>
          <a:lstStyle/>
          <a:p>
            <a:r>
              <a:rPr lang="en-US" sz="3600" dirty="0"/>
              <a:t>Computing Algorithms</a:t>
            </a:r>
            <a:br>
              <a:rPr lang="en-US" sz="3600" dirty="0"/>
            </a:br>
            <a:r>
              <a:rPr lang="en-US" sz="3600" dirty="0"/>
              <a:t>Lecture 4:</a:t>
            </a:r>
            <a:br>
              <a:rPr lang="en-US" sz="3600" dirty="0"/>
            </a:br>
            <a:r>
              <a:rPr lang="en-US" sz="3600" dirty="0"/>
              <a:t>Brute force part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383053-DBC8-A47D-72F0-B866CFBE53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4670660" cy="1287887"/>
          </a:xfrm>
        </p:spPr>
        <p:txBody>
          <a:bodyPr>
            <a:normAutofit/>
          </a:bodyPr>
          <a:lstStyle/>
          <a:p>
            <a:r>
              <a:rPr lang="en-US" dirty="0"/>
              <a:t>By: Dr. Mohamed Moheeb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132AEA7-A24A-45A9-BF8F-D0AFF34DF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805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594A22F1-6EB7-DAD1-49EB-4009799932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422" r="27944" b="-1"/>
          <a:stretch>
            <a:fillRect/>
          </a:stretch>
        </p:blipFill>
        <p:spPr>
          <a:xfrm>
            <a:off x="6515100" y="10"/>
            <a:ext cx="567690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403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88632-A97F-2592-E5E1-57A965B04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1E22B-CE58-F133-934B-D7163601B3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Introduction</a:t>
            </a:r>
          </a:p>
          <a:p>
            <a:r>
              <a:rPr lang="en-US" sz="2400" dirty="0"/>
              <a:t>Selection and Bubble sort</a:t>
            </a:r>
          </a:p>
          <a:p>
            <a:r>
              <a:rPr lang="en-US" sz="2400" dirty="0"/>
              <a:t>Sequential search and brute-force string matching</a:t>
            </a:r>
          </a:p>
        </p:txBody>
      </p:sp>
    </p:spTree>
    <p:extLst>
      <p:ext uri="{BB962C8B-B14F-4D97-AF65-F5344CB8AC3E}">
        <p14:creationId xmlns:p14="http://schemas.microsoft.com/office/powerpoint/2010/main" val="192019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F7B381-ADD4-866C-A69D-01F8C070C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CFD1D2CD-954D-4C4D-B505-05EAD159B2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BA0433-35AC-4F4A-DE05-51074C2B4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117" y="952500"/>
            <a:ext cx="4124557" cy="352425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800" dirty="0"/>
              <a:t>I</a:t>
            </a:r>
            <a:r>
              <a:rPr lang="en-US" sz="5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ntroduction</a:t>
            </a:r>
            <a:br>
              <a:rPr lang="en-US" sz="5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5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58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2D508B3-A66C-833E-D929-8DC2116356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2088" y="4882722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qua and green fractal background like floral petal">
            <a:extLst>
              <a:ext uri="{FF2B5EF4-FFF2-40B4-BE49-F238E27FC236}">
                <a16:creationId xmlns:a16="http://schemas.microsoft.com/office/drawing/2014/main" id="{4B4382BC-613B-3E3D-69A5-2D973FD7C6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43" r="17669"/>
          <a:stretch>
            <a:fillRect/>
          </a:stretch>
        </p:blipFill>
        <p:spPr>
          <a:xfrm>
            <a:off x="5261956" y="10"/>
            <a:ext cx="6930043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358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C9651-88E9-AF54-5796-E34767470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Brute force strategy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9D634-78FD-B0EF-9A85-75F75CBD80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Brute force </a:t>
            </a:r>
            <a:r>
              <a:rPr lang="en-US" dirty="0"/>
              <a:t>is a straightforward approach to solving a problem, usually directly based on the problem statement and definitions of the concepts involved.</a:t>
            </a:r>
          </a:p>
          <a:p>
            <a:r>
              <a:rPr lang="en-US" dirty="0"/>
              <a:t>The algorithm tries </a:t>
            </a:r>
            <a:r>
              <a:rPr lang="en-US" b="1" dirty="0"/>
              <a:t>all possible solutions</a:t>
            </a:r>
            <a:r>
              <a:rPr lang="en-US" dirty="0"/>
              <a:t> until it finds the correct one.</a:t>
            </a:r>
          </a:p>
          <a:p>
            <a:r>
              <a:rPr lang="en-US" dirty="0"/>
              <a:t>It is based directly on the problem’s definition, without using optimization, heuristics, or shortcuts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19034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61100-C280-12F0-BBD5-E14C957C2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Characteristics of Brute-Force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BAFC13-BA7F-4493-4AA6-287E4A6694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Simple to design — they follow directly from the problem statement.</a:t>
            </a:r>
          </a:p>
          <a:p>
            <a:r>
              <a:rPr lang="en-US" dirty="0"/>
              <a:t>Exhaustive — check every candidate solution.</a:t>
            </a:r>
          </a:p>
          <a:p>
            <a:r>
              <a:rPr lang="en-US" dirty="0"/>
              <a:t>Guaranteed correctness — if a solution exists, brute force will find it.</a:t>
            </a:r>
          </a:p>
          <a:p>
            <a:r>
              <a:rPr lang="en-US" dirty="0"/>
              <a:t>Often inefficient — can be slow for large input sizes because the number of possibilities grows quickly.</a:t>
            </a:r>
          </a:p>
        </p:txBody>
      </p:sp>
    </p:spTree>
    <p:extLst>
      <p:ext uri="{BB962C8B-B14F-4D97-AF65-F5344CB8AC3E}">
        <p14:creationId xmlns:p14="http://schemas.microsoft.com/office/powerpoint/2010/main" val="17057315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2EE13-8FAB-76CC-63D2-A47AA7C34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5AB619-42E3-74B6-0470-9475D5796C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Password cracking: Trying every possible combination until the correct password is found.</a:t>
            </a:r>
          </a:p>
          <a:p>
            <a:r>
              <a:rPr lang="en-US" dirty="0"/>
              <a:t>Searching: Linear search checks each element of a list until the target is found.</a:t>
            </a:r>
          </a:p>
          <a:p>
            <a:r>
              <a:rPr lang="en-US" dirty="0"/>
              <a:t>Combinatorial problems: Generating all permutations or subsets to find an optimal one (e.g., traveling salesman problem).</a:t>
            </a:r>
          </a:p>
        </p:txBody>
      </p:sp>
    </p:spTree>
    <p:extLst>
      <p:ext uri="{BB962C8B-B14F-4D97-AF65-F5344CB8AC3E}">
        <p14:creationId xmlns:p14="http://schemas.microsoft.com/office/powerpoint/2010/main" val="3891433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DEDF8-1D84-4474-C901-CB143BE4B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When Brute Force Is Useful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B20DD-9CB8-BA25-9434-C5BD65E6E2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the input size is small.</a:t>
            </a:r>
          </a:p>
          <a:p>
            <a:r>
              <a:rPr lang="en-US" dirty="0"/>
              <a:t>When no faster algorithm is known.</a:t>
            </a:r>
          </a:p>
          <a:p>
            <a:r>
              <a:rPr lang="en-US" dirty="0"/>
              <a:t>As a simple baseline to compare more advanced algorithms.</a:t>
            </a:r>
          </a:p>
        </p:txBody>
      </p:sp>
    </p:spTree>
    <p:extLst>
      <p:ext uri="{BB962C8B-B14F-4D97-AF65-F5344CB8AC3E}">
        <p14:creationId xmlns:p14="http://schemas.microsoft.com/office/powerpoint/2010/main" val="6932225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CFD1D2CD-954D-4C4D-B505-05EAD159B2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D429E3-8814-9358-053E-1C57F72F0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117" y="952500"/>
            <a:ext cx="4555188" cy="3524250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6000" dirty="0"/>
              <a:t>Selection and Bubble sort</a:t>
            </a:r>
            <a:br>
              <a:rPr lang="en-US" sz="6000" dirty="0"/>
            </a:br>
            <a:br>
              <a:rPr lang="en-US" sz="5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58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2D508B3-A66C-833E-D929-8DC2116356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2088" y="4882722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Pipette adding DNA sample to a petri dish">
            <a:extLst>
              <a:ext uri="{FF2B5EF4-FFF2-40B4-BE49-F238E27FC236}">
                <a16:creationId xmlns:a16="http://schemas.microsoft.com/office/drawing/2014/main" id="{55785B06-4CCA-7B40-0C2B-5666DD8708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66" r="23646"/>
          <a:stretch>
            <a:fillRect/>
          </a:stretch>
        </p:blipFill>
        <p:spPr>
          <a:xfrm>
            <a:off x="5261956" y="10"/>
            <a:ext cx="6930043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075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AF6AA30-C1A2-F00C-2C9C-067745FD2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sort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41C7216-1369-E337-0F29-D75D442BF6A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2" y="2633471"/>
            <a:ext cx="5358808" cy="3566159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F4BC2A-DCD7-1DD1-2655-37A97342C76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Let’s trace the selection sort on this given array  of size n=5</a:t>
            </a:r>
          </a:p>
          <a:p>
            <a:r>
              <a:rPr lang="en-US" dirty="0"/>
              <a:t>First the for loop </a:t>
            </a:r>
            <a:r>
              <a:rPr lang="en-US" dirty="0" err="1"/>
              <a:t>i</a:t>
            </a:r>
            <a:r>
              <a:rPr lang="en-US" dirty="0"/>
              <a:t>=0  till it reach n-2 or in this case 3</a:t>
            </a:r>
          </a:p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7DB8D1-7B47-7394-32B3-0D428DB0FBAB}"/>
              </a:ext>
            </a:extLst>
          </p:cNvPr>
          <p:cNvSpPr/>
          <p:nvPr/>
        </p:nvSpPr>
        <p:spPr>
          <a:xfrm>
            <a:off x="979714" y="4215164"/>
            <a:ext cx="2155372" cy="402772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9CDD110-F826-71C5-9E79-FB154DA1DA9A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3135086" y="4416550"/>
            <a:ext cx="7293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9D697D54-60C3-535B-CA7D-3A721871EC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6122207"/>
              </p:ext>
            </p:extLst>
          </p:nvPr>
        </p:nvGraphicFramePr>
        <p:xfrm>
          <a:off x="5704114" y="1438656"/>
          <a:ext cx="5399315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9863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95345354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920383398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14009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1C252B61-C27B-0FC2-71A3-FA40FC9CD488}"/>
              </a:ext>
            </a:extLst>
          </p:cNvPr>
          <p:cNvSpPr txBox="1"/>
          <p:nvPr/>
        </p:nvSpPr>
        <p:spPr>
          <a:xfrm>
            <a:off x="9503230" y="4617936"/>
            <a:ext cx="1600200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=0</a:t>
            </a:r>
          </a:p>
          <a:p>
            <a:endParaRPr lang="en-US" dirty="0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372D609E-7CE1-3B3A-A8F7-2BFE61BE05D1}"/>
              </a:ext>
            </a:extLst>
          </p:cNvPr>
          <p:cNvCxnSpPr/>
          <p:nvPr/>
        </p:nvCxnSpPr>
        <p:spPr>
          <a:xfrm>
            <a:off x="6209188" y="1107983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7A63D30-D9A2-E6FF-4BF7-114BF25CC15C}"/>
              </a:ext>
            </a:extLst>
          </p:cNvPr>
          <p:cNvSpPr txBox="1"/>
          <p:nvPr/>
        </p:nvSpPr>
        <p:spPr>
          <a:xfrm>
            <a:off x="6114635" y="738651"/>
            <a:ext cx="766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28625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C9B8F-96BD-797D-BFC4-492381ACF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B741BA2-6FF3-C8B8-D030-A8C2F76A9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sort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C4AA8AF-BCDC-8783-01ED-BA8A3F3F3E4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2" y="2633471"/>
            <a:ext cx="5358808" cy="3566159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16E918-5A36-4664-FD70-E91F9CD75DF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min is assigned the value of </a:t>
            </a:r>
            <a:r>
              <a:rPr lang="en-US" dirty="0" err="1"/>
              <a:t>i</a:t>
            </a:r>
            <a:r>
              <a:rPr lang="en-US" dirty="0"/>
              <a:t>=0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34599C-33DD-2E4A-ADB7-D63D05FEBFB0}"/>
              </a:ext>
            </a:extLst>
          </p:cNvPr>
          <p:cNvSpPr/>
          <p:nvPr/>
        </p:nvSpPr>
        <p:spPr>
          <a:xfrm>
            <a:off x="979714" y="4556689"/>
            <a:ext cx="2155372" cy="402772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34FACD1-7276-2A0E-1B93-269469928EC5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3135086" y="4758075"/>
            <a:ext cx="7293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E85ABB60-FDD3-F6CD-9DCA-C207C553F5C4}"/>
              </a:ext>
            </a:extLst>
          </p:cNvPr>
          <p:cNvGraphicFramePr>
            <a:graphicFrameLocks noGrp="1"/>
          </p:cNvGraphicFramePr>
          <p:nvPr/>
        </p:nvGraphicFramePr>
        <p:xfrm>
          <a:off x="5704114" y="1438656"/>
          <a:ext cx="5399315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9863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95345354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920383398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14009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0E52F3A9-E470-432D-CBA0-B84235607FD6}"/>
              </a:ext>
            </a:extLst>
          </p:cNvPr>
          <p:cNvSpPr txBox="1"/>
          <p:nvPr/>
        </p:nvSpPr>
        <p:spPr>
          <a:xfrm>
            <a:off x="9503230" y="4617936"/>
            <a:ext cx="1600200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min=0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A3CD3917-ED0B-FA41-FC80-9A5D216A537C}"/>
              </a:ext>
            </a:extLst>
          </p:cNvPr>
          <p:cNvCxnSpPr/>
          <p:nvPr/>
        </p:nvCxnSpPr>
        <p:spPr>
          <a:xfrm>
            <a:off x="6274500" y="1075325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D2BDFEB-E1F8-BA4E-C48A-0861F771E6C9}"/>
              </a:ext>
            </a:extLst>
          </p:cNvPr>
          <p:cNvSpPr txBox="1"/>
          <p:nvPr/>
        </p:nvSpPr>
        <p:spPr>
          <a:xfrm>
            <a:off x="6019800" y="705993"/>
            <a:ext cx="7542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</a:t>
            </a:r>
            <a:r>
              <a:rPr lang="en-US" dirty="0"/>
              <a:t>, min</a:t>
            </a:r>
          </a:p>
        </p:txBody>
      </p:sp>
    </p:spTree>
    <p:extLst>
      <p:ext uri="{BB962C8B-B14F-4D97-AF65-F5344CB8AC3E}">
        <p14:creationId xmlns:p14="http://schemas.microsoft.com/office/powerpoint/2010/main" val="11243609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A3226-8CC7-2831-759B-9A07E771F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7719DFD-BEA3-E1F1-7B37-35D53F343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sort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B5A4D4C-0F6A-08B7-B868-7C9125B62B6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2" y="2633471"/>
            <a:ext cx="5358808" cy="3566159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4A9A3-F4B3-E64E-F78B-448F9007039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Starting the inner loop where j will start from j=i+1 or j=0+1=1 till it reaches n-1 or 4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75C1F7-75F9-257A-C851-EB7C29E657CA}"/>
              </a:ext>
            </a:extLst>
          </p:cNvPr>
          <p:cNvSpPr/>
          <p:nvPr/>
        </p:nvSpPr>
        <p:spPr>
          <a:xfrm>
            <a:off x="1321240" y="4909233"/>
            <a:ext cx="2155372" cy="402772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E72A12D-4F45-AA5C-84DA-F4F846E5EEFC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3476612" y="5110619"/>
            <a:ext cx="7293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E953A970-99E3-DCBF-4D01-33AB885A8B29}"/>
              </a:ext>
            </a:extLst>
          </p:cNvPr>
          <p:cNvGraphicFramePr>
            <a:graphicFrameLocks noGrp="1"/>
          </p:cNvGraphicFramePr>
          <p:nvPr/>
        </p:nvGraphicFramePr>
        <p:xfrm>
          <a:off x="5704114" y="1438656"/>
          <a:ext cx="5399315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9863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95345354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920383398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14009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B4F9739B-1792-D64A-61B8-20D4B34A2CF5}"/>
              </a:ext>
            </a:extLst>
          </p:cNvPr>
          <p:cNvSpPr txBox="1"/>
          <p:nvPr/>
        </p:nvSpPr>
        <p:spPr>
          <a:xfrm>
            <a:off x="9503230" y="4617936"/>
            <a:ext cx="1600200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min=0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9591C29E-41C9-2824-2B2C-640364636CF3}"/>
              </a:ext>
            </a:extLst>
          </p:cNvPr>
          <p:cNvCxnSpPr/>
          <p:nvPr/>
        </p:nvCxnSpPr>
        <p:spPr>
          <a:xfrm>
            <a:off x="6230958" y="955583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99C4533-B301-E271-3104-DBCF8BCDB48F}"/>
              </a:ext>
            </a:extLst>
          </p:cNvPr>
          <p:cNvCxnSpPr/>
          <p:nvPr/>
        </p:nvCxnSpPr>
        <p:spPr>
          <a:xfrm>
            <a:off x="7330809" y="955583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1B6DA74-20E4-2D91-1AD9-E81B48F8D742}"/>
              </a:ext>
            </a:extLst>
          </p:cNvPr>
          <p:cNvSpPr txBox="1"/>
          <p:nvPr/>
        </p:nvSpPr>
        <p:spPr>
          <a:xfrm>
            <a:off x="7220546" y="584673"/>
            <a:ext cx="584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66085A-D207-BA50-5454-5FAB2372CF46}"/>
              </a:ext>
            </a:extLst>
          </p:cNvPr>
          <p:cNvSpPr txBox="1"/>
          <p:nvPr/>
        </p:nvSpPr>
        <p:spPr>
          <a:xfrm>
            <a:off x="5823860" y="586251"/>
            <a:ext cx="742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</a:t>
            </a:r>
            <a:r>
              <a:rPr lang="en-US" dirty="0"/>
              <a:t>, min</a:t>
            </a:r>
          </a:p>
        </p:txBody>
      </p:sp>
    </p:spTree>
    <p:extLst>
      <p:ext uri="{BB962C8B-B14F-4D97-AF65-F5344CB8AC3E}">
        <p14:creationId xmlns:p14="http://schemas.microsoft.com/office/powerpoint/2010/main" val="5481468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26669-5678-752A-4C2B-D438F4A6F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63F3B13-5B35-E33C-6C5F-378B1921C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sort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48D0E02-975D-2C83-67AE-D213635701A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2" y="2633471"/>
            <a:ext cx="5358808" cy="3566159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D23563-D27D-34D6-C426-7DA00CC1AD2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Check the condition for A[j] &lt; A[min] or A[1]&lt; A[0] = 21&lt;14 which is false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40A95A5-4FF4-6AEE-0669-22B8D35A0DF4}"/>
              </a:ext>
            </a:extLst>
          </p:cNvPr>
          <p:cNvSpPr/>
          <p:nvPr/>
        </p:nvSpPr>
        <p:spPr>
          <a:xfrm>
            <a:off x="1728862" y="5261772"/>
            <a:ext cx="2155372" cy="402772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58ED874-D3C6-F578-A48A-9437080B3043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3884234" y="5463158"/>
            <a:ext cx="7293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25897E04-1FB9-B4B1-D440-3AAB60D102EE}"/>
              </a:ext>
            </a:extLst>
          </p:cNvPr>
          <p:cNvGraphicFramePr>
            <a:graphicFrameLocks noGrp="1"/>
          </p:cNvGraphicFramePr>
          <p:nvPr/>
        </p:nvGraphicFramePr>
        <p:xfrm>
          <a:off x="5704114" y="1438656"/>
          <a:ext cx="5399315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9863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95345354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920383398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14009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9ABF40D9-A15C-E755-5390-87F1E2756867}"/>
              </a:ext>
            </a:extLst>
          </p:cNvPr>
          <p:cNvSpPr txBox="1"/>
          <p:nvPr/>
        </p:nvSpPr>
        <p:spPr>
          <a:xfrm>
            <a:off x="9503230" y="4617936"/>
            <a:ext cx="1600200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min=0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ED9D9AA-2E18-6A89-7E29-8CF137BB4E06}"/>
              </a:ext>
            </a:extLst>
          </p:cNvPr>
          <p:cNvCxnSpPr/>
          <p:nvPr/>
        </p:nvCxnSpPr>
        <p:spPr>
          <a:xfrm>
            <a:off x="6252729" y="1077976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938F7AC-74F8-6DB2-12C3-9BAE5841C1B7}"/>
              </a:ext>
            </a:extLst>
          </p:cNvPr>
          <p:cNvCxnSpPr/>
          <p:nvPr/>
        </p:nvCxnSpPr>
        <p:spPr>
          <a:xfrm>
            <a:off x="7352580" y="1077976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0A367C5-4D18-B965-02EA-F8B994775479}"/>
              </a:ext>
            </a:extLst>
          </p:cNvPr>
          <p:cNvSpPr txBox="1"/>
          <p:nvPr/>
        </p:nvSpPr>
        <p:spPr>
          <a:xfrm>
            <a:off x="7242317" y="707066"/>
            <a:ext cx="584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4C8A7A-685E-9681-2B69-636319503085}"/>
              </a:ext>
            </a:extLst>
          </p:cNvPr>
          <p:cNvSpPr txBox="1"/>
          <p:nvPr/>
        </p:nvSpPr>
        <p:spPr>
          <a:xfrm>
            <a:off x="5845631" y="708644"/>
            <a:ext cx="742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</a:t>
            </a:r>
            <a:r>
              <a:rPr lang="en-US" dirty="0"/>
              <a:t>, min</a:t>
            </a:r>
          </a:p>
        </p:txBody>
      </p:sp>
    </p:spTree>
    <p:extLst>
      <p:ext uri="{BB962C8B-B14F-4D97-AF65-F5344CB8AC3E}">
        <p14:creationId xmlns:p14="http://schemas.microsoft.com/office/powerpoint/2010/main" val="30693139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C942F-778F-9860-B9B2-B27C2C92A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C27117D-37F2-5170-0052-8BC6343D4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sort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E0970A5-9D30-5ED4-AC5F-A4DE3C5F158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2" y="2633471"/>
            <a:ext cx="5358808" cy="3566159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F83E31-BD94-7512-B40A-ADCDE20B365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We go back to the inner loop and increment the variable j by 1 where j =2, which still didn’t reach more than n-1 or 4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77AFF49-B057-6CDF-7B80-6C5BD4388E61}"/>
              </a:ext>
            </a:extLst>
          </p:cNvPr>
          <p:cNvSpPr/>
          <p:nvPr/>
        </p:nvSpPr>
        <p:spPr>
          <a:xfrm>
            <a:off x="1332254" y="4931262"/>
            <a:ext cx="2155372" cy="402772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3A0032E-64C6-26BC-43AA-1DE6E8704A1B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3487626" y="5132648"/>
            <a:ext cx="7293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49D1176B-2D48-2FDA-0917-688F018FC3DB}"/>
              </a:ext>
            </a:extLst>
          </p:cNvPr>
          <p:cNvGraphicFramePr>
            <a:graphicFrameLocks noGrp="1"/>
          </p:cNvGraphicFramePr>
          <p:nvPr/>
        </p:nvGraphicFramePr>
        <p:xfrm>
          <a:off x="5704114" y="1438656"/>
          <a:ext cx="5399315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9863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95345354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920383398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14009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3D574578-7919-E151-E5D1-3D43B7CB9E03}"/>
              </a:ext>
            </a:extLst>
          </p:cNvPr>
          <p:cNvSpPr txBox="1"/>
          <p:nvPr/>
        </p:nvSpPr>
        <p:spPr>
          <a:xfrm>
            <a:off x="9503230" y="4617936"/>
            <a:ext cx="1600200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min=0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570600F2-368D-358E-6A5B-DC560ACAE2E6}"/>
              </a:ext>
            </a:extLst>
          </p:cNvPr>
          <p:cNvCxnSpPr/>
          <p:nvPr/>
        </p:nvCxnSpPr>
        <p:spPr>
          <a:xfrm>
            <a:off x="6307158" y="1097096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039C9BD-4C47-0685-463D-229F72483B6A}"/>
              </a:ext>
            </a:extLst>
          </p:cNvPr>
          <p:cNvCxnSpPr/>
          <p:nvPr/>
        </p:nvCxnSpPr>
        <p:spPr>
          <a:xfrm>
            <a:off x="8408495" y="1097096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E5D82C7-8709-2B40-4D8E-BED757F8B522}"/>
              </a:ext>
            </a:extLst>
          </p:cNvPr>
          <p:cNvSpPr txBox="1"/>
          <p:nvPr/>
        </p:nvSpPr>
        <p:spPr>
          <a:xfrm>
            <a:off x="8298232" y="726186"/>
            <a:ext cx="584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A67710-1C35-AEF9-AF9F-60D4B2D509DD}"/>
              </a:ext>
            </a:extLst>
          </p:cNvPr>
          <p:cNvSpPr txBox="1"/>
          <p:nvPr/>
        </p:nvSpPr>
        <p:spPr>
          <a:xfrm>
            <a:off x="5900060" y="727764"/>
            <a:ext cx="742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</a:t>
            </a:r>
            <a:r>
              <a:rPr lang="en-US" dirty="0"/>
              <a:t>, min</a:t>
            </a:r>
          </a:p>
        </p:txBody>
      </p:sp>
    </p:spTree>
    <p:extLst>
      <p:ext uri="{BB962C8B-B14F-4D97-AF65-F5344CB8AC3E}">
        <p14:creationId xmlns:p14="http://schemas.microsoft.com/office/powerpoint/2010/main" val="1550086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EC071-B0C1-E617-1899-F128765E4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36F9AB8-1251-DD2A-9632-12FDD198C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sort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66ECE3A-AB94-C766-BF3E-32840257C15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2" y="2633471"/>
            <a:ext cx="5358808" cy="3566159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67A641-B37E-0FD5-62E1-E8F764C09CC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Check the condition for A[j] &lt; A[min] or A[2]&lt; A[0] = 1&lt;14, which is true, then we change the min value to 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7541A7-F230-3A1A-C77F-62D14784FB40}"/>
              </a:ext>
            </a:extLst>
          </p:cNvPr>
          <p:cNvSpPr/>
          <p:nvPr/>
        </p:nvSpPr>
        <p:spPr>
          <a:xfrm>
            <a:off x="1728862" y="5261772"/>
            <a:ext cx="2155372" cy="402772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6EA4507-4584-B5CB-303A-1801EDA36943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3884234" y="5463158"/>
            <a:ext cx="7293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254218AA-9AD9-1EBD-B22F-E23EEB7A559B}"/>
              </a:ext>
            </a:extLst>
          </p:cNvPr>
          <p:cNvGraphicFramePr>
            <a:graphicFrameLocks noGrp="1"/>
          </p:cNvGraphicFramePr>
          <p:nvPr/>
        </p:nvGraphicFramePr>
        <p:xfrm>
          <a:off x="5704114" y="1438656"/>
          <a:ext cx="5399315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9863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95345354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920383398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14009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762C2B14-F86B-5E5F-D851-E51FB6EDE2DE}"/>
              </a:ext>
            </a:extLst>
          </p:cNvPr>
          <p:cNvSpPr txBox="1"/>
          <p:nvPr/>
        </p:nvSpPr>
        <p:spPr>
          <a:xfrm>
            <a:off x="9503230" y="4617936"/>
            <a:ext cx="1600200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min=2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BEC08161-CEC6-3334-DC66-0D2AEA7235EA}"/>
              </a:ext>
            </a:extLst>
          </p:cNvPr>
          <p:cNvCxnSpPr/>
          <p:nvPr/>
        </p:nvCxnSpPr>
        <p:spPr>
          <a:xfrm>
            <a:off x="6241844" y="955583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15A9775-F203-2B12-2FA9-7A5837E03B3A}"/>
              </a:ext>
            </a:extLst>
          </p:cNvPr>
          <p:cNvCxnSpPr/>
          <p:nvPr/>
        </p:nvCxnSpPr>
        <p:spPr>
          <a:xfrm>
            <a:off x="8397610" y="955583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C95AFB7C-56C9-5D7C-5540-F65DD14BF629}"/>
              </a:ext>
            </a:extLst>
          </p:cNvPr>
          <p:cNvSpPr txBox="1"/>
          <p:nvPr/>
        </p:nvSpPr>
        <p:spPr>
          <a:xfrm>
            <a:off x="8134947" y="583878"/>
            <a:ext cx="682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j,min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368EAD-7A38-DE0B-FA8B-31392A8AA425}"/>
              </a:ext>
            </a:extLst>
          </p:cNvPr>
          <p:cNvSpPr txBox="1"/>
          <p:nvPr/>
        </p:nvSpPr>
        <p:spPr>
          <a:xfrm>
            <a:off x="6135445" y="583878"/>
            <a:ext cx="330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142284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0D18F-5705-52CE-D73A-767B8786C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46AA14C-9D3F-FD81-6808-76D35AAE1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sort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BDCDBC4-624F-EC6B-273B-773553D3F99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2" y="2633471"/>
            <a:ext cx="5358808" cy="3566159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A58260-453E-ACE3-E797-86CA6F31D8C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We go back to the inner loop and increment the variable j by 1, where j =3, which still didn’t reach more than n-1 or 4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6DFE783-C78B-A0A7-DFF9-1459ACE7070A}"/>
              </a:ext>
            </a:extLst>
          </p:cNvPr>
          <p:cNvSpPr/>
          <p:nvPr/>
        </p:nvSpPr>
        <p:spPr>
          <a:xfrm>
            <a:off x="1332254" y="4931262"/>
            <a:ext cx="2155372" cy="402772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8E39C90-3027-7927-6D85-C2938C46875C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3487626" y="5132648"/>
            <a:ext cx="7293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54550935-12CA-47C5-3BC9-4BC5392D54CF}"/>
              </a:ext>
            </a:extLst>
          </p:cNvPr>
          <p:cNvGraphicFramePr>
            <a:graphicFrameLocks noGrp="1"/>
          </p:cNvGraphicFramePr>
          <p:nvPr/>
        </p:nvGraphicFramePr>
        <p:xfrm>
          <a:off x="5704114" y="1438656"/>
          <a:ext cx="5399315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9863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95345354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920383398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14009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0DAB2E09-345D-CF99-B518-DA9EA91731BD}"/>
              </a:ext>
            </a:extLst>
          </p:cNvPr>
          <p:cNvSpPr txBox="1"/>
          <p:nvPr/>
        </p:nvSpPr>
        <p:spPr>
          <a:xfrm>
            <a:off x="9503230" y="4617936"/>
            <a:ext cx="1600200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min=2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A23DD9A4-C243-34EC-4CA8-C853FA23A36B}"/>
              </a:ext>
            </a:extLst>
          </p:cNvPr>
          <p:cNvCxnSpPr/>
          <p:nvPr/>
        </p:nvCxnSpPr>
        <p:spPr>
          <a:xfrm>
            <a:off x="6230959" y="1116364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E540A55-581B-7575-51B2-D9E85D64959E}"/>
              </a:ext>
            </a:extLst>
          </p:cNvPr>
          <p:cNvCxnSpPr/>
          <p:nvPr/>
        </p:nvCxnSpPr>
        <p:spPr>
          <a:xfrm>
            <a:off x="9486182" y="1127250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4D3B09E-BD83-0628-A1AB-39679DC33440}"/>
              </a:ext>
            </a:extLst>
          </p:cNvPr>
          <p:cNvSpPr txBox="1"/>
          <p:nvPr/>
        </p:nvSpPr>
        <p:spPr>
          <a:xfrm>
            <a:off x="9375918" y="708644"/>
            <a:ext cx="584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46C3E7-C854-70B5-20B9-BF28D5EA35F9}"/>
              </a:ext>
            </a:extLst>
          </p:cNvPr>
          <p:cNvSpPr txBox="1"/>
          <p:nvPr/>
        </p:nvSpPr>
        <p:spPr>
          <a:xfrm>
            <a:off x="6091902" y="657573"/>
            <a:ext cx="330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</a:t>
            </a:r>
            <a:r>
              <a:rPr lang="en-US" dirty="0"/>
              <a:t> 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3AB9ACF-2EE1-CB16-8E44-463EFDEF2747}"/>
              </a:ext>
            </a:extLst>
          </p:cNvPr>
          <p:cNvCxnSpPr/>
          <p:nvPr/>
        </p:nvCxnSpPr>
        <p:spPr>
          <a:xfrm>
            <a:off x="8353674" y="1127248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F8A60EA-654C-5694-89B5-646BBBD3B8D1}"/>
              </a:ext>
            </a:extLst>
          </p:cNvPr>
          <p:cNvSpPr txBox="1"/>
          <p:nvPr/>
        </p:nvSpPr>
        <p:spPr>
          <a:xfrm>
            <a:off x="8006726" y="769952"/>
            <a:ext cx="939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min</a:t>
            </a:r>
          </a:p>
        </p:txBody>
      </p:sp>
    </p:spTree>
    <p:extLst>
      <p:ext uri="{BB962C8B-B14F-4D97-AF65-F5344CB8AC3E}">
        <p14:creationId xmlns:p14="http://schemas.microsoft.com/office/powerpoint/2010/main" val="13023726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44852-6633-C126-FDBF-12F174F66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6B80475-D8B4-CC1E-A9D1-6170F2EDD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sort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D09151C-53DC-FD88-03AC-A3D77DC92BB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2" y="2633471"/>
            <a:ext cx="5358808" cy="3566159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5B320F-91C3-0408-17D9-A2A9FCDBE8C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Check the condition for A[j] &lt; A[min] or A[3]&lt; A[2] = 12&lt;1 which is false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9BC64F0-EB66-BC3D-1987-8CCD83F202ED}"/>
              </a:ext>
            </a:extLst>
          </p:cNvPr>
          <p:cNvSpPr/>
          <p:nvPr/>
        </p:nvSpPr>
        <p:spPr>
          <a:xfrm>
            <a:off x="1728862" y="5261772"/>
            <a:ext cx="2155372" cy="402772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CDC60F5-AEAA-417F-3710-CC18A8A69648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3884234" y="5463158"/>
            <a:ext cx="7293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1C28B9AA-F979-8B82-340A-4634737B56AD}"/>
              </a:ext>
            </a:extLst>
          </p:cNvPr>
          <p:cNvGraphicFramePr>
            <a:graphicFrameLocks noGrp="1"/>
          </p:cNvGraphicFramePr>
          <p:nvPr/>
        </p:nvGraphicFramePr>
        <p:xfrm>
          <a:off x="5704114" y="1438656"/>
          <a:ext cx="5399315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9863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95345354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920383398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14009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0BD09EBF-A5EB-A93B-66D6-FED6D5DC1C6F}"/>
              </a:ext>
            </a:extLst>
          </p:cNvPr>
          <p:cNvSpPr txBox="1"/>
          <p:nvPr/>
        </p:nvSpPr>
        <p:spPr>
          <a:xfrm>
            <a:off x="9503230" y="4617936"/>
            <a:ext cx="1600200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min=2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A47952D3-C3E4-1CE6-FFB5-04E8CFDB28C6}"/>
              </a:ext>
            </a:extLst>
          </p:cNvPr>
          <p:cNvCxnSpPr/>
          <p:nvPr/>
        </p:nvCxnSpPr>
        <p:spPr>
          <a:xfrm>
            <a:off x="6230959" y="1116364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36166BC-A653-CBE8-AA64-4DD64C352F27}"/>
              </a:ext>
            </a:extLst>
          </p:cNvPr>
          <p:cNvCxnSpPr/>
          <p:nvPr/>
        </p:nvCxnSpPr>
        <p:spPr>
          <a:xfrm>
            <a:off x="9486182" y="1127250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8D33DE5-7275-DF39-C85A-266507953B6A}"/>
              </a:ext>
            </a:extLst>
          </p:cNvPr>
          <p:cNvSpPr txBox="1"/>
          <p:nvPr/>
        </p:nvSpPr>
        <p:spPr>
          <a:xfrm>
            <a:off x="9375918" y="708644"/>
            <a:ext cx="584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E871E7-A1BF-C3DA-30D0-0A36BEBC70F3}"/>
              </a:ext>
            </a:extLst>
          </p:cNvPr>
          <p:cNvSpPr txBox="1"/>
          <p:nvPr/>
        </p:nvSpPr>
        <p:spPr>
          <a:xfrm>
            <a:off x="6091902" y="657573"/>
            <a:ext cx="330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</a:t>
            </a:r>
            <a:r>
              <a:rPr lang="en-US" dirty="0"/>
              <a:t> 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FA40DE6-2FDF-99EF-61CB-17F07C8819F0}"/>
              </a:ext>
            </a:extLst>
          </p:cNvPr>
          <p:cNvCxnSpPr/>
          <p:nvPr/>
        </p:nvCxnSpPr>
        <p:spPr>
          <a:xfrm>
            <a:off x="8353674" y="1127248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048C324-84DC-7AEF-469E-E3EF33D86490}"/>
              </a:ext>
            </a:extLst>
          </p:cNvPr>
          <p:cNvSpPr txBox="1"/>
          <p:nvPr/>
        </p:nvSpPr>
        <p:spPr>
          <a:xfrm>
            <a:off x="8006726" y="769952"/>
            <a:ext cx="939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min</a:t>
            </a:r>
          </a:p>
        </p:txBody>
      </p:sp>
    </p:spTree>
    <p:extLst>
      <p:ext uri="{BB962C8B-B14F-4D97-AF65-F5344CB8AC3E}">
        <p14:creationId xmlns:p14="http://schemas.microsoft.com/office/powerpoint/2010/main" val="4463302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04F77-19C2-3DEC-0DCC-377DB75F8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691EA20-8D24-5ECE-A2ED-3FAB3ED20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sort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85C52E8-EAB7-9C27-9852-258AFB3C36C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2" y="2633471"/>
            <a:ext cx="5358808" cy="3566159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0AAD94-8668-0AFD-A269-283B1738A09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We go back to the inner loop and increment the variable j by 1, where j =4, which still didn’t reach more than n-1 or 4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47F099-C520-38C3-D80E-5F08737D5635}"/>
              </a:ext>
            </a:extLst>
          </p:cNvPr>
          <p:cNvSpPr/>
          <p:nvPr/>
        </p:nvSpPr>
        <p:spPr>
          <a:xfrm>
            <a:off x="1332254" y="4931262"/>
            <a:ext cx="2155372" cy="402772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E430C55-A871-3F6C-7507-D8E5B59620C8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3487626" y="5132648"/>
            <a:ext cx="7293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19273B75-9B0A-44DF-AEF2-DA8E233CC016}"/>
              </a:ext>
            </a:extLst>
          </p:cNvPr>
          <p:cNvGraphicFramePr>
            <a:graphicFrameLocks noGrp="1"/>
          </p:cNvGraphicFramePr>
          <p:nvPr/>
        </p:nvGraphicFramePr>
        <p:xfrm>
          <a:off x="5704114" y="1438656"/>
          <a:ext cx="5399315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9863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95345354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920383398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14009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67FA9B0C-DCDF-B185-D24E-63B4C228839A}"/>
              </a:ext>
            </a:extLst>
          </p:cNvPr>
          <p:cNvSpPr txBox="1"/>
          <p:nvPr/>
        </p:nvSpPr>
        <p:spPr>
          <a:xfrm>
            <a:off x="9503230" y="4617936"/>
            <a:ext cx="1600200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min=2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9B893C03-96A0-A65B-0B4D-0314B4DD335B}"/>
              </a:ext>
            </a:extLst>
          </p:cNvPr>
          <p:cNvCxnSpPr/>
          <p:nvPr/>
        </p:nvCxnSpPr>
        <p:spPr>
          <a:xfrm>
            <a:off x="6230959" y="1116364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DE6555D-8586-128D-549A-AF557F33045E}"/>
              </a:ext>
            </a:extLst>
          </p:cNvPr>
          <p:cNvCxnSpPr/>
          <p:nvPr/>
        </p:nvCxnSpPr>
        <p:spPr>
          <a:xfrm>
            <a:off x="10552984" y="1127250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C5721B1-CEE9-FE52-2508-EF72A49C4C39}"/>
              </a:ext>
            </a:extLst>
          </p:cNvPr>
          <p:cNvSpPr txBox="1"/>
          <p:nvPr/>
        </p:nvSpPr>
        <p:spPr>
          <a:xfrm>
            <a:off x="10442720" y="708644"/>
            <a:ext cx="584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72C494-DB64-5E0F-3FB1-3FE4CD66BFC3}"/>
              </a:ext>
            </a:extLst>
          </p:cNvPr>
          <p:cNvSpPr txBox="1"/>
          <p:nvPr/>
        </p:nvSpPr>
        <p:spPr>
          <a:xfrm>
            <a:off x="6091902" y="657573"/>
            <a:ext cx="330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</a:t>
            </a:r>
            <a:r>
              <a:rPr lang="en-US" dirty="0"/>
              <a:t> 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302805D-5E26-B044-9053-DCA17E17D8C6}"/>
              </a:ext>
            </a:extLst>
          </p:cNvPr>
          <p:cNvCxnSpPr/>
          <p:nvPr/>
        </p:nvCxnSpPr>
        <p:spPr>
          <a:xfrm>
            <a:off x="8353674" y="1127248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FC45253-5AB7-2461-0DE2-D42EC9C51E14}"/>
              </a:ext>
            </a:extLst>
          </p:cNvPr>
          <p:cNvSpPr txBox="1"/>
          <p:nvPr/>
        </p:nvSpPr>
        <p:spPr>
          <a:xfrm>
            <a:off x="8006726" y="769952"/>
            <a:ext cx="939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min</a:t>
            </a:r>
          </a:p>
        </p:txBody>
      </p:sp>
    </p:spTree>
    <p:extLst>
      <p:ext uri="{BB962C8B-B14F-4D97-AF65-F5344CB8AC3E}">
        <p14:creationId xmlns:p14="http://schemas.microsoft.com/office/powerpoint/2010/main" val="14837395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CB67E-96A2-5C6C-9DFB-FF50501F0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70A9BA1-C5DF-DB56-E0A7-257CF2FB8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sort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B30F507-C698-6660-166B-6F6D00D7710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2" y="2633471"/>
            <a:ext cx="5358808" cy="3566159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DBDBB6-830E-BE3D-18AF-1F576D9CB3D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Check the condition for A[j] &lt; A[min] or A[4]&lt; A[2] = 14&lt;1 which is false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A22C323-8494-3755-CB62-B35CE1C173EE}"/>
              </a:ext>
            </a:extLst>
          </p:cNvPr>
          <p:cNvSpPr/>
          <p:nvPr/>
        </p:nvSpPr>
        <p:spPr>
          <a:xfrm>
            <a:off x="1728862" y="5261772"/>
            <a:ext cx="2155372" cy="402772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EF7723E-C132-24E9-CB8F-6EFCABC3F5F2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3884234" y="5463158"/>
            <a:ext cx="7293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83F01A7F-4AC4-3A23-5425-9FD62CB17968}"/>
              </a:ext>
            </a:extLst>
          </p:cNvPr>
          <p:cNvGraphicFramePr>
            <a:graphicFrameLocks noGrp="1"/>
          </p:cNvGraphicFramePr>
          <p:nvPr/>
        </p:nvGraphicFramePr>
        <p:xfrm>
          <a:off x="5704114" y="1438656"/>
          <a:ext cx="5399315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9863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95345354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920383398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14009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718B0104-34D5-5014-6C52-0EAC505CC7FA}"/>
              </a:ext>
            </a:extLst>
          </p:cNvPr>
          <p:cNvSpPr txBox="1"/>
          <p:nvPr/>
        </p:nvSpPr>
        <p:spPr>
          <a:xfrm>
            <a:off x="9503230" y="4617936"/>
            <a:ext cx="1600200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min=2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4E3A242D-8578-4BF5-55E9-3FE90D1DEF1A}"/>
              </a:ext>
            </a:extLst>
          </p:cNvPr>
          <p:cNvCxnSpPr/>
          <p:nvPr/>
        </p:nvCxnSpPr>
        <p:spPr>
          <a:xfrm>
            <a:off x="6230959" y="1116364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DFE224E0-5187-729E-E652-7D8A4A09B6FE}"/>
              </a:ext>
            </a:extLst>
          </p:cNvPr>
          <p:cNvCxnSpPr/>
          <p:nvPr/>
        </p:nvCxnSpPr>
        <p:spPr>
          <a:xfrm>
            <a:off x="10552984" y="1127250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465B6DC-3590-B72C-9EDF-1EC9DE8E3FB6}"/>
              </a:ext>
            </a:extLst>
          </p:cNvPr>
          <p:cNvSpPr txBox="1"/>
          <p:nvPr/>
        </p:nvSpPr>
        <p:spPr>
          <a:xfrm>
            <a:off x="10442720" y="708644"/>
            <a:ext cx="584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A68D62-EB19-F1A2-4CAB-A8A1BDCFE81C}"/>
              </a:ext>
            </a:extLst>
          </p:cNvPr>
          <p:cNvSpPr txBox="1"/>
          <p:nvPr/>
        </p:nvSpPr>
        <p:spPr>
          <a:xfrm>
            <a:off x="6091902" y="657573"/>
            <a:ext cx="330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</a:t>
            </a:r>
            <a:r>
              <a:rPr lang="en-US" dirty="0"/>
              <a:t> 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A8D9AE4-D62C-C252-6E4C-4E8F5EBFBAD9}"/>
              </a:ext>
            </a:extLst>
          </p:cNvPr>
          <p:cNvCxnSpPr/>
          <p:nvPr/>
        </p:nvCxnSpPr>
        <p:spPr>
          <a:xfrm>
            <a:off x="8353674" y="1127248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790CB44-DD70-76B2-0B34-392C08E545A1}"/>
              </a:ext>
            </a:extLst>
          </p:cNvPr>
          <p:cNvSpPr txBox="1"/>
          <p:nvPr/>
        </p:nvSpPr>
        <p:spPr>
          <a:xfrm>
            <a:off x="8006726" y="769952"/>
            <a:ext cx="939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min</a:t>
            </a:r>
          </a:p>
        </p:txBody>
      </p:sp>
    </p:spTree>
    <p:extLst>
      <p:ext uri="{BB962C8B-B14F-4D97-AF65-F5344CB8AC3E}">
        <p14:creationId xmlns:p14="http://schemas.microsoft.com/office/powerpoint/2010/main" val="231577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9E2C5-76DF-55FE-D216-5F1E4CC1A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8C99865-2D3D-6BB9-3245-E6497884A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sort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D13B984-7E65-9923-7068-D483243BD0B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2" y="2633471"/>
            <a:ext cx="5358808" cy="3566159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1AFAF1-EAC1-4D0A-679A-CA50B52AC8D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We go back to the inner loop and increment the variable j by 1, where j =5, which reached more than n-1 or 4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D27A53-1700-7F9D-16FD-FA6A08DD81D7}"/>
              </a:ext>
            </a:extLst>
          </p:cNvPr>
          <p:cNvSpPr/>
          <p:nvPr/>
        </p:nvSpPr>
        <p:spPr>
          <a:xfrm>
            <a:off x="1332254" y="4931262"/>
            <a:ext cx="2155372" cy="402772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0A22E39-1472-C9F4-F5A3-CD4542C5A007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3487626" y="5132648"/>
            <a:ext cx="7293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667C62A9-869E-7062-2B12-93595EE99678}"/>
              </a:ext>
            </a:extLst>
          </p:cNvPr>
          <p:cNvGraphicFramePr>
            <a:graphicFrameLocks noGrp="1"/>
          </p:cNvGraphicFramePr>
          <p:nvPr/>
        </p:nvGraphicFramePr>
        <p:xfrm>
          <a:off x="5704114" y="1438656"/>
          <a:ext cx="5399315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9863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95345354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920383398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14009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FAB385D4-1BE5-0574-3E8C-CD0E7A119408}"/>
              </a:ext>
            </a:extLst>
          </p:cNvPr>
          <p:cNvSpPr txBox="1"/>
          <p:nvPr/>
        </p:nvSpPr>
        <p:spPr>
          <a:xfrm>
            <a:off x="9503230" y="4617936"/>
            <a:ext cx="1600200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min=2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08D185CC-3A50-B669-E682-B9C85ECE79D7}"/>
              </a:ext>
            </a:extLst>
          </p:cNvPr>
          <p:cNvCxnSpPr/>
          <p:nvPr/>
        </p:nvCxnSpPr>
        <p:spPr>
          <a:xfrm>
            <a:off x="6235057" y="1025530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494A526-B44E-276C-79CB-ED77708423C1}"/>
              </a:ext>
            </a:extLst>
          </p:cNvPr>
          <p:cNvCxnSpPr/>
          <p:nvPr/>
        </p:nvCxnSpPr>
        <p:spPr>
          <a:xfrm>
            <a:off x="11417055" y="1036416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343BCD3-EE47-0CBA-5EE8-4B72ED26D17E}"/>
              </a:ext>
            </a:extLst>
          </p:cNvPr>
          <p:cNvSpPr txBox="1"/>
          <p:nvPr/>
        </p:nvSpPr>
        <p:spPr>
          <a:xfrm>
            <a:off x="11306791" y="617810"/>
            <a:ext cx="584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456ED4-B36D-FB66-9860-E0FE9A354FC0}"/>
              </a:ext>
            </a:extLst>
          </p:cNvPr>
          <p:cNvSpPr txBox="1"/>
          <p:nvPr/>
        </p:nvSpPr>
        <p:spPr>
          <a:xfrm>
            <a:off x="6096000" y="566739"/>
            <a:ext cx="330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</a:t>
            </a:r>
            <a:r>
              <a:rPr lang="en-US" dirty="0"/>
              <a:t> 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3BCEA39-5C29-CEEB-EE62-05D1E9F7EC33}"/>
              </a:ext>
            </a:extLst>
          </p:cNvPr>
          <p:cNvCxnSpPr/>
          <p:nvPr/>
        </p:nvCxnSpPr>
        <p:spPr>
          <a:xfrm>
            <a:off x="8357772" y="1036414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A55A814-1243-BE75-6AA0-3FB720C71DB1}"/>
              </a:ext>
            </a:extLst>
          </p:cNvPr>
          <p:cNvSpPr txBox="1"/>
          <p:nvPr/>
        </p:nvSpPr>
        <p:spPr>
          <a:xfrm>
            <a:off x="8010824" y="679118"/>
            <a:ext cx="939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min</a:t>
            </a:r>
          </a:p>
        </p:txBody>
      </p:sp>
    </p:spTree>
    <p:extLst>
      <p:ext uri="{BB962C8B-B14F-4D97-AF65-F5344CB8AC3E}">
        <p14:creationId xmlns:p14="http://schemas.microsoft.com/office/powerpoint/2010/main" val="7091576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51547-89BA-B446-AEE9-FE485A815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A09692B-1F38-ABA5-30E6-9E9779073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sort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E8A1021-F27D-A340-AC1A-F39A95025E8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2" y="2633471"/>
            <a:ext cx="5358808" cy="3566159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61E4B8-EF2D-A8F7-6F60-80E2C1F810F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The innermost loop is finished now we move to swap A[</a:t>
            </a:r>
            <a:r>
              <a:rPr lang="en-US" dirty="0" err="1"/>
              <a:t>i</a:t>
            </a:r>
            <a:r>
              <a:rPr lang="en-US" dirty="0"/>
              <a:t>] and A[min] which will swap A[0] and A[2] or 14 with 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DFBC5E4-E379-2410-5401-BB16F33D94BB}"/>
              </a:ext>
            </a:extLst>
          </p:cNvPr>
          <p:cNvSpPr/>
          <p:nvPr/>
        </p:nvSpPr>
        <p:spPr>
          <a:xfrm>
            <a:off x="1332254" y="5647362"/>
            <a:ext cx="2155372" cy="402772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9D779E9-D84E-1024-7ABE-D79A323856EA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3487626" y="5848748"/>
            <a:ext cx="7293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64F6580B-7C86-E85A-2398-289B0E9F2F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0413273"/>
              </p:ext>
            </p:extLst>
          </p:nvPr>
        </p:nvGraphicFramePr>
        <p:xfrm>
          <a:off x="5704114" y="1383571"/>
          <a:ext cx="5399315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9863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95345354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920383398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14009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B159E52A-6E57-EFBD-1B39-8AEE4CC3E023}"/>
              </a:ext>
            </a:extLst>
          </p:cNvPr>
          <p:cNvSpPr txBox="1"/>
          <p:nvPr/>
        </p:nvSpPr>
        <p:spPr>
          <a:xfrm>
            <a:off x="9503230" y="4617936"/>
            <a:ext cx="1600200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min=2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B1F41A2-EF17-865F-2634-8803D12F1440}"/>
              </a:ext>
            </a:extLst>
          </p:cNvPr>
          <p:cNvCxnSpPr/>
          <p:nvPr/>
        </p:nvCxnSpPr>
        <p:spPr>
          <a:xfrm>
            <a:off x="5938092" y="1861851"/>
            <a:ext cx="528809" cy="1542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EA2BB14-53C8-FF4A-7A31-CBB4303806BC}"/>
              </a:ext>
            </a:extLst>
          </p:cNvPr>
          <p:cNvCxnSpPr/>
          <p:nvPr/>
        </p:nvCxnSpPr>
        <p:spPr>
          <a:xfrm>
            <a:off x="8139366" y="1861851"/>
            <a:ext cx="528809" cy="1542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77553E0-3F00-488B-EE75-434D6C79A742}"/>
              </a:ext>
            </a:extLst>
          </p:cNvPr>
          <p:cNvCxnSpPr/>
          <p:nvPr/>
        </p:nvCxnSpPr>
        <p:spPr>
          <a:xfrm>
            <a:off x="6202496" y="2120171"/>
            <a:ext cx="0" cy="1713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4C07911-F76B-B7EF-787E-D9AD6729914E}"/>
              </a:ext>
            </a:extLst>
          </p:cNvPr>
          <p:cNvCxnSpPr>
            <a:cxnSpLocks/>
            <a:stCxn id="14" idx="2"/>
          </p:cNvCxnSpPr>
          <p:nvPr/>
        </p:nvCxnSpPr>
        <p:spPr>
          <a:xfrm flipH="1">
            <a:off x="8403770" y="2120171"/>
            <a:ext cx="1" cy="1645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DC684E4-B664-0808-1964-BDBC9A3479E6}"/>
              </a:ext>
            </a:extLst>
          </p:cNvPr>
          <p:cNvSpPr txBox="1"/>
          <p:nvPr/>
        </p:nvSpPr>
        <p:spPr>
          <a:xfrm>
            <a:off x="8203368" y="2314223"/>
            <a:ext cx="705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7489D48-9CEF-012F-76F2-926FBF92EF8E}"/>
              </a:ext>
            </a:extLst>
          </p:cNvPr>
          <p:cNvSpPr txBox="1"/>
          <p:nvPr/>
        </p:nvSpPr>
        <p:spPr>
          <a:xfrm>
            <a:off x="6062421" y="2271433"/>
            <a:ext cx="705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FEE95D87-EF0A-F81A-F815-6D5C01783A3E}"/>
              </a:ext>
            </a:extLst>
          </p:cNvPr>
          <p:cNvCxnSpPr/>
          <p:nvPr/>
        </p:nvCxnSpPr>
        <p:spPr>
          <a:xfrm>
            <a:off x="6235057" y="992873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674618A-3344-5437-5D85-E6CA5A6EEE5A}"/>
              </a:ext>
            </a:extLst>
          </p:cNvPr>
          <p:cNvCxnSpPr/>
          <p:nvPr/>
        </p:nvCxnSpPr>
        <p:spPr>
          <a:xfrm>
            <a:off x="11417055" y="1003759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005D67A-1836-C1B8-15D3-EFA145F4997A}"/>
              </a:ext>
            </a:extLst>
          </p:cNvPr>
          <p:cNvSpPr txBox="1"/>
          <p:nvPr/>
        </p:nvSpPr>
        <p:spPr>
          <a:xfrm>
            <a:off x="11306791" y="585153"/>
            <a:ext cx="584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942AF8-D59D-5102-7ED9-0367D82FFD77}"/>
              </a:ext>
            </a:extLst>
          </p:cNvPr>
          <p:cNvSpPr txBox="1"/>
          <p:nvPr/>
        </p:nvSpPr>
        <p:spPr>
          <a:xfrm>
            <a:off x="6096000" y="534082"/>
            <a:ext cx="330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</a:t>
            </a:r>
            <a:r>
              <a:rPr lang="en-US" dirty="0"/>
              <a:t> 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7004EE9-BF96-59C4-2921-56F1F74DF28D}"/>
              </a:ext>
            </a:extLst>
          </p:cNvPr>
          <p:cNvCxnSpPr/>
          <p:nvPr/>
        </p:nvCxnSpPr>
        <p:spPr>
          <a:xfrm>
            <a:off x="8357772" y="1003757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FEF6DF0-A22A-4BD5-5928-16CF7C09DF08}"/>
              </a:ext>
            </a:extLst>
          </p:cNvPr>
          <p:cNvSpPr txBox="1"/>
          <p:nvPr/>
        </p:nvSpPr>
        <p:spPr>
          <a:xfrm>
            <a:off x="8010824" y="646461"/>
            <a:ext cx="939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min</a:t>
            </a:r>
          </a:p>
        </p:txBody>
      </p:sp>
    </p:spTree>
    <p:extLst>
      <p:ext uri="{BB962C8B-B14F-4D97-AF65-F5344CB8AC3E}">
        <p14:creationId xmlns:p14="http://schemas.microsoft.com/office/powerpoint/2010/main" val="41510822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251C1-85A1-594E-EB18-D3552BE08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06E1198-1554-B569-1DAA-B04BEE17F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sort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1826345-5235-50E8-4132-07142FC4D57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2" y="2633471"/>
            <a:ext cx="5358808" cy="3566159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5F800-E8E8-185E-057B-025D9FCD6B6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The outer loop increases </a:t>
            </a:r>
            <a:r>
              <a:rPr lang="en-US" dirty="0" err="1"/>
              <a:t>i</a:t>
            </a:r>
            <a:r>
              <a:rPr lang="en-US" dirty="0"/>
              <a:t> by 1, it will be equal to 1, and still didn’t reach more than n-2 or 3 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CAC9DE-C734-8411-9FAE-6BDFE3B35245}"/>
              </a:ext>
            </a:extLst>
          </p:cNvPr>
          <p:cNvSpPr/>
          <p:nvPr/>
        </p:nvSpPr>
        <p:spPr>
          <a:xfrm>
            <a:off x="1012762" y="4204154"/>
            <a:ext cx="2155372" cy="402772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61EB027-D041-CA62-F6EB-C790E2256A4D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3168134" y="4405540"/>
            <a:ext cx="7293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1FB9B62E-5009-D3BF-3803-8A239D1652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7062983"/>
              </p:ext>
            </p:extLst>
          </p:nvPr>
        </p:nvGraphicFramePr>
        <p:xfrm>
          <a:off x="5704114" y="1383571"/>
          <a:ext cx="5399315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9863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95345354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920383398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14009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A506D4ED-87A2-7875-BDBD-F2D38E68028D}"/>
              </a:ext>
            </a:extLst>
          </p:cNvPr>
          <p:cNvSpPr txBox="1"/>
          <p:nvPr/>
        </p:nvSpPr>
        <p:spPr>
          <a:xfrm>
            <a:off x="9503230" y="4617936"/>
            <a:ext cx="1600200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min=2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38CE4362-E255-6ECE-F432-36E8131EE0AD}"/>
              </a:ext>
            </a:extLst>
          </p:cNvPr>
          <p:cNvCxnSpPr/>
          <p:nvPr/>
        </p:nvCxnSpPr>
        <p:spPr>
          <a:xfrm>
            <a:off x="7280086" y="1025530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C38AF45-481D-F1A7-CC6A-B2D3B447B546}"/>
              </a:ext>
            </a:extLst>
          </p:cNvPr>
          <p:cNvSpPr txBox="1"/>
          <p:nvPr/>
        </p:nvSpPr>
        <p:spPr>
          <a:xfrm>
            <a:off x="7141029" y="566739"/>
            <a:ext cx="330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156328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48341-AFED-0ABA-E378-0EB7F8CA2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02A13A-B709-C52F-9739-239583659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sort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3040F70-D07E-678B-6393-B7080CAFD01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2" y="2633471"/>
            <a:ext cx="5358808" cy="3566159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5277C8-8C52-4E4B-83A6-1ACE047C0C9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min is assigned the value of </a:t>
            </a:r>
            <a:r>
              <a:rPr lang="en-US" dirty="0" err="1"/>
              <a:t>i</a:t>
            </a:r>
            <a:r>
              <a:rPr lang="en-US" dirty="0"/>
              <a:t>=1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36D5BF0-FEBC-166C-BE28-7090487F8F05}"/>
              </a:ext>
            </a:extLst>
          </p:cNvPr>
          <p:cNvSpPr/>
          <p:nvPr/>
        </p:nvSpPr>
        <p:spPr>
          <a:xfrm>
            <a:off x="979714" y="4556689"/>
            <a:ext cx="2155372" cy="402772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EE6A332-4314-A69B-5EC7-5E0E8B0F8634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3135086" y="4758075"/>
            <a:ext cx="7293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B2B5E9EB-2085-494C-DA2B-5A1540D734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2741274"/>
              </p:ext>
            </p:extLst>
          </p:nvPr>
        </p:nvGraphicFramePr>
        <p:xfrm>
          <a:off x="5704114" y="1438656"/>
          <a:ext cx="5399315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9863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95345354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920383398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14009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BDCC4083-1142-43BC-A524-8778E18D4031}"/>
              </a:ext>
            </a:extLst>
          </p:cNvPr>
          <p:cNvSpPr txBox="1"/>
          <p:nvPr/>
        </p:nvSpPr>
        <p:spPr>
          <a:xfrm>
            <a:off x="9503230" y="4617936"/>
            <a:ext cx="1600200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min=1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87F207E9-4B22-722C-33E5-681CCC0CF008}"/>
              </a:ext>
            </a:extLst>
          </p:cNvPr>
          <p:cNvCxnSpPr/>
          <p:nvPr/>
        </p:nvCxnSpPr>
        <p:spPr>
          <a:xfrm>
            <a:off x="7290972" y="1025530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88105CD-857C-2F0D-300B-BA89440DF8FA}"/>
              </a:ext>
            </a:extLst>
          </p:cNvPr>
          <p:cNvSpPr txBox="1"/>
          <p:nvPr/>
        </p:nvSpPr>
        <p:spPr>
          <a:xfrm>
            <a:off x="6955972" y="547239"/>
            <a:ext cx="1132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</a:t>
            </a:r>
            <a:r>
              <a:rPr lang="en-US" dirty="0"/>
              <a:t>, min </a:t>
            </a:r>
          </a:p>
        </p:txBody>
      </p:sp>
    </p:spTree>
    <p:extLst>
      <p:ext uri="{BB962C8B-B14F-4D97-AF65-F5344CB8AC3E}">
        <p14:creationId xmlns:p14="http://schemas.microsoft.com/office/powerpoint/2010/main" val="22743491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B7447-B785-2A34-1537-21D421DAA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5E639E7-9A15-3621-9B31-E9FBA536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sort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C05C752-7A70-5CB2-A1E2-BBA0D52AE6E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2" y="2633471"/>
            <a:ext cx="5358808" cy="3566159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81B307-F1DE-131A-3534-9309FEF4A26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The inner loop index j will be reset to i+1 which will be equal to j=2 till it reaches more than n-1 or 4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B14F165-44D9-F6B8-8D4D-17C929DC1364}"/>
              </a:ext>
            </a:extLst>
          </p:cNvPr>
          <p:cNvSpPr/>
          <p:nvPr/>
        </p:nvSpPr>
        <p:spPr>
          <a:xfrm>
            <a:off x="1288189" y="4887199"/>
            <a:ext cx="2155372" cy="402772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63116E4-5AC6-4612-0E48-B60B4D50B8D2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3443561" y="5088585"/>
            <a:ext cx="7293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4C185748-D2AE-E8CB-FAF2-A12B22AE7AA7}"/>
              </a:ext>
            </a:extLst>
          </p:cNvPr>
          <p:cNvGraphicFramePr>
            <a:graphicFrameLocks noGrp="1"/>
          </p:cNvGraphicFramePr>
          <p:nvPr/>
        </p:nvGraphicFramePr>
        <p:xfrm>
          <a:off x="5704114" y="1438656"/>
          <a:ext cx="5399315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9863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95345354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920383398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14009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0A3F830B-7FA9-4ED2-3883-CFBC9E100346}"/>
              </a:ext>
            </a:extLst>
          </p:cNvPr>
          <p:cNvSpPr txBox="1"/>
          <p:nvPr/>
        </p:nvSpPr>
        <p:spPr>
          <a:xfrm>
            <a:off x="9503230" y="4617936"/>
            <a:ext cx="1600200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min=1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FD06BC7-675E-D938-B7F9-BB15A59DFEB7}"/>
              </a:ext>
            </a:extLst>
          </p:cNvPr>
          <p:cNvCxnSpPr/>
          <p:nvPr/>
        </p:nvCxnSpPr>
        <p:spPr>
          <a:xfrm>
            <a:off x="7323632" y="1069074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F152184-63D6-F12B-CF8A-DC6EF8C9096E}"/>
              </a:ext>
            </a:extLst>
          </p:cNvPr>
          <p:cNvCxnSpPr/>
          <p:nvPr/>
        </p:nvCxnSpPr>
        <p:spPr>
          <a:xfrm>
            <a:off x="8303743" y="1090845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D068C9E-DB3F-2FA2-8905-DF2A31A138AE}"/>
              </a:ext>
            </a:extLst>
          </p:cNvPr>
          <p:cNvSpPr txBox="1"/>
          <p:nvPr/>
        </p:nvSpPr>
        <p:spPr>
          <a:xfrm>
            <a:off x="8193479" y="672239"/>
            <a:ext cx="584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E827F4B-C0AC-D783-BF0E-4BC1435C1C77}"/>
              </a:ext>
            </a:extLst>
          </p:cNvPr>
          <p:cNvSpPr txBox="1"/>
          <p:nvPr/>
        </p:nvSpPr>
        <p:spPr>
          <a:xfrm>
            <a:off x="6937888" y="619511"/>
            <a:ext cx="1273628" cy="367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i,min</a:t>
            </a:r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41920814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5A543-2F3E-37A4-924F-7EBE00BD2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23BB45E-F8E5-28CA-875E-AB7C7FC71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sort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0262F26-6A26-A386-0255-D8E276C7500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2" y="2633471"/>
            <a:ext cx="5358808" cy="3566159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83A5E6-3C1E-1283-AE6F-3174110C61B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Check the condition for A[j] &lt; A[min] or A[2]&lt; A[1] = 14&lt;21, which is true, so the new value of min is 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71C3636-6880-2CC0-EB85-820F222BDC2D}"/>
              </a:ext>
            </a:extLst>
          </p:cNvPr>
          <p:cNvSpPr/>
          <p:nvPr/>
        </p:nvSpPr>
        <p:spPr>
          <a:xfrm>
            <a:off x="1728862" y="5261772"/>
            <a:ext cx="2155372" cy="402772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47068ED-5D38-D718-71A9-30508C26DE31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3884234" y="5463158"/>
            <a:ext cx="7293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BFA7DFCD-148D-D49A-F03E-05DF153DCD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1461912"/>
              </p:ext>
            </p:extLst>
          </p:nvPr>
        </p:nvGraphicFramePr>
        <p:xfrm>
          <a:off x="5704114" y="1438656"/>
          <a:ext cx="5399315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9863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95345354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920383398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14009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A30E30C4-71D8-872E-5D1E-A34B2A36EAFB}"/>
              </a:ext>
            </a:extLst>
          </p:cNvPr>
          <p:cNvSpPr txBox="1"/>
          <p:nvPr/>
        </p:nvSpPr>
        <p:spPr>
          <a:xfrm>
            <a:off x="9503230" y="4617936"/>
            <a:ext cx="1600200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min=2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BA6A50A5-9566-61F3-83BC-B7A99841362E}"/>
              </a:ext>
            </a:extLst>
          </p:cNvPr>
          <p:cNvCxnSpPr/>
          <p:nvPr/>
        </p:nvCxnSpPr>
        <p:spPr>
          <a:xfrm>
            <a:off x="7323632" y="1069074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631CE32-E2BA-CF3E-8331-D28F3F460B7C}"/>
              </a:ext>
            </a:extLst>
          </p:cNvPr>
          <p:cNvCxnSpPr/>
          <p:nvPr/>
        </p:nvCxnSpPr>
        <p:spPr>
          <a:xfrm>
            <a:off x="8303743" y="1090845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D2C2D7C-4FE2-3BCD-7B1D-291B20E872A5}"/>
              </a:ext>
            </a:extLst>
          </p:cNvPr>
          <p:cNvSpPr txBox="1"/>
          <p:nvPr/>
        </p:nvSpPr>
        <p:spPr>
          <a:xfrm>
            <a:off x="7999269" y="625211"/>
            <a:ext cx="8090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j,min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565930-821F-2BB1-90B8-8F358E12DB9A}"/>
              </a:ext>
            </a:extLst>
          </p:cNvPr>
          <p:cNvSpPr txBox="1"/>
          <p:nvPr/>
        </p:nvSpPr>
        <p:spPr>
          <a:xfrm>
            <a:off x="7177373" y="617447"/>
            <a:ext cx="507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</a:t>
            </a:r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8537159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92F71-50B2-90D2-2BB8-7FAB00586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49283E-BF5B-9FBD-3DAC-BFF1C0DD0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sort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09E4BBC-E14A-2199-1C16-B8E67E4E426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2" y="2633471"/>
            <a:ext cx="5358808" cy="3566159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E3D78A-0F11-20A3-FC02-511E99E2638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The outer loop increases </a:t>
            </a:r>
            <a:r>
              <a:rPr lang="en-US" dirty="0" err="1"/>
              <a:t>i</a:t>
            </a:r>
            <a:r>
              <a:rPr lang="en-US" dirty="0"/>
              <a:t> by 1, it will be equal to 1, and it still didn’t reach more than n-2 or 3 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A82825D-B293-178F-076F-38562E9F6310}"/>
              </a:ext>
            </a:extLst>
          </p:cNvPr>
          <p:cNvSpPr/>
          <p:nvPr/>
        </p:nvSpPr>
        <p:spPr>
          <a:xfrm>
            <a:off x="1288189" y="4887199"/>
            <a:ext cx="2155372" cy="402772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86EAE31-FE92-B60F-69E2-CDD6193391AE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3443561" y="5088585"/>
            <a:ext cx="7293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7D80D913-4DFC-0C03-2392-E7221AF961E1}"/>
              </a:ext>
            </a:extLst>
          </p:cNvPr>
          <p:cNvGraphicFramePr>
            <a:graphicFrameLocks noGrp="1"/>
          </p:cNvGraphicFramePr>
          <p:nvPr/>
        </p:nvGraphicFramePr>
        <p:xfrm>
          <a:off x="5704114" y="1438656"/>
          <a:ext cx="5399315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9863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95345354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920383398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14009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07CCFDDE-4DF4-D47E-8633-5EFF8230568E}"/>
              </a:ext>
            </a:extLst>
          </p:cNvPr>
          <p:cNvSpPr txBox="1"/>
          <p:nvPr/>
        </p:nvSpPr>
        <p:spPr>
          <a:xfrm>
            <a:off x="9503230" y="4617936"/>
            <a:ext cx="1600200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min=2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761A16CA-90D6-DF7E-DC53-A4B58DBE9537}"/>
              </a:ext>
            </a:extLst>
          </p:cNvPr>
          <p:cNvCxnSpPr/>
          <p:nvPr/>
        </p:nvCxnSpPr>
        <p:spPr>
          <a:xfrm>
            <a:off x="7323632" y="1069074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2B52A0C6-04E8-6D9A-079F-16F9077A814E}"/>
              </a:ext>
            </a:extLst>
          </p:cNvPr>
          <p:cNvCxnSpPr/>
          <p:nvPr/>
        </p:nvCxnSpPr>
        <p:spPr>
          <a:xfrm>
            <a:off x="8303743" y="1090845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B3EEC92-8A56-9A1F-35D2-B25100E8CF95}"/>
              </a:ext>
            </a:extLst>
          </p:cNvPr>
          <p:cNvSpPr txBox="1"/>
          <p:nvPr/>
        </p:nvSpPr>
        <p:spPr>
          <a:xfrm>
            <a:off x="8038029" y="676167"/>
            <a:ext cx="7314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min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DE0D9B-F93D-5FA1-1356-31C7308E1618}"/>
              </a:ext>
            </a:extLst>
          </p:cNvPr>
          <p:cNvSpPr txBox="1"/>
          <p:nvPr/>
        </p:nvSpPr>
        <p:spPr>
          <a:xfrm>
            <a:off x="7097718" y="662971"/>
            <a:ext cx="451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</a:t>
            </a:r>
            <a:r>
              <a:rPr lang="en-US" dirty="0"/>
              <a:t>  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5F4C08D-0492-9B50-2704-7F236B5D09D9}"/>
              </a:ext>
            </a:extLst>
          </p:cNvPr>
          <p:cNvCxnSpPr/>
          <p:nvPr/>
        </p:nvCxnSpPr>
        <p:spPr>
          <a:xfrm>
            <a:off x="9435859" y="1101732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31FAC0F-A709-9A68-18AD-8F9155D78564}"/>
              </a:ext>
            </a:extLst>
          </p:cNvPr>
          <p:cNvSpPr txBox="1"/>
          <p:nvPr/>
        </p:nvSpPr>
        <p:spPr>
          <a:xfrm>
            <a:off x="9325595" y="683126"/>
            <a:ext cx="584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</a:t>
            </a:r>
          </a:p>
        </p:txBody>
      </p:sp>
    </p:spTree>
    <p:extLst>
      <p:ext uri="{BB962C8B-B14F-4D97-AF65-F5344CB8AC3E}">
        <p14:creationId xmlns:p14="http://schemas.microsoft.com/office/powerpoint/2010/main" val="320276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94ADE-56F7-B132-77F7-0A5B25DF7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1CA49D5-5547-5939-B916-5C051DA59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sort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B704A34-22A0-E59C-7DDB-A9C34F67FED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2" y="2633471"/>
            <a:ext cx="5358808" cy="3566159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72A52C-A2BB-48C7-992A-6FB1A4CB964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Check the condition for A[j] &lt; A[min] or A[3]&lt; A[2] = 12&lt;14, which is true, so the new value of min is 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A4DA228-9677-2E26-EB49-D9B67EA45C41}"/>
              </a:ext>
            </a:extLst>
          </p:cNvPr>
          <p:cNvSpPr/>
          <p:nvPr/>
        </p:nvSpPr>
        <p:spPr>
          <a:xfrm>
            <a:off x="1728862" y="5261772"/>
            <a:ext cx="2155372" cy="402772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291AAD0-8E43-292E-182A-05320691F1FF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3884234" y="5463158"/>
            <a:ext cx="7293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B04F1CDB-6BAF-C017-6693-99941051A8F2}"/>
              </a:ext>
            </a:extLst>
          </p:cNvPr>
          <p:cNvGraphicFramePr>
            <a:graphicFrameLocks noGrp="1"/>
          </p:cNvGraphicFramePr>
          <p:nvPr/>
        </p:nvGraphicFramePr>
        <p:xfrm>
          <a:off x="5704114" y="1438656"/>
          <a:ext cx="5399315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9863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95345354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920383398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14009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36C44C8F-B64D-98D8-F086-14EC2BC78EA3}"/>
              </a:ext>
            </a:extLst>
          </p:cNvPr>
          <p:cNvSpPr txBox="1"/>
          <p:nvPr/>
        </p:nvSpPr>
        <p:spPr>
          <a:xfrm>
            <a:off x="9503230" y="4617936"/>
            <a:ext cx="1600200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min=3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A7116CA0-C4F6-F95B-5590-0CD03B56ADDD}"/>
              </a:ext>
            </a:extLst>
          </p:cNvPr>
          <p:cNvCxnSpPr/>
          <p:nvPr/>
        </p:nvCxnSpPr>
        <p:spPr>
          <a:xfrm>
            <a:off x="7323632" y="1069074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35AE2FC-5E88-C734-6D80-8FAD787FEE15}"/>
              </a:ext>
            </a:extLst>
          </p:cNvPr>
          <p:cNvSpPr txBox="1"/>
          <p:nvPr/>
        </p:nvSpPr>
        <p:spPr>
          <a:xfrm>
            <a:off x="7097718" y="662971"/>
            <a:ext cx="451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</a:t>
            </a:r>
            <a:r>
              <a:rPr lang="en-US" dirty="0"/>
              <a:t>  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B9A4F38-5BAD-9EB3-294D-B55D3B9248FA}"/>
              </a:ext>
            </a:extLst>
          </p:cNvPr>
          <p:cNvCxnSpPr/>
          <p:nvPr/>
        </p:nvCxnSpPr>
        <p:spPr>
          <a:xfrm>
            <a:off x="9435859" y="1101732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D36DD0D-1629-9473-A02F-35045A399B23}"/>
              </a:ext>
            </a:extLst>
          </p:cNvPr>
          <p:cNvSpPr txBox="1"/>
          <p:nvPr/>
        </p:nvSpPr>
        <p:spPr>
          <a:xfrm>
            <a:off x="9169485" y="698873"/>
            <a:ext cx="667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j,min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68931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B719B-016E-0919-21EB-3877B9C32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2B3A12-C800-6689-2BCB-CC62749EB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sort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35B6A47-DACA-1316-DCB6-E387056170B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2" y="2633471"/>
            <a:ext cx="5358808" cy="3566159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E75DE4-D64E-29C2-F7E2-CF1C733ED99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We go back to the inner loop and increment the variable j by 1, where j =4, which didn't reach more than n-1 or 4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9F87C6-0802-7461-F30A-F1102E7F23A0}"/>
              </a:ext>
            </a:extLst>
          </p:cNvPr>
          <p:cNvSpPr/>
          <p:nvPr/>
        </p:nvSpPr>
        <p:spPr>
          <a:xfrm>
            <a:off x="1288189" y="4887199"/>
            <a:ext cx="2155372" cy="402772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B32A6A3-84BC-8F6F-A665-101CF4462805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3443561" y="5088585"/>
            <a:ext cx="7293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86AC284B-6C00-8051-0A01-76DF6F9D8540}"/>
              </a:ext>
            </a:extLst>
          </p:cNvPr>
          <p:cNvGraphicFramePr>
            <a:graphicFrameLocks noGrp="1"/>
          </p:cNvGraphicFramePr>
          <p:nvPr/>
        </p:nvGraphicFramePr>
        <p:xfrm>
          <a:off x="5704114" y="1438656"/>
          <a:ext cx="5399315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9863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95345354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920383398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14009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A1CFD72D-5838-6ADB-AF0B-DBBBB041F6F1}"/>
              </a:ext>
            </a:extLst>
          </p:cNvPr>
          <p:cNvSpPr txBox="1"/>
          <p:nvPr/>
        </p:nvSpPr>
        <p:spPr>
          <a:xfrm>
            <a:off x="9503230" y="4617936"/>
            <a:ext cx="1600200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min=3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22E1851E-B6F4-69FB-C58F-EF1645BA660C}"/>
              </a:ext>
            </a:extLst>
          </p:cNvPr>
          <p:cNvCxnSpPr/>
          <p:nvPr/>
        </p:nvCxnSpPr>
        <p:spPr>
          <a:xfrm>
            <a:off x="7323632" y="1069074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DA2B79C6-3B04-0C00-72CD-871AFE663201}"/>
              </a:ext>
            </a:extLst>
          </p:cNvPr>
          <p:cNvCxnSpPr/>
          <p:nvPr/>
        </p:nvCxnSpPr>
        <p:spPr>
          <a:xfrm>
            <a:off x="9457629" y="1090845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3C42325-9903-83B9-B52C-6D4C99948B42}"/>
              </a:ext>
            </a:extLst>
          </p:cNvPr>
          <p:cNvSpPr txBox="1"/>
          <p:nvPr/>
        </p:nvSpPr>
        <p:spPr>
          <a:xfrm>
            <a:off x="9191915" y="676167"/>
            <a:ext cx="7314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min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B6E5D0-B428-8BD2-25B5-B14D590E7E49}"/>
              </a:ext>
            </a:extLst>
          </p:cNvPr>
          <p:cNvSpPr txBox="1"/>
          <p:nvPr/>
        </p:nvSpPr>
        <p:spPr>
          <a:xfrm>
            <a:off x="7097718" y="662971"/>
            <a:ext cx="451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</a:t>
            </a:r>
            <a:r>
              <a:rPr lang="en-US" dirty="0"/>
              <a:t>  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58E7D5D-BBB3-FC8E-6383-3CFD28308B1D}"/>
              </a:ext>
            </a:extLst>
          </p:cNvPr>
          <p:cNvCxnSpPr/>
          <p:nvPr/>
        </p:nvCxnSpPr>
        <p:spPr>
          <a:xfrm>
            <a:off x="10589745" y="1101732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5BC575E-A5A0-74CA-FC84-29A47816D384}"/>
              </a:ext>
            </a:extLst>
          </p:cNvPr>
          <p:cNvSpPr txBox="1"/>
          <p:nvPr/>
        </p:nvSpPr>
        <p:spPr>
          <a:xfrm>
            <a:off x="10479481" y="683126"/>
            <a:ext cx="584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</a:t>
            </a:r>
          </a:p>
        </p:txBody>
      </p:sp>
    </p:spTree>
    <p:extLst>
      <p:ext uri="{BB962C8B-B14F-4D97-AF65-F5344CB8AC3E}">
        <p14:creationId xmlns:p14="http://schemas.microsoft.com/office/powerpoint/2010/main" val="25013013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DEEB6-B5D5-5A24-D546-529E8260E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CDEAB7D-BCE8-9C59-134E-194A79E81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sort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FE47904-EBBF-0142-0E02-0D6AFB53E07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2" y="2633471"/>
            <a:ext cx="5358808" cy="3566159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138952-E37C-D047-CC6B-349A976FF45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Check the condition for A[j] &lt; A[min] or A[4]&lt; A[3] = 14&lt;12 which is false.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DD9C09-9232-E882-3780-9BF35893328C}"/>
              </a:ext>
            </a:extLst>
          </p:cNvPr>
          <p:cNvSpPr/>
          <p:nvPr/>
        </p:nvSpPr>
        <p:spPr>
          <a:xfrm>
            <a:off x="1728862" y="5261772"/>
            <a:ext cx="2155372" cy="402772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088F452-DD43-D797-1B82-25463D645D16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3884234" y="5463158"/>
            <a:ext cx="7293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F566CD44-5A0C-262D-263F-D887E26EDE10}"/>
              </a:ext>
            </a:extLst>
          </p:cNvPr>
          <p:cNvGraphicFramePr>
            <a:graphicFrameLocks noGrp="1"/>
          </p:cNvGraphicFramePr>
          <p:nvPr/>
        </p:nvGraphicFramePr>
        <p:xfrm>
          <a:off x="5704114" y="1438656"/>
          <a:ext cx="5399315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9863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95345354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920383398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14009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8BEF6FE9-AE7C-2101-7562-86B32B73C79B}"/>
              </a:ext>
            </a:extLst>
          </p:cNvPr>
          <p:cNvSpPr txBox="1"/>
          <p:nvPr/>
        </p:nvSpPr>
        <p:spPr>
          <a:xfrm>
            <a:off x="9503230" y="4617936"/>
            <a:ext cx="1600200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min=3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C45547AB-5A12-13C9-2E55-599C9F3410A2}"/>
              </a:ext>
            </a:extLst>
          </p:cNvPr>
          <p:cNvCxnSpPr/>
          <p:nvPr/>
        </p:nvCxnSpPr>
        <p:spPr>
          <a:xfrm>
            <a:off x="7323632" y="1069074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E9182165-4922-3AF1-F5E8-4D8F6B255CCA}"/>
              </a:ext>
            </a:extLst>
          </p:cNvPr>
          <p:cNvCxnSpPr/>
          <p:nvPr/>
        </p:nvCxnSpPr>
        <p:spPr>
          <a:xfrm>
            <a:off x="9435859" y="1090845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C6B6213C-C0D0-15C7-7DB4-4145C81477DD}"/>
              </a:ext>
            </a:extLst>
          </p:cNvPr>
          <p:cNvSpPr txBox="1"/>
          <p:nvPr/>
        </p:nvSpPr>
        <p:spPr>
          <a:xfrm>
            <a:off x="9170145" y="676167"/>
            <a:ext cx="7314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min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5915D6-6792-2C30-1533-08E5108A039D}"/>
              </a:ext>
            </a:extLst>
          </p:cNvPr>
          <p:cNvSpPr txBox="1"/>
          <p:nvPr/>
        </p:nvSpPr>
        <p:spPr>
          <a:xfrm>
            <a:off x="7097718" y="662971"/>
            <a:ext cx="451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</a:t>
            </a:r>
            <a:r>
              <a:rPr lang="en-US" dirty="0"/>
              <a:t>  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34F1E5A-BF79-4837-EF7E-1A0EE156FDC4}"/>
              </a:ext>
            </a:extLst>
          </p:cNvPr>
          <p:cNvCxnSpPr/>
          <p:nvPr/>
        </p:nvCxnSpPr>
        <p:spPr>
          <a:xfrm>
            <a:off x="10567975" y="1101732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457CA73-276A-4E0F-3D9C-9C2FCE244ED7}"/>
              </a:ext>
            </a:extLst>
          </p:cNvPr>
          <p:cNvSpPr txBox="1"/>
          <p:nvPr/>
        </p:nvSpPr>
        <p:spPr>
          <a:xfrm>
            <a:off x="10457711" y="683126"/>
            <a:ext cx="584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</a:t>
            </a:r>
          </a:p>
        </p:txBody>
      </p:sp>
    </p:spTree>
    <p:extLst>
      <p:ext uri="{BB962C8B-B14F-4D97-AF65-F5344CB8AC3E}">
        <p14:creationId xmlns:p14="http://schemas.microsoft.com/office/powerpoint/2010/main" val="39923397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E1A74-6C48-E3E1-318F-3C129C77D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484EDD-4EF5-AB97-B2C4-DF84C9C6F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sort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5989C20-1D57-EAAE-7E9D-810D68D4A99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2" y="2633471"/>
            <a:ext cx="5358808" cy="3566159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E17A1E-D2D5-D104-39C4-C83B04C81A1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We go back to the inner loop and increment the variable j by 1, where j =5, which reaches more than n-1 or 4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8DA56C8-E2EF-1687-8D9F-52FF9C2D4FC7}"/>
              </a:ext>
            </a:extLst>
          </p:cNvPr>
          <p:cNvSpPr/>
          <p:nvPr/>
        </p:nvSpPr>
        <p:spPr>
          <a:xfrm>
            <a:off x="1288189" y="4887199"/>
            <a:ext cx="2155372" cy="402772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37B66C4-AC9A-A793-F3CB-99B918DA62C3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3443561" y="5088585"/>
            <a:ext cx="7293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C259C2AE-333F-AACB-AC81-AD268ACA9CEA}"/>
              </a:ext>
            </a:extLst>
          </p:cNvPr>
          <p:cNvGraphicFramePr>
            <a:graphicFrameLocks noGrp="1"/>
          </p:cNvGraphicFramePr>
          <p:nvPr/>
        </p:nvGraphicFramePr>
        <p:xfrm>
          <a:off x="5704114" y="1438656"/>
          <a:ext cx="5399315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9863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95345354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920383398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14009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2345C0E0-60B5-566A-33B8-F49E3BA34E63}"/>
              </a:ext>
            </a:extLst>
          </p:cNvPr>
          <p:cNvSpPr txBox="1"/>
          <p:nvPr/>
        </p:nvSpPr>
        <p:spPr>
          <a:xfrm>
            <a:off x="9503230" y="4617936"/>
            <a:ext cx="1600200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min=3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3D8A6E7A-B7F5-6271-6056-44495B275A08}"/>
              </a:ext>
            </a:extLst>
          </p:cNvPr>
          <p:cNvCxnSpPr/>
          <p:nvPr/>
        </p:nvCxnSpPr>
        <p:spPr>
          <a:xfrm>
            <a:off x="7323632" y="1069074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4FC006EC-33F0-507A-9895-2F4D9AA25D67}"/>
              </a:ext>
            </a:extLst>
          </p:cNvPr>
          <p:cNvCxnSpPr/>
          <p:nvPr/>
        </p:nvCxnSpPr>
        <p:spPr>
          <a:xfrm>
            <a:off x="9381430" y="1090845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1F1C8F4B-7D2B-CF77-7362-EB256D64F160}"/>
              </a:ext>
            </a:extLst>
          </p:cNvPr>
          <p:cNvSpPr txBox="1"/>
          <p:nvPr/>
        </p:nvSpPr>
        <p:spPr>
          <a:xfrm>
            <a:off x="9115716" y="676167"/>
            <a:ext cx="7314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min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EF1FFC-8312-D86C-6858-C8BF54CF6B79}"/>
              </a:ext>
            </a:extLst>
          </p:cNvPr>
          <p:cNvSpPr txBox="1"/>
          <p:nvPr/>
        </p:nvSpPr>
        <p:spPr>
          <a:xfrm>
            <a:off x="7097718" y="662971"/>
            <a:ext cx="451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</a:t>
            </a:r>
            <a:r>
              <a:rPr lang="en-US" dirty="0"/>
              <a:t>  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38D4D05-31DC-2112-0267-AB58EC6008A6}"/>
              </a:ext>
            </a:extLst>
          </p:cNvPr>
          <p:cNvCxnSpPr/>
          <p:nvPr/>
        </p:nvCxnSpPr>
        <p:spPr>
          <a:xfrm>
            <a:off x="11351748" y="1101732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85D21D3-0601-FFB4-7FA5-0731DC654EFA}"/>
              </a:ext>
            </a:extLst>
          </p:cNvPr>
          <p:cNvSpPr txBox="1"/>
          <p:nvPr/>
        </p:nvSpPr>
        <p:spPr>
          <a:xfrm>
            <a:off x="11241484" y="683126"/>
            <a:ext cx="584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</a:t>
            </a:r>
          </a:p>
        </p:txBody>
      </p:sp>
    </p:spTree>
    <p:extLst>
      <p:ext uri="{BB962C8B-B14F-4D97-AF65-F5344CB8AC3E}">
        <p14:creationId xmlns:p14="http://schemas.microsoft.com/office/powerpoint/2010/main" val="35699981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2A62C-789F-BFC1-B110-B9369E76E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DE0F0DB-2D09-1C9D-4A7E-4B0B62ACB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sort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9BA3737-54D1-82E4-2358-5AB3A05F24F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2" y="2633471"/>
            <a:ext cx="5358808" cy="3566159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7B0D13-CCD6-758A-AC57-150B0E7C6B0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The innermost loop is finished now we move to swap A[</a:t>
            </a:r>
            <a:r>
              <a:rPr lang="en-US" dirty="0" err="1"/>
              <a:t>i</a:t>
            </a:r>
            <a:r>
              <a:rPr lang="en-US" dirty="0"/>
              <a:t>] and A[min] which will swap A[1] and A[3] or 21 with 12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6D8871-0466-1E17-18F8-BBEFEC5A6711}"/>
              </a:ext>
            </a:extLst>
          </p:cNvPr>
          <p:cNvSpPr/>
          <p:nvPr/>
        </p:nvSpPr>
        <p:spPr>
          <a:xfrm>
            <a:off x="1332254" y="5647362"/>
            <a:ext cx="2155372" cy="402772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E9BFA4D-C422-BE1B-1F4E-61E7592F6991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3487626" y="5848748"/>
            <a:ext cx="7293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F841B221-10AD-DA55-3BBF-8316BCA5CE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096121"/>
              </p:ext>
            </p:extLst>
          </p:nvPr>
        </p:nvGraphicFramePr>
        <p:xfrm>
          <a:off x="5704114" y="1383571"/>
          <a:ext cx="5399315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9863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95345354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920383398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14009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0DAF48F3-ADAB-394C-C2DF-5020683DE966}"/>
              </a:ext>
            </a:extLst>
          </p:cNvPr>
          <p:cNvSpPr txBox="1"/>
          <p:nvPr/>
        </p:nvSpPr>
        <p:spPr>
          <a:xfrm>
            <a:off x="9503230" y="4617936"/>
            <a:ext cx="1600200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min=3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1ADEEBB-C3C1-994B-45B2-DAEB54BD2AB6}"/>
              </a:ext>
            </a:extLst>
          </p:cNvPr>
          <p:cNvCxnSpPr/>
          <p:nvPr/>
        </p:nvCxnSpPr>
        <p:spPr>
          <a:xfrm>
            <a:off x="6951644" y="1843123"/>
            <a:ext cx="528809" cy="1542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56677DB-DA95-7C1C-2D4D-1C26A94CD352}"/>
              </a:ext>
            </a:extLst>
          </p:cNvPr>
          <p:cNvCxnSpPr/>
          <p:nvPr/>
        </p:nvCxnSpPr>
        <p:spPr>
          <a:xfrm>
            <a:off x="7293166" y="2120171"/>
            <a:ext cx="0" cy="1713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FCEA1EB-F1C2-6415-81CB-FD981AD307E9}"/>
              </a:ext>
            </a:extLst>
          </p:cNvPr>
          <p:cNvSpPr txBox="1"/>
          <p:nvPr/>
        </p:nvSpPr>
        <p:spPr>
          <a:xfrm>
            <a:off x="9329461" y="2308754"/>
            <a:ext cx="705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6293A54-CB34-B1E3-C39B-B5FCC9178FF4}"/>
              </a:ext>
            </a:extLst>
          </p:cNvPr>
          <p:cNvSpPr txBox="1"/>
          <p:nvPr/>
        </p:nvSpPr>
        <p:spPr>
          <a:xfrm>
            <a:off x="7127915" y="2271433"/>
            <a:ext cx="705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12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EDC5F596-3E98-14B8-18D5-11BC17E95BA0}"/>
              </a:ext>
            </a:extLst>
          </p:cNvPr>
          <p:cNvCxnSpPr/>
          <p:nvPr/>
        </p:nvCxnSpPr>
        <p:spPr>
          <a:xfrm>
            <a:off x="7323632" y="1069074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C99CB28-D26A-0E02-D148-D0A0EAC443AC}"/>
              </a:ext>
            </a:extLst>
          </p:cNvPr>
          <p:cNvCxnSpPr/>
          <p:nvPr/>
        </p:nvCxnSpPr>
        <p:spPr>
          <a:xfrm>
            <a:off x="9446744" y="1090845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CE93E66-C6CD-21BE-D0C2-BE5A55C9D377}"/>
              </a:ext>
            </a:extLst>
          </p:cNvPr>
          <p:cNvSpPr txBox="1"/>
          <p:nvPr/>
        </p:nvSpPr>
        <p:spPr>
          <a:xfrm>
            <a:off x="9181030" y="676167"/>
            <a:ext cx="7314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min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CDF3CA2-3E80-0D0C-16B8-A86E51FBDC1D}"/>
              </a:ext>
            </a:extLst>
          </p:cNvPr>
          <p:cNvSpPr txBox="1"/>
          <p:nvPr/>
        </p:nvSpPr>
        <p:spPr>
          <a:xfrm>
            <a:off x="7216048" y="617447"/>
            <a:ext cx="451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</a:t>
            </a:r>
            <a:r>
              <a:rPr lang="en-US" dirty="0"/>
              <a:t>  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CDF9157-7761-25BC-123C-AB7AA4FD246C}"/>
              </a:ext>
            </a:extLst>
          </p:cNvPr>
          <p:cNvCxnSpPr/>
          <p:nvPr/>
        </p:nvCxnSpPr>
        <p:spPr>
          <a:xfrm>
            <a:off x="9226757" y="1854009"/>
            <a:ext cx="528809" cy="1542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81982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F4BC3-359A-77ED-1719-D36647BE4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D5BD092-FDDF-77C7-5235-9BCC6E3C3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sort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0BDCBA4-2B9C-3EE8-6EA4-DF6A5444F0B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2" y="2633471"/>
            <a:ext cx="5358808" cy="3566159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730534-EE88-3DC1-38DE-DD6F37048CA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The outer loop increases </a:t>
            </a:r>
            <a:r>
              <a:rPr lang="en-US" dirty="0" err="1"/>
              <a:t>i</a:t>
            </a:r>
            <a:r>
              <a:rPr lang="en-US" dirty="0"/>
              <a:t> by 1, it will be equal to 2, and it still didn’t reach more than n-2 or 3 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5B97A94-0CD9-1C84-6A40-7CF71474671B}"/>
              </a:ext>
            </a:extLst>
          </p:cNvPr>
          <p:cNvSpPr/>
          <p:nvPr/>
        </p:nvSpPr>
        <p:spPr>
          <a:xfrm>
            <a:off x="946662" y="4215166"/>
            <a:ext cx="2155372" cy="402772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B39F74A-C92A-B35A-D912-C39FFBE8604C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3102034" y="4416552"/>
            <a:ext cx="7293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1FDE8C97-7CF7-1CCB-35E0-CC14BAE3C0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712778"/>
              </p:ext>
            </p:extLst>
          </p:nvPr>
        </p:nvGraphicFramePr>
        <p:xfrm>
          <a:off x="5704114" y="1383571"/>
          <a:ext cx="5399315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9863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95345354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920383398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14009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929384FE-3B90-80CB-18BF-E11BC78B3BC1}"/>
              </a:ext>
            </a:extLst>
          </p:cNvPr>
          <p:cNvSpPr txBox="1"/>
          <p:nvPr/>
        </p:nvSpPr>
        <p:spPr>
          <a:xfrm>
            <a:off x="9503230" y="4617936"/>
            <a:ext cx="1600200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min=3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E525FC3-78ED-C558-421B-000F3CD4AEB1}"/>
              </a:ext>
            </a:extLst>
          </p:cNvPr>
          <p:cNvCxnSpPr/>
          <p:nvPr/>
        </p:nvCxnSpPr>
        <p:spPr>
          <a:xfrm>
            <a:off x="8401320" y="1069074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4DB7A36-8B75-F4DD-9C19-C5C7EB2DD3AF}"/>
              </a:ext>
            </a:extLst>
          </p:cNvPr>
          <p:cNvSpPr txBox="1"/>
          <p:nvPr/>
        </p:nvSpPr>
        <p:spPr>
          <a:xfrm>
            <a:off x="8262492" y="653559"/>
            <a:ext cx="451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</a:t>
            </a:r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42217347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B1F5C-9D85-A620-6601-212BFAF66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DF0330C-CB76-2603-EE42-EBFF53EBA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sort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420A238-BC10-066E-CC30-3A1DBF9CAAA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2" y="2633471"/>
            <a:ext cx="5358808" cy="3566159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3EC5A5-7C6B-74E6-234F-6E3BE13B062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Reset the value of min is equal to </a:t>
            </a:r>
            <a:r>
              <a:rPr lang="en-US" dirty="0" err="1"/>
              <a:t>i</a:t>
            </a:r>
            <a:r>
              <a:rPr lang="en-US" dirty="0"/>
              <a:t>=2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52E8CFB-C31E-C18E-0520-831C7BA4D892}"/>
              </a:ext>
            </a:extLst>
          </p:cNvPr>
          <p:cNvSpPr/>
          <p:nvPr/>
        </p:nvSpPr>
        <p:spPr>
          <a:xfrm>
            <a:off x="946662" y="4545674"/>
            <a:ext cx="2155372" cy="402772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D754585-AAC2-BBA4-BFB7-DC0B2DA75F14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3102034" y="4747060"/>
            <a:ext cx="7293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45408AF2-8C55-63E3-30AC-86DCE6C445D6}"/>
              </a:ext>
            </a:extLst>
          </p:cNvPr>
          <p:cNvGraphicFramePr>
            <a:graphicFrameLocks noGrp="1"/>
          </p:cNvGraphicFramePr>
          <p:nvPr/>
        </p:nvGraphicFramePr>
        <p:xfrm>
          <a:off x="5704114" y="1383571"/>
          <a:ext cx="5399315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9863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95345354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920383398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14009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52E2075A-1B09-832B-EFBB-AE26A4694C54}"/>
              </a:ext>
            </a:extLst>
          </p:cNvPr>
          <p:cNvSpPr txBox="1"/>
          <p:nvPr/>
        </p:nvSpPr>
        <p:spPr>
          <a:xfrm>
            <a:off x="9503230" y="4617936"/>
            <a:ext cx="1600200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min=2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2BE8E2C7-8BF0-A288-5843-ED38DF0E7E67}"/>
              </a:ext>
            </a:extLst>
          </p:cNvPr>
          <p:cNvCxnSpPr/>
          <p:nvPr/>
        </p:nvCxnSpPr>
        <p:spPr>
          <a:xfrm>
            <a:off x="8455746" y="1069074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9441A04-60E0-DE1C-54B5-C837B6BEE4A7}"/>
              </a:ext>
            </a:extLst>
          </p:cNvPr>
          <p:cNvSpPr txBox="1"/>
          <p:nvPr/>
        </p:nvSpPr>
        <p:spPr>
          <a:xfrm>
            <a:off x="8186289" y="653559"/>
            <a:ext cx="827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i,min</a:t>
            </a:r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0606461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F9672-E55B-20BA-8F3E-353EB66AC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83F1C99-5CDC-F243-154A-54109DFBC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sort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033EB9D-4AB1-2235-E7A5-45AE55544C1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2" y="2633471"/>
            <a:ext cx="5358808" cy="3566159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D25532-0DFE-151D-C906-AF9559580D2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We go back to the inner loop and reset the value of j to i+1, equal to 3 till it reaches more than n-1 or 4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6009F1-3E5D-C374-1C3E-9C1E31D50EC4}"/>
              </a:ext>
            </a:extLst>
          </p:cNvPr>
          <p:cNvSpPr/>
          <p:nvPr/>
        </p:nvSpPr>
        <p:spPr>
          <a:xfrm>
            <a:off x="1288189" y="4887199"/>
            <a:ext cx="2155372" cy="402772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7887DB6-ACB7-4AC5-3D7F-CA781A42CFAE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3443561" y="5088585"/>
            <a:ext cx="7293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CDE304CD-61EE-B2B0-DE61-CCD0828631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4711285"/>
              </p:ext>
            </p:extLst>
          </p:nvPr>
        </p:nvGraphicFramePr>
        <p:xfrm>
          <a:off x="5704114" y="1438656"/>
          <a:ext cx="5399315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9863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95345354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920383398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14009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31BB6744-8AF8-FC87-7EDD-6AD49A3AA59F}"/>
              </a:ext>
            </a:extLst>
          </p:cNvPr>
          <p:cNvSpPr txBox="1"/>
          <p:nvPr/>
        </p:nvSpPr>
        <p:spPr>
          <a:xfrm>
            <a:off x="9503230" y="4617936"/>
            <a:ext cx="1600200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min=2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 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17ED806-D102-C916-2A75-B9A868E49050}"/>
              </a:ext>
            </a:extLst>
          </p:cNvPr>
          <p:cNvCxnSpPr/>
          <p:nvPr/>
        </p:nvCxnSpPr>
        <p:spPr>
          <a:xfrm>
            <a:off x="9479406" y="1101732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6E2A382-BA3E-8061-A025-655B933F2EF7}"/>
              </a:ext>
            </a:extLst>
          </p:cNvPr>
          <p:cNvSpPr txBox="1"/>
          <p:nvPr/>
        </p:nvSpPr>
        <p:spPr>
          <a:xfrm>
            <a:off x="9369142" y="683126"/>
            <a:ext cx="584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0CB3BDD-D352-EDF9-26E1-CBB339C7E098}"/>
              </a:ext>
            </a:extLst>
          </p:cNvPr>
          <p:cNvCxnSpPr/>
          <p:nvPr/>
        </p:nvCxnSpPr>
        <p:spPr>
          <a:xfrm>
            <a:off x="8455746" y="1069074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13050F5-77E8-C323-CA10-BCFDC1015B22}"/>
              </a:ext>
            </a:extLst>
          </p:cNvPr>
          <p:cNvSpPr txBox="1"/>
          <p:nvPr/>
        </p:nvSpPr>
        <p:spPr>
          <a:xfrm>
            <a:off x="8186289" y="653559"/>
            <a:ext cx="827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i,min</a:t>
            </a:r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1479272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FA547-8CB3-0CA9-5164-802FA5A75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0FC7ED7-DE59-1FC4-AC06-2F25DF8AF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sort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4EE6D90-82C9-32C9-0B00-ED40EFB06DA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2" y="2633471"/>
            <a:ext cx="5358808" cy="3566159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BDA1A4-9887-1DCA-E2E6-11192620D00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Check the condition for A[j] &lt; A[min] or A[3]&lt; A[2] = 21&lt;14 which is false.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2A86D9E-5954-DCBB-19DC-B96F815D0D85}"/>
              </a:ext>
            </a:extLst>
          </p:cNvPr>
          <p:cNvSpPr/>
          <p:nvPr/>
        </p:nvSpPr>
        <p:spPr>
          <a:xfrm>
            <a:off x="1728862" y="5261772"/>
            <a:ext cx="2155372" cy="402772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A7B7B26-3C0F-FF53-DD9E-1E37FDB5A12D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3884234" y="5463158"/>
            <a:ext cx="7293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E5FF83C1-11A4-5378-E7BA-3118130AB7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7695662"/>
              </p:ext>
            </p:extLst>
          </p:nvPr>
        </p:nvGraphicFramePr>
        <p:xfrm>
          <a:off x="5704114" y="1438656"/>
          <a:ext cx="5399315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9863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95345354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920383398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14009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87AA87F3-1454-BF8C-B2A0-430DBA6310A3}"/>
              </a:ext>
            </a:extLst>
          </p:cNvPr>
          <p:cNvSpPr txBox="1"/>
          <p:nvPr/>
        </p:nvSpPr>
        <p:spPr>
          <a:xfrm>
            <a:off x="9503230" y="4617936"/>
            <a:ext cx="1600200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min=2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j=3</a:t>
            </a:r>
          </a:p>
          <a:p>
            <a:endParaRPr lang="en-US" dirty="0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193A1587-E899-DDCC-B083-EAAB99CF21B8}"/>
              </a:ext>
            </a:extLst>
          </p:cNvPr>
          <p:cNvCxnSpPr/>
          <p:nvPr/>
        </p:nvCxnSpPr>
        <p:spPr>
          <a:xfrm>
            <a:off x="9479406" y="1101732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EDD23BE-139E-42F2-4F09-5CF0D853DCF7}"/>
              </a:ext>
            </a:extLst>
          </p:cNvPr>
          <p:cNvSpPr txBox="1"/>
          <p:nvPr/>
        </p:nvSpPr>
        <p:spPr>
          <a:xfrm>
            <a:off x="9369142" y="683126"/>
            <a:ext cx="584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320DF0A-D2FC-EBCF-9C6A-42163DE45C86}"/>
              </a:ext>
            </a:extLst>
          </p:cNvPr>
          <p:cNvCxnSpPr/>
          <p:nvPr/>
        </p:nvCxnSpPr>
        <p:spPr>
          <a:xfrm>
            <a:off x="8455746" y="1069074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87398BF-F4C4-42AF-37EC-0FB9DEF5CB2B}"/>
              </a:ext>
            </a:extLst>
          </p:cNvPr>
          <p:cNvSpPr txBox="1"/>
          <p:nvPr/>
        </p:nvSpPr>
        <p:spPr>
          <a:xfrm>
            <a:off x="8186289" y="653559"/>
            <a:ext cx="827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i,min</a:t>
            </a:r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0598083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F06BE-F298-F252-FBC6-6F6C8267E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185A81F-2D7B-C01B-B4F5-CB438CCA2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sort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B3583A9-AD06-D59C-1805-0D36F7F573D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2" y="2633471"/>
            <a:ext cx="5358808" cy="3566159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5D4AFC-9C8B-62C0-7E83-698437B6DD0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We go back to the inner loop and increment the variable j by 1, where j =4, which still didn’t reach more than n-1 or 4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8D28731-D7F9-2C5B-C3BE-31BC6736C5B6}"/>
              </a:ext>
            </a:extLst>
          </p:cNvPr>
          <p:cNvSpPr/>
          <p:nvPr/>
        </p:nvSpPr>
        <p:spPr>
          <a:xfrm>
            <a:off x="1288189" y="4887199"/>
            <a:ext cx="2155372" cy="402772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6342AF3-3F65-8DE0-C214-6A47FC7CF160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3443561" y="5088585"/>
            <a:ext cx="7293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AE4788AC-BC26-9F1D-F58B-67AB1DE9D3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1050444"/>
              </p:ext>
            </p:extLst>
          </p:nvPr>
        </p:nvGraphicFramePr>
        <p:xfrm>
          <a:off x="5704114" y="1438656"/>
          <a:ext cx="5399315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9863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95345354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920383398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14009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88323E6D-EEB4-D8B9-DA81-E5C9A91FA99F}"/>
              </a:ext>
            </a:extLst>
          </p:cNvPr>
          <p:cNvSpPr txBox="1"/>
          <p:nvPr/>
        </p:nvSpPr>
        <p:spPr>
          <a:xfrm>
            <a:off x="9503230" y="4617936"/>
            <a:ext cx="1600200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min=2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4E26E656-4236-3810-5986-89BB84D9564F}"/>
              </a:ext>
            </a:extLst>
          </p:cNvPr>
          <p:cNvCxnSpPr/>
          <p:nvPr/>
        </p:nvCxnSpPr>
        <p:spPr>
          <a:xfrm>
            <a:off x="10470007" y="1101732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E0797BC-D222-AC30-518C-9B313A8DBBD4}"/>
              </a:ext>
            </a:extLst>
          </p:cNvPr>
          <p:cNvSpPr txBox="1"/>
          <p:nvPr/>
        </p:nvSpPr>
        <p:spPr>
          <a:xfrm>
            <a:off x="10359743" y="683126"/>
            <a:ext cx="584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6C8F9C0-4316-D5B6-C098-523BF0F5001B}"/>
              </a:ext>
            </a:extLst>
          </p:cNvPr>
          <p:cNvCxnSpPr/>
          <p:nvPr/>
        </p:nvCxnSpPr>
        <p:spPr>
          <a:xfrm>
            <a:off x="8455746" y="1069074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A80859E-1CC7-BA61-DCCC-65F5E568690A}"/>
              </a:ext>
            </a:extLst>
          </p:cNvPr>
          <p:cNvSpPr txBox="1"/>
          <p:nvPr/>
        </p:nvSpPr>
        <p:spPr>
          <a:xfrm>
            <a:off x="8186289" y="653559"/>
            <a:ext cx="827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i,min</a:t>
            </a:r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42196187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E668C-3D4C-4911-12ED-63AAE8267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464CFE1-0EF9-EEE2-8FD2-704C0933A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sort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88FDA5E-83FB-BE37-BD6E-D3FBD8A4439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2" y="2633471"/>
            <a:ext cx="5358808" cy="3566159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E9535A-4345-52DA-9566-E37C5E5D317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Check the condition for A[j] &lt; A[min] or A[4]&lt; A[2] = 14&lt;14 which is false.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E0CCE20-E27D-549F-2FE0-39D4D840F946}"/>
              </a:ext>
            </a:extLst>
          </p:cNvPr>
          <p:cNvSpPr/>
          <p:nvPr/>
        </p:nvSpPr>
        <p:spPr>
          <a:xfrm>
            <a:off x="1728862" y="5261772"/>
            <a:ext cx="2155372" cy="402772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E718AB6-FAEC-A731-BD11-2405E61F6A3E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3884234" y="5463158"/>
            <a:ext cx="7293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65135106-3867-E347-25F4-46FFCB22457E}"/>
              </a:ext>
            </a:extLst>
          </p:cNvPr>
          <p:cNvGraphicFramePr>
            <a:graphicFrameLocks noGrp="1"/>
          </p:cNvGraphicFramePr>
          <p:nvPr/>
        </p:nvGraphicFramePr>
        <p:xfrm>
          <a:off x="5704114" y="1438656"/>
          <a:ext cx="5399315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9863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95345354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920383398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14009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BDC81689-DFAC-67F0-98F9-E14764F2D9AB}"/>
              </a:ext>
            </a:extLst>
          </p:cNvPr>
          <p:cNvSpPr txBox="1"/>
          <p:nvPr/>
        </p:nvSpPr>
        <p:spPr>
          <a:xfrm>
            <a:off x="9503230" y="4617936"/>
            <a:ext cx="1600200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min=2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j=4</a:t>
            </a:r>
          </a:p>
          <a:p>
            <a:endParaRPr lang="en-US" dirty="0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F2922294-EF30-60BC-327D-B836BD8ED901}"/>
              </a:ext>
            </a:extLst>
          </p:cNvPr>
          <p:cNvCxnSpPr/>
          <p:nvPr/>
        </p:nvCxnSpPr>
        <p:spPr>
          <a:xfrm>
            <a:off x="10557092" y="1101732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8096E8E-66C3-2B80-8D24-5DA68FB2FB70}"/>
              </a:ext>
            </a:extLst>
          </p:cNvPr>
          <p:cNvSpPr txBox="1"/>
          <p:nvPr/>
        </p:nvSpPr>
        <p:spPr>
          <a:xfrm>
            <a:off x="10446828" y="683126"/>
            <a:ext cx="584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E2DE5AE-32BD-10AB-8D72-133B70E5C121}"/>
              </a:ext>
            </a:extLst>
          </p:cNvPr>
          <p:cNvCxnSpPr/>
          <p:nvPr/>
        </p:nvCxnSpPr>
        <p:spPr>
          <a:xfrm>
            <a:off x="8455746" y="1069074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00BE234-7172-A611-316E-A7C98BB2007C}"/>
              </a:ext>
            </a:extLst>
          </p:cNvPr>
          <p:cNvSpPr txBox="1"/>
          <p:nvPr/>
        </p:nvSpPr>
        <p:spPr>
          <a:xfrm>
            <a:off x="8186289" y="653559"/>
            <a:ext cx="827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i,min</a:t>
            </a:r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7642949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D2F42-6421-7D91-3B16-88FE74026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429A473-354F-622D-12A1-8145DC017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sort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DB818CC-D5B9-8B08-7647-33641079087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2" y="2633471"/>
            <a:ext cx="5358808" cy="3566159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FB25AD-DBB9-286B-7E44-8305F043646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We go back to the inner loop and increment the variable j by 1, where j =5, which  reached more than n-1 or 4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F3ACD13-25F0-A1C6-4B33-B44D786B5EC7}"/>
              </a:ext>
            </a:extLst>
          </p:cNvPr>
          <p:cNvSpPr/>
          <p:nvPr/>
        </p:nvSpPr>
        <p:spPr>
          <a:xfrm>
            <a:off x="1288189" y="4887199"/>
            <a:ext cx="2155372" cy="402772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426F305-69E2-9833-9C0D-62000C7FA6D7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3443561" y="5088585"/>
            <a:ext cx="7293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DB6B1374-1942-FF7E-BDC1-A56511172CB1}"/>
              </a:ext>
            </a:extLst>
          </p:cNvPr>
          <p:cNvGraphicFramePr>
            <a:graphicFrameLocks noGrp="1"/>
          </p:cNvGraphicFramePr>
          <p:nvPr/>
        </p:nvGraphicFramePr>
        <p:xfrm>
          <a:off x="5704114" y="1438656"/>
          <a:ext cx="5399315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9863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95345354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920383398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14009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38793D1A-5872-C357-4422-BDA0D7A35A03}"/>
              </a:ext>
            </a:extLst>
          </p:cNvPr>
          <p:cNvSpPr txBox="1"/>
          <p:nvPr/>
        </p:nvSpPr>
        <p:spPr>
          <a:xfrm>
            <a:off x="9503230" y="4617936"/>
            <a:ext cx="1600200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min=2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8FB74F4C-9380-49D9-1BBB-D77C074B4990}"/>
              </a:ext>
            </a:extLst>
          </p:cNvPr>
          <p:cNvCxnSpPr/>
          <p:nvPr/>
        </p:nvCxnSpPr>
        <p:spPr>
          <a:xfrm>
            <a:off x="11471492" y="1101732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158B8F7-56EB-108D-73C4-32C72F605964}"/>
              </a:ext>
            </a:extLst>
          </p:cNvPr>
          <p:cNvSpPr txBox="1"/>
          <p:nvPr/>
        </p:nvSpPr>
        <p:spPr>
          <a:xfrm>
            <a:off x="11361228" y="683126"/>
            <a:ext cx="584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69CB4FF-44CF-0B6D-CF91-E580CE1C3A9A}"/>
              </a:ext>
            </a:extLst>
          </p:cNvPr>
          <p:cNvCxnSpPr/>
          <p:nvPr/>
        </p:nvCxnSpPr>
        <p:spPr>
          <a:xfrm>
            <a:off x="8455746" y="1069074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8A37187-8AD5-8274-CECD-5EB972EF33F2}"/>
              </a:ext>
            </a:extLst>
          </p:cNvPr>
          <p:cNvSpPr txBox="1"/>
          <p:nvPr/>
        </p:nvSpPr>
        <p:spPr>
          <a:xfrm>
            <a:off x="8186289" y="653559"/>
            <a:ext cx="827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i,min</a:t>
            </a:r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3596220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DDA15-DCB6-F9AB-C462-577C15FF4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9C55889-2BB6-BF29-B576-53AE5E219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sort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2DCFB37-1C84-E7E4-E8AD-3074CDFA529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2" y="2633471"/>
            <a:ext cx="5358808" cy="3566159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4719DE-580F-9A2B-4EC4-C7017569EE0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The innermost loop is finished now we move to swap A[</a:t>
            </a:r>
            <a:r>
              <a:rPr lang="en-US" dirty="0" err="1"/>
              <a:t>i</a:t>
            </a:r>
            <a:r>
              <a:rPr lang="en-US" dirty="0"/>
              <a:t>] and A[min] which will swap A[2] and A[2] where no change is required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C52A8ED-F423-B71F-7B41-5AF40577879F}"/>
              </a:ext>
            </a:extLst>
          </p:cNvPr>
          <p:cNvSpPr/>
          <p:nvPr/>
        </p:nvSpPr>
        <p:spPr>
          <a:xfrm>
            <a:off x="1332254" y="5647362"/>
            <a:ext cx="2155372" cy="402772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9A8B7AD-0D0B-16EA-F875-1C8E44B47138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3487626" y="5848748"/>
            <a:ext cx="7293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B2E8ECF0-D1CB-B5A4-A471-7013719194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1607227"/>
              </p:ext>
            </p:extLst>
          </p:nvPr>
        </p:nvGraphicFramePr>
        <p:xfrm>
          <a:off x="5704114" y="1383571"/>
          <a:ext cx="5399315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9863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95345354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920383398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14009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206B841E-82CB-E1AE-1A3F-44086FFC8631}"/>
              </a:ext>
            </a:extLst>
          </p:cNvPr>
          <p:cNvSpPr txBox="1"/>
          <p:nvPr/>
        </p:nvSpPr>
        <p:spPr>
          <a:xfrm>
            <a:off x="9503230" y="4617936"/>
            <a:ext cx="1600200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min=2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A41E9D25-8292-4CFF-CAB8-44F6D2DD0C27}"/>
              </a:ext>
            </a:extLst>
          </p:cNvPr>
          <p:cNvCxnSpPr/>
          <p:nvPr/>
        </p:nvCxnSpPr>
        <p:spPr>
          <a:xfrm>
            <a:off x="8455746" y="1069074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B64CF2D-3930-F653-E6F5-2CDF35870AD7}"/>
              </a:ext>
            </a:extLst>
          </p:cNvPr>
          <p:cNvSpPr txBox="1"/>
          <p:nvPr/>
        </p:nvSpPr>
        <p:spPr>
          <a:xfrm>
            <a:off x="8186289" y="653559"/>
            <a:ext cx="827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i,min</a:t>
            </a:r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9162625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B6D0A-3F25-40D4-CEEE-4FD4D08B5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0CE68DC-2939-3D47-8141-4E81FA173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sort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E7F49E9-B80A-244A-77EA-F7EF5C2797E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2" y="2633471"/>
            <a:ext cx="5358808" cy="3566159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1D7085-A027-99EE-1872-8D3B1B7A899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We go back to the outermost loop, where we reach the final iteration, where </a:t>
            </a:r>
            <a:r>
              <a:rPr lang="en-US" dirty="0" err="1"/>
              <a:t>i</a:t>
            </a:r>
            <a:r>
              <a:rPr lang="en-US" dirty="0"/>
              <a:t>=3 till it reach more than n-2 or 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A8E5B5E-FB73-ABBD-A92D-412511D22A3F}"/>
              </a:ext>
            </a:extLst>
          </p:cNvPr>
          <p:cNvSpPr/>
          <p:nvPr/>
        </p:nvSpPr>
        <p:spPr>
          <a:xfrm>
            <a:off x="990728" y="4226183"/>
            <a:ext cx="2155372" cy="402772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1CD880A-254E-916B-ACF1-FEAA4245CB5A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3146100" y="4427569"/>
            <a:ext cx="7293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04C2819C-53C3-38E8-F3D9-AC2B2E414FF9}"/>
              </a:ext>
            </a:extLst>
          </p:cNvPr>
          <p:cNvGraphicFramePr>
            <a:graphicFrameLocks noGrp="1"/>
          </p:cNvGraphicFramePr>
          <p:nvPr/>
        </p:nvGraphicFramePr>
        <p:xfrm>
          <a:off x="5704114" y="1383571"/>
          <a:ext cx="5399315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9863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95345354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920383398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14009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0555D2D3-B84B-E19B-0B5E-6C570DACCA70}"/>
              </a:ext>
            </a:extLst>
          </p:cNvPr>
          <p:cNvSpPr txBox="1"/>
          <p:nvPr/>
        </p:nvSpPr>
        <p:spPr>
          <a:xfrm>
            <a:off x="9503230" y="4617936"/>
            <a:ext cx="1600200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min=2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FD7C9A82-7364-71CA-1C29-B57219612587}"/>
              </a:ext>
            </a:extLst>
          </p:cNvPr>
          <p:cNvCxnSpPr/>
          <p:nvPr/>
        </p:nvCxnSpPr>
        <p:spPr>
          <a:xfrm>
            <a:off x="9511660" y="1069074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07E2667-2D97-B53E-87CE-E4CC5EE5C372}"/>
              </a:ext>
            </a:extLst>
          </p:cNvPr>
          <p:cNvSpPr txBox="1"/>
          <p:nvPr/>
        </p:nvSpPr>
        <p:spPr>
          <a:xfrm>
            <a:off x="9242203" y="653559"/>
            <a:ext cx="827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</a:t>
            </a:r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66472085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67839-0755-36FB-EC98-9DAB85967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73A506E-B71C-AA2D-09EC-16F99DBC9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sort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C292076-E2BD-FB90-F0E5-4550C943033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2" y="2633471"/>
            <a:ext cx="5358808" cy="3566159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BCA2F1-5178-4320-D90A-5CE6CA9A355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The min value is reset to be equal to </a:t>
            </a:r>
            <a:r>
              <a:rPr lang="en-US" dirty="0" err="1"/>
              <a:t>i</a:t>
            </a:r>
            <a:r>
              <a:rPr lang="en-US" dirty="0"/>
              <a:t> or 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056AE2A-A729-2357-3CD8-822BA596EE53}"/>
              </a:ext>
            </a:extLst>
          </p:cNvPr>
          <p:cNvSpPr/>
          <p:nvPr/>
        </p:nvSpPr>
        <p:spPr>
          <a:xfrm>
            <a:off x="990728" y="4545674"/>
            <a:ext cx="2155372" cy="402772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B321AB4-84FC-26B0-AC49-F83B449CDDE2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3146100" y="4747060"/>
            <a:ext cx="7293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630E7ADC-3C5B-CDBF-DB50-078D88911B8B}"/>
              </a:ext>
            </a:extLst>
          </p:cNvPr>
          <p:cNvGraphicFramePr>
            <a:graphicFrameLocks noGrp="1"/>
          </p:cNvGraphicFramePr>
          <p:nvPr/>
        </p:nvGraphicFramePr>
        <p:xfrm>
          <a:off x="5704114" y="1383571"/>
          <a:ext cx="5399315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9863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95345354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920383398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14009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82175D0F-6161-05C5-93C2-08860A577BC1}"/>
              </a:ext>
            </a:extLst>
          </p:cNvPr>
          <p:cNvSpPr txBox="1"/>
          <p:nvPr/>
        </p:nvSpPr>
        <p:spPr>
          <a:xfrm>
            <a:off x="9503230" y="4617936"/>
            <a:ext cx="1600200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min=3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8F0019CC-E24C-E641-36FC-7B34D60D144F}"/>
              </a:ext>
            </a:extLst>
          </p:cNvPr>
          <p:cNvCxnSpPr/>
          <p:nvPr/>
        </p:nvCxnSpPr>
        <p:spPr>
          <a:xfrm>
            <a:off x="9457233" y="1069074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2EEA888-E0E7-B18F-1645-214B50D0A139}"/>
              </a:ext>
            </a:extLst>
          </p:cNvPr>
          <p:cNvSpPr txBox="1"/>
          <p:nvPr/>
        </p:nvSpPr>
        <p:spPr>
          <a:xfrm>
            <a:off x="9187776" y="653559"/>
            <a:ext cx="827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i,min</a:t>
            </a:r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24304554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7C4D6-4A75-2A37-5FE2-37D6C8EC0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8AA0E15-2F75-8DCB-E026-71B9458A0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sort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B0BCF27-61A9-B05C-CE40-3CB33F67FCB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2" y="2633471"/>
            <a:ext cx="5358808" cy="3566159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D449FE-8E2B-36D8-491D-FDAF295F260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The value for j is reset to be equal to i+1 or 4 till it reaches more than n-1 or 4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89BEAC6-70C3-D94A-A77F-68BDEADDCEB6}"/>
              </a:ext>
            </a:extLst>
          </p:cNvPr>
          <p:cNvSpPr/>
          <p:nvPr/>
        </p:nvSpPr>
        <p:spPr>
          <a:xfrm>
            <a:off x="1321236" y="4887200"/>
            <a:ext cx="2155372" cy="402772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F316565-D48F-499D-65EB-D5536ADEC1B4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3476608" y="5088586"/>
            <a:ext cx="7293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E9D62EF3-D062-E07B-2F45-B5441686A09E}"/>
              </a:ext>
            </a:extLst>
          </p:cNvPr>
          <p:cNvGraphicFramePr>
            <a:graphicFrameLocks noGrp="1"/>
          </p:cNvGraphicFramePr>
          <p:nvPr/>
        </p:nvGraphicFramePr>
        <p:xfrm>
          <a:off x="5704114" y="1383571"/>
          <a:ext cx="5399315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9863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95345354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920383398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14009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D6BBF157-52B6-5595-14A7-AE525E16F890}"/>
              </a:ext>
            </a:extLst>
          </p:cNvPr>
          <p:cNvSpPr txBox="1"/>
          <p:nvPr/>
        </p:nvSpPr>
        <p:spPr>
          <a:xfrm>
            <a:off x="9503230" y="4617936"/>
            <a:ext cx="1600200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min=3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10181B78-8769-CCD8-FA30-09D96C3F8DF7}"/>
              </a:ext>
            </a:extLst>
          </p:cNvPr>
          <p:cNvCxnSpPr/>
          <p:nvPr/>
        </p:nvCxnSpPr>
        <p:spPr>
          <a:xfrm>
            <a:off x="10513550" y="1101732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80813AB-422E-6174-ABD6-1A631B9EAD6E}"/>
              </a:ext>
            </a:extLst>
          </p:cNvPr>
          <p:cNvSpPr txBox="1"/>
          <p:nvPr/>
        </p:nvSpPr>
        <p:spPr>
          <a:xfrm>
            <a:off x="10403286" y="683126"/>
            <a:ext cx="584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3D4FBFE-E8F3-5454-57FA-4E06A6E540B5}"/>
              </a:ext>
            </a:extLst>
          </p:cNvPr>
          <p:cNvCxnSpPr/>
          <p:nvPr/>
        </p:nvCxnSpPr>
        <p:spPr>
          <a:xfrm>
            <a:off x="9457232" y="1069074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C1F0CAB-50D4-0D7E-5A52-33A6353A3E17}"/>
              </a:ext>
            </a:extLst>
          </p:cNvPr>
          <p:cNvSpPr txBox="1"/>
          <p:nvPr/>
        </p:nvSpPr>
        <p:spPr>
          <a:xfrm>
            <a:off x="9187775" y="653559"/>
            <a:ext cx="827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i,min</a:t>
            </a:r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70334178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D8F09-97DD-F0F7-07C8-833A3ADF3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744818B-E7AF-B283-1EA8-14017174D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sort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F6E5EED-0A99-7BA2-7357-DC6E90B0F8B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2" y="2633471"/>
            <a:ext cx="5358808" cy="3566159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666245-40E5-906B-ABB4-7F66CD07193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Check the condition for A[j] &lt; A[min] or A[4]&lt; A[3] = 21&lt;14, which is true, so the new value of min is 4.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38EC165-F7F8-8D40-D133-8118142C55BD}"/>
              </a:ext>
            </a:extLst>
          </p:cNvPr>
          <p:cNvSpPr/>
          <p:nvPr/>
        </p:nvSpPr>
        <p:spPr>
          <a:xfrm>
            <a:off x="1706829" y="5283810"/>
            <a:ext cx="2155372" cy="402772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6ED30FD-2734-CBBE-6F7F-2A6853A6AB1D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3862201" y="5485196"/>
            <a:ext cx="7293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D27D3765-5AF1-E290-2D18-28C81F96D2FE}"/>
              </a:ext>
            </a:extLst>
          </p:cNvPr>
          <p:cNvGraphicFramePr>
            <a:graphicFrameLocks noGrp="1"/>
          </p:cNvGraphicFramePr>
          <p:nvPr/>
        </p:nvGraphicFramePr>
        <p:xfrm>
          <a:off x="5704114" y="1383571"/>
          <a:ext cx="5399315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9863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95345354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920383398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14009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38E2A267-74E2-A26B-BC89-022F9EA586BB}"/>
              </a:ext>
            </a:extLst>
          </p:cNvPr>
          <p:cNvSpPr txBox="1"/>
          <p:nvPr/>
        </p:nvSpPr>
        <p:spPr>
          <a:xfrm>
            <a:off x="9503230" y="4617936"/>
            <a:ext cx="1600200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min=4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193564DC-FB73-22ED-AF20-E62264326BA3}"/>
              </a:ext>
            </a:extLst>
          </p:cNvPr>
          <p:cNvCxnSpPr/>
          <p:nvPr/>
        </p:nvCxnSpPr>
        <p:spPr>
          <a:xfrm>
            <a:off x="10546206" y="1101732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CB8BAB9-FDF0-7F1A-2DD9-EB3FEF1FA1EF}"/>
              </a:ext>
            </a:extLst>
          </p:cNvPr>
          <p:cNvSpPr txBox="1"/>
          <p:nvPr/>
        </p:nvSpPr>
        <p:spPr>
          <a:xfrm>
            <a:off x="10303330" y="699742"/>
            <a:ext cx="939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j,min</a:t>
            </a:r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CC58A3D-8B68-966F-2FF4-065F7931FC97}"/>
              </a:ext>
            </a:extLst>
          </p:cNvPr>
          <p:cNvCxnSpPr/>
          <p:nvPr/>
        </p:nvCxnSpPr>
        <p:spPr>
          <a:xfrm>
            <a:off x="9468117" y="1069074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137EA82-53AD-7734-3EC8-0CB60514CDFE}"/>
              </a:ext>
            </a:extLst>
          </p:cNvPr>
          <p:cNvSpPr txBox="1"/>
          <p:nvPr/>
        </p:nvSpPr>
        <p:spPr>
          <a:xfrm>
            <a:off x="9198660" y="653559"/>
            <a:ext cx="827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885848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9698A-8CD7-9623-C484-17A61FAFB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3C922CB-68C0-6AC5-4EB0-87385C319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sort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D19B20C-B0C6-4ACF-8C86-00B52BE4758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2" y="2633471"/>
            <a:ext cx="5358808" cy="3566159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7AF054-2746-8908-1908-7FF5A89E273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The value of j is increased by 1 to be equal to 5 which is more than n-1 or 4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8DDE3A7-255A-FD6E-57B4-949ED373BF0B}"/>
              </a:ext>
            </a:extLst>
          </p:cNvPr>
          <p:cNvSpPr/>
          <p:nvPr/>
        </p:nvSpPr>
        <p:spPr>
          <a:xfrm>
            <a:off x="1321236" y="4887200"/>
            <a:ext cx="2155372" cy="402772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3E14365-3A35-C79D-0A75-8AC41BB66AE3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3476608" y="5088586"/>
            <a:ext cx="7293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11AD3F02-95DB-9B2C-2C31-10E3EAA9A83D}"/>
              </a:ext>
            </a:extLst>
          </p:cNvPr>
          <p:cNvGraphicFramePr>
            <a:graphicFrameLocks noGrp="1"/>
          </p:cNvGraphicFramePr>
          <p:nvPr/>
        </p:nvGraphicFramePr>
        <p:xfrm>
          <a:off x="5704114" y="1383571"/>
          <a:ext cx="5399315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9863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95345354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920383398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14009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C99F3D39-391E-3AEE-EB3D-8E9BE2AE8046}"/>
              </a:ext>
            </a:extLst>
          </p:cNvPr>
          <p:cNvSpPr txBox="1"/>
          <p:nvPr/>
        </p:nvSpPr>
        <p:spPr>
          <a:xfrm>
            <a:off x="9503230" y="4617936"/>
            <a:ext cx="1600200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min=4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81557A7-2F1B-03FC-FC15-960659B72BDA}"/>
              </a:ext>
            </a:extLst>
          </p:cNvPr>
          <p:cNvCxnSpPr/>
          <p:nvPr/>
        </p:nvCxnSpPr>
        <p:spPr>
          <a:xfrm>
            <a:off x="10546206" y="1101732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00FB76E-7BE9-A4B0-7265-782A0E35867C}"/>
              </a:ext>
            </a:extLst>
          </p:cNvPr>
          <p:cNvSpPr txBox="1"/>
          <p:nvPr/>
        </p:nvSpPr>
        <p:spPr>
          <a:xfrm>
            <a:off x="10303330" y="699742"/>
            <a:ext cx="939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min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B0C51EE-405A-BAF7-4EAC-E14C668922F0}"/>
              </a:ext>
            </a:extLst>
          </p:cNvPr>
          <p:cNvCxnSpPr/>
          <p:nvPr/>
        </p:nvCxnSpPr>
        <p:spPr>
          <a:xfrm>
            <a:off x="9468117" y="1069074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11E3DC7-C19A-24C4-0BB8-86C122C84D9A}"/>
              </a:ext>
            </a:extLst>
          </p:cNvPr>
          <p:cNvSpPr txBox="1"/>
          <p:nvPr/>
        </p:nvSpPr>
        <p:spPr>
          <a:xfrm>
            <a:off x="9361945" y="617447"/>
            <a:ext cx="827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</a:t>
            </a:r>
            <a:endParaRPr lang="en-US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B15F468-B3C3-6534-3274-FCF89BA0DCB3}"/>
              </a:ext>
            </a:extLst>
          </p:cNvPr>
          <p:cNvCxnSpPr>
            <a:cxnSpLocks/>
          </p:cNvCxnSpPr>
          <p:nvPr/>
        </p:nvCxnSpPr>
        <p:spPr>
          <a:xfrm>
            <a:off x="11525519" y="1025531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FD0880E-C2B4-FC8C-BC8C-58E4BB33E517}"/>
              </a:ext>
            </a:extLst>
          </p:cNvPr>
          <p:cNvSpPr txBox="1"/>
          <p:nvPr/>
        </p:nvSpPr>
        <p:spPr>
          <a:xfrm>
            <a:off x="11419347" y="573904"/>
            <a:ext cx="391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</a:t>
            </a:r>
          </a:p>
        </p:txBody>
      </p:sp>
    </p:spTree>
    <p:extLst>
      <p:ext uri="{BB962C8B-B14F-4D97-AF65-F5344CB8AC3E}">
        <p14:creationId xmlns:p14="http://schemas.microsoft.com/office/powerpoint/2010/main" val="221013115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D0E3C-F6F7-FDC5-BDB8-9D251794C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5443A58-65C5-C85E-30AC-E59229EC8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sort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3FF4A05-00C9-D7D6-703D-4F0B057E9D0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2" y="2633471"/>
            <a:ext cx="5358808" cy="3566159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28CFA3-2BDA-9CC2-C0ED-FAE66B061BB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The innermost loop is finished now we move to swap A[</a:t>
            </a:r>
            <a:r>
              <a:rPr lang="en-US" dirty="0" err="1"/>
              <a:t>i</a:t>
            </a:r>
            <a:r>
              <a:rPr lang="en-US" dirty="0"/>
              <a:t>] and A[min] which will swap A[3] and A[4] or 21 with 14.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0EF920-11B4-E526-7B58-AB4E4863D2E9}"/>
              </a:ext>
            </a:extLst>
          </p:cNvPr>
          <p:cNvSpPr/>
          <p:nvPr/>
        </p:nvSpPr>
        <p:spPr>
          <a:xfrm>
            <a:off x="1332254" y="5647362"/>
            <a:ext cx="2155372" cy="402772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C7D586C-BB63-9A7B-8A38-F636F8B4CC9D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3487626" y="5848748"/>
            <a:ext cx="7293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C8C78D62-1FBD-5EBD-F7D7-0ECE685FFB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5130167"/>
              </p:ext>
            </p:extLst>
          </p:nvPr>
        </p:nvGraphicFramePr>
        <p:xfrm>
          <a:off x="5704114" y="1383571"/>
          <a:ext cx="5399315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9863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95345354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920383398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14009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F9CC0FEF-5C27-9976-FB8F-4DB30A05F580}"/>
              </a:ext>
            </a:extLst>
          </p:cNvPr>
          <p:cNvSpPr txBox="1"/>
          <p:nvPr/>
        </p:nvSpPr>
        <p:spPr>
          <a:xfrm>
            <a:off x="9503230" y="4617936"/>
            <a:ext cx="1600200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min=4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BBAD9B6-94CB-4647-B085-75022E0A06AC}"/>
              </a:ext>
            </a:extLst>
          </p:cNvPr>
          <p:cNvCxnSpPr/>
          <p:nvPr/>
        </p:nvCxnSpPr>
        <p:spPr>
          <a:xfrm>
            <a:off x="10289762" y="1843123"/>
            <a:ext cx="528809" cy="1542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3EDC045-941D-C8FC-A357-B6FF5EF1146A}"/>
              </a:ext>
            </a:extLst>
          </p:cNvPr>
          <p:cNvCxnSpPr/>
          <p:nvPr/>
        </p:nvCxnSpPr>
        <p:spPr>
          <a:xfrm>
            <a:off x="9194757" y="1843123"/>
            <a:ext cx="528809" cy="1542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6C02B94-25B6-2BBD-A994-E7132E9A190E}"/>
              </a:ext>
            </a:extLst>
          </p:cNvPr>
          <p:cNvCxnSpPr/>
          <p:nvPr/>
        </p:nvCxnSpPr>
        <p:spPr>
          <a:xfrm>
            <a:off x="9441455" y="2120171"/>
            <a:ext cx="0" cy="1713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469B548-A547-30A5-8573-C548D06FF8B4}"/>
              </a:ext>
            </a:extLst>
          </p:cNvPr>
          <p:cNvCxnSpPr>
            <a:cxnSpLocks/>
          </p:cNvCxnSpPr>
          <p:nvPr/>
        </p:nvCxnSpPr>
        <p:spPr>
          <a:xfrm flipH="1">
            <a:off x="10552057" y="2131188"/>
            <a:ext cx="1" cy="1645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50CA740-9483-F681-9AB5-38164B641D76}"/>
              </a:ext>
            </a:extLst>
          </p:cNvPr>
          <p:cNvSpPr txBox="1"/>
          <p:nvPr/>
        </p:nvSpPr>
        <p:spPr>
          <a:xfrm>
            <a:off x="10365045" y="2308754"/>
            <a:ext cx="705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58098AE-290E-E531-976B-7826191F0D39}"/>
              </a:ext>
            </a:extLst>
          </p:cNvPr>
          <p:cNvSpPr txBox="1"/>
          <p:nvPr/>
        </p:nvSpPr>
        <p:spPr>
          <a:xfrm>
            <a:off x="9276204" y="2271433"/>
            <a:ext cx="705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14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6032C7B3-2E09-B808-CE92-6FF991CFE96A}"/>
              </a:ext>
            </a:extLst>
          </p:cNvPr>
          <p:cNvCxnSpPr/>
          <p:nvPr/>
        </p:nvCxnSpPr>
        <p:spPr>
          <a:xfrm>
            <a:off x="10546206" y="1101732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363E1C5-F387-83DB-2FF4-4C1ED8FE4813}"/>
              </a:ext>
            </a:extLst>
          </p:cNvPr>
          <p:cNvSpPr txBox="1"/>
          <p:nvPr/>
        </p:nvSpPr>
        <p:spPr>
          <a:xfrm>
            <a:off x="10303330" y="699742"/>
            <a:ext cx="939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min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731DFA5-A2D7-7FE9-EBC9-B358FD09CB88}"/>
              </a:ext>
            </a:extLst>
          </p:cNvPr>
          <p:cNvCxnSpPr/>
          <p:nvPr/>
        </p:nvCxnSpPr>
        <p:spPr>
          <a:xfrm>
            <a:off x="9468117" y="1069074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48295E9-9A73-85EB-ECE4-60A59D0F8EF3}"/>
              </a:ext>
            </a:extLst>
          </p:cNvPr>
          <p:cNvSpPr txBox="1"/>
          <p:nvPr/>
        </p:nvSpPr>
        <p:spPr>
          <a:xfrm>
            <a:off x="9361945" y="617447"/>
            <a:ext cx="827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679921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55894-A459-0C9A-E05B-E53D7726B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E6B6796-2C6B-4B1A-7743-5CC24D8CE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sort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4D6CD9D-8183-8444-275C-900C632AE9F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2" y="2633471"/>
            <a:ext cx="5358808" cy="3566159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0381E4-4831-5978-9285-C4355BDDAED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the value of i is increased by 1, equal to 4, which is more than n-2 or 3, and the outermost loop stops</a:t>
            </a:r>
          </a:p>
          <a:p>
            <a:r>
              <a:rPr lang="en-US" dirty="0"/>
              <a:t>The array is now sorted 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23FB884-FA76-E64C-622E-C6B8E52822D8}"/>
              </a:ext>
            </a:extLst>
          </p:cNvPr>
          <p:cNvSpPr/>
          <p:nvPr/>
        </p:nvSpPr>
        <p:spPr>
          <a:xfrm>
            <a:off x="946661" y="4193134"/>
            <a:ext cx="2155372" cy="402772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7C72889-82D1-862D-6E1F-BEE6A7617D42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3102033" y="4394520"/>
            <a:ext cx="7293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B783C5D5-9FC5-47A4-01D5-A9AC41F594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3559376"/>
              </p:ext>
            </p:extLst>
          </p:nvPr>
        </p:nvGraphicFramePr>
        <p:xfrm>
          <a:off x="5704114" y="1383571"/>
          <a:ext cx="5399315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9863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95345354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920383398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14009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4A5FCA7D-16BE-0A5E-73B0-E3C72B15C4AC}"/>
              </a:ext>
            </a:extLst>
          </p:cNvPr>
          <p:cNvSpPr txBox="1"/>
          <p:nvPr/>
        </p:nvSpPr>
        <p:spPr>
          <a:xfrm>
            <a:off x="9503230" y="4617936"/>
            <a:ext cx="1600200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min=4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E34FAAF-5D7E-5FBA-31D9-2EA641FDA8FE}"/>
              </a:ext>
            </a:extLst>
          </p:cNvPr>
          <p:cNvCxnSpPr/>
          <p:nvPr/>
        </p:nvCxnSpPr>
        <p:spPr>
          <a:xfrm>
            <a:off x="10534919" y="1069074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F44853B-CFFF-3F88-31F2-409137769E6D}"/>
              </a:ext>
            </a:extLst>
          </p:cNvPr>
          <p:cNvSpPr txBox="1"/>
          <p:nvPr/>
        </p:nvSpPr>
        <p:spPr>
          <a:xfrm>
            <a:off x="10428747" y="617447"/>
            <a:ext cx="827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949555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E7DFD-A7B8-3816-8B44-3502BAC99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2ED1526-9449-092B-217D-B40A39748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sort (Time analysis)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D446451-7DAF-BBC1-0ED8-6CC9AAD39A4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2" y="2633471"/>
            <a:ext cx="5358808" cy="356615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F4F6E195-4CC4-AF05-E2AA-E83C2CE6B218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The basic operation: comparison</a:t>
                </a:r>
              </a:p>
              <a:p>
                <a:r>
                  <a:rPr lang="en-US" dirty="0"/>
                  <a:t>T(n)=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−2</m:t>
                        </m:r>
                      </m:sup>
                      <m:e>
                        <m:nary>
                          <m:naryPr>
                            <m:chr m:val="∑"/>
                            <m:limLoc m:val="undOvr"/>
                            <m:grow m:val="on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nary>
                      </m:e>
                    </m:nary>
                  </m:oMath>
                </a14:m>
                <a:r>
                  <a:rPr lang="en-US" dirty="0"/>
                  <a:t>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−2</m:t>
                        </m:r>
                      </m:sup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−1−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nary>
                  </m:oMath>
                </a14:m>
                <a:r>
                  <a:rPr lang="en-US" dirty="0"/>
                  <a:t>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−2</m:t>
                        </m:r>
                      </m:sup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−1+1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−2</m:t>
                        </m:r>
                      </m:sup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since this is a descending order sequence first= n-1-0=n-1, last=n-1-(n-2)=n-1-n+2=1 and size= n-2-0+1=n-1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0" dirty="0" smtClean="0">
                                <a:latin typeface="Cambria Math" panose="02040503050406030204" pitchFamily="18" charset="0"/>
                              </a:rPr>
                              <m:t>−1+1</m:t>
                            </m:r>
                          </m:e>
                        </m:d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b="0" i="0" dirty="0" smtClean="0"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  <m:sup>
                            <m:r>
                              <a:rPr lang="en-US" b="0" i="0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dirty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/>
                  <a:t>	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F4F6E195-4CC4-AF05-E2AA-E83C2CE6B2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2807" t="-171" r="-3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5C059D4-11AC-7444-56D6-C0A79FD4E18B}"/>
              </a:ext>
            </a:extLst>
          </p:cNvPr>
          <p:cNvCxnSpPr>
            <a:cxnSpLocks/>
          </p:cNvCxnSpPr>
          <p:nvPr/>
        </p:nvCxnSpPr>
        <p:spPr>
          <a:xfrm flipH="1">
            <a:off x="3918932" y="5485191"/>
            <a:ext cx="4437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Right Bracket 4">
            <a:extLst>
              <a:ext uri="{FF2B5EF4-FFF2-40B4-BE49-F238E27FC236}">
                <a16:creationId xmlns:a16="http://schemas.microsoft.com/office/drawing/2014/main" id="{8C69F0D6-F10A-F013-E718-EDAA3E7C8A25}"/>
              </a:ext>
            </a:extLst>
          </p:cNvPr>
          <p:cNvSpPr/>
          <p:nvPr/>
        </p:nvSpPr>
        <p:spPr>
          <a:xfrm>
            <a:off x="3873213" y="5299113"/>
            <a:ext cx="45719" cy="350665"/>
          </a:xfrm>
          <a:prstGeom prst="rightBracket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4CD2C6-B32A-5F3E-2CC1-F839E9BC8E58}"/>
              </a:ext>
            </a:extLst>
          </p:cNvPr>
          <p:cNvSpPr txBox="1"/>
          <p:nvPr/>
        </p:nvSpPr>
        <p:spPr>
          <a:xfrm>
            <a:off x="4422539" y="5172837"/>
            <a:ext cx="12983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 basic operation</a:t>
            </a:r>
          </a:p>
        </p:txBody>
      </p:sp>
    </p:spTree>
    <p:extLst>
      <p:ext uri="{BB962C8B-B14F-4D97-AF65-F5344CB8AC3E}">
        <p14:creationId xmlns:p14="http://schemas.microsoft.com/office/powerpoint/2010/main" val="236926325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E0B08-9658-294A-EF0D-432D50E58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Bubble sort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943ED4B-13B6-8A52-547A-E5C886D3BFD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2" y="2633472"/>
            <a:ext cx="4924560" cy="3469873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DC9D30-A961-0DCF-D6D5-25E881B0E04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Now, let’s trace the bubble sort on the same array</a:t>
            </a:r>
          </a:p>
          <a:p>
            <a:r>
              <a:rPr lang="en-US" dirty="0"/>
              <a:t>Starting from outermost loop where </a:t>
            </a:r>
            <a:r>
              <a:rPr lang="en-US" dirty="0" err="1"/>
              <a:t>i</a:t>
            </a:r>
            <a:r>
              <a:rPr lang="en-US" dirty="0"/>
              <a:t>=0 till  it reach more than n-2 or 3</a:t>
            </a:r>
          </a:p>
          <a:p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7BDFF8E-72D2-3AB7-54E9-05AE9C4764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6808731"/>
              </p:ext>
            </p:extLst>
          </p:nvPr>
        </p:nvGraphicFramePr>
        <p:xfrm>
          <a:off x="6085543" y="1003301"/>
          <a:ext cx="5399315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9863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95345354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920383398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14009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6C60826-2ABF-9EF7-85E2-C35C31F39585}"/>
              </a:ext>
            </a:extLst>
          </p:cNvPr>
          <p:cNvSpPr txBox="1"/>
          <p:nvPr/>
        </p:nvSpPr>
        <p:spPr>
          <a:xfrm>
            <a:off x="9884658" y="4349019"/>
            <a:ext cx="1600200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7F1DE4-8D63-F75B-DD2E-FF556470D11A}"/>
              </a:ext>
            </a:extLst>
          </p:cNvPr>
          <p:cNvSpPr/>
          <p:nvPr/>
        </p:nvSpPr>
        <p:spPr>
          <a:xfrm>
            <a:off x="902593" y="4545674"/>
            <a:ext cx="2155372" cy="402772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AA18E2B-657D-2D98-6F6B-661502656A0F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3057965" y="4747060"/>
            <a:ext cx="7293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68516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17B63-AFE0-C3B7-90FC-DDDD06CB0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FC442-DCEA-A73A-AA66-D8B24B629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Bubble sort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B1E70D1-CE05-8255-42C2-75D24C7A5D6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2" y="2633472"/>
            <a:ext cx="4924560" cy="3469873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D1E5F8-9EF9-88E9-92E8-C4E15B724BB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Next, we move to inner loop where j=0 till it reach n-2-i or n-2-0= n-2 or 3.</a:t>
            </a:r>
          </a:p>
          <a:p>
            <a:r>
              <a:rPr lang="en-US" dirty="0"/>
              <a:t>This algorithm differs from the selection sort as it swaps two adjacent numbers when the lower index is greater in value.</a:t>
            </a:r>
          </a:p>
          <a:p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9DA5967-1781-3F32-4922-079B0451F878}"/>
              </a:ext>
            </a:extLst>
          </p:cNvPr>
          <p:cNvGraphicFramePr>
            <a:graphicFrameLocks noGrp="1"/>
          </p:cNvGraphicFramePr>
          <p:nvPr/>
        </p:nvGraphicFramePr>
        <p:xfrm>
          <a:off x="6085543" y="1003301"/>
          <a:ext cx="5399315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9863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95345354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920383398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14009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64E1496-4017-F52D-5EC7-EBE537A434B6}"/>
              </a:ext>
            </a:extLst>
          </p:cNvPr>
          <p:cNvSpPr txBox="1"/>
          <p:nvPr/>
        </p:nvSpPr>
        <p:spPr>
          <a:xfrm>
            <a:off x="9788358" y="4747735"/>
            <a:ext cx="1600200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8904A4-7AAD-40E6-60B7-201C66303920}"/>
              </a:ext>
            </a:extLst>
          </p:cNvPr>
          <p:cNvSpPr/>
          <p:nvPr/>
        </p:nvSpPr>
        <p:spPr>
          <a:xfrm>
            <a:off x="1288185" y="4975334"/>
            <a:ext cx="2155372" cy="402772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F5F268E-02CF-BB13-07A4-DF9F312CCB7E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3443557" y="5176720"/>
            <a:ext cx="7293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331308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ADE09-2784-8287-9F4B-29D172530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3A5F4-B2DA-54C6-BA3D-2AC2BEB27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Bubble sort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0B8FFC4-042D-8AC1-31F3-79F0CF6255F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2" y="2633472"/>
            <a:ext cx="4924560" cy="3469873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F64CC9-40DC-4904-73C8-188AB58F5E9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Check if A[j+1]&lt;A[j] which is equal  A[1]&lt;A[0] or 21&lt;14 which is false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6614009-4453-9BE2-CE7F-CBCDC2F668CA}"/>
              </a:ext>
            </a:extLst>
          </p:cNvPr>
          <p:cNvGraphicFramePr>
            <a:graphicFrameLocks noGrp="1"/>
          </p:cNvGraphicFramePr>
          <p:nvPr/>
        </p:nvGraphicFramePr>
        <p:xfrm>
          <a:off x="6085543" y="1003301"/>
          <a:ext cx="5399315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9863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95345354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920383398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14009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DFB0EBE-249E-2457-4750-3B1BA4817799}"/>
              </a:ext>
            </a:extLst>
          </p:cNvPr>
          <p:cNvSpPr txBox="1"/>
          <p:nvPr/>
        </p:nvSpPr>
        <p:spPr>
          <a:xfrm>
            <a:off x="9696090" y="4155657"/>
            <a:ext cx="1600200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E81AB63-CFEC-8C98-8879-1E83739E1AFB}"/>
              </a:ext>
            </a:extLst>
          </p:cNvPr>
          <p:cNvSpPr/>
          <p:nvPr/>
        </p:nvSpPr>
        <p:spPr>
          <a:xfrm>
            <a:off x="1695810" y="5382963"/>
            <a:ext cx="3338897" cy="500044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0EED516-3766-4E49-88DE-048215F8BAD4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5034707" y="5632985"/>
            <a:ext cx="6279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DD5A405B-3592-2227-D4BC-782F28173603}"/>
              </a:ext>
            </a:extLst>
          </p:cNvPr>
          <p:cNvCxnSpPr/>
          <p:nvPr/>
        </p:nvCxnSpPr>
        <p:spPr>
          <a:xfrm>
            <a:off x="6633727" y="716096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29F20E0-8B77-DE0C-FEDB-8E7DB6C02A3E}"/>
              </a:ext>
            </a:extLst>
          </p:cNvPr>
          <p:cNvSpPr txBox="1"/>
          <p:nvPr/>
        </p:nvSpPr>
        <p:spPr>
          <a:xfrm>
            <a:off x="6539175" y="346764"/>
            <a:ext cx="42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</a:t>
            </a:r>
          </a:p>
        </p:txBody>
      </p:sp>
    </p:spTree>
    <p:extLst>
      <p:ext uri="{BB962C8B-B14F-4D97-AF65-F5344CB8AC3E}">
        <p14:creationId xmlns:p14="http://schemas.microsoft.com/office/powerpoint/2010/main" val="265876016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7F353-FB9A-A35F-AC64-031807186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9BE1E-C284-B089-83E1-3FB2D05D4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Bubble sort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82D3411-CE4B-1940-2A0B-EA30EF01F20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2" y="2633472"/>
            <a:ext cx="4924560" cy="3469873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0D833F-068A-1E65-AB78-F64681B55B6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Increase the value of j by 1 then j =1.till it reaches a value greater than n-2-0 or 5-2-0=3</a:t>
            </a:r>
          </a:p>
          <a:p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9B9712D-FBB3-2A6A-180C-0BDA0B001CEB}"/>
              </a:ext>
            </a:extLst>
          </p:cNvPr>
          <p:cNvGraphicFramePr>
            <a:graphicFrameLocks noGrp="1"/>
          </p:cNvGraphicFramePr>
          <p:nvPr/>
        </p:nvGraphicFramePr>
        <p:xfrm>
          <a:off x="6085543" y="1003301"/>
          <a:ext cx="5399315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9863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95345354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920383398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14009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5A70D43-F186-0853-4919-0E5A1A967688}"/>
              </a:ext>
            </a:extLst>
          </p:cNvPr>
          <p:cNvSpPr txBox="1"/>
          <p:nvPr/>
        </p:nvSpPr>
        <p:spPr>
          <a:xfrm>
            <a:off x="9788358" y="4747735"/>
            <a:ext cx="1600200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5F22C58-3D60-D987-919B-7B79909ACC7A}"/>
              </a:ext>
            </a:extLst>
          </p:cNvPr>
          <p:cNvSpPr/>
          <p:nvPr/>
        </p:nvSpPr>
        <p:spPr>
          <a:xfrm>
            <a:off x="1288185" y="4975334"/>
            <a:ext cx="2155372" cy="402772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D60A126-45C0-8222-0499-50C484FAC166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3443557" y="5176720"/>
            <a:ext cx="7293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EBF808A-4115-CF90-0C81-48947AD4E91F}"/>
              </a:ext>
            </a:extLst>
          </p:cNvPr>
          <p:cNvCxnSpPr/>
          <p:nvPr/>
        </p:nvCxnSpPr>
        <p:spPr>
          <a:xfrm>
            <a:off x="7700527" y="736340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EEB2299-1469-0AB8-E1FF-6ADCD8A7862F}"/>
              </a:ext>
            </a:extLst>
          </p:cNvPr>
          <p:cNvSpPr txBox="1"/>
          <p:nvPr/>
        </p:nvSpPr>
        <p:spPr>
          <a:xfrm>
            <a:off x="7605975" y="367008"/>
            <a:ext cx="42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</a:t>
            </a:r>
          </a:p>
        </p:txBody>
      </p:sp>
    </p:spTree>
    <p:extLst>
      <p:ext uri="{BB962C8B-B14F-4D97-AF65-F5344CB8AC3E}">
        <p14:creationId xmlns:p14="http://schemas.microsoft.com/office/powerpoint/2010/main" val="371170067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5CC26-F208-FDEF-3361-7A106FCAE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242CE-1447-E8D3-7117-423C84C42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Bubble sort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76BFF62-8AE1-CB22-76F8-91E0A12C034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2" y="2633472"/>
            <a:ext cx="4924560" cy="3469873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233F86-E2C7-9306-3BC2-C4EA5140F71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Check if A[j+1]&lt;A[j] which is equal  A[2]&lt;A[1] or 1&lt;21 which is true then we swap A[2] with A[1] or 21 and 1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EA2B64C-FDDB-CD6F-0BB4-74FB5B891BF4}"/>
              </a:ext>
            </a:extLst>
          </p:cNvPr>
          <p:cNvGraphicFramePr>
            <a:graphicFrameLocks noGrp="1"/>
          </p:cNvGraphicFramePr>
          <p:nvPr/>
        </p:nvGraphicFramePr>
        <p:xfrm>
          <a:off x="6085543" y="1003301"/>
          <a:ext cx="5399315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9863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95345354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920383398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14009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B807532-DE0A-85A6-2335-48EC6C72D510}"/>
              </a:ext>
            </a:extLst>
          </p:cNvPr>
          <p:cNvSpPr txBox="1"/>
          <p:nvPr/>
        </p:nvSpPr>
        <p:spPr>
          <a:xfrm>
            <a:off x="9696090" y="4155657"/>
            <a:ext cx="1600200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10B010C-47D6-D9DC-30E6-ABF5FBDB03D8}"/>
              </a:ext>
            </a:extLst>
          </p:cNvPr>
          <p:cNvSpPr/>
          <p:nvPr/>
        </p:nvSpPr>
        <p:spPr>
          <a:xfrm>
            <a:off x="1695810" y="5382963"/>
            <a:ext cx="3338897" cy="500044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027E153-F705-B3B8-5FAE-60DFC4E990D0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5034707" y="5632985"/>
            <a:ext cx="6279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7E9F077-FA4D-58C8-D54A-42E42698C7E0}"/>
              </a:ext>
            </a:extLst>
          </p:cNvPr>
          <p:cNvCxnSpPr/>
          <p:nvPr/>
        </p:nvCxnSpPr>
        <p:spPr>
          <a:xfrm>
            <a:off x="7678757" y="716096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E489635-7FB5-8F4D-99C7-0AF25CDDF65C}"/>
              </a:ext>
            </a:extLst>
          </p:cNvPr>
          <p:cNvCxnSpPr/>
          <p:nvPr/>
        </p:nvCxnSpPr>
        <p:spPr>
          <a:xfrm>
            <a:off x="8778608" y="716096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B8FDE5B-0C66-3698-C895-2BEFA2EE940A}"/>
              </a:ext>
            </a:extLst>
          </p:cNvPr>
          <p:cNvSpPr txBox="1"/>
          <p:nvPr/>
        </p:nvSpPr>
        <p:spPr>
          <a:xfrm>
            <a:off x="8570373" y="347280"/>
            <a:ext cx="584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j+1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EB7DE4-975C-9877-BA53-F9438CA6D9D5}"/>
              </a:ext>
            </a:extLst>
          </p:cNvPr>
          <p:cNvSpPr txBox="1"/>
          <p:nvPr/>
        </p:nvSpPr>
        <p:spPr>
          <a:xfrm>
            <a:off x="7584205" y="346764"/>
            <a:ext cx="42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097DA37-EDBC-7BE5-FA3D-C62F2703E9FF}"/>
              </a:ext>
            </a:extLst>
          </p:cNvPr>
          <p:cNvCxnSpPr/>
          <p:nvPr/>
        </p:nvCxnSpPr>
        <p:spPr>
          <a:xfrm>
            <a:off x="7469436" y="1487277"/>
            <a:ext cx="440675" cy="1542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D5A4DCD-A8F3-385F-8AA1-41243992BF0B}"/>
              </a:ext>
            </a:extLst>
          </p:cNvPr>
          <p:cNvCxnSpPr/>
          <p:nvPr/>
        </p:nvCxnSpPr>
        <p:spPr>
          <a:xfrm>
            <a:off x="8558270" y="1508547"/>
            <a:ext cx="440675" cy="1542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F4A9530-F827-F9BD-0881-CF9435FE8429}"/>
              </a:ext>
            </a:extLst>
          </p:cNvPr>
          <p:cNvSpPr txBox="1"/>
          <p:nvPr/>
        </p:nvSpPr>
        <p:spPr>
          <a:xfrm>
            <a:off x="7491476" y="1989050"/>
            <a:ext cx="42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60B4DA3-F07E-F2FB-6357-577E778EB282}"/>
              </a:ext>
            </a:extLst>
          </p:cNvPr>
          <p:cNvSpPr txBox="1"/>
          <p:nvPr/>
        </p:nvSpPr>
        <p:spPr>
          <a:xfrm>
            <a:off x="8581389" y="1952678"/>
            <a:ext cx="42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21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4720E8B-7971-EFDF-902F-07DD7056ADEC}"/>
              </a:ext>
            </a:extLst>
          </p:cNvPr>
          <p:cNvCxnSpPr>
            <a:cxnSpLocks/>
            <a:endCxn id="20" idx="0"/>
          </p:cNvCxnSpPr>
          <p:nvPr/>
        </p:nvCxnSpPr>
        <p:spPr>
          <a:xfrm>
            <a:off x="7689773" y="1739901"/>
            <a:ext cx="16529" cy="2491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7E9920F-C8A4-9A4A-6136-FEB82A4E3F41}"/>
              </a:ext>
            </a:extLst>
          </p:cNvPr>
          <p:cNvCxnSpPr>
            <a:cxnSpLocks/>
            <a:stCxn id="7" idx="2"/>
            <a:endCxn id="21" idx="0"/>
          </p:cNvCxnSpPr>
          <p:nvPr/>
        </p:nvCxnSpPr>
        <p:spPr>
          <a:xfrm>
            <a:off x="8785200" y="1739901"/>
            <a:ext cx="11015" cy="2127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556489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31D43-6963-CDB6-3BE7-E9B3F6208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4A624-7B3A-AE29-22F6-10F366F5D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Bubble sort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9B6516A-9B15-D76A-DAF2-3DB1741417F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2" y="2633472"/>
            <a:ext cx="4924560" cy="3469873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FB5341-7F2C-59F2-ED18-16C0BD60A7B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Increase the value of j by 1 then j =2.till it reaches a value greater than n-2-0 or 5-2-0=3</a:t>
            </a:r>
          </a:p>
          <a:p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E790ED2-701E-3166-888C-676F04A832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461852"/>
              </p:ext>
            </p:extLst>
          </p:nvPr>
        </p:nvGraphicFramePr>
        <p:xfrm>
          <a:off x="6085543" y="1003301"/>
          <a:ext cx="5399315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9863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95345354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920383398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14009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07223CD-A812-0FF3-231C-9B767FC0A815}"/>
              </a:ext>
            </a:extLst>
          </p:cNvPr>
          <p:cNvSpPr txBox="1"/>
          <p:nvPr/>
        </p:nvSpPr>
        <p:spPr>
          <a:xfrm>
            <a:off x="9788358" y="4747735"/>
            <a:ext cx="1600200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j=2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199148-899B-206E-6E04-CC79ECA7F70E}"/>
              </a:ext>
            </a:extLst>
          </p:cNvPr>
          <p:cNvSpPr/>
          <p:nvPr/>
        </p:nvSpPr>
        <p:spPr>
          <a:xfrm>
            <a:off x="1288185" y="4975334"/>
            <a:ext cx="2155372" cy="402772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7EE52BB-3C18-FF28-7331-7860A61F11DA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3443557" y="5176720"/>
            <a:ext cx="7293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A6D12BF8-D40A-6C24-C547-37380107D1A3}"/>
              </a:ext>
            </a:extLst>
          </p:cNvPr>
          <p:cNvCxnSpPr/>
          <p:nvPr/>
        </p:nvCxnSpPr>
        <p:spPr>
          <a:xfrm>
            <a:off x="8799984" y="643653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2B8BA20-A487-298D-B96E-E54A6C0250FB}"/>
              </a:ext>
            </a:extLst>
          </p:cNvPr>
          <p:cNvSpPr txBox="1"/>
          <p:nvPr/>
        </p:nvSpPr>
        <p:spPr>
          <a:xfrm>
            <a:off x="8705432" y="274321"/>
            <a:ext cx="42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</a:t>
            </a:r>
          </a:p>
        </p:txBody>
      </p:sp>
    </p:spTree>
    <p:extLst>
      <p:ext uri="{BB962C8B-B14F-4D97-AF65-F5344CB8AC3E}">
        <p14:creationId xmlns:p14="http://schemas.microsoft.com/office/powerpoint/2010/main" val="328640798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D6568-A1E8-C019-44EA-AF7D53F52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CD969-2853-2D2E-2E28-B2FB01675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Bubble sort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CD2BD69-EA92-1628-8744-E2B54116C21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2" y="2633472"/>
            <a:ext cx="4924560" cy="3469873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461C9B-7BBC-FD30-AFF6-62AE5A73AD0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Check if A[j+1]&lt;A[j] which is equal  A[3]&lt;A[2] or 1&lt;21 which is true then we swap A[3] with A[2] or 21 and 12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B53B83E-FEBE-9E00-8902-33630891F2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2826290"/>
              </p:ext>
            </p:extLst>
          </p:nvPr>
        </p:nvGraphicFramePr>
        <p:xfrm>
          <a:off x="6085543" y="1003301"/>
          <a:ext cx="5399315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9863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95345354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920383398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14009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56780BD-1FF9-1492-32C7-6E53E9916E0E}"/>
              </a:ext>
            </a:extLst>
          </p:cNvPr>
          <p:cNvSpPr txBox="1"/>
          <p:nvPr/>
        </p:nvSpPr>
        <p:spPr>
          <a:xfrm>
            <a:off x="9696090" y="4155657"/>
            <a:ext cx="1600200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0B5BE63-0EC7-6CEF-0A4B-8D4B577E5EF0}"/>
              </a:ext>
            </a:extLst>
          </p:cNvPr>
          <p:cNvSpPr/>
          <p:nvPr/>
        </p:nvSpPr>
        <p:spPr>
          <a:xfrm>
            <a:off x="1695810" y="5382963"/>
            <a:ext cx="3338897" cy="500044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665AAAC-1033-9F87-47BA-54EC06216596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5034707" y="5632985"/>
            <a:ext cx="6279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78C320A-F431-5178-F818-1E96567E1DEB}"/>
              </a:ext>
            </a:extLst>
          </p:cNvPr>
          <p:cNvCxnSpPr/>
          <p:nvPr/>
        </p:nvCxnSpPr>
        <p:spPr>
          <a:xfrm>
            <a:off x="8758410" y="716096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C58C0EE-5954-186B-7233-FBD880396E9B}"/>
              </a:ext>
            </a:extLst>
          </p:cNvPr>
          <p:cNvCxnSpPr/>
          <p:nvPr/>
        </p:nvCxnSpPr>
        <p:spPr>
          <a:xfrm>
            <a:off x="9902328" y="716096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50BEAFA-3973-1CC2-9482-1902C661E3BE}"/>
              </a:ext>
            </a:extLst>
          </p:cNvPr>
          <p:cNvSpPr txBox="1"/>
          <p:nvPr/>
        </p:nvSpPr>
        <p:spPr>
          <a:xfrm>
            <a:off x="9694093" y="347280"/>
            <a:ext cx="584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j+1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D8EC84-2481-5AA3-2E50-107C44D2B4B1}"/>
              </a:ext>
            </a:extLst>
          </p:cNvPr>
          <p:cNvSpPr txBox="1"/>
          <p:nvPr/>
        </p:nvSpPr>
        <p:spPr>
          <a:xfrm>
            <a:off x="8663858" y="346764"/>
            <a:ext cx="42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3F1F391-C4D6-5267-BD18-5B3224FBC626}"/>
              </a:ext>
            </a:extLst>
          </p:cNvPr>
          <p:cNvCxnSpPr/>
          <p:nvPr/>
        </p:nvCxnSpPr>
        <p:spPr>
          <a:xfrm>
            <a:off x="9696090" y="1474733"/>
            <a:ext cx="440675" cy="1542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C75D67A-EB4E-565A-CBD2-755A646EFC53}"/>
              </a:ext>
            </a:extLst>
          </p:cNvPr>
          <p:cNvCxnSpPr/>
          <p:nvPr/>
        </p:nvCxnSpPr>
        <p:spPr>
          <a:xfrm>
            <a:off x="8570373" y="1469730"/>
            <a:ext cx="440675" cy="1542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A93DD34-64DE-ED0F-F63D-3AA4695DD73E}"/>
              </a:ext>
            </a:extLst>
          </p:cNvPr>
          <p:cNvSpPr txBox="1"/>
          <p:nvPr/>
        </p:nvSpPr>
        <p:spPr>
          <a:xfrm>
            <a:off x="8560112" y="1989050"/>
            <a:ext cx="42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62F5C50-8463-DF56-525C-622B745B26A0}"/>
              </a:ext>
            </a:extLst>
          </p:cNvPr>
          <p:cNvSpPr txBox="1"/>
          <p:nvPr/>
        </p:nvSpPr>
        <p:spPr>
          <a:xfrm>
            <a:off x="9683076" y="1952678"/>
            <a:ext cx="42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21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FF0C2CA-C000-8B66-FED2-A6F38BDDEC82}"/>
              </a:ext>
            </a:extLst>
          </p:cNvPr>
          <p:cNvCxnSpPr>
            <a:cxnSpLocks/>
            <a:endCxn id="20" idx="0"/>
          </p:cNvCxnSpPr>
          <p:nvPr/>
        </p:nvCxnSpPr>
        <p:spPr>
          <a:xfrm>
            <a:off x="8758409" y="1739901"/>
            <a:ext cx="16529" cy="2491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F071AED-E64F-42C9-E331-744514D098C5}"/>
              </a:ext>
            </a:extLst>
          </p:cNvPr>
          <p:cNvCxnSpPr>
            <a:cxnSpLocks/>
            <a:endCxn id="21" idx="0"/>
          </p:cNvCxnSpPr>
          <p:nvPr/>
        </p:nvCxnSpPr>
        <p:spPr>
          <a:xfrm>
            <a:off x="9886887" y="1739901"/>
            <a:ext cx="11015" cy="2127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437658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CB3A6-DEE1-994F-1137-6E1683C6E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588DD-1F6D-61A3-86BB-F092B603F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Bubble sort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CA19FD2-0AE6-9646-DF77-DD08E52D7DA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2" y="2633472"/>
            <a:ext cx="4924560" cy="3469873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8E58A3-836D-66DD-59AA-DF59623CB59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Increase the value of j by 1 then j =3.till it reaches a value greater than n-2-0 or 5-2-0=3</a:t>
            </a:r>
          </a:p>
          <a:p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5E72BAD-E892-F9B0-FD53-383A54449E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2900168"/>
              </p:ext>
            </p:extLst>
          </p:nvPr>
        </p:nvGraphicFramePr>
        <p:xfrm>
          <a:off x="6085543" y="1003301"/>
          <a:ext cx="5399315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9863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95345354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920383398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14009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827C4C5-542E-0010-C8D9-62D864C61021}"/>
              </a:ext>
            </a:extLst>
          </p:cNvPr>
          <p:cNvSpPr txBox="1"/>
          <p:nvPr/>
        </p:nvSpPr>
        <p:spPr>
          <a:xfrm>
            <a:off x="9788358" y="4747735"/>
            <a:ext cx="1600200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j=3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C76A56E-A07E-71AE-9F8C-55AE2A13F0B7}"/>
              </a:ext>
            </a:extLst>
          </p:cNvPr>
          <p:cNvSpPr/>
          <p:nvPr/>
        </p:nvSpPr>
        <p:spPr>
          <a:xfrm>
            <a:off x="1288185" y="4975334"/>
            <a:ext cx="2155372" cy="402772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88F8C2D-34DF-ABBF-2838-D3B866F6FBA9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3443557" y="5176720"/>
            <a:ext cx="7293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A5AD8F57-358E-E8DC-492A-1675EAFE1D12}"/>
              </a:ext>
            </a:extLst>
          </p:cNvPr>
          <p:cNvCxnSpPr/>
          <p:nvPr/>
        </p:nvCxnSpPr>
        <p:spPr>
          <a:xfrm>
            <a:off x="9882910" y="658368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F39107D-77B5-BEF9-0B80-41A8423773FE}"/>
              </a:ext>
            </a:extLst>
          </p:cNvPr>
          <p:cNvSpPr txBox="1"/>
          <p:nvPr/>
        </p:nvSpPr>
        <p:spPr>
          <a:xfrm>
            <a:off x="9788358" y="289036"/>
            <a:ext cx="42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</a:t>
            </a:r>
          </a:p>
        </p:txBody>
      </p:sp>
    </p:spTree>
    <p:extLst>
      <p:ext uri="{BB962C8B-B14F-4D97-AF65-F5344CB8AC3E}">
        <p14:creationId xmlns:p14="http://schemas.microsoft.com/office/powerpoint/2010/main" val="276049894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E2802-2B17-F0BC-36CA-7DE746EA1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279D3-B806-EA95-953C-27ADBA7B6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Bubble sort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A607AD1-39C8-6424-0FC8-FF97A5EE47D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2" y="2633472"/>
            <a:ext cx="4924560" cy="3469873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6582DC-AFDB-DF2D-94E6-7D162F1F3D1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Check if A[j+1]&lt;A[j] which is equal  A[4]&lt;A[3] or 1&lt;21 which is true then we swap A[4] with A[3] or 14 and 21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CF8381D-E93D-05E1-AB19-9BEDD4C972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7386530"/>
              </p:ext>
            </p:extLst>
          </p:nvPr>
        </p:nvGraphicFramePr>
        <p:xfrm>
          <a:off x="6085543" y="1003301"/>
          <a:ext cx="5399315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9863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95345354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920383398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14009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CD2A5FE-144E-C4DA-3495-145F83AD652D}"/>
              </a:ext>
            </a:extLst>
          </p:cNvPr>
          <p:cNvSpPr txBox="1"/>
          <p:nvPr/>
        </p:nvSpPr>
        <p:spPr>
          <a:xfrm>
            <a:off x="9696090" y="4155657"/>
            <a:ext cx="1600200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A0EA647-388E-BDEA-AF31-D2F8AAA97014}"/>
              </a:ext>
            </a:extLst>
          </p:cNvPr>
          <p:cNvSpPr/>
          <p:nvPr/>
        </p:nvSpPr>
        <p:spPr>
          <a:xfrm>
            <a:off x="1695810" y="5382963"/>
            <a:ext cx="3338897" cy="500044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58A368F-2AE7-FA19-F30D-E5A7B2AB10FD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5034707" y="5632985"/>
            <a:ext cx="6279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30C1EBE-4C43-F294-B283-E9D131CA69F2}"/>
              </a:ext>
            </a:extLst>
          </p:cNvPr>
          <p:cNvCxnSpPr/>
          <p:nvPr/>
        </p:nvCxnSpPr>
        <p:spPr>
          <a:xfrm>
            <a:off x="9838067" y="716096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AB03E67-AF8D-172C-8E1B-FB780818199B}"/>
              </a:ext>
            </a:extLst>
          </p:cNvPr>
          <p:cNvCxnSpPr/>
          <p:nvPr/>
        </p:nvCxnSpPr>
        <p:spPr>
          <a:xfrm>
            <a:off x="10981985" y="716096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42A0B2F-F87F-E8C2-BEC3-7A6D87052014}"/>
              </a:ext>
            </a:extLst>
          </p:cNvPr>
          <p:cNvSpPr txBox="1"/>
          <p:nvPr/>
        </p:nvSpPr>
        <p:spPr>
          <a:xfrm>
            <a:off x="10773750" y="347280"/>
            <a:ext cx="584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j+1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CBD24C1-8971-C276-0E20-7B6CAC2554CF}"/>
              </a:ext>
            </a:extLst>
          </p:cNvPr>
          <p:cNvSpPr txBox="1"/>
          <p:nvPr/>
        </p:nvSpPr>
        <p:spPr>
          <a:xfrm>
            <a:off x="9743515" y="346764"/>
            <a:ext cx="42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453CD23-5FB0-C1A1-DB07-D5FDA0246B98}"/>
              </a:ext>
            </a:extLst>
          </p:cNvPr>
          <p:cNvCxnSpPr/>
          <p:nvPr/>
        </p:nvCxnSpPr>
        <p:spPr>
          <a:xfrm>
            <a:off x="10761647" y="1442191"/>
            <a:ext cx="440675" cy="1542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C0C8C77-6C09-0977-E11A-8EABE2D6E86B}"/>
              </a:ext>
            </a:extLst>
          </p:cNvPr>
          <p:cNvCxnSpPr/>
          <p:nvPr/>
        </p:nvCxnSpPr>
        <p:spPr>
          <a:xfrm>
            <a:off x="9617729" y="1519309"/>
            <a:ext cx="440675" cy="1542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7E4ACEE-B98D-6260-5005-C827BAACCC0F}"/>
              </a:ext>
            </a:extLst>
          </p:cNvPr>
          <p:cNvSpPr txBox="1"/>
          <p:nvPr/>
        </p:nvSpPr>
        <p:spPr>
          <a:xfrm>
            <a:off x="9661798" y="1989050"/>
            <a:ext cx="42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C5CE501-F0A7-73D6-C87E-199627E1AA37}"/>
              </a:ext>
            </a:extLst>
          </p:cNvPr>
          <p:cNvSpPr txBox="1"/>
          <p:nvPr/>
        </p:nvSpPr>
        <p:spPr>
          <a:xfrm>
            <a:off x="10784761" y="1952678"/>
            <a:ext cx="42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21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ECB87C6-FF72-41F7-B05C-1DBF8A2D29D8}"/>
              </a:ext>
            </a:extLst>
          </p:cNvPr>
          <p:cNvCxnSpPr>
            <a:cxnSpLocks/>
            <a:endCxn id="20" idx="0"/>
          </p:cNvCxnSpPr>
          <p:nvPr/>
        </p:nvCxnSpPr>
        <p:spPr>
          <a:xfrm>
            <a:off x="9860095" y="1739901"/>
            <a:ext cx="16529" cy="2491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889CDC5-8272-D560-25EA-68D03D38B960}"/>
              </a:ext>
            </a:extLst>
          </p:cNvPr>
          <p:cNvCxnSpPr>
            <a:cxnSpLocks/>
            <a:endCxn id="21" idx="0"/>
          </p:cNvCxnSpPr>
          <p:nvPr/>
        </p:nvCxnSpPr>
        <p:spPr>
          <a:xfrm>
            <a:off x="10988572" y="1739901"/>
            <a:ext cx="11015" cy="2127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038638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41D1D-33C9-2D8E-C931-AC86C7550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6B0DE-1667-7A0B-087C-D1E4FF743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Bubble sort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D46E44D-D968-7210-DBAB-C95E6197256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2" y="2633472"/>
            <a:ext cx="4924560" cy="3469873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61D2EC-1D95-6C91-682E-01B81DCE7D8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Increase the value of j by 1 then j =4.which is more than n-2-0 or 5-2-0=3.</a:t>
            </a:r>
          </a:p>
          <a:p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0571B21-899E-2F03-43B3-70E1318A2C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3075280"/>
              </p:ext>
            </p:extLst>
          </p:nvPr>
        </p:nvGraphicFramePr>
        <p:xfrm>
          <a:off x="6085543" y="1003301"/>
          <a:ext cx="5399315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9863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95345354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920383398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14009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FA4CE7D3-E0A9-0235-3353-247DDA5D3E89}"/>
              </a:ext>
            </a:extLst>
          </p:cNvPr>
          <p:cNvSpPr txBox="1"/>
          <p:nvPr/>
        </p:nvSpPr>
        <p:spPr>
          <a:xfrm>
            <a:off x="9788358" y="4747735"/>
            <a:ext cx="1600200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j=4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B54775-2026-52A3-8722-60CE6D67C779}"/>
              </a:ext>
            </a:extLst>
          </p:cNvPr>
          <p:cNvSpPr/>
          <p:nvPr/>
        </p:nvSpPr>
        <p:spPr>
          <a:xfrm>
            <a:off x="1288185" y="4975334"/>
            <a:ext cx="2155372" cy="402772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9603AF7-63F9-DAA7-3F5F-E1211413C0E1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3443557" y="5176720"/>
            <a:ext cx="7293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085204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4CB88-B7AB-6F31-3731-EAAA688AC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D2A55-D876-70C9-C50D-D0798B3CA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Bubble sort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8858CF5-B002-9E3B-D723-28D3DC3C27B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2" y="2633472"/>
            <a:ext cx="4924560" cy="3469873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6129EB-8DBC-72C0-F592-B2C15E7683E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We go back to the outer loop and increase the value of </a:t>
            </a:r>
            <a:r>
              <a:rPr lang="en-US" dirty="0" err="1"/>
              <a:t>i</a:t>
            </a:r>
            <a:r>
              <a:rPr lang="en-US" dirty="0"/>
              <a:t> by 1, which will be equal to 1 till it reaches more than n-2 or 3.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46E86B-2DAF-D9B6-043B-BE3D8FAA4F61}"/>
              </a:ext>
            </a:extLst>
          </p:cNvPr>
          <p:cNvSpPr txBox="1"/>
          <p:nvPr/>
        </p:nvSpPr>
        <p:spPr>
          <a:xfrm>
            <a:off x="9884658" y="4349019"/>
            <a:ext cx="1600200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291AF9C-0BA2-7C70-9E78-259874E8570A}"/>
              </a:ext>
            </a:extLst>
          </p:cNvPr>
          <p:cNvSpPr/>
          <p:nvPr/>
        </p:nvSpPr>
        <p:spPr>
          <a:xfrm>
            <a:off x="902593" y="4545674"/>
            <a:ext cx="2155372" cy="402772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F7932AD-1E13-2DB1-EC2E-A977C343C2FA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3057965" y="4747060"/>
            <a:ext cx="7293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8F6EF1D-236B-70E8-9480-91D5FC53BB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0630467"/>
              </p:ext>
            </p:extLst>
          </p:nvPr>
        </p:nvGraphicFramePr>
        <p:xfrm>
          <a:off x="6225310" y="1308652"/>
          <a:ext cx="5399315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9863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95345354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920383398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14009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306930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C2CEC-5CBC-E527-252A-3C1EE1F66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27129-64E8-FE17-262F-22C58591B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Bubble sort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40BE493-BB39-1B75-E88E-A136735E1EC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2" y="2633472"/>
            <a:ext cx="4924560" cy="3469873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7B49B9-0926-D8FB-BB94-427F6D0E584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In the inner loop, j will start from 0 till it till it reaches a value greater than n-2-i or 5-2-1=2</a:t>
            </a:r>
          </a:p>
          <a:p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E0AF00E-F34D-B95B-DF47-95FF67774D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575918"/>
              </p:ext>
            </p:extLst>
          </p:nvPr>
        </p:nvGraphicFramePr>
        <p:xfrm>
          <a:off x="6085543" y="1003301"/>
          <a:ext cx="5399315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9863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95345354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920383398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14009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B1375D1-7508-20AA-B103-9A46F47EC81E}"/>
              </a:ext>
            </a:extLst>
          </p:cNvPr>
          <p:cNvSpPr txBox="1"/>
          <p:nvPr/>
        </p:nvSpPr>
        <p:spPr>
          <a:xfrm>
            <a:off x="9788358" y="4747735"/>
            <a:ext cx="1600200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j=0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E18DB4E-3DBF-685E-CDE9-3681376C6091}"/>
              </a:ext>
            </a:extLst>
          </p:cNvPr>
          <p:cNvSpPr/>
          <p:nvPr/>
        </p:nvSpPr>
        <p:spPr>
          <a:xfrm>
            <a:off x="1288185" y="4975334"/>
            <a:ext cx="2155372" cy="402772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AB28183-472A-79AF-93CB-0896728172FD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3443557" y="5176720"/>
            <a:ext cx="7293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3FBEB6F1-03BA-F96F-1F8E-55F07E74F6B7}"/>
              </a:ext>
            </a:extLst>
          </p:cNvPr>
          <p:cNvCxnSpPr/>
          <p:nvPr/>
        </p:nvCxnSpPr>
        <p:spPr>
          <a:xfrm>
            <a:off x="6622841" y="634485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FB44D21-E26F-1C82-6D40-ACA8FC7EEC37}"/>
              </a:ext>
            </a:extLst>
          </p:cNvPr>
          <p:cNvSpPr txBox="1"/>
          <p:nvPr/>
        </p:nvSpPr>
        <p:spPr>
          <a:xfrm>
            <a:off x="6528289" y="265153"/>
            <a:ext cx="42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</a:t>
            </a:r>
          </a:p>
        </p:txBody>
      </p:sp>
    </p:spTree>
    <p:extLst>
      <p:ext uri="{BB962C8B-B14F-4D97-AF65-F5344CB8AC3E}">
        <p14:creationId xmlns:p14="http://schemas.microsoft.com/office/powerpoint/2010/main" val="143423324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EC725-65E2-2B25-7F54-E849B6B48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F3CA5-98B0-7672-E76F-43121C971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Bubble sort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1494DEA-790A-8A28-A3C3-857E50B795D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2" y="2633472"/>
            <a:ext cx="4924560" cy="3469873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B33585-631E-518B-0945-0B2982F6518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Check if A[j+1]&lt;A[j] which is equal  A[1]&lt;A[0] or 1&lt;14 which is true then we swap A[1] with A[0] or 14 and 1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372C0E7-B325-FBB4-2CC9-ACC33CF95C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0140557"/>
              </p:ext>
            </p:extLst>
          </p:nvPr>
        </p:nvGraphicFramePr>
        <p:xfrm>
          <a:off x="6085543" y="1003301"/>
          <a:ext cx="5399315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9863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95345354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920383398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14009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DA8DA8F-B85D-6FBD-5430-86362291970D}"/>
              </a:ext>
            </a:extLst>
          </p:cNvPr>
          <p:cNvSpPr txBox="1"/>
          <p:nvPr/>
        </p:nvSpPr>
        <p:spPr>
          <a:xfrm>
            <a:off x="9696090" y="4155657"/>
            <a:ext cx="1600200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32785FF-79BE-C3EF-9BD1-B430B31CAA78}"/>
              </a:ext>
            </a:extLst>
          </p:cNvPr>
          <p:cNvSpPr/>
          <p:nvPr/>
        </p:nvSpPr>
        <p:spPr>
          <a:xfrm>
            <a:off x="1695810" y="5382963"/>
            <a:ext cx="3338897" cy="500044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70236B9-773D-9D34-48AC-49BF024F4526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5034707" y="5632985"/>
            <a:ext cx="6279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7F8DBE9-5B4F-C57B-FD93-A0EDCECECE5A}"/>
              </a:ext>
            </a:extLst>
          </p:cNvPr>
          <p:cNvCxnSpPr/>
          <p:nvPr/>
        </p:nvCxnSpPr>
        <p:spPr>
          <a:xfrm>
            <a:off x="6533005" y="716096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9EB6F3D-0878-45B9-5FE2-305EA010B0C4}"/>
              </a:ext>
            </a:extLst>
          </p:cNvPr>
          <p:cNvCxnSpPr/>
          <p:nvPr/>
        </p:nvCxnSpPr>
        <p:spPr>
          <a:xfrm>
            <a:off x="7676923" y="716096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28F46C0-4EA0-E1CF-FB3C-ECF03C00CE72}"/>
              </a:ext>
            </a:extLst>
          </p:cNvPr>
          <p:cNvSpPr txBox="1"/>
          <p:nvPr/>
        </p:nvSpPr>
        <p:spPr>
          <a:xfrm>
            <a:off x="7468688" y="347280"/>
            <a:ext cx="584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j+1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97D588-D41B-9FD8-77BB-B94BF985E1B9}"/>
              </a:ext>
            </a:extLst>
          </p:cNvPr>
          <p:cNvSpPr txBox="1"/>
          <p:nvPr/>
        </p:nvSpPr>
        <p:spPr>
          <a:xfrm>
            <a:off x="6438453" y="346764"/>
            <a:ext cx="42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9C0192-BCB3-7CCB-3E0B-871ABF016A20}"/>
              </a:ext>
            </a:extLst>
          </p:cNvPr>
          <p:cNvCxnSpPr/>
          <p:nvPr/>
        </p:nvCxnSpPr>
        <p:spPr>
          <a:xfrm>
            <a:off x="7434545" y="1453208"/>
            <a:ext cx="440675" cy="1542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E0F8515-C8D5-8803-D5EE-862D4E2B0AC4}"/>
              </a:ext>
            </a:extLst>
          </p:cNvPr>
          <p:cNvCxnSpPr/>
          <p:nvPr/>
        </p:nvCxnSpPr>
        <p:spPr>
          <a:xfrm>
            <a:off x="6400800" y="1486258"/>
            <a:ext cx="440675" cy="1542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5880FE6-EF24-A518-C9CD-A3E9D3FCD34E}"/>
              </a:ext>
            </a:extLst>
          </p:cNvPr>
          <p:cNvSpPr txBox="1"/>
          <p:nvPr/>
        </p:nvSpPr>
        <p:spPr>
          <a:xfrm>
            <a:off x="6447619" y="1981757"/>
            <a:ext cx="42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B048BD7-48D8-72DA-22CB-0DD2A8797BFA}"/>
              </a:ext>
            </a:extLst>
          </p:cNvPr>
          <p:cNvSpPr txBox="1"/>
          <p:nvPr/>
        </p:nvSpPr>
        <p:spPr>
          <a:xfrm>
            <a:off x="7512746" y="1952678"/>
            <a:ext cx="42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14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6EC8CCF-6728-26F7-0E22-29989DAE4C1E}"/>
              </a:ext>
            </a:extLst>
          </p:cNvPr>
          <p:cNvCxnSpPr>
            <a:cxnSpLocks/>
          </p:cNvCxnSpPr>
          <p:nvPr/>
        </p:nvCxnSpPr>
        <p:spPr>
          <a:xfrm>
            <a:off x="6654181" y="1739901"/>
            <a:ext cx="16529" cy="2491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97AB430-0B42-7D15-68E0-C4FC5EF5463E}"/>
              </a:ext>
            </a:extLst>
          </p:cNvPr>
          <p:cNvCxnSpPr>
            <a:cxnSpLocks/>
            <a:endCxn id="21" idx="0"/>
          </p:cNvCxnSpPr>
          <p:nvPr/>
        </p:nvCxnSpPr>
        <p:spPr>
          <a:xfrm>
            <a:off x="7716557" y="1739901"/>
            <a:ext cx="11015" cy="2127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897806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A4DB7-62CA-520F-C4AB-CFAC40118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83C09-744F-A506-ADA0-3D518A29F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Bubble sort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DD73289-30C8-F34D-F9F2-76557D20F68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2" y="2633472"/>
            <a:ext cx="4924560" cy="3469873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ECB72A-DABF-C6CA-52F2-DC2E4CC4F3F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Increase the value of j by 1 then j =1.which is less than n-2-i or 5-2-1=2.</a:t>
            </a:r>
          </a:p>
          <a:p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8D65687-B842-3CB0-A5CC-5DC46CC7D1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4778603"/>
              </p:ext>
            </p:extLst>
          </p:nvPr>
        </p:nvGraphicFramePr>
        <p:xfrm>
          <a:off x="6085543" y="1003301"/>
          <a:ext cx="5399315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9863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95345354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920383398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14009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F8C39C57-7BA5-476E-51DA-168CD49A866F}"/>
              </a:ext>
            </a:extLst>
          </p:cNvPr>
          <p:cNvSpPr txBox="1"/>
          <p:nvPr/>
        </p:nvSpPr>
        <p:spPr>
          <a:xfrm>
            <a:off x="9788358" y="4747735"/>
            <a:ext cx="1600200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j=1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64012A-24FF-B084-1CB8-66AED74D6481}"/>
              </a:ext>
            </a:extLst>
          </p:cNvPr>
          <p:cNvSpPr/>
          <p:nvPr/>
        </p:nvSpPr>
        <p:spPr>
          <a:xfrm>
            <a:off x="1288185" y="4975334"/>
            <a:ext cx="2155372" cy="402772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1BA8497-2CD5-A802-BB2E-1E4FD2274916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3443557" y="5176720"/>
            <a:ext cx="7293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9DD9D53A-6590-105F-5A14-6B219D819AEF}"/>
              </a:ext>
            </a:extLst>
          </p:cNvPr>
          <p:cNvCxnSpPr/>
          <p:nvPr/>
        </p:nvCxnSpPr>
        <p:spPr>
          <a:xfrm>
            <a:off x="7689641" y="736340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5D3F3B9-0676-D426-D432-CB81BBFFC16F}"/>
              </a:ext>
            </a:extLst>
          </p:cNvPr>
          <p:cNvSpPr txBox="1"/>
          <p:nvPr/>
        </p:nvSpPr>
        <p:spPr>
          <a:xfrm>
            <a:off x="7595089" y="367008"/>
            <a:ext cx="42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</a:t>
            </a:r>
          </a:p>
        </p:txBody>
      </p:sp>
    </p:spTree>
    <p:extLst>
      <p:ext uri="{BB962C8B-B14F-4D97-AF65-F5344CB8AC3E}">
        <p14:creationId xmlns:p14="http://schemas.microsoft.com/office/powerpoint/2010/main" val="226286043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05E57-2D58-5495-1196-55908EA27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9A0D4-E0EE-A230-30F5-FF4851FED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Bubble sort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494B622-D148-DE3C-6F17-EC98362B474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2" y="2633472"/>
            <a:ext cx="4924560" cy="3469873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8C15FB-FCFA-795C-36A2-9D64049E3BD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Check if A[j+1]&lt;A[j] which is equal  A[2]&lt;A[1] or 12&lt;14 which is true then we swap A[2] with A[1] or 12 and 14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083FF8A-52F1-8A0D-3067-F6A4A5F1E2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4380046"/>
              </p:ext>
            </p:extLst>
          </p:nvPr>
        </p:nvGraphicFramePr>
        <p:xfrm>
          <a:off x="6085543" y="1003301"/>
          <a:ext cx="5399315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9863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95345354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920383398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14009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68E6864-E68F-BDBA-1654-47D0563D3CD0}"/>
              </a:ext>
            </a:extLst>
          </p:cNvPr>
          <p:cNvSpPr txBox="1"/>
          <p:nvPr/>
        </p:nvSpPr>
        <p:spPr>
          <a:xfrm>
            <a:off x="9696090" y="4155657"/>
            <a:ext cx="1600200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F2CE8E5-59CB-DB26-36F9-615BD779BDC7}"/>
              </a:ext>
            </a:extLst>
          </p:cNvPr>
          <p:cNvSpPr/>
          <p:nvPr/>
        </p:nvSpPr>
        <p:spPr>
          <a:xfrm>
            <a:off x="1695810" y="5382963"/>
            <a:ext cx="3338897" cy="500044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5480BBF-A57B-3420-AC77-981CC4011731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5034707" y="5632985"/>
            <a:ext cx="6279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8BA9CFF-45E1-3055-E795-1CE2942E6E14}"/>
              </a:ext>
            </a:extLst>
          </p:cNvPr>
          <p:cNvCxnSpPr/>
          <p:nvPr/>
        </p:nvCxnSpPr>
        <p:spPr>
          <a:xfrm>
            <a:off x="7689776" y="716096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97E3088-63F9-59A0-2904-410DEBA1818B}"/>
              </a:ext>
            </a:extLst>
          </p:cNvPr>
          <p:cNvCxnSpPr/>
          <p:nvPr/>
        </p:nvCxnSpPr>
        <p:spPr>
          <a:xfrm>
            <a:off x="8833694" y="716096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7370BF6-ABCC-65E9-A33E-8F13FFAC72C2}"/>
              </a:ext>
            </a:extLst>
          </p:cNvPr>
          <p:cNvSpPr txBox="1"/>
          <p:nvPr/>
        </p:nvSpPr>
        <p:spPr>
          <a:xfrm>
            <a:off x="8625459" y="347280"/>
            <a:ext cx="584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j+1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DE524E-3E1E-2496-EE20-8C912E0E52B0}"/>
              </a:ext>
            </a:extLst>
          </p:cNvPr>
          <p:cNvSpPr txBox="1"/>
          <p:nvPr/>
        </p:nvSpPr>
        <p:spPr>
          <a:xfrm>
            <a:off x="7595224" y="346764"/>
            <a:ext cx="42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1EEFA61-6ED5-6AA0-F97D-1EE0F8E76BF8}"/>
              </a:ext>
            </a:extLst>
          </p:cNvPr>
          <p:cNvCxnSpPr/>
          <p:nvPr/>
        </p:nvCxnSpPr>
        <p:spPr>
          <a:xfrm>
            <a:off x="8564862" y="1498192"/>
            <a:ext cx="440675" cy="1542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BF6DCCC-FAC1-7990-107F-21019491FD4A}"/>
              </a:ext>
            </a:extLst>
          </p:cNvPr>
          <p:cNvCxnSpPr/>
          <p:nvPr/>
        </p:nvCxnSpPr>
        <p:spPr>
          <a:xfrm>
            <a:off x="7512746" y="1498192"/>
            <a:ext cx="440675" cy="1542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CFEE87A-A152-93BD-384B-B24C9A8BEE21}"/>
              </a:ext>
            </a:extLst>
          </p:cNvPr>
          <p:cNvSpPr txBox="1"/>
          <p:nvPr/>
        </p:nvSpPr>
        <p:spPr>
          <a:xfrm>
            <a:off x="7461171" y="1981757"/>
            <a:ext cx="42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1E2C0BA-6104-913C-FDD4-F0FB08390346}"/>
              </a:ext>
            </a:extLst>
          </p:cNvPr>
          <p:cNvSpPr txBox="1"/>
          <p:nvPr/>
        </p:nvSpPr>
        <p:spPr>
          <a:xfrm>
            <a:off x="8625449" y="1952678"/>
            <a:ext cx="42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14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33A835B-31F3-2184-C80A-6171EFECAE09}"/>
              </a:ext>
            </a:extLst>
          </p:cNvPr>
          <p:cNvCxnSpPr>
            <a:cxnSpLocks/>
          </p:cNvCxnSpPr>
          <p:nvPr/>
        </p:nvCxnSpPr>
        <p:spPr>
          <a:xfrm>
            <a:off x="7667733" y="1739901"/>
            <a:ext cx="16529" cy="2491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8D87EAA-B1A3-44B8-341E-12F055ADB3AA}"/>
              </a:ext>
            </a:extLst>
          </p:cNvPr>
          <p:cNvCxnSpPr>
            <a:cxnSpLocks/>
            <a:endCxn id="21" idx="0"/>
          </p:cNvCxnSpPr>
          <p:nvPr/>
        </p:nvCxnSpPr>
        <p:spPr>
          <a:xfrm>
            <a:off x="8829260" y="1739901"/>
            <a:ext cx="11015" cy="2127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521690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22E55-BF6F-73E5-D3E9-A3F23F2F5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7B49F-024B-B653-2558-DBF1E2193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Bubble sort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140EF08-F08A-AE58-D5EA-01B3FB8DD3B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2" y="2633472"/>
            <a:ext cx="4924560" cy="3469873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0C7DA1-DA2E-0750-0BCF-9678CACF772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Increase the value of j by 1 then j =2.which is equal to n-2-0 or 5-2-1=2.</a:t>
            </a:r>
          </a:p>
          <a:p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9FAD542-0668-4615-6449-F94E11452E4E}"/>
              </a:ext>
            </a:extLst>
          </p:cNvPr>
          <p:cNvGraphicFramePr>
            <a:graphicFrameLocks noGrp="1"/>
          </p:cNvGraphicFramePr>
          <p:nvPr/>
        </p:nvGraphicFramePr>
        <p:xfrm>
          <a:off x="6085543" y="1003301"/>
          <a:ext cx="5399315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9863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95345354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920383398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14009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441847E-74C9-52C9-1B23-72F65E87C907}"/>
              </a:ext>
            </a:extLst>
          </p:cNvPr>
          <p:cNvSpPr txBox="1"/>
          <p:nvPr/>
        </p:nvSpPr>
        <p:spPr>
          <a:xfrm>
            <a:off x="9788358" y="4747735"/>
            <a:ext cx="1600200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j=2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F40DCB6-8791-79AF-DA9E-41630044F939}"/>
              </a:ext>
            </a:extLst>
          </p:cNvPr>
          <p:cNvSpPr/>
          <p:nvPr/>
        </p:nvSpPr>
        <p:spPr>
          <a:xfrm>
            <a:off x="1288185" y="4975334"/>
            <a:ext cx="2155372" cy="402772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1F46B5E-014E-0684-F96B-AC9CF4E71AE8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3443557" y="5176720"/>
            <a:ext cx="7293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93A08C50-DC99-6B91-9967-FE9FDF9A2154}"/>
              </a:ext>
            </a:extLst>
          </p:cNvPr>
          <p:cNvCxnSpPr/>
          <p:nvPr/>
        </p:nvCxnSpPr>
        <p:spPr>
          <a:xfrm>
            <a:off x="8810870" y="658368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AD7061B-247B-FE01-E3FE-F3FCA5216BDE}"/>
              </a:ext>
            </a:extLst>
          </p:cNvPr>
          <p:cNvSpPr txBox="1"/>
          <p:nvPr/>
        </p:nvSpPr>
        <p:spPr>
          <a:xfrm>
            <a:off x="8716318" y="289036"/>
            <a:ext cx="42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</a:t>
            </a:r>
          </a:p>
        </p:txBody>
      </p:sp>
    </p:spTree>
    <p:extLst>
      <p:ext uri="{BB962C8B-B14F-4D97-AF65-F5344CB8AC3E}">
        <p14:creationId xmlns:p14="http://schemas.microsoft.com/office/powerpoint/2010/main" val="226016250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0A9BD-E723-CE66-D26C-2549E8430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CA70C-8B84-1A37-75F1-6100E9035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Bubble sort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92661EF-8CA0-06AB-1509-7DDB1D72CF8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2" y="2633472"/>
            <a:ext cx="4924560" cy="3469873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0DBE01-070F-8A43-3FFF-2157048F53A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Check if A[j+1]&lt;A[j] which is equal  A[3]&lt;A[2] or 14&lt;14 which is false, so no swap is going to be performed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058773C-3156-C6E9-839A-8251CCAE1C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3375043"/>
              </p:ext>
            </p:extLst>
          </p:nvPr>
        </p:nvGraphicFramePr>
        <p:xfrm>
          <a:off x="6085543" y="1003301"/>
          <a:ext cx="5399315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9863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95345354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920383398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14009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9A35A2B6-A9D7-B65B-F4C5-5F202903F56E}"/>
              </a:ext>
            </a:extLst>
          </p:cNvPr>
          <p:cNvSpPr txBox="1"/>
          <p:nvPr/>
        </p:nvSpPr>
        <p:spPr>
          <a:xfrm>
            <a:off x="9696090" y="4155657"/>
            <a:ext cx="1600200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ED2943A-3359-ED54-7737-31109878E464}"/>
              </a:ext>
            </a:extLst>
          </p:cNvPr>
          <p:cNvSpPr/>
          <p:nvPr/>
        </p:nvSpPr>
        <p:spPr>
          <a:xfrm>
            <a:off x="1695810" y="5382963"/>
            <a:ext cx="3338897" cy="500044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0CE327E-D129-C60A-4FD9-7D2BA03BEC74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5034707" y="5632985"/>
            <a:ext cx="6279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6AE7CCD-0FCA-B971-1548-FE3BD41C5DE8}"/>
              </a:ext>
            </a:extLst>
          </p:cNvPr>
          <p:cNvCxnSpPr/>
          <p:nvPr/>
        </p:nvCxnSpPr>
        <p:spPr>
          <a:xfrm>
            <a:off x="8769429" y="716096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CC10A64-8664-2ACD-5EB5-28CE3BD5BBFF}"/>
              </a:ext>
            </a:extLst>
          </p:cNvPr>
          <p:cNvCxnSpPr/>
          <p:nvPr/>
        </p:nvCxnSpPr>
        <p:spPr>
          <a:xfrm>
            <a:off x="9913347" y="716096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A12AF6B-B028-F0A0-74F2-C5DB76ABB4FF}"/>
              </a:ext>
            </a:extLst>
          </p:cNvPr>
          <p:cNvSpPr txBox="1"/>
          <p:nvPr/>
        </p:nvSpPr>
        <p:spPr>
          <a:xfrm>
            <a:off x="9705112" y="347280"/>
            <a:ext cx="584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j+1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D1449B7-7530-9511-427D-841797F51579}"/>
              </a:ext>
            </a:extLst>
          </p:cNvPr>
          <p:cNvSpPr txBox="1"/>
          <p:nvPr/>
        </p:nvSpPr>
        <p:spPr>
          <a:xfrm>
            <a:off x="8674877" y="346764"/>
            <a:ext cx="42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</a:t>
            </a:r>
          </a:p>
        </p:txBody>
      </p:sp>
    </p:spTree>
    <p:extLst>
      <p:ext uri="{BB962C8B-B14F-4D97-AF65-F5344CB8AC3E}">
        <p14:creationId xmlns:p14="http://schemas.microsoft.com/office/powerpoint/2010/main" val="54934382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A6DA4-AB1B-8542-A76F-D0EB3C6AA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4C14E-D93E-8B97-351C-040A3E20E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Bubble sort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3FE198A-0F7C-CECF-2698-B67410758E9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2" y="2633472"/>
            <a:ext cx="4924560" cy="3469873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BD7D00-B0AC-A5C0-1E8F-8ED42B90AC0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Increase the value of j by 1 then j =3.which is more than n-2-i or 5-2-1=2.</a:t>
            </a:r>
          </a:p>
          <a:p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4FBE374-60A2-97CE-78E4-5A6549000315}"/>
              </a:ext>
            </a:extLst>
          </p:cNvPr>
          <p:cNvGraphicFramePr>
            <a:graphicFrameLocks noGrp="1"/>
          </p:cNvGraphicFramePr>
          <p:nvPr/>
        </p:nvGraphicFramePr>
        <p:xfrm>
          <a:off x="6085543" y="1003301"/>
          <a:ext cx="5399315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9863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95345354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920383398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14009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E855916-A7E6-D951-4052-4F9AB61E4A87}"/>
              </a:ext>
            </a:extLst>
          </p:cNvPr>
          <p:cNvSpPr txBox="1"/>
          <p:nvPr/>
        </p:nvSpPr>
        <p:spPr>
          <a:xfrm>
            <a:off x="9788358" y="4747735"/>
            <a:ext cx="1600200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j=3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85A5065-A27B-C6FC-5A6F-5E3DC8C377D7}"/>
              </a:ext>
            </a:extLst>
          </p:cNvPr>
          <p:cNvSpPr/>
          <p:nvPr/>
        </p:nvSpPr>
        <p:spPr>
          <a:xfrm>
            <a:off x="1288185" y="4975334"/>
            <a:ext cx="2155372" cy="402772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EE387B6-D434-8BFB-713F-8111B4C846F0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3443557" y="5176720"/>
            <a:ext cx="7293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4FC1C9C1-A9D2-BE88-F06E-487027D72D23}"/>
              </a:ext>
            </a:extLst>
          </p:cNvPr>
          <p:cNvCxnSpPr/>
          <p:nvPr/>
        </p:nvCxnSpPr>
        <p:spPr>
          <a:xfrm>
            <a:off x="9882910" y="658368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08E263C-564C-59F9-AE75-65E6300B95C5}"/>
              </a:ext>
            </a:extLst>
          </p:cNvPr>
          <p:cNvSpPr txBox="1"/>
          <p:nvPr/>
        </p:nvSpPr>
        <p:spPr>
          <a:xfrm>
            <a:off x="9788358" y="289036"/>
            <a:ext cx="42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</a:t>
            </a:r>
          </a:p>
        </p:txBody>
      </p:sp>
    </p:spTree>
    <p:extLst>
      <p:ext uri="{BB962C8B-B14F-4D97-AF65-F5344CB8AC3E}">
        <p14:creationId xmlns:p14="http://schemas.microsoft.com/office/powerpoint/2010/main" val="281507759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B59E7-807A-C8F1-7334-FD2934017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540AA-07D8-E091-2925-D7711874A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Bubble sort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5DB3B3C-1F7D-478D-C042-B5E7D122F52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2" y="2633472"/>
            <a:ext cx="4924560" cy="3469873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419AA4-91AE-4357-2EE7-21008971D4C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We go back to the outer loop and increase the value of </a:t>
            </a:r>
            <a:r>
              <a:rPr lang="en-US" dirty="0" err="1"/>
              <a:t>i</a:t>
            </a:r>
            <a:r>
              <a:rPr lang="en-US" dirty="0"/>
              <a:t> by 1, which will be equal to 2 till it is greater than n-2 or 3.</a:t>
            </a:r>
          </a:p>
          <a:p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1CD5628-D122-F72D-30D7-C3C9AC6FD7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9816872"/>
              </p:ext>
            </p:extLst>
          </p:nvPr>
        </p:nvGraphicFramePr>
        <p:xfrm>
          <a:off x="6085543" y="1003301"/>
          <a:ext cx="5399315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9863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95345354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920383398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14009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17B35F1-C691-F617-7FDE-2FF170A7C501}"/>
              </a:ext>
            </a:extLst>
          </p:cNvPr>
          <p:cNvSpPr txBox="1"/>
          <p:nvPr/>
        </p:nvSpPr>
        <p:spPr>
          <a:xfrm>
            <a:off x="9884658" y="4349019"/>
            <a:ext cx="1600200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94DEDC-6CF7-164D-6897-41688A6260D7}"/>
              </a:ext>
            </a:extLst>
          </p:cNvPr>
          <p:cNvSpPr/>
          <p:nvPr/>
        </p:nvSpPr>
        <p:spPr>
          <a:xfrm>
            <a:off x="902593" y="4545674"/>
            <a:ext cx="2155372" cy="402772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3D4C90C-9122-900C-6080-103BC81B5916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3057965" y="4747060"/>
            <a:ext cx="7293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922261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6A5C0-662A-9900-A375-32E71FED0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16940-66D6-F299-EFD3-B61920791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Bubble sort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9B4FBEC-CCAE-F64B-670C-A81DA2E9293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2" y="2633472"/>
            <a:ext cx="4924560" cy="3469873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0CBF60-BA28-7BAE-6BAA-23DEA56A005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In the inner loop, j will start from 0 till it till it reaches a value greater than n-2-i or 5-2-2=1</a:t>
            </a:r>
          </a:p>
          <a:p>
            <a:pPr marL="0" indent="0">
              <a:buNone/>
            </a:pPr>
            <a:r>
              <a:rPr lang="en-US" dirty="0"/>
              <a:t>.</a:t>
            </a:r>
          </a:p>
          <a:p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73D8922-4EF5-53F8-DD6A-6261D67DB1D9}"/>
              </a:ext>
            </a:extLst>
          </p:cNvPr>
          <p:cNvGraphicFramePr>
            <a:graphicFrameLocks noGrp="1"/>
          </p:cNvGraphicFramePr>
          <p:nvPr/>
        </p:nvGraphicFramePr>
        <p:xfrm>
          <a:off x="6085543" y="1003301"/>
          <a:ext cx="5399315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9863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95345354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920383398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14009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B52EA30-9947-46C8-E332-B19051A664C9}"/>
              </a:ext>
            </a:extLst>
          </p:cNvPr>
          <p:cNvSpPr txBox="1"/>
          <p:nvPr/>
        </p:nvSpPr>
        <p:spPr>
          <a:xfrm>
            <a:off x="9788358" y="4747735"/>
            <a:ext cx="1600200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j=0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76A73B-A47D-632F-ABDA-819D2115CA65}"/>
              </a:ext>
            </a:extLst>
          </p:cNvPr>
          <p:cNvSpPr/>
          <p:nvPr/>
        </p:nvSpPr>
        <p:spPr>
          <a:xfrm>
            <a:off x="1288185" y="4975334"/>
            <a:ext cx="2155372" cy="402772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618984E-7CA6-7767-0A71-4C824E4C7D25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3443557" y="5176720"/>
            <a:ext cx="7293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19D5E306-481C-A926-56B4-8284FACBE2FE}"/>
              </a:ext>
            </a:extLst>
          </p:cNvPr>
          <p:cNvCxnSpPr/>
          <p:nvPr/>
        </p:nvCxnSpPr>
        <p:spPr>
          <a:xfrm>
            <a:off x="6611956" y="634485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466918D-BD8E-A8FE-4468-EDE37674F861}"/>
              </a:ext>
            </a:extLst>
          </p:cNvPr>
          <p:cNvSpPr txBox="1"/>
          <p:nvPr/>
        </p:nvSpPr>
        <p:spPr>
          <a:xfrm>
            <a:off x="6517404" y="265153"/>
            <a:ext cx="42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</a:t>
            </a:r>
          </a:p>
        </p:txBody>
      </p:sp>
    </p:spTree>
    <p:extLst>
      <p:ext uri="{BB962C8B-B14F-4D97-AF65-F5344CB8AC3E}">
        <p14:creationId xmlns:p14="http://schemas.microsoft.com/office/powerpoint/2010/main" val="380832948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92200-3BA2-C841-4E48-70D5F3F57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61C86-EF81-BA33-75C4-CEF40C4F0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Bubble sort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C70D3AA-1660-F244-C2B2-D4CBEAF6365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2" y="2633472"/>
            <a:ext cx="4924560" cy="3469873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A3A853-3978-BFCD-E75E-840BEE63BB8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Check if A[j+1]&lt;A[j], which is equal  A[1]&lt;A[0] or 12&lt;1 which is false, so no swap is going to be performed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519DF22-330F-D93A-0A00-C5773FEEA271}"/>
              </a:ext>
            </a:extLst>
          </p:cNvPr>
          <p:cNvGraphicFramePr>
            <a:graphicFrameLocks noGrp="1"/>
          </p:cNvGraphicFramePr>
          <p:nvPr/>
        </p:nvGraphicFramePr>
        <p:xfrm>
          <a:off x="6085543" y="1003301"/>
          <a:ext cx="5399315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9863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95345354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920383398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14009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B3552E6-9F32-A98E-3E59-25BAFB18BA10}"/>
              </a:ext>
            </a:extLst>
          </p:cNvPr>
          <p:cNvSpPr txBox="1"/>
          <p:nvPr/>
        </p:nvSpPr>
        <p:spPr>
          <a:xfrm>
            <a:off x="9696090" y="4155657"/>
            <a:ext cx="1600200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j=2</a:t>
            </a:r>
          </a:p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01E279-33DA-C999-2A12-8BC222820EC5}"/>
              </a:ext>
            </a:extLst>
          </p:cNvPr>
          <p:cNvSpPr/>
          <p:nvPr/>
        </p:nvSpPr>
        <p:spPr>
          <a:xfrm>
            <a:off x="1695810" y="5382963"/>
            <a:ext cx="3338897" cy="500044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D36824A-D001-F7D0-7EC9-A32372AA2128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5034707" y="5632985"/>
            <a:ext cx="6279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3836EE2-DF03-2942-B942-23FFF6E4CD6B}"/>
              </a:ext>
            </a:extLst>
          </p:cNvPr>
          <p:cNvCxnSpPr/>
          <p:nvPr/>
        </p:nvCxnSpPr>
        <p:spPr>
          <a:xfrm>
            <a:off x="6608417" y="716096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09E00B0-F94F-7342-5293-D3C8FD59FED3}"/>
              </a:ext>
            </a:extLst>
          </p:cNvPr>
          <p:cNvCxnSpPr/>
          <p:nvPr/>
        </p:nvCxnSpPr>
        <p:spPr>
          <a:xfrm>
            <a:off x="7752335" y="716096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BE31201-A1EE-3E1F-A89B-672205FAFBD6}"/>
              </a:ext>
            </a:extLst>
          </p:cNvPr>
          <p:cNvSpPr txBox="1"/>
          <p:nvPr/>
        </p:nvSpPr>
        <p:spPr>
          <a:xfrm>
            <a:off x="7544100" y="347280"/>
            <a:ext cx="584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j+1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F66B42-587F-430F-4148-84FEEF7348CB}"/>
              </a:ext>
            </a:extLst>
          </p:cNvPr>
          <p:cNvSpPr txBox="1"/>
          <p:nvPr/>
        </p:nvSpPr>
        <p:spPr>
          <a:xfrm>
            <a:off x="6513865" y="346764"/>
            <a:ext cx="42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</a:t>
            </a:r>
          </a:p>
        </p:txBody>
      </p:sp>
    </p:spTree>
    <p:extLst>
      <p:ext uri="{BB962C8B-B14F-4D97-AF65-F5344CB8AC3E}">
        <p14:creationId xmlns:p14="http://schemas.microsoft.com/office/powerpoint/2010/main" val="91853542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8A6C2-DFB2-E988-69E1-92B530B25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EF4AC-F1DD-F743-C412-979346B4A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Bubble sort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CA53AC1-337D-1AC8-845E-0C8CCD791D7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2" y="2633472"/>
            <a:ext cx="4924560" cy="3469873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7D6DAC-168A-77E1-8875-CC7206CC28D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Increase the value of j by 1 then j =1.which is equal to n-2-i or 5-2-2=1.</a:t>
            </a:r>
          </a:p>
          <a:p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DCE7024-5BF0-7CF6-0410-316B6EA2E576}"/>
              </a:ext>
            </a:extLst>
          </p:cNvPr>
          <p:cNvGraphicFramePr>
            <a:graphicFrameLocks noGrp="1"/>
          </p:cNvGraphicFramePr>
          <p:nvPr/>
        </p:nvGraphicFramePr>
        <p:xfrm>
          <a:off x="6085543" y="1003301"/>
          <a:ext cx="5399315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9863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95345354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920383398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14009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E581AEB-50E0-DDEE-945D-15E7183DA856}"/>
              </a:ext>
            </a:extLst>
          </p:cNvPr>
          <p:cNvSpPr txBox="1"/>
          <p:nvPr/>
        </p:nvSpPr>
        <p:spPr>
          <a:xfrm>
            <a:off x="9788358" y="4747735"/>
            <a:ext cx="1600200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j=1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A423CA-2155-CEE0-3E03-3A153FC82150}"/>
              </a:ext>
            </a:extLst>
          </p:cNvPr>
          <p:cNvSpPr/>
          <p:nvPr/>
        </p:nvSpPr>
        <p:spPr>
          <a:xfrm>
            <a:off x="1288185" y="4975334"/>
            <a:ext cx="2155372" cy="402772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63E4805-9358-C724-546E-258CC8ABD725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3443557" y="5176720"/>
            <a:ext cx="7293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260D921D-B8EF-42D9-111A-937849620A12}"/>
              </a:ext>
            </a:extLst>
          </p:cNvPr>
          <p:cNvCxnSpPr/>
          <p:nvPr/>
        </p:nvCxnSpPr>
        <p:spPr>
          <a:xfrm>
            <a:off x="7711413" y="736340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119C7979-211C-3EAD-B19E-5CEE1D9D026C}"/>
              </a:ext>
            </a:extLst>
          </p:cNvPr>
          <p:cNvSpPr txBox="1"/>
          <p:nvPr/>
        </p:nvSpPr>
        <p:spPr>
          <a:xfrm>
            <a:off x="7616861" y="367008"/>
            <a:ext cx="42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</a:t>
            </a:r>
          </a:p>
        </p:txBody>
      </p:sp>
    </p:spTree>
    <p:extLst>
      <p:ext uri="{BB962C8B-B14F-4D97-AF65-F5344CB8AC3E}">
        <p14:creationId xmlns:p14="http://schemas.microsoft.com/office/powerpoint/2010/main" val="413039922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F70D4-B461-8F3B-0555-A1CEDDF6D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06EEB-73F1-CAF6-9732-802DE25EA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Bubble sort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30DE85F-032B-1357-419E-78F4DEB7A35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2" y="2633472"/>
            <a:ext cx="4924560" cy="3469873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7B156D-A451-5F4F-5D11-42C16CD2A74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Check if A[j+1]&lt;A[j], which is equal  A[2]&lt;A[1] or 14&lt;12 which is false, so no swap is going to be performed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032B2FD-F914-BA6C-145A-D79124986093}"/>
              </a:ext>
            </a:extLst>
          </p:cNvPr>
          <p:cNvGraphicFramePr>
            <a:graphicFrameLocks noGrp="1"/>
          </p:cNvGraphicFramePr>
          <p:nvPr/>
        </p:nvGraphicFramePr>
        <p:xfrm>
          <a:off x="6085543" y="1003301"/>
          <a:ext cx="5399315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9863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95345354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920383398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14009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17FA929-8BE1-F028-4D35-8068F425FC22}"/>
              </a:ext>
            </a:extLst>
          </p:cNvPr>
          <p:cNvSpPr txBox="1"/>
          <p:nvPr/>
        </p:nvSpPr>
        <p:spPr>
          <a:xfrm>
            <a:off x="9696090" y="4155657"/>
            <a:ext cx="1600200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j=1</a:t>
            </a:r>
          </a:p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33367C-4B0B-F8BF-2EE6-4590D2E94A8C}"/>
              </a:ext>
            </a:extLst>
          </p:cNvPr>
          <p:cNvSpPr/>
          <p:nvPr/>
        </p:nvSpPr>
        <p:spPr>
          <a:xfrm>
            <a:off x="1695810" y="5382963"/>
            <a:ext cx="3338897" cy="500044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79486FD-73A5-5AA7-F7F1-2F73318834CC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5034707" y="5632985"/>
            <a:ext cx="6279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9F403DD-8EB5-1C75-179E-0FDB3D09D9B5}"/>
              </a:ext>
            </a:extLst>
          </p:cNvPr>
          <p:cNvCxnSpPr/>
          <p:nvPr/>
        </p:nvCxnSpPr>
        <p:spPr>
          <a:xfrm>
            <a:off x="7656722" y="716096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2DFE323-E9F8-04AB-8BCE-B88E5E7A6B61}"/>
              </a:ext>
            </a:extLst>
          </p:cNvPr>
          <p:cNvCxnSpPr/>
          <p:nvPr/>
        </p:nvCxnSpPr>
        <p:spPr>
          <a:xfrm>
            <a:off x="8800640" y="716096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5B63D93-CADB-107F-E9D6-74E1C9738778}"/>
              </a:ext>
            </a:extLst>
          </p:cNvPr>
          <p:cNvSpPr txBox="1"/>
          <p:nvPr/>
        </p:nvSpPr>
        <p:spPr>
          <a:xfrm>
            <a:off x="8592405" y="347280"/>
            <a:ext cx="584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j+1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A4651F6-8C2F-2EDD-8DAF-182397A95CE3}"/>
              </a:ext>
            </a:extLst>
          </p:cNvPr>
          <p:cNvSpPr txBox="1"/>
          <p:nvPr/>
        </p:nvSpPr>
        <p:spPr>
          <a:xfrm>
            <a:off x="7562170" y="346764"/>
            <a:ext cx="42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</a:t>
            </a:r>
          </a:p>
        </p:txBody>
      </p:sp>
    </p:spTree>
    <p:extLst>
      <p:ext uri="{BB962C8B-B14F-4D97-AF65-F5344CB8AC3E}">
        <p14:creationId xmlns:p14="http://schemas.microsoft.com/office/powerpoint/2010/main" val="241207106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774F3-C95F-2939-316A-8B75EB697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BCAEC-2799-DFE1-93B0-ADA833B12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Bubble sort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6C4658A-E282-A886-C05D-FED34989C16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2" y="2633472"/>
            <a:ext cx="4924560" cy="3469873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4ADC07-172E-309F-5AE5-AB34F94DD32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Increase the value of j by 1 then j =2.which is more than n-2-i or 5-2-2=1.</a:t>
            </a:r>
          </a:p>
          <a:p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0841BB7-4631-B89C-7A3F-47FA8D3843CE}"/>
              </a:ext>
            </a:extLst>
          </p:cNvPr>
          <p:cNvGraphicFramePr>
            <a:graphicFrameLocks noGrp="1"/>
          </p:cNvGraphicFramePr>
          <p:nvPr/>
        </p:nvGraphicFramePr>
        <p:xfrm>
          <a:off x="6085543" y="1003301"/>
          <a:ext cx="5399315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9863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95345354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920383398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14009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1987645-EA71-ADDA-7358-58B6B1388544}"/>
              </a:ext>
            </a:extLst>
          </p:cNvPr>
          <p:cNvSpPr txBox="1"/>
          <p:nvPr/>
        </p:nvSpPr>
        <p:spPr>
          <a:xfrm>
            <a:off x="9788358" y="4747735"/>
            <a:ext cx="1600200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j=2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A377BC1-C12E-DE1A-C3A1-5DD35D4C196E}"/>
              </a:ext>
            </a:extLst>
          </p:cNvPr>
          <p:cNvSpPr/>
          <p:nvPr/>
        </p:nvSpPr>
        <p:spPr>
          <a:xfrm>
            <a:off x="1288185" y="4975334"/>
            <a:ext cx="2155372" cy="402772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8012CC6-6617-99AF-1289-72D512A95ED2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3443557" y="5176720"/>
            <a:ext cx="7293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9BF3C45-6370-15CB-2586-61E8472B59FC}"/>
              </a:ext>
            </a:extLst>
          </p:cNvPr>
          <p:cNvCxnSpPr/>
          <p:nvPr/>
        </p:nvCxnSpPr>
        <p:spPr>
          <a:xfrm>
            <a:off x="8778213" y="658368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FA2A9C1-F058-7E9D-1011-0D540A5A76B0}"/>
              </a:ext>
            </a:extLst>
          </p:cNvPr>
          <p:cNvSpPr txBox="1"/>
          <p:nvPr/>
        </p:nvSpPr>
        <p:spPr>
          <a:xfrm>
            <a:off x="8683661" y="289036"/>
            <a:ext cx="42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</a:t>
            </a:r>
          </a:p>
        </p:txBody>
      </p:sp>
    </p:spTree>
    <p:extLst>
      <p:ext uri="{BB962C8B-B14F-4D97-AF65-F5344CB8AC3E}">
        <p14:creationId xmlns:p14="http://schemas.microsoft.com/office/powerpoint/2010/main" val="143994477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9A84E-1FF8-B63F-0A1F-CC6E9FAAE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640D7-1BE8-C1A8-75CE-54E52B38B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Bubble sort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6CD2D44-3664-F7C8-8B72-AE5BC341E07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2" y="2633472"/>
            <a:ext cx="4924560" cy="3469873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47A4FE-089A-3BE3-72D1-2A8F4B788AE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We go back to the outer loop and increase the value of </a:t>
            </a:r>
            <a:r>
              <a:rPr lang="en-US" dirty="0" err="1"/>
              <a:t>i</a:t>
            </a:r>
            <a:r>
              <a:rPr lang="en-US" dirty="0"/>
              <a:t> by 1, which will be equal to 3 till it is greater than n-2 or 3.</a:t>
            </a:r>
          </a:p>
          <a:p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517E8D2-F64D-4AEB-C020-B86FE4DF5E27}"/>
              </a:ext>
            </a:extLst>
          </p:cNvPr>
          <p:cNvGraphicFramePr>
            <a:graphicFrameLocks noGrp="1"/>
          </p:cNvGraphicFramePr>
          <p:nvPr/>
        </p:nvGraphicFramePr>
        <p:xfrm>
          <a:off x="6085543" y="1003301"/>
          <a:ext cx="5399315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9863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95345354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920383398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14009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6CC737D-EAC6-BD0E-0CDE-788918BD9392}"/>
              </a:ext>
            </a:extLst>
          </p:cNvPr>
          <p:cNvSpPr txBox="1"/>
          <p:nvPr/>
        </p:nvSpPr>
        <p:spPr>
          <a:xfrm>
            <a:off x="9884658" y="4349019"/>
            <a:ext cx="1600200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31DA9C3-2E95-9CCB-8C45-BDA95A20E3F8}"/>
              </a:ext>
            </a:extLst>
          </p:cNvPr>
          <p:cNvSpPr/>
          <p:nvPr/>
        </p:nvSpPr>
        <p:spPr>
          <a:xfrm>
            <a:off x="902593" y="4545674"/>
            <a:ext cx="2155372" cy="402772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1AD6FC5-0A04-990F-F8DF-C9575293953E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3057965" y="4747060"/>
            <a:ext cx="7293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297149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A45B4-20F4-909E-F685-EF99A2139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EE035-A95D-D885-368D-20649CC78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Bubble sort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3A9442D-1304-B4D0-7E29-28F2D89C770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2" y="2633472"/>
            <a:ext cx="4924560" cy="3469873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42868C-E32D-7FD0-A7EB-E0FDF4AF04F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In the inner loop, j will start from 0 till it till it reaches a value greater than or equal to n-2-i or 5-2-3=0</a:t>
            </a:r>
          </a:p>
          <a:p>
            <a:pPr marL="0" indent="0">
              <a:buNone/>
            </a:pPr>
            <a:r>
              <a:rPr lang="en-US" dirty="0"/>
              <a:t>.</a:t>
            </a:r>
          </a:p>
          <a:p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328E744-C109-317C-1B63-B2F5C023C891}"/>
              </a:ext>
            </a:extLst>
          </p:cNvPr>
          <p:cNvGraphicFramePr>
            <a:graphicFrameLocks noGrp="1"/>
          </p:cNvGraphicFramePr>
          <p:nvPr/>
        </p:nvGraphicFramePr>
        <p:xfrm>
          <a:off x="6085543" y="1003301"/>
          <a:ext cx="5399315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9863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95345354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920383398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14009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3B84DA8-FB2A-FC02-9081-1E6257354B42}"/>
              </a:ext>
            </a:extLst>
          </p:cNvPr>
          <p:cNvSpPr txBox="1"/>
          <p:nvPr/>
        </p:nvSpPr>
        <p:spPr>
          <a:xfrm>
            <a:off x="9788358" y="4747735"/>
            <a:ext cx="1600200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j=0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D4CAA93-1135-08CC-B138-F45F3B2C6D25}"/>
              </a:ext>
            </a:extLst>
          </p:cNvPr>
          <p:cNvSpPr/>
          <p:nvPr/>
        </p:nvSpPr>
        <p:spPr>
          <a:xfrm>
            <a:off x="1288185" y="4975334"/>
            <a:ext cx="2155372" cy="402772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F3FD4D1-16B3-3C35-F7D9-257CFE50F43C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3443557" y="5176720"/>
            <a:ext cx="7293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EE84699D-E1BE-FB08-3218-16C0AB7E1C80}"/>
              </a:ext>
            </a:extLst>
          </p:cNvPr>
          <p:cNvCxnSpPr/>
          <p:nvPr/>
        </p:nvCxnSpPr>
        <p:spPr>
          <a:xfrm>
            <a:off x="6622841" y="658368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0E423D1-8950-5A10-1241-27EF1A3DE049}"/>
              </a:ext>
            </a:extLst>
          </p:cNvPr>
          <p:cNvSpPr txBox="1"/>
          <p:nvPr/>
        </p:nvSpPr>
        <p:spPr>
          <a:xfrm>
            <a:off x="6528289" y="289036"/>
            <a:ext cx="42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</a:t>
            </a:r>
          </a:p>
        </p:txBody>
      </p:sp>
    </p:spTree>
    <p:extLst>
      <p:ext uri="{BB962C8B-B14F-4D97-AF65-F5344CB8AC3E}">
        <p14:creationId xmlns:p14="http://schemas.microsoft.com/office/powerpoint/2010/main" val="417433148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0AE16-E984-2DE8-F240-1E8643B78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D7EA4-782F-9F52-73F7-F716724E9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Bubble sort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8DDAEA4-5DC8-021C-962C-DAF6471FC80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2" y="2633472"/>
            <a:ext cx="4924560" cy="3469873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827B31-533A-FEC9-C3B9-6DA9CF0824D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Check if A[j+1]&lt;A[j], which is equal  A[1]&lt;A[0] or 12&lt;1 which is false, so no swap needed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7C1BC60-2220-25D9-8029-9FFE65BE2AF7}"/>
              </a:ext>
            </a:extLst>
          </p:cNvPr>
          <p:cNvGraphicFramePr>
            <a:graphicFrameLocks noGrp="1"/>
          </p:cNvGraphicFramePr>
          <p:nvPr/>
        </p:nvGraphicFramePr>
        <p:xfrm>
          <a:off x="6085543" y="1003301"/>
          <a:ext cx="5399315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9863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95345354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920383398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14009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F0A7A8C9-8502-D86A-C501-EFB192DF255D}"/>
              </a:ext>
            </a:extLst>
          </p:cNvPr>
          <p:cNvSpPr txBox="1"/>
          <p:nvPr/>
        </p:nvSpPr>
        <p:spPr>
          <a:xfrm>
            <a:off x="9696090" y="4155657"/>
            <a:ext cx="1600200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j=0</a:t>
            </a:r>
          </a:p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96D176-DB47-4B65-2691-9EA6C2AF6455}"/>
              </a:ext>
            </a:extLst>
          </p:cNvPr>
          <p:cNvSpPr/>
          <p:nvPr/>
        </p:nvSpPr>
        <p:spPr>
          <a:xfrm>
            <a:off x="1695810" y="5382963"/>
            <a:ext cx="3338897" cy="500044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3C18BB9-1749-B36B-10D0-11737D8B5F74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5034707" y="5632985"/>
            <a:ext cx="6279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0B00682-52D1-56F2-C746-02E11F2637A3}"/>
              </a:ext>
            </a:extLst>
          </p:cNvPr>
          <p:cNvCxnSpPr/>
          <p:nvPr/>
        </p:nvCxnSpPr>
        <p:spPr>
          <a:xfrm>
            <a:off x="6577069" y="716096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3376F7A-AE5E-2015-5191-CAA7665F61B1}"/>
              </a:ext>
            </a:extLst>
          </p:cNvPr>
          <p:cNvCxnSpPr/>
          <p:nvPr/>
        </p:nvCxnSpPr>
        <p:spPr>
          <a:xfrm>
            <a:off x="7720987" y="716096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4B4782A-F3F0-8A70-1DDC-E4324ACCC6DA}"/>
              </a:ext>
            </a:extLst>
          </p:cNvPr>
          <p:cNvSpPr txBox="1"/>
          <p:nvPr/>
        </p:nvSpPr>
        <p:spPr>
          <a:xfrm>
            <a:off x="7512752" y="347280"/>
            <a:ext cx="584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j+1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9C1DA3-F0B2-CAD0-8454-856697D1C750}"/>
              </a:ext>
            </a:extLst>
          </p:cNvPr>
          <p:cNvSpPr txBox="1"/>
          <p:nvPr/>
        </p:nvSpPr>
        <p:spPr>
          <a:xfrm>
            <a:off x="6482517" y="346764"/>
            <a:ext cx="42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</a:t>
            </a:r>
          </a:p>
        </p:txBody>
      </p:sp>
    </p:spTree>
    <p:extLst>
      <p:ext uri="{BB962C8B-B14F-4D97-AF65-F5344CB8AC3E}">
        <p14:creationId xmlns:p14="http://schemas.microsoft.com/office/powerpoint/2010/main" val="260067270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E6266-408E-BC97-E999-9682F1E37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067DF-7C5C-2F46-62AD-622B36ED2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Bubble sort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3CB9534-1B52-23AB-B3CD-BF42CE9CE37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2" y="2633472"/>
            <a:ext cx="4924560" cy="3469873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86D22F-BE93-67A4-3DE1-05A575E411F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The value j is increased by 1, where j=1, which is more than n-2-i or 5-2-3=0.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.</a:t>
            </a:r>
          </a:p>
          <a:p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B15A863-8500-8243-5EEE-1D60BF2403CA}"/>
              </a:ext>
            </a:extLst>
          </p:cNvPr>
          <p:cNvGraphicFramePr>
            <a:graphicFrameLocks noGrp="1"/>
          </p:cNvGraphicFramePr>
          <p:nvPr/>
        </p:nvGraphicFramePr>
        <p:xfrm>
          <a:off x="6085543" y="1003301"/>
          <a:ext cx="5399315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9863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95345354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920383398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14009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E48D06B-8FE1-CBD9-5336-9BD5AE88E72F}"/>
              </a:ext>
            </a:extLst>
          </p:cNvPr>
          <p:cNvSpPr txBox="1"/>
          <p:nvPr/>
        </p:nvSpPr>
        <p:spPr>
          <a:xfrm>
            <a:off x="9788358" y="4747735"/>
            <a:ext cx="1600200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j=0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F60BB5C-8371-25BF-5763-332BA6F711CF}"/>
              </a:ext>
            </a:extLst>
          </p:cNvPr>
          <p:cNvSpPr/>
          <p:nvPr/>
        </p:nvSpPr>
        <p:spPr>
          <a:xfrm>
            <a:off x="1288185" y="4975334"/>
            <a:ext cx="2155372" cy="402772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240085C-4E40-C49C-93C0-067FA45F82F0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3443557" y="5176720"/>
            <a:ext cx="7293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4BE5EB56-D24C-6654-4741-8CFDBEBA6CBA}"/>
              </a:ext>
            </a:extLst>
          </p:cNvPr>
          <p:cNvCxnSpPr/>
          <p:nvPr/>
        </p:nvCxnSpPr>
        <p:spPr>
          <a:xfrm>
            <a:off x="7678755" y="658368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4664E7B-FF62-0721-76C6-0A99AECA6C96}"/>
              </a:ext>
            </a:extLst>
          </p:cNvPr>
          <p:cNvSpPr txBox="1"/>
          <p:nvPr/>
        </p:nvSpPr>
        <p:spPr>
          <a:xfrm>
            <a:off x="7584203" y="289036"/>
            <a:ext cx="42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</a:t>
            </a:r>
          </a:p>
        </p:txBody>
      </p:sp>
    </p:spTree>
    <p:extLst>
      <p:ext uri="{BB962C8B-B14F-4D97-AF65-F5344CB8AC3E}">
        <p14:creationId xmlns:p14="http://schemas.microsoft.com/office/powerpoint/2010/main" val="320205792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FA520-7B0A-FCF2-A739-8062FFC20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A5759-4787-CA2D-8C4E-6ADCA0E65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Bubble sort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E0EC229-EB86-E8AC-86D7-28DF76D1539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2" y="2633472"/>
            <a:ext cx="4924560" cy="3469873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9F10FF-782F-99FF-F938-F398888A219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We go back to the outer loop and increase the value of </a:t>
            </a:r>
            <a:r>
              <a:rPr lang="en-US" dirty="0" err="1"/>
              <a:t>i</a:t>
            </a:r>
            <a:r>
              <a:rPr lang="en-US" dirty="0"/>
              <a:t> by 1, which will be equal to 4 till it reaches more than n-2 or 3.</a:t>
            </a:r>
          </a:p>
          <a:p>
            <a:r>
              <a:rPr lang="en-US" dirty="0"/>
              <a:t>The outer loop stops</a:t>
            </a:r>
          </a:p>
          <a:p>
            <a:r>
              <a:rPr lang="en-US" dirty="0"/>
              <a:t>The array is sorted</a:t>
            </a:r>
          </a:p>
          <a:p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D7A1CF0-6EEF-7935-0372-83A3D994902F}"/>
              </a:ext>
            </a:extLst>
          </p:cNvPr>
          <p:cNvGraphicFramePr>
            <a:graphicFrameLocks noGrp="1"/>
          </p:cNvGraphicFramePr>
          <p:nvPr/>
        </p:nvGraphicFramePr>
        <p:xfrm>
          <a:off x="6085543" y="1003301"/>
          <a:ext cx="5399315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9863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953453542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920383398"/>
                    </a:ext>
                  </a:extLst>
                </a:gridCol>
                <a:gridCol w="1079863">
                  <a:extLst>
                    <a:ext uri="{9D8B030D-6E8A-4147-A177-3AD203B41FA5}">
                      <a16:colId xmlns:a16="http://schemas.microsoft.com/office/drawing/2014/main" val="214009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D4B4987-5916-988D-B59F-DAF1150A0E20}"/>
              </a:ext>
            </a:extLst>
          </p:cNvPr>
          <p:cNvSpPr txBox="1"/>
          <p:nvPr/>
        </p:nvSpPr>
        <p:spPr>
          <a:xfrm>
            <a:off x="9884658" y="4349019"/>
            <a:ext cx="1600200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CB785E3-45EA-B972-F25F-466C7A012BC3}"/>
              </a:ext>
            </a:extLst>
          </p:cNvPr>
          <p:cNvSpPr/>
          <p:nvPr/>
        </p:nvSpPr>
        <p:spPr>
          <a:xfrm>
            <a:off x="902593" y="4545674"/>
            <a:ext cx="2155372" cy="402772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3004544-8E56-6733-2F41-D959767476DA}"/>
              </a:ext>
            </a:extLst>
          </p:cNvPr>
          <p:cNvCxnSpPr>
            <a:cxnSpLocks/>
            <a:endCxn id="9" idx="3"/>
          </p:cNvCxnSpPr>
          <p:nvPr/>
        </p:nvCxnSpPr>
        <p:spPr>
          <a:xfrm flipH="1">
            <a:off x="3057965" y="4747060"/>
            <a:ext cx="7293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711063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6185E-9367-0AC4-A16D-617450808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539BB-DFCE-86C2-91EE-3425FE70A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Bubble sort (time analysis)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9FEE663-FDB7-8EF2-8338-7140C4AEE02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2" y="2633472"/>
            <a:ext cx="4924560" cy="346987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5">
                <a:extLst>
                  <a:ext uri="{FF2B5EF4-FFF2-40B4-BE49-F238E27FC236}">
                    <a16:creationId xmlns:a16="http://schemas.microsoft.com/office/drawing/2014/main" id="{BA55C671-3DCC-A1E6-72CF-C84BDB09CB4D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096000" y="2236424"/>
                <a:ext cx="5435008" cy="396320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The basic operation: comparison</a:t>
                </a:r>
              </a:p>
              <a:p>
                <a:r>
                  <a:rPr lang="en-US" dirty="0"/>
                  <a:t>T(n)=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−2</m:t>
                        </m:r>
                      </m:sup>
                      <m:e>
                        <m:nary>
                          <m:naryPr>
                            <m:chr m:val="∑"/>
                            <m:limLoc m:val="undOvr"/>
                            <m:grow m:val="on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nary>
                      </m:e>
                    </m:nary>
                  </m:oMath>
                </a14:m>
                <a:r>
                  <a:rPr lang="en-US" dirty="0"/>
                  <a:t>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−2</m:t>
                        </m:r>
                      </m:sup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−2−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−0+1</m:t>
                        </m:r>
                      </m:e>
                    </m:nary>
                  </m:oMath>
                </a14:m>
                <a:r>
                  <a:rPr lang="en-US" dirty="0"/>
                  <a:t>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−2</m:t>
                        </m:r>
                      </m:sup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−2</m:t>
                        </m:r>
                      </m:sup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since this is a descending order sequence first= n-1-0=n-1, last=n-1-(n-2)=n-1-n+2=1 and size= n-2-0+1=n-1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0" dirty="0" smtClean="0">
                                <a:latin typeface="Cambria Math" panose="02040503050406030204" pitchFamily="18" charset="0"/>
                              </a:rPr>
                              <m:t>−1+1</m:t>
                            </m:r>
                          </m:e>
                        </m:d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b="0" i="0" dirty="0" smtClean="0"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  <m:sup>
                            <m:r>
                              <a:rPr lang="en-US" b="0" i="0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dirty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/>
                  <a:t>	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5">
                <a:extLst>
                  <a:ext uri="{FF2B5EF4-FFF2-40B4-BE49-F238E27FC236}">
                    <a16:creationId xmlns:a16="http://schemas.microsoft.com/office/drawing/2014/main" id="{BA55C671-3DCC-A1E6-72CF-C84BDB09CB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096000" y="2236424"/>
                <a:ext cx="5435008" cy="3963208"/>
              </a:xfrm>
              <a:blipFill>
                <a:blip r:embed="rId3"/>
                <a:stretch>
                  <a:fillRect l="-2578" t="-308" r="-19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ight Bracket 4">
            <a:extLst>
              <a:ext uri="{FF2B5EF4-FFF2-40B4-BE49-F238E27FC236}">
                <a16:creationId xmlns:a16="http://schemas.microsoft.com/office/drawing/2014/main" id="{71C59143-7FC4-4DA8-306F-A376B643B297}"/>
              </a:ext>
            </a:extLst>
          </p:cNvPr>
          <p:cNvSpPr/>
          <p:nvPr/>
        </p:nvSpPr>
        <p:spPr>
          <a:xfrm>
            <a:off x="4880472" y="5376231"/>
            <a:ext cx="253388" cy="495759"/>
          </a:xfrm>
          <a:prstGeom prst="rightBracket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1D167AEA-5792-8396-7AEF-6E5A900117C4}"/>
              </a:ext>
            </a:extLst>
          </p:cNvPr>
          <p:cNvCxnSpPr>
            <a:cxnSpLocks/>
            <a:stCxn id="5" idx="2"/>
          </p:cNvCxnSpPr>
          <p:nvPr/>
        </p:nvCxnSpPr>
        <p:spPr>
          <a:xfrm rot="10800000" flipH="1" flipV="1">
            <a:off x="5133859" y="5624111"/>
            <a:ext cx="253387" cy="495758"/>
          </a:xfrm>
          <a:prstGeom prst="bentConnector4">
            <a:avLst>
              <a:gd name="adj1" fmla="val 75000"/>
              <a:gd name="adj2" fmla="val 7500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4A1A3B6-3038-9792-7194-72AE53EE425C}"/>
              </a:ext>
            </a:extLst>
          </p:cNvPr>
          <p:cNvSpPr txBox="1"/>
          <p:nvPr/>
        </p:nvSpPr>
        <p:spPr>
          <a:xfrm>
            <a:off x="4248839" y="6088008"/>
            <a:ext cx="22033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 basic operation</a:t>
            </a:r>
          </a:p>
        </p:txBody>
      </p:sp>
    </p:spTree>
    <p:extLst>
      <p:ext uri="{BB962C8B-B14F-4D97-AF65-F5344CB8AC3E}">
        <p14:creationId xmlns:p14="http://schemas.microsoft.com/office/powerpoint/2010/main" val="223695814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BAF87F-B38A-12B7-E9B6-28F683C02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CFD1D2CD-954D-4C4D-B505-05EAD159B2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83D754-2840-FC29-DF93-5201C4632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117" y="952500"/>
            <a:ext cx="4124557" cy="3524250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45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Sequential search and String matching</a:t>
            </a:r>
            <a:br>
              <a:rPr lang="en-US" sz="45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45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45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2D508B3-A66C-833E-D929-8DC2116356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2088" y="4882722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 descr="Pins pinned on a white surface and connecting a black thread">
            <a:extLst>
              <a:ext uri="{FF2B5EF4-FFF2-40B4-BE49-F238E27FC236}">
                <a16:creationId xmlns:a16="http://schemas.microsoft.com/office/drawing/2014/main" id="{88304688-7998-AF89-F525-D61C2D1A77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15" r="31232" b="-1"/>
          <a:stretch>
            <a:fillRect/>
          </a:stretch>
        </p:blipFill>
        <p:spPr>
          <a:xfrm>
            <a:off x="5261956" y="10"/>
            <a:ext cx="6930043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404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247EB-7B50-B0C0-C726-44F4295F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Sequential Search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D68B085-DBD7-7965-E597-7E7CCF7EEFF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748045" y="2743200"/>
            <a:ext cx="5212080" cy="3456432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024AC2-E67D-D56C-A055-15CDEF814B8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Given that the key we are looking for is equal to 6 in the given array</a:t>
            </a:r>
          </a:p>
          <a:p>
            <a:r>
              <a:rPr lang="en-US" dirty="0"/>
              <a:t>The first step is to append the key to the end of the list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C6F88A-6E82-48CB-078F-923AE17714CB}"/>
              </a:ext>
            </a:extLst>
          </p:cNvPr>
          <p:cNvSpPr txBox="1"/>
          <p:nvPr/>
        </p:nvSpPr>
        <p:spPr>
          <a:xfrm>
            <a:off x="9843755" y="4886234"/>
            <a:ext cx="1600200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k=6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4C1AE92-2660-69CA-F16A-030B59C77F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6922395"/>
              </p:ext>
            </p:extLst>
          </p:nvPr>
        </p:nvGraphicFramePr>
        <p:xfrm>
          <a:off x="5668933" y="1258532"/>
          <a:ext cx="5399316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9886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899886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  <a:gridCol w="899886">
                  <a:extLst>
                    <a:ext uri="{9D8B030D-6E8A-4147-A177-3AD203B41FA5}">
                      <a16:colId xmlns:a16="http://schemas.microsoft.com/office/drawing/2014/main" val="953453542"/>
                    </a:ext>
                  </a:extLst>
                </a:gridCol>
                <a:gridCol w="899886">
                  <a:extLst>
                    <a:ext uri="{9D8B030D-6E8A-4147-A177-3AD203B41FA5}">
                      <a16:colId xmlns:a16="http://schemas.microsoft.com/office/drawing/2014/main" val="2920383398"/>
                    </a:ext>
                  </a:extLst>
                </a:gridCol>
                <a:gridCol w="899886">
                  <a:extLst>
                    <a:ext uri="{9D8B030D-6E8A-4147-A177-3AD203B41FA5}">
                      <a16:colId xmlns:a16="http://schemas.microsoft.com/office/drawing/2014/main" val="214009401"/>
                    </a:ext>
                  </a:extLst>
                </a:gridCol>
                <a:gridCol w="899886">
                  <a:extLst>
                    <a:ext uri="{9D8B030D-6E8A-4147-A177-3AD203B41FA5}">
                      <a16:colId xmlns:a16="http://schemas.microsoft.com/office/drawing/2014/main" val="3757313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4F31B341-66F7-2F59-2CA0-57C06287C38F}"/>
              </a:ext>
            </a:extLst>
          </p:cNvPr>
          <p:cNvSpPr/>
          <p:nvPr/>
        </p:nvSpPr>
        <p:spPr>
          <a:xfrm>
            <a:off x="1034797" y="4237204"/>
            <a:ext cx="937222" cy="389880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E0B4FA0-2465-4DE0-1F57-6A99E4B6E332}"/>
              </a:ext>
            </a:extLst>
          </p:cNvPr>
          <p:cNvCxnSpPr>
            <a:cxnSpLocks/>
          </p:cNvCxnSpPr>
          <p:nvPr/>
        </p:nvCxnSpPr>
        <p:spPr>
          <a:xfrm flipH="1">
            <a:off x="1972019" y="4438590"/>
            <a:ext cx="4076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3395C80-DEF2-1EDB-A496-F786119096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5106495"/>
              </p:ext>
            </p:extLst>
          </p:nvPr>
        </p:nvGraphicFramePr>
        <p:xfrm>
          <a:off x="5668933" y="384773"/>
          <a:ext cx="4499430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9886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899886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  <a:gridCol w="899886">
                  <a:extLst>
                    <a:ext uri="{9D8B030D-6E8A-4147-A177-3AD203B41FA5}">
                      <a16:colId xmlns:a16="http://schemas.microsoft.com/office/drawing/2014/main" val="953453542"/>
                    </a:ext>
                  </a:extLst>
                </a:gridCol>
                <a:gridCol w="899886">
                  <a:extLst>
                    <a:ext uri="{9D8B030D-6E8A-4147-A177-3AD203B41FA5}">
                      <a16:colId xmlns:a16="http://schemas.microsoft.com/office/drawing/2014/main" val="2920383398"/>
                    </a:ext>
                  </a:extLst>
                </a:gridCol>
                <a:gridCol w="899886">
                  <a:extLst>
                    <a:ext uri="{9D8B030D-6E8A-4147-A177-3AD203B41FA5}">
                      <a16:colId xmlns:a16="http://schemas.microsoft.com/office/drawing/2014/main" val="2140094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879910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BC087-6AD6-3FCC-FB0E-1CABDA141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84A07-445F-FD5F-B8CD-D407CC06C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Sequential Search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3F47B03-7B66-28EB-47A1-24BA54996A8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748045" y="2743200"/>
            <a:ext cx="5212080" cy="3456432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BD02DC-B764-F62C-F08E-C74408A55AA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Create an index </a:t>
            </a:r>
            <a:r>
              <a:rPr lang="en-US" dirty="0" err="1"/>
              <a:t>i</a:t>
            </a:r>
            <a:r>
              <a:rPr lang="en-US" dirty="0"/>
              <a:t> which starts from 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81FD92-35C0-B037-7F4F-CD35A00DABF7}"/>
              </a:ext>
            </a:extLst>
          </p:cNvPr>
          <p:cNvSpPr txBox="1"/>
          <p:nvPr/>
        </p:nvSpPr>
        <p:spPr>
          <a:xfrm>
            <a:off x="9843755" y="4886234"/>
            <a:ext cx="1600200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k=6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i=0</a:t>
            </a:r>
          </a:p>
          <a:p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211962F-F6E6-7A09-D7ED-02F8AE694B00}"/>
              </a:ext>
            </a:extLst>
          </p:cNvPr>
          <p:cNvGraphicFramePr>
            <a:graphicFrameLocks noGrp="1"/>
          </p:cNvGraphicFramePr>
          <p:nvPr/>
        </p:nvGraphicFramePr>
        <p:xfrm>
          <a:off x="5668933" y="1258532"/>
          <a:ext cx="5399316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9886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899886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  <a:gridCol w="899886">
                  <a:extLst>
                    <a:ext uri="{9D8B030D-6E8A-4147-A177-3AD203B41FA5}">
                      <a16:colId xmlns:a16="http://schemas.microsoft.com/office/drawing/2014/main" val="953453542"/>
                    </a:ext>
                  </a:extLst>
                </a:gridCol>
                <a:gridCol w="899886">
                  <a:extLst>
                    <a:ext uri="{9D8B030D-6E8A-4147-A177-3AD203B41FA5}">
                      <a16:colId xmlns:a16="http://schemas.microsoft.com/office/drawing/2014/main" val="2920383398"/>
                    </a:ext>
                  </a:extLst>
                </a:gridCol>
                <a:gridCol w="899886">
                  <a:extLst>
                    <a:ext uri="{9D8B030D-6E8A-4147-A177-3AD203B41FA5}">
                      <a16:colId xmlns:a16="http://schemas.microsoft.com/office/drawing/2014/main" val="214009401"/>
                    </a:ext>
                  </a:extLst>
                </a:gridCol>
                <a:gridCol w="899886">
                  <a:extLst>
                    <a:ext uri="{9D8B030D-6E8A-4147-A177-3AD203B41FA5}">
                      <a16:colId xmlns:a16="http://schemas.microsoft.com/office/drawing/2014/main" val="3757313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67C1F399-EE0D-8582-0CDA-67A6F6E3F6AE}"/>
              </a:ext>
            </a:extLst>
          </p:cNvPr>
          <p:cNvSpPr/>
          <p:nvPr/>
        </p:nvSpPr>
        <p:spPr>
          <a:xfrm>
            <a:off x="1034797" y="4523646"/>
            <a:ext cx="937222" cy="389880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7150878-0910-6997-FA81-17BD9F79F703}"/>
              </a:ext>
            </a:extLst>
          </p:cNvPr>
          <p:cNvCxnSpPr>
            <a:cxnSpLocks/>
            <a:endCxn id="10" idx="3"/>
          </p:cNvCxnSpPr>
          <p:nvPr/>
        </p:nvCxnSpPr>
        <p:spPr>
          <a:xfrm flipH="1">
            <a:off x="1972019" y="4718586"/>
            <a:ext cx="33050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3E9DAE8-C7CB-2F16-868B-77EC58DB651D}"/>
              </a:ext>
            </a:extLst>
          </p:cNvPr>
          <p:cNvCxnSpPr/>
          <p:nvPr/>
        </p:nvCxnSpPr>
        <p:spPr>
          <a:xfrm>
            <a:off x="6054677" y="969449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0D3795F-9F0D-F77B-5E33-1FEAA62A3F52}"/>
              </a:ext>
            </a:extLst>
          </p:cNvPr>
          <p:cNvSpPr txBox="1"/>
          <p:nvPr/>
        </p:nvSpPr>
        <p:spPr>
          <a:xfrm>
            <a:off x="5960125" y="600117"/>
            <a:ext cx="42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110136154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2A657-314C-FDAD-FF22-42EC46B46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2A918-A13E-F7DB-8C77-076F22472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Sequential Search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67A7A7A-4340-AA59-3A29-0FC10CEA798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748045" y="2743200"/>
            <a:ext cx="5212080" cy="3456432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C7203D-B3AA-435C-0B25-F2C75960E09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Check if the value of A[</a:t>
            </a:r>
            <a:r>
              <a:rPr lang="en-US" dirty="0" err="1"/>
              <a:t>i</a:t>
            </a:r>
            <a:r>
              <a:rPr lang="en-US" dirty="0"/>
              <a:t>]=A[0]=1 is not equal to k; which is true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6A45A9-2553-857C-483C-B8CF9D274D92}"/>
              </a:ext>
            </a:extLst>
          </p:cNvPr>
          <p:cNvSpPr txBox="1"/>
          <p:nvPr/>
        </p:nvSpPr>
        <p:spPr>
          <a:xfrm>
            <a:off x="9843755" y="4886234"/>
            <a:ext cx="1600200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k=6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i=0</a:t>
            </a:r>
          </a:p>
          <a:p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E454111-F3B0-F0D4-6EED-A5D4A2B491A7}"/>
              </a:ext>
            </a:extLst>
          </p:cNvPr>
          <p:cNvGraphicFramePr>
            <a:graphicFrameLocks noGrp="1"/>
          </p:cNvGraphicFramePr>
          <p:nvPr/>
        </p:nvGraphicFramePr>
        <p:xfrm>
          <a:off x="5668933" y="1258532"/>
          <a:ext cx="5399316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9886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899886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  <a:gridCol w="899886">
                  <a:extLst>
                    <a:ext uri="{9D8B030D-6E8A-4147-A177-3AD203B41FA5}">
                      <a16:colId xmlns:a16="http://schemas.microsoft.com/office/drawing/2014/main" val="953453542"/>
                    </a:ext>
                  </a:extLst>
                </a:gridCol>
                <a:gridCol w="899886">
                  <a:extLst>
                    <a:ext uri="{9D8B030D-6E8A-4147-A177-3AD203B41FA5}">
                      <a16:colId xmlns:a16="http://schemas.microsoft.com/office/drawing/2014/main" val="2920383398"/>
                    </a:ext>
                  </a:extLst>
                </a:gridCol>
                <a:gridCol w="899886">
                  <a:extLst>
                    <a:ext uri="{9D8B030D-6E8A-4147-A177-3AD203B41FA5}">
                      <a16:colId xmlns:a16="http://schemas.microsoft.com/office/drawing/2014/main" val="214009401"/>
                    </a:ext>
                  </a:extLst>
                </a:gridCol>
                <a:gridCol w="899886">
                  <a:extLst>
                    <a:ext uri="{9D8B030D-6E8A-4147-A177-3AD203B41FA5}">
                      <a16:colId xmlns:a16="http://schemas.microsoft.com/office/drawing/2014/main" val="3757313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8EF72A1E-A31F-47B4-C360-2CDDB54DF741}"/>
              </a:ext>
            </a:extLst>
          </p:cNvPr>
          <p:cNvSpPr/>
          <p:nvPr/>
        </p:nvSpPr>
        <p:spPr>
          <a:xfrm>
            <a:off x="1034797" y="4821105"/>
            <a:ext cx="1410948" cy="367840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9DCCD34-12F3-3E26-CA67-E32AE1C7CD2B}"/>
              </a:ext>
            </a:extLst>
          </p:cNvPr>
          <p:cNvCxnSpPr>
            <a:cxnSpLocks/>
            <a:endCxn id="10" idx="3"/>
          </p:cNvCxnSpPr>
          <p:nvPr/>
        </p:nvCxnSpPr>
        <p:spPr>
          <a:xfrm flipH="1" flipV="1">
            <a:off x="2445745" y="5005025"/>
            <a:ext cx="716096" cy="110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F9ED55E-FB6B-112C-B23D-D19D0AED25D4}"/>
              </a:ext>
            </a:extLst>
          </p:cNvPr>
          <p:cNvCxnSpPr/>
          <p:nvPr/>
        </p:nvCxnSpPr>
        <p:spPr>
          <a:xfrm>
            <a:off x="6190552" y="843034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6E9377E-D290-AB57-3167-269EA6C4F468}"/>
              </a:ext>
            </a:extLst>
          </p:cNvPr>
          <p:cNvSpPr txBox="1"/>
          <p:nvPr/>
        </p:nvSpPr>
        <p:spPr>
          <a:xfrm>
            <a:off x="6096000" y="473702"/>
            <a:ext cx="42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391544429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6CE78-EBE7-361C-55C8-03189361F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98481-B055-EB9A-00FF-F3BEDDDDF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Sequential Search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D6DF3F9-8516-A290-2163-65368D43FD5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748045" y="2743200"/>
            <a:ext cx="5212080" cy="3456432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FE70AF-EEDD-EA29-8B57-5BECF30B597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Increment the value of </a:t>
            </a:r>
            <a:r>
              <a:rPr lang="en-US" dirty="0" err="1"/>
              <a:t>i</a:t>
            </a:r>
            <a:r>
              <a:rPr lang="en-US" dirty="0"/>
              <a:t> by 1, it will be equal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CD050C-2BA3-C4FB-E705-45F5675E3407}"/>
              </a:ext>
            </a:extLst>
          </p:cNvPr>
          <p:cNvSpPr txBox="1"/>
          <p:nvPr/>
        </p:nvSpPr>
        <p:spPr>
          <a:xfrm>
            <a:off x="9843755" y="4886234"/>
            <a:ext cx="1600200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k=6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=1</a:t>
            </a:r>
          </a:p>
          <a:p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B1C7B23-38F4-77ED-A93A-CDF02F62BF51}"/>
              </a:ext>
            </a:extLst>
          </p:cNvPr>
          <p:cNvGraphicFramePr>
            <a:graphicFrameLocks noGrp="1"/>
          </p:cNvGraphicFramePr>
          <p:nvPr/>
        </p:nvGraphicFramePr>
        <p:xfrm>
          <a:off x="5668933" y="1258532"/>
          <a:ext cx="5399316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9886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899886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  <a:gridCol w="899886">
                  <a:extLst>
                    <a:ext uri="{9D8B030D-6E8A-4147-A177-3AD203B41FA5}">
                      <a16:colId xmlns:a16="http://schemas.microsoft.com/office/drawing/2014/main" val="953453542"/>
                    </a:ext>
                  </a:extLst>
                </a:gridCol>
                <a:gridCol w="899886">
                  <a:extLst>
                    <a:ext uri="{9D8B030D-6E8A-4147-A177-3AD203B41FA5}">
                      <a16:colId xmlns:a16="http://schemas.microsoft.com/office/drawing/2014/main" val="2920383398"/>
                    </a:ext>
                  </a:extLst>
                </a:gridCol>
                <a:gridCol w="899886">
                  <a:extLst>
                    <a:ext uri="{9D8B030D-6E8A-4147-A177-3AD203B41FA5}">
                      <a16:colId xmlns:a16="http://schemas.microsoft.com/office/drawing/2014/main" val="214009401"/>
                    </a:ext>
                  </a:extLst>
                </a:gridCol>
                <a:gridCol w="899886">
                  <a:extLst>
                    <a:ext uri="{9D8B030D-6E8A-4147-A177-3AD203B41FA5}">
                      <a16:colId xmlns:a16="http://schemas.microsoft.com/office/drawing/2014/main" val="3757313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21868327-E855-3529-3922-26922AFFE1DA}"/>
              </a:ext>
            </a:extLst>
          </p:cNvPr>
          <p:cNvSpPr/>
          <p:nvPr/>
        </p:nvSpPr>
        <p:spPr>
          <a:xfrm>
            <a:off x="1045814" y="5107547"/>
            <a:ext cx="1410948" cy="367840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5398B95-80A0-4890-A652-8EE5FDE49F21}"/>
              </a:ext>
            </a:extLst>
          </p:cNvPr>
          <p:cNvCxnSpPr>
            <a:cxnSpLocks/>
            <a:endCxn id="10" idx="3"/>
          </p:cNvCxnSpPr>
          <p:nvPr/>
        </p:nvCxnSpPr>
        <p:spPr>
          <a:xfrm flipH="1" flipV="1">
            <a:off x="2456762" y="5291467"/>
            <a:ext cx="716096" cy="110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718FFA51-7933-50FD-BA62-0BAEBE1DE615}"/>
              </a:ext>
            </a:extLst>
          </p:cNvPr>
          <p:cNvCxnSpPr/>
          <p:nvPr/>
        </p:nvCxnSpPr>
        <p:spPr>
          <a:xfrm>
            <a:off x="7046195" y="784783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A4E2A51-0091-A6A9-95B6-E0ED0B712B40}"/>
              </a:ext>
            </a:extLst>
          </p:cNvPr>
          <p:cNvSpPr txBox="1"/>
          <p:nvPr/>
        </p:nvSpPr>
        <p:spPr>
          <a:xfrm>
            <a:off x="6951643" y="415451"/>
            <a:ext cx="42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224309125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63A1F-A083-5792-C986-CE04A8278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48F67-8305-B3D9-073E-F2E86F7E1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Sequential Search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F7ACC82-B773-E0A3-9B20-A6CDBBFF3AA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748045" y="2743200"/>
            <a:ext cx="5212080" cy="3456432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E6B55F-2770-A7B0-D70E-B1802B26618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Check if the value of A[i]=A[1]=16 is not equal to k=6; which is true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E6299F-012A-0B10-B4F9-B2A601042CE4}"/>
              </a:ext>
            </a:extLst>
          </p:cNvPr>
          <p:cNvSpPr txBox="1"/>
          <p:nvPr/>
        </p:nvSpPr>
        <p:spPr>
          <a:xfrm>
            <a:off x="9843755" y="4886234"/>
            <a:ext cx="1600200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k=6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=1</a:t>
            </a:r>
          </a:p>
          <a:p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4E0D1CD-8B65-D9F7-9EB9-852F571F36DA}"/>
              </a:ext>
            </a:extLst>
          </p:cNvPr>
          <p:cNvGraphicFramePr>
            <a:graphicFrameLocks noGrp="1"/>
          </p:cNvGraphicFramePr>
          <p:nvPr/>
        </p:nvGraphicFramePr>
        <p:xfrm>
          <a:off x="5668933" y="1258532"/>
          <a:ext cx="5399316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9886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899886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  <a:gridCol w="899886">
                  <a:extLst>
                    <a:ext uri="{9D8B030D-6E8A-4147-A177-3AD203B41FA5}">
                      <a16:colId xmlns:a16="http://schemas.microsoft.com/office/drawing/2014/main" val="953453542"/>
                    </a:ext>
                  </a:extLst>
                </a:gridCol>
                <a:gridCol w="899886">
                  <a:extLst>
                    <a:ext uri="{9D8B030D-6E8A-4147-A177-3AD203B41FA5}">
                      <a16:colId xmlns:a16="http://schemas.microsoft.com/office/drawing/2014/main" val="2920383398"/>
                    </a:ext>
                  </a:extLst>
                </a:gridCol>
                <a:gridCol w="899886">
                  <a:extLst>
                    <a:ext uri="{9D8B030D-6E8A-4147-A177-3AD203B41FA5}">
                      <a16:colId xmlns:a16="http://schemas.microsoft.com/office/drawing/2014/main" val="214009401"/>
                    </a:ext>
                  </a:extLst>
                </a:gridCol>
                <a:gridCol w="899886">
                  <a:extLst>
                    <a:ext uri="{9D8B030D-6E8A-4147-A177-3AD203B41FA5}">
                      <a16:colId xmlns:a16="http://schemas.microsoft.com/office/drawing/2014/main" val="3757313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D8B09872-517A-2BA3-8C66-CF71520969BC}"/>
              </a:ext>
            </a:extLst>
          </p:cNvPr>
          <p:cNvSpPr/>
          <p:nvPr/>
        </p:nvSpPr>
        <p:spPr>
          <a:xfrm>
            <a:off x="1034797" y="4821105"/>
            <a:ext cx="1410948" cy="367840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FE464E8-E3B0-684D-74F4-C3850313E4B1}"/>
              </a:ext>
            </a:extLst>
          </p:cNvPr>
          <p:cNvCxnSpPr>
            <a:cxnSpLocks/>
            <a:endCxn id="10" idx="3"/>
          </p:cNvCxnSpPr>
          <p:nvPr/>
        </p:nvCxnSpPr>
        <p:spPr>
          <a:xfrm flipH="1" flipV="1">
            <a:off x="2445745" y="5005025"/>
            <a:ext cx="716096" cy="110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C399A34-08C4-5860-FB18-75045AEDA23E}"/>
              </a:ext>
            </a:extLst>
          </p:cNvPr>
          <p:cNvCxnSpPr/>
          <p:nvPr/>
        </p:nvCxnSpPr>
        <p:spPr>
          <a:xfrm>
            <a:off x="7013144" y="784783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10ADE99-3FB9-1451-FDE8-7F1DA145D97E}"/>
              </a:ext>
            </a:extLst>
          </p:cNvPr>
          <p:cNvSpPr txBox="1"/>
          <p:nvPr/>
        </p:nvSpPr>
        <p:spPr>
          <a:xfrm>
            <a:off x="6918592" y="415451"/>
            <a:ext cx="42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231402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404A0-BB37-2626-9C6C-DE8342497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4EEB5-E3FF-75E8-9A0C-895048784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Sequential Search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A45C60C-5AD0-4D14-3AE2-4432975C684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748045" y="2743200"/>
            <a:ext cx="5212080" cy="3456432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86874D-FCE1-46C4-CB20-9AFF39EB29A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Increment the value of </a:t>
            </a:r>
            <a:r>
              <a:rPr lang="en-US" dirty="0" err="1"/>
              <a:t>i</a:t>
            </a:r>
            <a:r>
              <a:rPr lang="en-US" dirty="0"/>
              <a:t> by 1, it will be equal 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F3FF33-41C9-C5BE-0D76-F387F565B59C}"/>
              </a:ext>
            </a:extLst>
          </p:cNvPr>
          <p:cNvSpPr txBox="1"/>
          <p:nvPr/>
        </p:nvSpPr>
        <p:spPr>
          <a:xfrm>
            <a:off x="9843755" y="4886234"/>
            <a:ext cx="1600200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k=6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=2</a:t>
            </a:r>
          </a:p>
          <a:p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8EC984C-196B-CF90-50E3-EB546312ECBB}"/>
              </a:ext>
            </a:extLst>
          </p:cNvPr>
          <p:cNvGraphicFramePr>
            <a:graphicFrameLocks noGrp="1"/>
          </p:cNvGraphicFramePr>
          <p:nvPr/>
        </p:nvGraphicFramePr>
        <p:xfrm>
          <a:off x="5668933" y="1258532"/>
          <a:ext cx="5399316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9886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899886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  <a:gridCol w="899886">
                  <a:extLst>
                    <a:ext uri="{9D8B030D-6E8A-4147-A177-3AD203B41FA5}">
                      <a16:colId xmlns:a16="http://schemas.microsoft.com/office/drawing/2014/main" val="953453542"/>
                    </a:ext>
                  </a:extLst>
                </a:gridCol>
                <a:gridCol w="899886">
                  <a:extLst>
                    <a:ext uri="{9D8B030D-6E8A-4147-A177-3AD203B41FA5}">
                      <a16:colId xmlns:a16="http://schemas.microsoft.com/office/drawing/2014/main" val="2920383398"/>
                    </a:ext>
                  </a:extLst>
                </a:gridCol>
                <a:gridCol w="899886">
                  <a:extLst>
                    <a:ext uri="{9D8B030D-6E8A-4147-A177-3AD203B41FA5}">
                      <a16:colId xmlns:a16="http://schemas.microsoft.com/office/drawing/2014/main" val="214009401"/>
                    </a:ext>
                  </a:extLst>
                </a:gridCol>
                <a:gridCol w="899886">
                  <a:extLst>
                    <a:ext uri="{9D8B030D-6E8A-4147-A177-3AD203B41FA5}">
                      <a16:colId xmlns:a16="http://schemas.microsoft.com/office/drawing/2014/main" val="3757313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2504A37E-E273-1EB1-353D-9C3207B51A1C}"/>
              </a:ext>
            </a:extLst>
          </p:cNvPr>
          <p:cNvSpPr/>
          <p:nvPr/>
        </p:nvSpPr>
        <p:spPr>
          <a:xfrm>
            <a:off x="1045814" y="5107547"/>
            <a:ext cx="1410948" cy="367840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BEAE8F6-05E8-C9B6-1AAB-486071BD1BF6}"/>
              </a:ext>
            </a:extLst>
          </p:cNvPr>
          <p:cNvCxnSpPr>
            <a:cxnSpLocks/>
            <a:endCxn id="10" idx="3"/>
          </p:cNvCxnSpPr>
          <p:nvPr/>
        </p:nvCxnSpPr>
        <p:spPr>
          <a:xfrm flipH="1" flipV="1">
            <a:off x="2456762" y="5291467"/>
            <a:ext cx="716096" cy="110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CBF310C-4681-D29D-E6F5-38A6E0659ADB}"/>
              </a:ext>
            </a:extLst>
          </p:cNvPr>
          <p:cNvCxnSpPr/>
          <p:nvPr/>
        </p:nvCxnSpPr>
        <p:spPr>
          <a:xfrm>
            <a:off x="7916527" y="843034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7172D89-77C4-AD24-870B-56DABFDBCD04}"/>
              </a:ext>
            </a:extLst>
          </p:cNvPr>
          <p:cNvSpPr txBox="1"/>
          <p:nvPr/>
        </p:nvSpPr>
        <p:spPr>
          <a:xfrm>
            <a:off x="7821975" y="473702"/>
            <a:ext cx="42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188359235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400E0-3638-2D33-9DBA-0AF494E71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FF319-C3A0-FFD3-8D91-E16A05736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Sequential Search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279F7B6-3576-7560-CCF1-3691584D7D3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748045" y="2743200"/>
            <a:ext cx="5212080" cy="3456432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FF5A47-5E14-F08C-D572-125A6DFF305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Check if the value of A[i]=A[2]=6 is not equal to k=6; which is false, and that we found the key.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EDE217-4609-C83E-1B8D-98C16FE06497}"/>
              </a:ext>
            </a:extLst>
          </p:cNvPr>
          <p:cNvSpPr txBox="1"/>
          <p:nvPr/>
        </p:nvSpPr>
        <p:spPr>
          <a:xfrm>
            <a:off x="9843755" y="4886234"/>
            <a:ext cx="1600200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k=6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=2</a:t>
            </a:r>
          </a:p>
          <a:p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FE50746-0BEC-8818-5A49-86B0C38507FC}"/>
              </a:ext>
            </a:extLst>
          </p:cNvPr>
          <p:cNvGraphicFramePr>
            <a:graphicFrameLocks noGrp="1"/>
          </p:cNvGraphicFramePr>
          <p:nvPr/>
        </p:nvGraphicFramePr>
        <p:xfrm>
          <a:off x="5668933" y="1258532"/>
          <a:ext cx="5399316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9886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899886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  <a:gridCol w="899886">
                  <a:extLst>
                    <a:ext uri="{9D8B030D-6E8A-4147-A177-3AD203B41FA5}">
                      <a16:colId xmlns:a16="http://schemas.microsoft.com/office/drawing/2014/main" val="953453542"/>
                    </a:ext>
                  </a:extLst>
                </a:gridCol>
                <a:gridCol w="899886">
                  <a:extLst>
                    <a:ext uri="{9D8B030D-6E8A-4147-A177-3AD203B41FA5}">
                      <a16:colId xmlns:a16="http://schemas.microsoft.com/office/drawing/2014/main" val="2920383398"/>
                    </a:ext>
                  </a:extLst>
                </a:gridCol>
                <a:gridCol w="899886">
                  <a:extLst>
                    <a:ext uri="{9D8B030D-6E8A-4147-A177-3AD203B41FA5}">
                      <a16:colId xmlns:a16="http://schemas.microsoft.com/office/drawing/2014/main" val="214009401"/>
                    </a:ext>
                  </a:extLst>
                </a:gridCol>
                <a:gridCol w="899886">
                  <a:extLst>
                    <a:ext uri="{9D8B030D-6E8A-4147-A177-3AD203B41FA5}">
                      <a16:colId xmlns:a16="http://schemas.microsoft.com/office/drawing/2014/main" val="3757313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7A8489C4-D77B-82D4-904F-273B423505A4}"/>
              </a:ext>
            </a:extLst>
          </p:cNvPr>
          <p:cNvSpPr/>
          <p:nvPr/>
        </p:nvSpPr>
        <p:spPr>
          <a:xfrm>
            <a:off x="1034797" y="4821105"/>
            <a:ext cx="1410948" cy="367840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37FCC04-84B2-B0CF-808D-9A75EB6FB600}"/>
              </a:ext>
            </a:extLst>
          </p:cNvPr>
          <p:cNvCxnSpPr>
            <a:cxnSpLocks/>
            <a:endCxn id="10" idx="3"/>
          </p:cNvCxnSpPr>
          <p:nvPr/>
        </p:nvCxnSpPr>
        <p:spPr>
          <a:xfrm flipH="1" flipV="1">
            <a:off x="2445745" y="5005025"/>
            <a:ext cx="716096" cy="110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D4763D40-880A-7B55-E7A7-46D35F114116}"/>
              </a:ext>
            </a:extLst>
          </p:cNvPr>
          <p:cNvCxnSpPr/>
          <p:nvPr/>
        </p:nvCxnSpPr>
        <p:spPr>
          <a:xfrm>
            <a:off x="7927544" y="843034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BE55301-0166-FE12-2B8D-8529F7D57535}"/>
              </a:ext>
            </a:extLst>
          </p:cNvPr>
          <p:cNvSpPr txBox="1"/>
          <p:nvPr/>
        </p:nvSpPr>
        <p:spPr>
          <a:xfrm>
            <a:off x="7832992" y="473702"/>
            <a:ext cx="42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253402978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49FD9-CC32-73EC-5268-306FC036E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E86E4-CA0F-B351-E223-ADC049708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Sequential Search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DF682BF-3C94-B063-2602-FB7562F13E4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748045" y="2743200"/>
            <a:ext cx="5212080" cy="3456432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968BC5-0515-CEDE-498A-A14FF9F42E0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Then we move to the if condition that checks if </a:t>
            </a:r>
            <a:r>
              <a:rPr lang="en-US" dirty="0" err="1"/>
              <a:t>i</a:t>
            </a:r>
            <a:r>
              <a:rPr lang="en-US" dirty="0"/>
              <a:t> is less than n. Since this is true, it returns the index </a:t>
            </a:r>
            <a:r>
              <a:rPr lang="en-US" dirty="0" err="1"/>
              <a:t>i</a:t>
            </a:r>
            <a:r>
              <a:rPr lang="en-US" dirty="0"/>
              <a:t>=2 where the key 6 is found.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FE97F9-B16B-7CFD-311E-CF3C2F2E7D56}"/>
              </a:ext>
            </a:extLst>
          </p:cNvPr>
          <p:cNvSpPr txBox="1"/>
          <p:nvPr/>
        </p:nvSpPr>
        <p:spPr>
          <a:xfrm>
            <a:off x="9843755" y="4886234"/>
            <a:ext cx="1600200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k=6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=2</a:t>
            </a:r>
          </a:p>
          <a:p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B2189D7-E7D2-F255-69CF-AAE3343A0AD1}"/>
              </a:ext>
            </a:extLst>
          </p:cNvPr>
          <p:cNvGraphicFramePr>
            <a:graphicFrameLocks noGrp="1"/>
          </p:cNvGraphicFramePr>
          <p:nvPr/>
        </p:nvGraphicFramePr>
        <p:xfrm>
          <a:off x="5668933" y="1258532"/>
          <a:ext cx="5399316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9886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899886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  <a:gridCol w="899886">
                  <a:extLst>
                    <a:ext uri="{9D8B030D-6E8A-4147-A177-3AD203B41FA5}">
                      <a16:colId xmlns:a16="http://schemas.microsoft.com/office/drawing/2014/main" val="953453542"/>
                    </a:ext>
                  </a:extLst>
                </a:gridCol>
                <a:gridCol w="899886">
                  <a:extLst>
                    <a:ext uri="{9D8B030D-6E8A-4147-A177-3AD203B41FA5}">
                      <a16:colId xmlns:a16="http://schemas.microsoft.com/office/drawing/2014/main" val="2920383398"/>
                    </a:ext>
                  </a:extLst>
                </a:gridCol>
                <a:gridCol w="899886">
                  <a:extLst>
                    <a:ext uri="{9D8B030D-6E8A-4147-A177-3AD203B41FA5}">
                      <a16:colId xmlns:a16="http://schemas.microsoft.com/office/drawing/2014/main" val="214009401"/>
                    </a:ext>
                  </a:extLst>
                </a:gridCol>
                <a:gridCol w="899886">
                  <a:extLst>
                    <a:ext uri="{9D8B030D-6E8A-4147-A177-3AD203B41FA5}">
                      <a16:colId xmlns:a16="http://schemas.microsoft.com/office/drawing/2014/main" val="3757313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F9E8AC28-7AA9-3726-E89A-447554B7FDCE}"/>
              </a:ext>
            </a:extLst>
          </p:cNvPr>
          <p:cNvSpPr/>
          <p:nvPr/>
        </p:nvSpPr>
        <p:spPr>
          <a:xfrm>
            <a:off x="1034797" y="5382971"/>
            <a:ext cx="1410948" cy="367840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6926B06-85D0-8ADE-E442-E31C106C1823}"/>
              </a:ext>
            </a:extLst>
          </p:cNvPr>
          <p:cNvCxnSpPr>
            <a:cxnSpLocks/>
            <a:endCxn id="10" idx="3"/>
          </p:cNvCxnSpPr>
          <p:nvPr/>
        </p:nvCxnSpPr>
        <p:spPr>
          <a:xfrm flipH="1" flipV="1">
            <a:off x="2445745" y="5566891"/>
            <a:ext cx="716096" cy="110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2AAEB14B-0459-84DD-15EC-1D0BDDAB3195}"/>
              </a:ext>
            </a:extLst>
          </p:cNvPr>
          <p:cNvCxnSpPr/>
          <p:nvPr/>
        </p:nvCxnSpPr>
        <p:spPr>
          <a:xfrm>
            <a:off x="7927544" y="843034"/>
            <a:ext cx="0" cy="28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C85B88D-4D9E-553C-EFFA-634D202F93AF}"/>
              </a:ext>
            </a:extLst>
          </p:cNvPr>
          <p:cNvSpPr txBox="1"/>
          <p:nvPr/>
        </p:nvSpPr>
        <p:spPr>
          <a:xfrm>
            <a:off x="7832992" y="473702"/>
            <a:ext cx="42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120927509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391FA-4E54-6FCE-2540-AA78D45FC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Sequential search (time analysis)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3E0DE31C-AD90-8295-FE56-E4BCD5C50D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r>
                  <a:rPr lang="en-US" dirty="0"/>
                  <a:t>Best case : </a:t>
                </a:r>
                <a:r>
                  <a:rPr lang="el-GR" dirty="0"/>
                  <a:t>θ</a:t>
                </a:r>
                <a:r>
                  <a:rPr lang="en-US" dirty="0"/>
                  <a:t>(1)</a:t>
                </a:r>
              </a:p>
              <a:p>
                <a:r>
                  <a:rPr lang="en-US" dirty="0"/>
                  <a:t>Average case:</a:t>
                </a:r>
              </a:p>
              <a:p>
                <a14:m>
                  <m:oMath xmlns:m="http://schemas.openxmlformats.org/officeDocument/2006/math">
                    <m:eqArr>
                      <m:eqArr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eqArr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&amp;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avg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US">
                            <a:latin typeface="Cambria Math" panose="02040503050406030204" pitchFamily="18" charset="0"/>
                          </a:rPr>
                          <m:t>&amp;&amp;=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1⋅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+2⋅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+⋯+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⋅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+⋯+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⋅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d>
                        <m:r>
                          <a:rPr lang="en-US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⋅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</m:e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&amp;&amp;&amp;=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1+2+⋯+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+⋯+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US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</m:e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&amp;&amp;&amp;=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</m:num>
                          <m:den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  <m:r>
                          <a:rPr lang="en-US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</m:num>
                          <m:den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  <m:r>
                          <a:rPr lang="en-US">
                            <a:latin typeface="Cambria Math" panose="02040503050406030204" pitchFamily="18" charset="0"/>
                          </a:rPr>
                          <m:t>.</m:t>
                        </m:r>
                      </m:e>
                    </m:eqArr>
                  </m:oMath>
                </a14:m>
                <a:endParaRPr lang="en-US" dirty="0"/>
              </a:p>
              <a:p>
                <a:r>
                  <a:rPr lang="en-US" dirty="0"/>
                  <a:t>If p=1 (the search must be successful)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/>
                  <a:t>   </a:t>
                </a:r>
                <a:r>
                  <a:rPr lang="el-GR" dirty="0"/>
                  <a:t>θ</a:t>
                </a:r>
                <a:r>
                  <a:rPr lang="en-US" dirty="0"/>
                  <a:t>(n) </a:t>
                </a:r>
              </a:p>
              <a:p>
                <a:r>
                  <a:rPr lang="en-US" dirty="0"/>
                  <a:t>If p=0 (the search must be unsuccessful)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dirty="0"/>
                  <a:t>=  n </a:t>
                </a:r>
                <a:r>
                  <a:rPr lang="el-GR" dirty="0"/>
                  <a:t>θ</a:t>
                </a:r>
                <a:r>
                  <a:rPr lang="en-US" dirty="0"/>
                  <a:t>(n)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3E0DE31C-AD90-8295-FE56-E4BCD5C50D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8" t="-5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05830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4A634-F95B-E8CD-D961-2846DC4C8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8" y="1240973"/>
            <a:ext cx="5455920" cy="1097280"/>
          </a:xfrm>
        </p:spPr>
        <p:txBody>
          <a:bodyPr>
            <a:normAutofit fontScale="90000"/>
          </a:bodyPr>
          <a:lstStyle/>
          <a:p>
            <a:r>
              <a:rPr lang="en-US" dirty="0"/>
              <a:t>Brute Force String Match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016B787-487D-D49E-EE16-E10BDEA0BDC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40078" y="2633472"/>
            <a:ext cx="5455921" cy="3566159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FE90F-E4FF-0FE8-DFC9-6A94FFD2D49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T= ‘better’ and p=‘er’</a:t>
            </a:r>
          </a:p>
          <a:p>
            <a:r>
              <a:rPr lang="en-US" dirty="0"/>
              <a:t>Where n is the length of Text equal 6</a:t>
            </a:r>
          </a:p>
          <a:p>
            <a:r>
              <a:rPr lang="en-US" dirty="0"/>
              <a:t>m is the length of the pattern, equal 2</a:t>
            </a:r>
          </a:p>
          <a:p>
            <a:r>
              <a:rPr lang="en-US" dirty="0"/>
              <a:t>The outer loop starts from </a:t>
            </a:r>
            <a:r>
              <a:rPr lang="en-US" dirty="0" err="1"/>
              <a:t>i</a:t>
            </a:r>
            <a:r>
              <a:rPr lang="en-US" dirty="0"/>
              <a:t>=0 till n-m which is 6-2=4 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01BA38B-9E94-5939-E1E9-7A078BBAA8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4575160"/>
              </p:ext>
            </p:extLst>
          </p:nvPr>
        </p:nvGraphicFramePr>
        <p:xfrm>
          <a:off x="8357705" y="1138791"/>
          <a:ext cx="3599544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9924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953453542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2920383398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214009401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3757313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8E1E02DA-0F02-8E98-F453-D6272BDF01F4}"/>
              </a:ext>
            </a:extLst>
          </p:cNvPr>
          <p:cNvSpPr/>
          <p:nvPr/>
        </p:nvSpPr>
        <p:spPr>
          <a:xfrm>
            <a:off x="925940" y="4457683"/>
            <a:ext cx="1828146" cy="332031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100BC93-64AC-7C8B-9FF6-F8E8DF7C326F}"/>
              </a:ext>
            </a:extLst>
          </p:cNvPr>
          <p:cNvCxnSpPr>
            <a:cxnSpLocks/>
            <a:endCxn id="8" idx="3"/>
          </p:cNvCxnSpPr>
          <p:nvPr/>
        </p:nvCxnSpPr>
        <p:spPr>
          <a:xfrm flipH="1">
            <a:off x="2754086" y="4623699"/>
            <a:ext cx="28586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5AFFDC0-E8A8-2FC6-A580-89C37C210997}"/>
              </a:ext>
            </a:extLst>
          </p:cNvPr>
          <p:cNvSpPr txBox="1"/>
          <p:nvPr/>
        </p:nvSpPr>
        <p:spPr>
          <a:xfrm>
            <a:off x="9843755" y="4886234"/>
            <a:ext cx="1600200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m=2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n=6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=0</a:t>
            </a:r>
          </a:p>
          <a:p>
            <a:endParaRPr lang="en-US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072CC791-74A0-BC7C-B6D8-18D838B43C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3245421"/>
              </p:ext>
            </p:extLst>
          </p:nvPr>
        </p:nvGraphicFramePr>
        <p:xfrm>
          <a:off x="6626927" y="1149532"/>
          <a:ext cx="1199848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9924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747607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FE486-840A-9C38-46E3-E3B699718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01405-2A1F-0A01-A5C2-413E4EBE8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734" y="1135525"/>
            <a:ext cx="5455920" cy="1097280"/>
          </a:xfrm>
        </p:spPr>
        <p:txBody>
          <a:bodyPr>
            <a:normAutofit fontScale="90000"/>
          </a:bodyPr>
          <a:lstStyle/>
          <a:p>
            <a:r>
              <a:rPr lang="en-US" dirty="0"/>
              <a:t>Brute Force String Match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BDBDD92-A476-04C3-589A-0C07F32D874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40078" y="2633472"/>
            <a:ext cx="5455921" cy="3566159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D46DAC-1631-FB7A-D6E2-2EFCD86839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3526970"/>
            <a:ext cx="5212080" cy="2672661"/>
          </a:xfrm>
        </p:spPr>
        <p:txBody>
          <a:bodyPr/>
          <a:lstStyle/>
          <a:p>
            <a:r>
              <a:rPr lang="en-US" dirty="0"/>
              <a:t>The j is equal to 0.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D64B1A-8630-D846-1CBC-24EF3F4ABB06}"/>
              </a:ext>
            </a:extLst>
          </p:cNvPr>
          <p:cNvSpPr/>
          <p:nvPr/>
        </p:nvSpPr>
        <p:spPr>
          <a:xfrm>
            <a:off x="925940" y="4708053"/>
            <a:ext cx="1828146" cy="332031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39BC631-EA05-9ED6-B92B-73B3AAE5BC30}"/>
              </a:ext>
            </a:extLst>
          </p:cNvPr>
          <p:cNvCxnSpPr>
            <a:cxnSpLocks/>
            <a:endCxn id="8" idx="3"/>
          </p:cNvCxnSpPr>
          <p:nvPr/>
        </p:nvCxnSpPr>
        <p:spPr>
          <a:xfrm flipH="1">
            <a:off x="2754086" y="4874069"/>
            <a:ext cx="28586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66D5EBD-C13B-0E35-BD85-D4EDCAF6987B}"/>
              </a:ext>
            </a:extLst>
          </p:cNvPr>
          <p:cNvSpPr txBox="1"/>
          <p:nvPr/>
        </p:nvSpPr>
        <p:spPr>
          <a:xfrm>
            <a:off x="9843755" y="4886234"/>
            <a:ext cx="1600200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m=2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n=6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j=0</a:t>
            </a:r>
          </a:p>
          <a:p>
            <a:endParaRPr lang="en-US"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6C9118AD-B217-39E1-DAB8-6A84EFD48E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8047836"/>
              </p:ext>
            </p:extLst>
          </p:nvPr>
        </p:nvGraphicFramePr>
        <p:xfrm>
          <a:off x="8357705" y="1138791"/>
          <a:ext cx="3599544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9924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953453542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2920383398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214009401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3757313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37442CD6-C01F-144A-ADFC-C00DC9B2B6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6550716"/>
              </p:ext>
            </p:extLst>
          </p:nvPr>
        </p:nvGraphicFramePr>
        <p:xfrm>
          <a:off x="6626927" y="1149532"/>
          <a:ext cx="1199848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9924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006805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FB59B-3F1A-2335-2A16-AB25106AD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7BC6E-72D1-5883-9C4C-07835A22E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8" y="1240973"/>
            <a:ext cx="5455920" cy="1097280"/>
          </a:xfrm>
        </p:spPr>
        <p:txBody>
          <a:bodyPr>
            <a:normAutofit fontScale="90000"/>
          </a:bodyPr>
          <a:lstStyle/>
          <a:p>
            <a:r>
              <a:rPr lang="en-US" dirty="0"/>
              <a:t>Brute Force String Match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6E86CD9-5FD1-24BA-3585-02448BD918C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40078" y="2633472"/>
            <a:ext cx="5455921" cy="3566159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66E5A2-8F1F-1ABC-1F4A-E0ABD5C1A81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Check the condition for the while loop first, j&lt;m  0 &lt; 2. which is true for the second part P[</a:t>
            </a:r>
            <a:r>
              <a:rPr lang="en-US" dirty="0" err="1"/>
              <a:t>i</a:t>
            </a:r>
            <a:r>
              <a:rPr lang="en-US" dirty="0"/>
              <a:t>]=T[</a:t>
            </a:r>
            <a:r>
              <a:rPr lang="en-US" dirty="0" err="1"/>
              <a:t>i+j</a:t>
            </a:r>
            <a:r>
              <a:rPr lang="en-US" dirty="0"/>
              <a:t>] p[0]=T[0+0] or ‘b’=‘e’ which is false.</a:t>
            </a:r>
          </a:p>
          <a:p>
            <a:r>
              <a:rPr lang="en-US" dirty="0"/>
              <a:t>We skip the while loop 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101D08B-A0D5-6A91-A0A6-B904386554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1011572"/>
              </p:ext>
            </p:extLst>
          </p:nvPr>
        </p:nvGraphicFramePr>
        <p:xfrm>
          <a:off x="7650133" y="504373"/>
          <a:ext cx="3599544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9924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953453542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2920383398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214009401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3757313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51C9EC4D-869E-BB09-0A46-8E0B90E12A6D}"/>
              </a:ext>
            </a:extLst>
          </p:cNvPr>
          <p:cNvSpPr/>
          <p:nvPr/>
        </p:nvSpPr>
        <p:spPr>
          <a:xfrm>
            <a:off x="1241629" y="5012853"/>
            <a:ext cx="2851400" cy="321147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04D39E2-5F0B-76A9-7C65-255D7153135E}"/>
              </a:ext>
            </a:extLst>
          </p:cNvPr>
          <p:cNvCxnSpPr>
            <a:cxnSpLocks/>
            <a:endCxn id="8" idx="3"/>
          </p:cNvCxnSpPr>
          <p:nvPr/>
        </p:nvCxnSpPr>
        <p:spPr>
          <a:xfrm flipH="1">
            <a:off x="4093029" y="5173427"/>
            <a:ext cx="8490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4639A0D-CE2D-BEC7-FD7C-28DBA9CA4407}"/>
              </a:ext>
            </a:extLst>
          </p:cNvPr>
          <p:cNvSpPr txBox="1"/>
          <p:nvPr/>
        </p:nvSpPr>
        <p:spPr>
          <a:xfrm>
            <a:off x="9843755" y="4886234"/>
            <a:ext cx="1600200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j=0</a:t>
            </a:r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65D83F-8872-726B-F92F-2E0882FF56CA}"/>
              </a:ext>
            </a:extLst>
          </p:cNvPr>
          <p:cNvSpPr txBox="1"/>
          <p:nvPr/>
        </p:nvSpPr>
        <p:spPr>
          <a:xfrm>
            <a:off x="9843755" y="4886234"/>
            <a:ext cx="1600200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m=2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n=6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j=0</a:t>
            </a:r>
          </a:p>
          <a:p>
            <a:endParaRPr lang="en-US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8FE3D77-47F1-FC12-7E9D-4D1AD8F8D7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207837"/>
              </p:ext>
            </p:extLst>
          </p:nvPr>
        </p:nvGraphicFramePr>
        <p:xfrm>
          <a:off x="7650133" y="1824244"/>
          <a:ext cx="1199848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9924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6BD85DF-DAB8-8BCD-4421-54E86F9C44C4}"/>
              </a:ext>
            </a:extLst>
          </p:cNvPr>
          <p:cNvCxnSpPr>
            <a:cxnSpLocks/>
            <a:stCxn id="14" idx="2"/>
          </p:cNvCxnSpPr>
          <p:nvPr/>
        </p:nvCxnSpPr>
        <p:spPr>
          <a:xfrm>
            <a:off x="7964110" y="1717274"/>
            <a:ext cx="0" cy="1618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B55F35B-B370-AF8A-C032-73454CC8078B}"/>
              </a:ext>
            </a:extLst>
          </p:cNvPr>
          <p:cNvSpPr txBox="1"/>
          <p:nvPr/>
        </p:nvSpPr>
        <p:spPr>
          <a:xfrm>
            <a:off x="7749284" y="1347942"/>
            <a:ext cx="42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j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25392B9-4F6A-C03D-96FD-CE63546D7277}"/>
              </a:ext>
            </a:extLst>
          </p:cNvPr>
          <p:cNvCxnSpPr>
            <a:cxnSpLocks/>
            <a:stCxn id="19" idx="2"/>
          </p:cNvCxnSpPr>
          <p:nvPr/>
        </p:nvCxnSpPr>
        <p:spPr>
          <a:xfrm>
            <a:off x="7964110" y="431745"/>
            <a:ext cx="0" cy="1618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63914BA-C5E4-09C6-1513-BE7CB28912B1}"/>
              </a:ext>
            </a:extLst>
          </p:cNvPr>
          <p:cNvSpPr txBox="1"/>
          <p:nvPr/>
        </p:nvSpPr>
        <p:spPr>
          <a:xfrm>
            <a:off x="7749284" y="62413"/>
            <a:ext cx="42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i+j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420689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F7F69-4890-BFD5-46B5-865D5BB31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09560-1D28-8983-9DAD-CD60D208B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8" y="1240973"/>
            <a:ext cx="5455920" cy="1097280"/>
          </a:xfrm>
        </p:spPr>
        <p:txBody>
          <a:bodyPr>
            <a:normAutofit fontScale="90000"/>
          </a:bodyPr>
          <a:lstStyle/>
          <a:p>
            <a:r>
              <a:rPr lang="en-US" dirty="0"/>
              <a:t>Brute Force String Match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9DFF5B0-2539-A670-CB3A-2B116E189CA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40078" y="2633472"/>
            <a:ext cx="5455921" cy="3566159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0738CC-33C0-D71C-0C64-AF3EF5C5123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Check if condition j=m or 0=2 which is false</a:t>
            </a:r>
          </a:p>
          <a:p>
            <a:r>
              <a:rPr lang="en-US" dirty="0"/>
              <a:t>We go to outer for loop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2F0418E-B27F-EB1C-DB15-2811C266EDC0}"/>
              </a:ext>
            </a:extLst>
          </p:cNvPr>
          <p:cNvSpPr/>
          <p:nvPr/>
        </p:nvSpPr>
        <p:spPr>
          <a:xfrm>
            <a:off x="1241629" y="5568027"/>
            <a:ext cx="1458028" cy="310259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F4456EE-8D8F-4C4B-7314-ABCDAB0DE058}"/>
              </a:ext>
            </a:extLst>
          </p:cNvPr>
          <p:cNvCxnSpPr>
            <a:cxnSpLocks/>
            <a:endCxn id="8" idx="3"/>
          </p:cNvCxnSpPr>
          <p:nvPr/>
        </p:nvCxnSpPr>
        <p:spPr>
          <a:xfrm flipH="1" flipV="1">
            <a:off x="2699657" y="5723157"/>
            <a:ext cx="2242457" cy="54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0DA75DC-2F2F-6674-1146-EA567245A998}"/>
              </a:ext>
            </a:extLst>
          </p:cNvPr>
          <p:cNvSpPr txBox="1"/>
          <p:nvPr/>
        </p:nvSpPr>
        <p:spPr>
          <a:xfrm>
            <a:off x="9843755" y="4886234"/>
            <a:ext cx="1600200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j=0</a:t>
            </a:r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F63A68-8388-B80F-A820-B3BDD18D650C}"/>
              </a:ext>
            </a:extLst>
          </p:cNvPr>
          <p:cNvSpPr txBox="1"/>
          <p:nvPr/>
        </p:nvSpPr>
        <p:spPr>
          <a:xfrm>
            <a:off x="9843755" y="4886234"/>
            <a:ext cx="1600200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m=2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n=6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j=0</a:t>
            </a:r>
          </a:p>
          <a:p>
            <a:endParaRPr lang="en-US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FE546C9E-98CB-9350-EC5C-4A31D3C735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8609190"/>
              </p:ext>
            </p:extLst>
          </p:nvPr>
        </p:nvGraphicFramePr>
        <p:xfrm>
          <a:off x="7650133" y="504373"/>
          <a:ext cx="3599544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9924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953453542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2920383398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214009401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3757313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01967760-E7AE-D52B-31B5-7952A18D55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7142756"/>
              </p:ext>
            </p:extLst>
          </p:nvPr>
        </p:nvGraphicFramePr>
        <p:xfrm>
          <a:off x="7650133" y="1824244"/>
          <a:ext cx="1199848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9924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D80BE6C-C93C-269F-F2F3-3F7759A96983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7964110" y="1717274"/>
            <a:ext cx="0" cy="1618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9F2FAE2-6186-9678-6136-4962D4DA2110}"/>
              </a:ext>
            </a:extLst>
          </p:cNvPr>
          <p:cNvSpPr txBox="1"/>
          <p:nvPr/>
        </p:nvSpPr>
        <p:spPr>
          <a:xfrm>
            <a:off x="7749284" y="1347942"/>
            <a:ext cx="42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j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6655E1A-0951-CFBB-F35C-E048E25471C1}"/>
              </a:ext>
            </a:extLst>
          </p:cNvPr>
          <p:cNvCxnSpPr>
            <a:cxnSpLocks/>
            <a:stCxn id="18" idx="2"/>
          </p:cNvCxnSpPr>
          <p:nvPr/>
        </p:nvCxnSpPr>
        <p:spPr>
          <a:xfrm>
            <a:off x="7964110" y="431745"/>
            <a:ext cx="0" cy="1618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F50B2C53-A61F-C779-89EB-18AAFD5581CF}"/>
              </a:ext>
            </a:extLst>
          </p:cNvPr>
          <p:cNvSpPr txBox="1"/>
          <p:nvPr/>
        </p:nvSpPr>
        <p:spPr>
          <a:xfrm>
            <a:off x="7749284" y="62413"/>
            <a:ext cx="42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i+j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328640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05425-0DD4-5022-1C74-D6B77EF56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EF4F4-36ED-C39F-50E9-6A3073B6B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8" y="1240973"/>
            <a:ext cx="5455920" cy="1097280"/>
          </a:xfrm>
        </p:spPr>
        <p:txBody>
          <a:bodyPr>
            <a:normAutofit fontScale="90000"/>
          </a:bodyPr>
          <a:lstStyle/>
          <a:p>
            <a:r>
              <a:rPr lang="en-US" dirty="0"/>
              <a:t>Brute Force String Match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DCB2220-D951-DE28-F6C4-E00E89C6C83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40078" y="2633472"/>
            <a:ext cx="5455921" cy="3566159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5C74E7-29A5-819D-AE76-E1A76ABB1E1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Increment the value of </a:t>
            </a:r>
            <a:r>
              <a:rPr lang="en-US" dirty="0" err="1"/>
              <a:t>i</a:t>
            </a:r>
            <a:r>
              <a:rPr lang="en-US" dirty="0"/>
              <a:t> by 1 till n-m, which is 6-2=4 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725016-EAA6-F5D4-68B4-545966E13F70}"/>
              </a:ext>
            </a:extLst>
          </p:cNvPr>
          <p:cNvSpPr/>
          <p:nvPr/>
        </p:nvSpPr>
        <p:spPr>
          <a:xfrm>
            <a:off x="925940" y="4457683"/>
            <a:ext cx="1828146" cy="332031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EE7330D-034F-E63A-F7E7-0429AB9731CB}"/>
              </a:ext>
            </a:extLst>
          </p:cNvPr>
          <p:cNvCxnSpPr>
            <a:cxnSpLocks/>
            <a:endCxn id="8" idx="3"/>
          </p:cNvCxnSpPr>
          <p:nvPr/>
        </p:nvCxnSpPr>
        <p:spPr>
          <a:xfrm flipH="1">
            <a:off x="2754086" y="4623699"/>
            <a:ext cx="28586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87DB3B1-4279-6C05-B605-B8F470E0CFB4}"/>
              </a:ext>
            </a:extLst>
          </p:cNvPr>
          <p:cNvSpPr txBox="1"/>
          <p:nvPr/>
        </p:nvSpPr>
        <p:spPr>
          <a:xfrm>
            <a:off x="9843755" y="4886234"/>
            <a:ext cx="1600200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m=2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n=6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j=0</a:t>
            </a:r>
          </a:p>
          <a:p>
            <a:endParaRPr lang="en-US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A79AF50-494D-9CE8-EE1B-66DF939BA5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8609190"/>
              </p:ext>
            </p:extLst>
          </p:nvPr>
        </p:nvGraphicFramePr>
        <p:xfrm>
          <a:off x="7650133" y="504373"/>
          <a:ext cx="3599544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9924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953453542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2920383398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214009401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3757313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821461C-DD0B-B497-7BDC-9F80788B0A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6078000"/>
              </p:ext>
            </p:extLst>
          </p:nvPr>
        </p:nvGraphicFramePr>
        <p:xfrm>
          <a:off x="8256061" y="1824244"/>
          <a:ext cx="1199848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9924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97CA4A7-A3D0-2D18-ABA8-5B70C60E3325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8570038" y="1717274"/>
            <a:ext cx="0" cy="1618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E4B1A34-EAEA-2AED-0F4E-AE024C368F83}"/>
              </a:ext>
            </a:extLst>
          </p:cNvPr>
          <p:cNvSpPr txBox="1"/>
          <p:nvPr/>
        </p:nvSpPr>
        <p:spPr>
          <a:xfrm>
            <a:off x="8355212" y="1347942"/>
            <a:ext cx="42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j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260547E-CF5D-B3D2-41AB-80CE95F27D65}"/>
              </a:ext>
            </a:extLst>
          </p:cNvPr>
          <p:cNvCxnSpPr>
            <a:cxnSpLocks/>
            <a:stCxn id="17" idx="2"/>
          </p:cNvCxnSpPr>
          <p:nvPr/>
        </p:nvCxnSpPr>
        <p:spPr>
          <a:xfrm>
            <a:off x="8548004" y="431745"/>
            <a:ext cx="0" cy="1618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AC67D1B-1468-32B9-4D2E-032D842B4F42}"/>
              </a:ext>
            </a:extLst>
          </p:cNvPr>
          <p:cNvSpPr txBox="1"/>
          <p:nvPr/>
        </p:nvSpPr>
        <p:spPr>
          <a:xfrm>
            <a:off x="8333178" y="62413"/>
            <a:ext cx="42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822330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BE128-7777-BA55-56CF-F63F16E35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4F392-49AF-B388-0389-E170C43A2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8" y="1240973"/>
            <a:ext cx="5455920" cy="1097280"/>
          </a:xfrm>
        </p:spPr>
        <p:txBody>
          <a:bodyPr>
            <a:normAutofit fontScale="90000"/>
          </a:bodyPr>
          <a:lstStyle/>
          <a:p>
            <a:r>
              <a:rPr lang="en-US" dirty="0"/>
              <a:t>Brute Force String Match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CC995D8-3762-F8F6-6BCB-E1164E354BA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40078" y="2633472"/>
            <a:ext cx="5455921" cy="3566159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3A77B6-4F16-D10B-C6CE-670A5E014D1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The j is equal to 0.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116F43-1B0B-D291-E31A-8F8254235D26}"/>
              </a:ext>
            </a:extLst>
          </p:cNvPr>
          <p:cNvSpPr/>
          <p:nvPr/>
        </p:nvSpPr>
        <p:spPr>
          <a:xfrm>
            <a:off x="925940" y="4708053"/>
            <a:ext cx="1828146" cy="332031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43987CC-79EC-691F-C1A8-6485AF848006}"/>
              </a:ext>
            </a:extLst>
          </p:cNvPr>
          <p:cNvCxnSpPr>
            <a:cxnSpLocks/>
            <a:endCxn id="8" idx="3"/>
          </p:cNvCxnSpPr>
          <p:nvPr/>
        </p:nvCxnSpPr>
        <p:spPr>
          <a:xfrm flipH="1">
            <a:off x="2754086" y="4874069"/>
            <a:ext cx="28586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067E0F6-F560-A05B-F16B-40633AC5AFC7}"/>
              </a:ext>
            </a:extLst>
          </p:cNvPr>
          <p:cNvSpPr txBox="1"/>
          <p:nvPr/>
        </p:nvSpPr>
        <p:spPr>
          <a:xfrm>
            <a:off x="9843755" y="4886234"/>
            <a:ext cx="1600200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m=2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n=6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j=0</a:t>
            </a:r>
          </a:p>
          <a:p>
            <a:endParaRPr lang="en-US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DCE7698-2137-0B7F-A847-49DC3D7E09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7134080"/>
              </p:ext>
            </p:extLst>
          </p:nvPr>
        </p:nvGraphicFramePr>
        <p:xfrm>
          <a:off x="7650133" y="504373"/>
          <a:ext cx="3599544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9924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953453542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2920383398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214009401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3757313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70942B55-2A40-5C5A-981F-6DFB55F8AB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6682190"/>
              </p:ext>
            </p:extLst>
          </p:nvPr>
        </p:nvGraphicFramePr>
        <p:xfrm>
          <a:off x="8256061" y="1824244"/>
          <a:ext cx="1199848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9924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71E1EF3-DC4F-8FCE-3476-F214B625D922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8570038" y="1717274"/>
            <a:ext cx="0" cy="1618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9E6BDD3F-860E-CD69-43F7-BA2B04084068}"/>
              </a:ext>
            </a:extLst>
          </p:cNvPr>
          <p:cNvSpPr txBox="1"/>
          <p:nvPr/>
        </p:nvSpPr>
        <p:spPr>
          <a:xfrm>
            <a:off x="8355212" y="1347942"/>
            <a:ext cx="42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j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0E636F7-E765-3006-9EEE-C2220B257497}"/>
              </a:ext>
            </a:extLst>
          </p:cNvPr>
          <p:cNvCxnSpPr>
            <a:cxnSpLocks/>
            <a:stCxn id="17" idx="2"/>
          </p:cNvCxnSpPr>
          <p:nvPr/>
        </p:nvCxnSpPr>
        <p:spPr>
          <a:xfrm>
            <a:off x="8548004" y="431745"/>
            <a:ext cx="0" cy="1618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EC61642-0B73-EAA7-ECFB-91E4A54D7D54}"/>
              </a:ext>
            </a:extLst>
          </p:cNvPr>
          <p:cNvSpPr txBox="1"/>
          <p:nvPr/>
        </p:nvSpPr>
        <p:spPr>
          <a:xfrm>
            <a:off x="8333178" y="62413"/>
            <a:ext cx="42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724059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8D559-2566-ED2F-FC7D-6BEEEBEEA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D5820-B815-07C2-7778-4ED3CBAB1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8" y="1240973"/>
            <a:ext cx="5455920" cy="1097280"/>
          </a:xfrm>
        </p:spPr>
        <p:txBody>
          <a:bodyPr>
            <a:normAutofit fontScale="90000"/>
          </a:bodyPr>
          <a:lstStyle/>
          <a:p>
            <a:r>
              <a:rPr lang="en-US" dirty="0"/>
              <a:t>Brute Force String Match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E444F8C-BBCA-C694-5207-041C085B86D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40078" y="2633472"/>
            <a:ext cx="5455921" cy="3566159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1BA3DC-253F-D47E-7574-AE0614D0A4B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Check the condition for the while loop first, j&lt;m  0 &lt; 2. which is true for the second part P[</a:t>
            </a:r>
            <a:r>
              <a:rPr lang="en-US" dirty="0" err="1"/>
              <a:t>i</a:t>
            </a:r>
            <a:r>
              <a:rPr lang="en-US" dirty="0"/>
              <a:t>]=T[</a:t>
            </a:r>
            <a:r>
              <a:rPr lang="en-US" dirty="0" err="1"/>
              <a:t>i+j</a:t>
            </a:r>
            <a:r>
              <a:rPr lang="en-US" dirty="0"/>
              <a:t>] p[0]=T[i+0] or ‘e’=‘e’ which is true.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AE79A8-8E9D-47A2-4D2A-DE0109BBCD16}"/>
              </a:ext>
            </a:extLst>
          </p:cNvPr>
          <p:cNvSpPr/>
          <p:nvPr/>
        </p:nvSpPr>
        <p:spPr>
          <a:xfrm>
            <a:off x="1241629" y="5012853"/>
            <a:ext cx="2851400" cy="321147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768ABB1-3127-1883-4FDF-2152D95CDEDF}"/>
              </a:ext>
            </a:extLst>
          </p:cNvPr>
          <p:cNvCxnSpPr>
            <a:cxnSpLocks/>
            <a:endCxn id="8" idx="3"/>
          </p:cNvCxnSpPr>
          <p:nvPr/>
        </p:nvCxnSpPr>
        <p:spPr>
          <a:xfrm flipH="1">
            <a:off x="4093029" y="5173427"/>
            <a:ext cx="8490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31E0663-A637-09D3-B359-3C6A8E0A7D3C}"/>
              </a:ext>
            </a:extLst>
          </p:cNvPr>
          <p:cNvSpPr txBox="1"/>
          <p:nvPr/>
        </p:nvSpPr>
        <p:spPr>
          <a:xfrm>
            <a:off x="9843755" y="4886234"/>
            <a:ext cx="1600200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j=0</a:t>
            </a:r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924029-914C-3E8A-0C2E-B3466616D1AB}"/>
              </a:ext>
            </a:extLst>
          </p:cNvPr>
          <p:cNvSpPr txBox="1"/>
          <p:nvPr/>
        </p:nvSpPr>
        <p:spPr>
          <a:xfrm>
            <a:off x="9843755" y="4886234"/>
            <a:ext cx="1600200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m=2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n=6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j=0</a:t>
            </a:r>
          </a:p>
          <a:p>
            <a:endParaRPr lang="en-US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B7296E82-67F3-7B42-7811-1A1BF1851E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7314805"/>
              </p:ext>
            </p:extLst>
          </p:nvPr>
        </p:nvGraphicFramePr>
        <p:xfrm>
          <a:off x="7650133" y="504373"/>
          <a:ext cx="3599544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9924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953453542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2920383398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214009401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3757313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931E13C6-35D3-20E4-30C1-7E594DDDDE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3122619"/>
              </p:ext>
            </p:extLst>
          </p:nvPr>
        </p:nvGraphicFramePr>
        <p:xfrm>
          <a:off x="8256061" y="1824244"/>
          <a:ext cx="1199848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9924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B3EA576-8264-9438-D94E-A927D2B6ACF8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8570038" y="1717274"/>
            <a:ext cx="0" cy="1618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7615FA7-7361-91B3-9975-754D339E3F82}"/>
              </a:ext>
            </a:extLst>
          </p:cNvPr>
          <p:cNvSpPr txBox="1"/>
          <p:nvPr/>
        </p:nvSpPr>
        <p:spPr>
          <a:xfrm>
            <a:off x="8355212" y="1347942"/>
            <a:ext cx="42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j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98B46D9-D89C-73D9-4C4F-4908BBB3A2BA}"/>
              </a:ext>
            </a:extLst>
          </p:cNvPr>
          <p:cNvCxnSpPr>
            <a:cxnSpLocks/>
            <a:stCxn id="18" idx="2"/>
          </p:cNvCxnSpPr>
          <p:nvPr/>
        </p:nvCxnSpPr>
        <p:spPr>
          <a:xfrm>
            <a:off x="8548004" y="431745"/>
            <a:ext cx="0" cy="1618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8A9AE67-A8D9-DEB6-E8F1-7A4DF25849EB}"/>
              </a:ext>
            </a:extLst>
          </p:cNvPr>
          <p:cNvSpPr txBox="1"/>
          <p:nvPr/>
        </p:nvSpPr>
        <p:spPr>
          <a:xfrm>
            <a:off x="8333178" y="62413"/>
            <a:ext cx="42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i+j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594294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CADC5-2C08-7CB0-7E9B-CADBD4634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8B40B-E79C-E09B-30E5-CA871E52B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8" y="1240973"/>
            <a:ext cx="5455920" cy="1097280"/>
          </a:xfrm>
        </p:spPr>
        <p:txBody>
          <a:bodyPr>
            <a:normAutofit fontScale="90000"/>
          </a:bodyPr>
          <a:lstStyle/>
          <a:p>
            <a:r>
              <a:rPr lang="en-US" dirty="0"/>
              <a:t>Brute Force String Match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04D7BF0-C0B4-DE10-F7FB-D91BD71F977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40078" y="2633472"/>
            <a:ext cx="5455921" cy="3566159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91785A-97E3-EA6B-D181-76AFA079935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Increment the j value by 1 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63B1CF-3B1D-54F2-7B39-4EFEB3BC3A3E}"/>
              </a:ext>
            </a:extLst>
          </p:cNvPr>
          <p:cNvSpPr/>
          <p:nvPr/>
        </p:nvSpPr>
        <p:spPr>
          <a:xfrm>
            <a:off x="1241629" y="5284996"/>
            <a:ext cx="2851400" cy="321147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FBE9BFC-AA3E-6915-0CC0-98DE8F6D6401}"/>
              </a:ext>
            </a:extLst>
          </p:cNvPr>
          <p:cNvCxnSpPr>
            <a:cxnSpLocks/>
            <a:endCxn id="8" idx="3"/>
          </p:cNvCxnSpPr>
          <p:nvPr/>
        </p:nvCxnSpPr>
        <p:spPr>
          <a:xfrm flipH="1">
            <a:off x="4093029" y="5445570"/>
            <a:ext cx="8490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818E2E7-5839-B88E-71D9-2B5CA04FDE01}"/>
              </a:ext>
            </a:extLst>
          </p:cNvPr>
          <p:cNvSpPr txBox="1"/>
          <p:nvPr/>
        </p:nvSpPr>
        <p:spPr>
          <a:xfrm>
            <a:off x="9843755" y="4886234"/>
            <a:ext cx="1600200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j=0</a:t>
            </a:r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F3B53F-33F6-7D67-C30E-C29B0C59A346}"/>
              </a:ext>
            </a:extLst>
          </p:cNvPr>
          <p:cNvSpPr txBox="1"/>
          <p:nvPr/>
        </p:nvSpPr>
        <p:spPr>
          <a:xfrm>
            <a:off x="9843755" y="4886234"/>
            <a:ext cx="1600200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m=2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n=6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j=1</a:t>
            </a:r>
          </a:p>
          <a:p>
            <a:endParaRPr lang="en-US"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632F4F9C-C034-7BDD-12D8-EE8A606FB7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3974264"/>
              </p:ext>
            </p:extLst>
          </p:nvPr>
        </p:nvGraphicFramePr>
        <p:xfrm>
          <a:off x="7650133" y="504373"/>
          <a:ext cx="3599544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9924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953453542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2920383398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214009401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3757313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81D91540-8195-21B6-D70B-8DDD45D6EE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3253754"/>
              </p:ext>
            </p:extLst>
          </p:nvPr>
        </p:nvGraphicFramePr>
        <p:xfrm>
          <a:off x="8256061" y="1824244"/>
          <a:ext cx="1199848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9924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EBBD4AC-1441-E4B2-1F00-0C68C63DD0EC}"/>
              </a:ext>
            </a:extLst>
          </p:cNvPr>
          <p:cNvCxnSpPr>
            <a:cxnSpLocks/>
            <a:stCxn id="18" idx="2"/>
          </p:cNvCxnSpPr>
          <p:nvPr/>
        </p:nvCxnSpPr>
        <p:spPr>
          <a:xfrm>
            <a:off x="9131897" y="1717274"/>
            <a:ext cx="0" cy="1618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9BF7F74-ED6A-701B-6E26-E3FAA54F88DA}"/>
              </a:ext>
            </a:extLst>
          </p:cNvPr>
          <p:cNvSpPr txBox="1"/>
          <p:nvPr/>
        </p:nvSpPr>
        <p:spPr>
          <a:xfrm>
            <a:off x="8917071" y="1347942"/>
            <a:ext cx="42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j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0BE25B5-EC8B-8866-7896-0415FE93E299}"/>
              </a:ext>
            </a:extLst>
          </p:cNvPr>
          <p:cNvCxnSpPr>
            <a:cxnSpLocks/>
            <a:stCxn id="20" idx="2"/>
          </p:cNvCxnSpPr>
          <p:nvPr/>
        </p:nvCxnSpPr>
        <p:spPr>
          <a:xfrm>
            <a:off x="8548004" y="431745"/>
            <a:ext cx="0" cy="1618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420B078-A5A9-5591-589A-378F3D471F1C}"/>
              </a:ext>
            </a:extLst>
          </p:cNvPr>
          <p:cNvSpPr txBox="1"/>
          <p:nvPr/>
        </p:nvSpPr>
        <p:spPr>
          <a:xfrm>
            <a:off x="8333178" y="62413"/>
            <a:ext cx="42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20794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626CB-225D-1A90-C73B-9E86EEFAC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74ACB-E20D-30E1-1A47-F3C6E3ABD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8" y="1240973"/>
            <a:ext cx="5455920" cy="1097280"/>
          </a:xfrm>
        </p:spPr>
        <p:txBody>
          <a:bodyPr>
            <a:normAutofit fontScale="90000"/>
          </a:bodyPr>
          <a:lstStyle/>
          <a:p>
            <a:r>
              <a:rPr lang="en-US" dirty="0"/>
              <a:t>Brute Force String Match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00F5D03-E70F-4A6D-2B3B-8BD87B0278C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40078" y="2633472"/>
            <a:ext cx="5455921" cy="3566159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A9F18D-930B-0A0E-5BF5-0901AC7082F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Check the condition for the while loop first, j&lt;m  0 &lt; 2. which is true for the second part P[</a:t>
            </a:r>
            <a:r>
              <a:rPr lang="en-US" dirty="0" err="1"/>
              <a:t>i</a:t>
            </a:r>
            <a:r>
              <a:rPr lang="en-US" dirty="0"/>
              <a:t>]=T[</a:t>
            </a:r>
            <a:r>
              <a:rPr lang="en-US" dirty="0" err="1"/>
              <a:t>i+j</a:t>
            </a:r>
            <a:r>
              <a:rPr lang="en-US" dirty="0"/>
              <a:t>] p[0]=T[1+1] or ‘t’=‘r’ which is false.</a:t>
            </a:r>
          </a:p>
          <a:p>
            <a:r>
              <a:rPr lang="en-US" dirty="0"/>
              <a:t>we exit the for loop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CDE30E4-D112-ACDB-03E0-8075DAEA5D75}"/>
              </a:ext>
            </a:extLst>
          </p:cNvPr>
          <p:cNvSpPr/>
          <p:nvPr/>
        </p:nvSpPr>
        <p:spPr>
          <a:xfrm>
            <a:off x="1241629" y="5012853"/>
            <a:ext cx="2851400" cy="321147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FA90930-5AF9-00F7-2319-AE0B3EC0879D}"/>
              </a:ext>
            </a:extLst>
          </p:cNvPr>
          <p:cNvCxnSpPr>
            <a:cxnSpLocks/>
            <a:endCxn id="8" idx="3"/>
          </p:cNvCxnSpPr>
          <p:nvPr/>
        </p:nvCxnSpPr>
        <p:spPr>
          <a:xfrm flipH="1">
            <a:off x="4093029" y="5173427"/>
            <a:ext cx="8490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9E6D4CC-CA2D-429A-2BDE-0E6BD43F45F8}"/>
              </a:ext>
            </a:extLst>
          </p:cNvPr>
          <p:cNvSpPr txBox="1"/>
          <p:nvPr/>
        </p:nvSpPr>
        <p:spPr>
          <a:xfrm>
            <a:off x="9843755" y="4886234"/>
            <a:ext cx="1600200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j=0</a:t>
            </a:r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DA7534-F57B-928B-FDA7-E7834FCA2E87}"/>
              </a:ext>
            </a:extLst>
          </p:cNvPr>
          <p:cNvSpPr txBox="1"/>
          <p:nvPr/>
        </p:nvSpPr>
        <p:spPr>
          <a:xfrm>
            <a:off x="9843755" y="4886234"/>
            <a:ext cx="1600200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m=2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n=6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j=1</a:t>
            </a:r>
          </a:p>
          <a:p>
            <a:endParaRPr lang="en-US" dirty="0"/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A2280A91-4727-1A15-29CC-DB32C437B4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2847046"/>
              </p:ext>
            </p:extLst>
          </p:nvPr>
        </p:nvGraphicFramePr>
        <p:xfrm>
          <a:off x="7650133" y="504373"/>
          <a:ext cx="3599544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9924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953453542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2920383398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214009401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3757313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C0D1B0AC-8948-B5CF-16C7-9BC7E9C151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4718456"/>
              </p:ext>
            </p:extLst>
          </p:nvPr>
        </p:nvGraphicFramePr>
        <p:xfrm>
          <a:off x="8256061" y="1824244"/>
          <a:ext cx="1199848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9924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79AEDDC-BC90-52A4-8671-D89A28B4FD2C}"/>
              </a:ext>
            </a:extLst>
          </p:cNvPr>
          <p:cNvCxnSpPr>
            <a:cxnSpLocks/>
            <a:stCxn id="21" idx="2"/>
          </p:cNvCxnSpPr>
          <p:nvPr/>
        </p:nvCxnSpPr>
        <p:spPr>
          <a:xfrm>
            <a:off x="9131897" y="1717274"/>
            <a:ext cx="0" cy="1618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228E532E-DE6E-6BD0-C245-0C5418016461}"/>
              </a:ext>
            </a:extLst>
          </p:cNvPr>
          <p:cNvSpPr txBox="1"/>
          <p:nvPr/>
        </p:nvSpPr>
        <p:spPr>
          <a:xfrm>
            <a:off x="8917071" y="1347942"/>
            <a:ext cx="42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j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F200285-7B5E-D3C1-DDA7-214870FEB231}"/>
              </a:ext>
            </a:extLst>
          </p:cNvPr>
          <p:cNvCxnSpPr>
            <a:cxnSpLocks/>
            <a:stCxn id="23" idx="2"/>
          </p:cNvCxnSpPr>
          <p:nvPr/>
        </p:nvCxnSpPr>
        <p:spPr>
          <a:xfrm>
            <a:off x="8548004" y="431745"/>
            <a:ext cx="0" cy="1618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DB0F580-3FCB-7FCB-4DDD-94F5DBD8C44B}"/>
              </a:ext>
            </a:extLst>
          </p:cNvPr>
          <p:cNvSpPr txBox="1"/>
          <p:nvPr/>
        </p:nvSpPr>
        <p:spPr>
          <a:xfrm>
            <a:off x="8333178" y="62413"/>
            <a:ext cx="42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i</a:t>
            </a:r>
            <a:endParaRPr lang="en-US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5EE2E69-98B9-B360-62F3-652E62B063CF}"/>
              </a:ext>
            </a:extLst>
          </p:cNvPr>
          <p:cNvCxnSpPr>
            <a:cxnSpLocks/>
            <a:stCxn id="25" idx="2"/>
          </p:cNvCxnSpPr>
          <p:nvPr/>
        </p:nvCxnSpPr>
        <p:spPr>
          <a:xfrm>
            <a:off x="9141079" y="374822"/>
            <a:ext cx="0" cy="1618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3BA34863-7EC1-E179-F1C8-0E5D9FF6C190}"/>
              </a:ext>
            </a:extLst>
          </p:cNvPr>
          <p:cNvSpPr txBox="1"/>
          <p:nvPr/>
        </p:nvSpPr>
        <p:spPr>
          <a:xfrm>
            <a:off x="8926253" y="5490"/>
            <a:ext cx="42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i+j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9053158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D2554-DB62-4728-8693-47BCC6A82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619F6-44C8-B1CD-ABBC-50E4C8A56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8" y="1240973"/>
            <a:ext cx="5455920" cy="1097280"/>
          </a:xfrm>
        </p:spPr>
        <p:txBody>
          <a:bodyPr>
            <a:normAutofit fontScale="90000"/>
          </a:bodyPr>
          <a:lstStyle/>
          <a:p>
            <a:r>
              <a:rPr lang="en-US" dirty="0"/>
              <a:t>Brute Force String Match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5851670-9215-7A69-13E8-074BD4DD9F4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40078" y="2633472"/>
            <a:ext cx="5455921" cy="3566159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D53981-03CC-7BC6-26CF-A1EAB302B72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Check if condition j=m or 1=2 which is false</a:t>
            </a:r>
          </a:p>
          <a:p>
            <a:r>
              <a:rPr lang="en-US" dirty="0"/>
              <a:t>We go to the outer for-loop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6AE567-59D5-6D24-AAE9-A583A7833707}"/>
              </a:ext>
            </a:extLst>
          </p:cNvPr>
          <p:cNvSpPr/>
          <p:nvPr/>
        </p:nvSpPr>
        <p:spPr>
          <a:xfrm>
            <a:off x="1241629" y="5568027"/>
            <a:ext cx="1458028" cy="310259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3628D3B-31BB-88EC-FD07-F3AA68D6BF82}"/>
              </a:ext>
            </a:extLst>
          </p:cNvPr>
          <p:cNvCxnSpPr>
            <a:cxnSpLocks/>
            <a:endCxn id="8" idx="3"/>
          </p:cNvCxnSpPr>
          <p:nvPr/>
        </p:nvCxnSpPr>
        <p:spPr>
          <a:xfrm flipH="1" flipV="1">
            <a:off x="2699657" y="5723157"/>
            <a:ext cx="2242457" cy="54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55B6F39-0FAE-E7FE-E0CD-689E2676078E}"/>
              </a:ext>
            </a:extLst>
          </p:cNvPr>
          <p:cNvSpPr txBox="1"/>
          <p:nvPr/>
        </p:nvSpPr>
        <p:spPr>
          <a:xfrm>
            <a:off x="9843755" y="4886234"/>
            <a:ext cx="1600200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j=0</a:t>
            </a:r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E3248D-45A5-4529-6958-43878BA5E359}"/>
              </a:ext>
            </a:extLst>
          </p:cNvPr>
          <p:cNvSpPr txBox="1"/>
          <p:nvPr/>
        </p:nvSpPr>
        <p:spPr>
          <a:xfrm>
            <a:off x="9843755" y="4886234"/>
            <a:ext cx="1600200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m=2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n=6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j=1</a:t>
            </a:r>
          </a:p>
          <a:p>
            <a:endParaRPr lang="en-US" dirty="0"/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95B32282-74F4-2566-1BB7-D7181AC957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468544"/>
              </p:ext>
            </p:extLst>
          </p:nvPr>
        </p:nvGraphicFramePr>
        <p:xfrm>
          <a:off x="7650133" y="603526"/>
          <a:ext cx="3599544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9924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953453542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2920383398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214009401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3757313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0E1752B7-43B5-A293-4A2F-9D7DDE8F93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9121508"/>
              </p:ext>
            </p:extLst>
          </p:nvPr>
        </p:nvGraphicFramePr>
        <p:xfrm>
          <a:off x="8256061" y="1923397"/>
          <a:ext cx="1199848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9924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5BF389F-61CA-83A8-D2BD-D9C690307303}"/>
              </a:ext>
            </a:extLst>
          </p:cNvPr>
          <p:cNvCxnSpPr>
            <a:cxnSpLocks/>
            <a:stCxn id="22" idx="2"/>
          </p:cNvCxnSpPr>
          <p:nvPr/>
        </p:nvCxnSpPr>
        <p:spPr>
          <a:xfrm>
            <a:off x="9131897" y="1816427"/>
            <a:ext cx="0" cy="1618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311DB90-98A2-11E9-5ACA-50794C004BA0}"/>
              </a:ext>
            </a:extLst>
          </p:cNvPr>
          <p:cNvSpPr txBox="1"/>
          <p:nvPr/>
        </p:nvSpPr>
        <p:spPr>
          <a:xfrm>
            <a:off x="8917071" y="1447095"/>
            <a:ext cx="42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j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2E4DDC8-ED2B-EAC9-EE88-CBE96CBAD806}"/>
              </a:ext>
            </a:extLst>
          </p:cNvPr>
          <p:cNvCxnSpPr>
            <a:cxnSpLocks/>
            <a:stCxn id="24" idx="2"/>
          </p:cNvCxnSpPr>
          <p:nvPr/>
        </p:nvCxnSpPr>
        <p:spPr>
          <a:xfrm>
            <a:off x="8548004" y="530898"/>
            <a:ext cx="0" cy="1618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BEAD9F1E-72D4-2580-6933-8C0F0EDECD0F}"/>
              </a:ext>
            </a:extLst>
          </p:cNvPr>
          <p:cNvSpPr txBox="1"/>
          <p:nvPr/>
        </p:nvSpPr>
        <p:spPr>
          <a:xfrm>
            <a:off x="8333178" y="161566"/>
            <a:ext cx="42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i</a:t>
            </a:r>
            <a:endParaRPr lang="en-US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4745455-9307-81B4-64DE-47630EC0E023}"/>
              </a:ext>
            </a:extLst>
          </p:cNvPr>
          <p:cNvCxnSpPr>
            <a:cxnSpLocks/>
            <a:stCxn id="26" idx="2"/>
          </p:cNvCxnSpPr>
          <p:nvPr/>
        </p:nvCxnSpPr>
        <p:spPr>
          <a:xfrm>
            <a:off x="9141079" y="473975"/>
            <a:ext cx="0" cy="1618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B204CD91-BBFA-4567-0A8F-35604E01676E}"/>
              </a:ext>
            </a:extLst>
          </p:cNvPr>
          <p:cNvSpPr txBox="1"/>
          <p:nvPr/>
        </p:nvSpPr>
        <p:spPr>
          <a:xfrm>
            <a:off x="8926253" y="104643"/>
            <a:ext cx="42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i+j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9040622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6C256-CC49-5E9E-33D2-5A649A51D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494CA-943C-8B6F-A6FF-887B41086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8" y="1240973"/>
            <a:ext cx="5455920" cy="1097280"/>
          </a:xfrm>
        </p:spPr>
        <p:txBody>
          <a:bodyPr>
            <a:normAutofit fontScale="90000"/>
          </a:bodyPr>
          <a:lstStyle/>
          <a:p>
            <a:r>
              <a:rPr lang="en-US" dirty="0"/>
              <a:t>Brute Force String Match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90DCC2A-13CB-8C3A-2A9E-C626C4B13AC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40078" y="2633472"/>
            <a:ext cx="5455921" cy="3566159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144592-14C0-25F4-60EA-9288CB9CD08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Increment the value of </a:t>
            </a:r>
            <a:r>
              <a:rPr lang="en-US" dirty="0" err="1"/>
              <a:t>i</a:t>
            </a:r>
            <a:r>
              <a:rPr lang="en-US" dirty="0"/>
              <a:t> by 1 till n-m, which is 6-2=4 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097CDB-AF36-BDE7-D4F2-47139946EFC5}"/>
              </a:ext>
            </a:extLst>
          </p:cNvPr>
          <p:cNvSpPr/>
          <p:nvPr/>
        </p:nvSpPr>
        <p:spPr>
          <a:xfrm>
            <a:off x="925940" y="4457683"/>
            <a:ext cx="1828146" cy="332031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1899EB1-D778-708B-47B3-45432454CE94}"/>
              </a:ext>
            </a:extLst>
          </p:cNvPr>
          <p:cNvCxnSpPr>
            <a:cxnSpLocks/>
            <a:endCxn id="8" idx="3"/>
          </p:cNvCxnSpPr>
          <p:nvPr/>
        </p:nvCxnSpPr>
        <p:spPr>
          <a:xfrm flipH="1">
            <a:off x="2754086" y="4623699"/>
            <a:ext cx="28586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EB0A834-CA8C-053C-14AA-0D50B77E75A2}"/>
              </a:ext>
            </a:extLst>
          </p:cNvPr>
          <p:cNvSpPr txBox="1"/>
          <p:nvPr/>
        </p:nvSpPr>
        <p:spPr>
          <a:xfrm>
            <a:off x="9843755" y="4886234"/>
            <a:ext cx="1600200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m=2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n=6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=2</a:t>
            </a:r>
          </a:p>
          <a:p>
            <a:endParaRPr lang="en-US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0B16D9B-0DC6-CD12-61E2-A69865338B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3063704"/>
              </p:ext>
            </p:extLst>
          </p:nvPr>
        </p:nvGraphicFramePr>
        <p:xfrm>
          <a:off x="7528946" y="625560"/>
          <a:ext cx="3599544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2519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587329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953453542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2920383398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214009401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3757313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8273D13-EDD7-2830-FD92-C0099CFAD9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0993994"/>
              </p:ext>
            </p:extLst>
          </p:nvPr>
        </p:nvGraphicFramePr>
        <p:xfrm>
          <a:off x="8773855" y="1945431"/>
          <a:ext cx="1199848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9924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225A701-2CE6-BFF5-4C67-75CCE2253403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9649691" y="1813150"/>
            <a:ext cx="0" cy="1618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987992E-AAB3-FDCC-3E4F-B1EF92AFE85E}"/>
              </a:ext>
            </a:extLst>
          </p:cNvPr>
          <p:cNvSpPr txBox="1"/>
          <p:nvPr/>
        </p:nvSpPr>
        <p:spPr>
          <a:xfrm>
            <a:off x="9434865" y="1443818"/>
            <a:ext cx="42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j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FBF7100-CD05-EF05-8E0C-B2786E5105C2}"/>
              </a:ext>
            </a:extLst>
          </p:cNvPr>
          <p:cNvCxnSpPr>
            <a:cxnSpLocks/>
            <a:stCxn id="17" idx="2"/>
          </p:cNvCxnSpPr>
          <p:nvPr/>
        </p:nvCxnSpPr>
        <p:spPr>
          <a:xfrm>
            <a:off x="9010710" y="466206"/>
            <a:ext cx="0" cy="1618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62BFB2A-410E-FF8D-27E5-40EC485ADFAE}"/>
              </a:ext>
            </a:extLst>
          </p:cNvPr>
          <p:cNvSpPr txBox="1"/>
          <p:nvPr/>
        </p:nvSpPr>
        <p:spPr>
          <a:xfrm>
            <a:off x="8795884" y="96874"/>
            <a:ext cx="42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6099497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E27D8-1145-E69A-B7F9-6E43BD528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3EF65-55C1-7732-F54B-D253B9A3D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8" y="1240973"/>
            <a:ext cx="5455920" cy="1097280"/>
          </a:xfrm>
        </p:spPr>
        <p:txBody>
          <a:bodyPr>
            <a:normAutofit fontScale="90000"/>
          </a:bodyPr>
          <a:lstStyle/>
          <a:p>
            <a:r>
              <a:rPr lang="en-US" dirty="0"/>
              <a:t>Brute Force String Match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5538269-3ECC-11E3-0310-2F8E1FF0EC0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40078" y="2633472"/>
            <a:ext cx="5455921" cy="3566159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193FE6-DC37-AA54-969B-86F374DEC38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j is equal to 0.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0CA7F75-3073-9D80-D3D7-672DCBF06EBF}"/>
              </a:ext>
            </a:extLst>
          </p:cNvPr>
          <p:cNvSpPr/>
          <p:nvPr/>
        </p:nvSpPr>
        <p:spPr>
          <a:xfrm>
            <a:off x="925940" y="4708053"/>
            <a:ext cx="1828146" cy="332031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E3998CA-68FF-C2E6-3A91-FBF4A7AA3753}"/>
              </a:ext>
            </a:extLst>
          </p:cNvPr>
          <p:cNvCxnSpPr>
            <a:cxnSpLocks/>
            <a:endCxn id="8" idx="3"/>
          </p:cNvCxnSpPr>
          <p:nvPr/>
        </p:nvCxnSpPr>
        <p:spPr>
          <a:xfrm flipH="1">
            <a:off x="2754086" y="4874069"/>
            <a:ext cx="28586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C3AB3F1-87A4-8B50-E949-FC83454B66A7}"/>
              </a:ext>
            </a:extLst>
          </p:cNvPr>
          <p:cNvSpPr txBox="1"/>
          <p:nvPr/>
        </p:nvSpPr>
        <p:spPr>
          <a:xfrm>
            <a:off x="9843755" y="4886234"/>
            <a:ext cx="1600200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m=2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n=6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j=0</a:t>
            </a:r>
          </a:p>
          <a:p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87770F5-5545-DA8E-2202-F72DD0615F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0844722"/>
              </p:ext>
            </p:extLst>
          </p:nvPr>
        </p:nvGraphicFramePr>
        <p:xfrm>
          <a:off x="7528946" y="625560"/>
          <a:ext cx="3599544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9924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953453542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2920383398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214009401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3757313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55B6343-498A-8D9A-FB5B-DA618C204A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213471"/>
              </p:ext>
            </p:extLst>
          </p:nvPr>
        </p:nvGraphicFramePr>
        <p:xfrm>
          <a:off x="8718771" y="1945431"/>
          <a:ext cx="1199848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9924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D891B8F-5BD5-5868-1564-3D7F0F00F094}"/>
              </a:ext>
            </a:extLst>
          </p:cNvPr>
          <p:cNvCxnSpPr>
            <a:cxnSpLocks/>
            <a:stCxn id="13" idx="2"/>
          </p:cNvCxnSpPr>
          <p:nvPr/>
        </p:nvCxnSpPr>
        <p:spPr>
          <a:xfrm>
            <a:off x="9032747" y="1813150"/>
            <a:ext cx="0" cy="1618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D515B40-6B49-F726-BA3A-AD72B3EB9397}"/>
              </a:ext>
            </a:extLst>
          </p:cNvPr>
          <p:cNvSpPr txBox="1"/>
          <p:nvPr/>
        </p:nvSpPr>
        <p:spPr>
          <a:xfrm>
            <a:off x="8817921" y="1443818"/>
            <a:ext cx="42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j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679E861-9D20-0AFA-A96B-BC2FF0799B4E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9010710" y="466206"/>
            <a:ext cx="0" cy="1618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261EB78-52E8-BF6A-A7F9-41F355529457}"/>
              </a:ext>
            </a:extLst>
          </p:cNvPr>
          <p:cNvSpPr txBox="1"/>
          <p:nvPr/>
        </p:nvSpPr>
        <p:spPr>
          <a:xfrm>
            <a:off x="8795884" y="96874"/>
            <a:ext cx="42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190498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66762-22BC-A90C-32E3-D7DB55BF7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6908E-1AD8-D339-7E79-EC9F26F0E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8" y="1240973"/>
            <a:ext cx="5455920" cy="1097280"/>
          </a:xfrm>
        </p:spPr>
        <p:txBody>
          <a:bodyPr>
            <a:normAutofit fontScale="90000"/>
          </a:bodyPr>
          <a:lstStyle/>
          <a:p>
            <a:r>
              <a:rPr lang="en-US" dirty="0"/>
              <a:t>Brute Force String Match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E1EE3B4-EE18-06CC-D79A-4FEB4BA4030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40078" y="2633472"/>
            <a:ext cx="5455921" cy="3566159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8523E4-C070-0EC1-89E2-5F6BCDD3E42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Check the condition for the while loop first, j&lt;m  0 &lt; 2. which is true for the second part P[</a:t>
            </a:r>
            <a:r>
              <a:rPr lang="en-US" dirty="0" err="1"/>
              <a:t>i</a:t>
            </a:r>
            <a:r>
              <a:rPr lang="en-US" dirty="0"/>
              <a:t>]=T[</a:t>
            </a:r>
            <a:r>
              <a:rPr lang="en-US" dirty="0" err="1"/>
              <a:t>i+j</a:t>
            </a:r>
            <a:r>
              <a:rPr lang="en-US" dirty="0"/>
              <a:t>] p[0]=T[2+0] or ‘t’=‘e’ which is false.</a:t>
            </a:r>
          </a:p>
          <a:p>
            <a:r>
              <a:rPr lang="en-US" dirty="0"/>
              <a:t> We exit the for loop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97383A6-B8A2-BBF0-A006-B6AAC501C74D}"/>
              </a:ext>
            </a:extLst>
          </p:cNvPr>
          <p:cNvSpPr/>
          <p:nvPr/>
        </p:nvSpPr>
        <p:spPr>
          <a:xfrm>
            <a:off x="1241629" y="5012853"/>
            <a:ext cx="2851400" cy="321147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9517C69-DDE8-30FF-57D3-FE0CC923945C}"/>
              </a:ext>
            </a:extLst>
          </p:cNvPr>
          <p:cNvCxnSpPr>
            <a:cxnSpLocks/>
            <a:endCxn id="8" idx="3"/>
          </p:cNvCxnSpPr>
          <p:nvPr/>
        </p:nvCxnSpPr>
        <p:spPr>
          <a:xfrm flipH="1">
            <a:off x="4093029" y="5173427"/>
            <a:ext cx="8490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E87959A-6912-7F11-D7C5-4124286047F0}"/>
              </a:ext>
            </a:extLst>
          </p:cNvPr>
          <p:cNvSpPr txBox="1"/>
          <p:nvPr/>
        </p:nvSpPr>
        <p:spPr>
          <a:xfrm>
            <a:off x="9843755" y="4886234"/>
            <a:ext cx="1600200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j=0</a:t>
            </a:r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EB3CB2-9BF3-E33A-F6D5-99392526DAF9}"/>
              </a:ext>
            </a:extLst>
          </p:cNvPr>
          <p:cNvSpPr txBox="1"/>
          <p:nvPr/>
        </p:nvSpPr>
        <p:spPr>
          <a:xfrm>
            <a:off x="9843755" y="4886234"/>
            <a:ext cx="1600200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m=2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n=6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j=0</a:t>
            </a:r>
          </a:p>
          <a:p>
            <a:endParaRPr lang="en-US" dirty="0"/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19CBEFEC-AFC1-15DE-9929-D9B5C171BA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8564290"/>
              </p:ext>
            </p:extLst>
          </p:nvPr>
        </p:nvGraphicFramePr>
        <p:xfrm>
          <a:off x="7584031" y="625560"/>
          <a:ext cx="3599544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9924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953453542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2920383398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214009401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3757313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7F0C24D5-FE3A-81C4-82C3-137D92BB80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4718266"/>
              </p:ext>
            </p:extLst>
          </p:nvPr>
        </p:nvGraphicFramePr>
        <p:xfrm>
          <a:off x="8773856" y="1945431"/>
          <a:ext cx="1199848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9924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EF2D633-FEAE-D78C-1BB3-F5217106D154}"/>
              </a:ext>
            </a:extLst>
          </p:cNvPr>
          <p:cNvCxnSpPr>
            <a:cxnSpLocks/>
            <a:stCxn id="20" idx="2"/>
          </p:cNvCxnSpPr>
          <p:nvPr/>
        </p:nvCxnSpPr>
        <p:spPr>
          <a:xfrm>
            <a:off x="9087832" y="1813150"/>
            <a:ext cx="0" cy="1618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B48C133-463A-FE72-EB98-BF129A7C961D}"/>
              </a:ext>
            </a:extLst>
          </p:cNvPr>
          <p:cNvSpPr txBox="1"/>
          <p:nvPr/>
        </p:nvSpPr>
        <p:spPr>
          <a:xfrm>
            <a:off x="8873006" y="1443818"/>
            <a:ext cx="42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j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7F97BBF-283B-255F-A8EF-A167173F6D4F}"/>
              </a:ext>
            </a:extLst>
          </p:cNvPr>
          <p:cNvCxnSpPr>
            <a:cxnSpLocks/>
            <a:stCxn id="22" idx="2"/>
          </p:cNvCxnSpPr>
          <p:nvPr/>
        </p:nvCxnSpPr>
        <p:spPr>
          <a:xfrm>
            <a:off x="9065795" y="466206"/>
            <a:ext cx="0" cy="1618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57F2DD3-8E9F-44FF-DBA8-BE35943E5C39}"/>
              </a:ext>
            </a:extLst>
          </p:cNvPr>
          <p:cNvSpPr txBox="1"/>
          <p:nvPr/>
        </p:nvSpPr>
        <p:spPr>
          <a:xfrm>
            <a:off x="8850969" y="96874"/>
            <a:ext cx="42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i+j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7523310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1AE3B-4AA3-6B3A-47B3-550030085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2F850-289A-846E-61DB-3880E48F7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8" y="1240973"/>
            <a:ext cx="5455920" cy="1097280"/>
          </a:xfrm>
        </p:spPr>
        <p:txBody>
          <a:bodyPr>
            <a:normAutofit fontScale="90000"/>
          </a:bodyPr>
          <a:lstStyle/>
          <a:p>
            <a:r>
              <a:rPr lang="en-US" dirty="0"/>
              <a:t>Brute Force String Match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0F0DAD9-1422-7FB1-C181-C6F7A110C48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40078" y="2633472"/>
            <a:ext cx="5455921" cy="3566159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9904AF-2878-949E-DFB7-9177F3EE68D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Check if condition j=m or 0=2 which is false</a:t>
            </a:r>
          </a:p>
          <a:p>
            <a:r>
              <a:rPr lang="en-US" dirty="0"/>
              <a:t>We go to outer for loop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0BC9C9-D7CE-AEF1-1DB2-4B9AF332A3C7}"/>
              </a:ext>
            </a:extLst>
          </p:cNvPr>
          <p:cNvSpPr/>
          <p:nvPr/>
        </p:nvSpPr>
        <p:spPr>
          <a:xfrm>
            <a:off x="1241629" y="5568027"/>
            <a:ext cx="1458028" cy="310259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EF96078-5115-BF4D-5970-4E9CEF8FDC46}"/>
              </a:ext>
            </a:extLst>
          </p:cNvPr>
          <p:cNvCxnSpPr>
            <a:cxnSpLocks/>
            <a:endCxn id="8" idx="3"/>
          </p:cNvCxnSpPr>
          <p:nvPr/>
        </p:nvCxnSpPr>
        <p:spPr>
          <a:xfrm flipH="1" flipV="1">
            <a:off x="2699657" y="5723157"/>
            <a:ext cx="2242457" cy="54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8DA5741-9C5B-F3BE-EB81-66E6880C276F}"/>
              </a:ext>
            </a:extLst>
          </p:cNvPr>
          <p:cNvSpPr txBox="1"/>
          <p:nvPr/>
        </p:nvSpPr>
        <p:spPr>
          <a:xfrm>
            <a:off x="9843755" y="4886234"/>
            <a:ext cx="1600200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j=0</a:t>
            </a:r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244E60-E8D6-6D44-D527-83D8918C9ED6}"/>
              </a:ext>
            </a:extLst>
          </p:cNvPr>
          <p:cNvSpPr txBox="1"/>
          <p:nvPr/>
        </p:nvSpPr>
        <p:spPr>
          <a:xfrm>
            <a:off x="9843755" y="4886234"/>
            <a:ext cx="1600200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m=2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n=6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j=0</a:t>
            </a:r>
          </a:p>
          <a:p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5A3C72D-3310-FA36-0170-ECC71BADEF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8393101"/>
              </p:ext>
            </p:extLst>
          </p:nvPr>
        </p:nvGraphicFramePr>
        <p:xfrm>
          <a:off x="7584031" y="625560"/>
          <a:ext cx="3599544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9924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953453542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2920383398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214009401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3757313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C985BF5-9F37-C1E9-25E6-BFD6F4ECE0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7235282"/>
              </p:ext>
            </p:extLst>
          </p:nvPr>
        </p:nvGraphicFramePr>
        <p:xfrm>
          <a:off x="8773856" y="1945431"/>
          <a:ext cx="1199848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9924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2C75F0A-33AA-548C-15EC-D7433D1EA48F}"/>
              </a:ext>
            </a:extLst>
          </p:cNvPr>
          <p:cNvCxnSpPr>
            <a:cxnSpLocks/>
            <a:stCxn id="14" idx="2"/>
          </p:cNvCxnSpPr>
          <p:nvPr/>
        </p:nvCxnSpPr>
        <p:spPr>
          <a:xfrm>
            <a:off x="9087832" y="1813150"/>
            <a:ext cx="0" cy="1618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0DBD437-F24D-8D53-F6A3-A57E359255A9}"/>
              </a:ext>
            </a:extLst>
          </p:cNvPr>
          <p:cNvSpPr txBox="1"/>
          <p:nvPr/>
        </p:nvSpPr>
        <p:spPr>
          <a:xfrm>
            <a:off x="8873006" y="1443818"/>
            <a:ext cx="42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j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D099F80-52DE-BBE8-06E0-34FC4C7410E1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9065795" y="466206"/>
            <a:ext cx="0" cy="1618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4A23787-17C5-C2F5-7581-531200D04C0D}"/>
              </a:ext>
            </a:extLst>
          </p:cNvPr>
          <p:cNvSpPr txBox="1"/>
          <p:nvPr/>
        </p:nvSpPr>
        <p:spPr>
          <a:xfrm>
            <a:off x="8850969" y="96874"/>
            <a:ext cx="42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3500639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A80CF-0AF5-64FB-8A75-42DB2E12B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47CAF-9AD1-7F52-61E9-366C75BD1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8" y="1240973"/>
            <a:ext cx="5455920" cy="1097280"/>
          </a:xfrm>
        </p:spPr>
        <p:txBody>
          <a:bodyPr>
            <a:normAutofit fontScale="90000"/>
          </a:bodyPr>
          <a:lstStyle/>
          <a:p>
            <a:r>
              <a:rPr lang="en-US" dirty="0"/>
              <a:t>Brute Force String Match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C901CC9-791C-1A97-DD44-A55BE5A1253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40078" y="2633472"/>
            <a:ext cx="5455921" cy="3566159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AE29CF-043C-568E-2F4C-E742CD456C7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Increment the value of </a:t>
            </a:r>
            <a:r>
              <a:rPr lang="en-US" dirty="0" err="1"/>
              <a:t>i</a:t>
            </a:r>
            <a:r>
              <a:rPr lang="en-US" dirty="0"/>
              <a:t> by 1 till n-m, which is 6-2=4 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268DADF-FD1B-07B1-FAE3-3D94F1BFB3D0}"/>
              </a:ext>
            </a:extLst>
          </p:cNvPr>
          <p:cNvSpPr/>
          <p:nvPr/>
        </p:nvSpPr>
        <p:spPr>
          <a:xfrm>
            <a:off x="925940" y="4457683"/>
            <a:ext cx="1828146" cy="332031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8D24580-E4A5-2840-AF14-F99ED7491709}"/>
              </a:ext>
            </a:extLst>
          </p:cNvPr>
          <p:cNvCxnSpPr>
            <a:cxnSpLocks/>
            <a:endCxn id="8" idx="3"/>
          </p:cNvCxnSpPr>
          <p:nvPr/>
        </p:nvCxnSpPr>
        <p:spPr>
          <a:xfrm flipH="1">
            <a:off x="2754086" y="4623699"/>
            <a:ext cx="28586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B9262E9-D896-28CA-E949-B21EBF966AAB}"/>
              </a:ext>
            </a:extLst>
          </p:cNvPr>
          <p:cNvSpPr txBox="1"/>
          <p:nvPr/>
        </p:nvSpPr>
        <p:spPr>
          <a:xfrm>
            <a:off x="9843755" y="4886234"/>
            <a:ext cx="1600200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m=2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n=6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=3</a:t>
            </a:r>
          </a:p>
          <a:p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73FA57B-D0AC-CC84-D12F-9B1035C9AD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8393101"/>
              </p:ext>
            </p:extLst>
          </p:nvPr>
        </p:nvGraphicFramePr>
        <p:xfrm>
          <a:off x="7584031" y="625560"/>
          <a:ext cx="3599544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9924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953453542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2920383398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214009401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3757313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2E8EF21-3601-4203-37C0-AE8ACC3114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0960247"/>
              </p:ext>
            </p:extLst>
          </p:nvPr>
        </p:nvGraphicFramePr>
        <p:xfrm>
          <a:off x="9423852" y="1945431"/>
          <a:ext cx="1199848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9924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C2D32EF-14D9-15D4-00C3-C467D098EE96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9737828" y="1813150"/>
            <a:ext cx="0" cy="1618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3694FD1-04D4-70D5-5454-A9920A1AAA21}"/>
              </a:ext>
            </a:extLst>
          </p:cNvPr>
          <p:cNvSpPr txBox="1"/>
          <p:nvPr/>
        </p:nvSpPr>
        <p:spPr>
          <a:xfrm>
            <a:off x="9523002" y="1443818"/>
            <a:ext cx="42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j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9AFC676-9F5D-83D2-1025-971FAA95C808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9671913" y="494438"/>
            <a:ext cx="0" cy="1618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C6150E3-CAE6-4D89-453C-61DAC8C21803}"/>
              </a:ext>
            </a:extLst>
          </p:cNvPr>
          <p:cNvSpPr txBox="1"/>
          <p:nvPr/>
        </p:nvSpPr>
        <p:spPr>
          <a:xfrm>
            <a:off x="9457087" y="125106"/>
            <a:ext cx="42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2624692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D0ED7-7A2B-F194-CDF0-2AD18F161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8C31D-D703-0CFC-85D4-63712EFDC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8" y="1240973"/>
            <a:ext cx="5455920" cy="1097280"/>
          </a:xfrm>
        </p:spPr>
        <p:txBody>
          <a:bodyPr>
            <a:normAutofit fontScale="90000"/>
          </a:bodyPr>
          <a:lstStyle/>
          <a:p>
            <a:r>
              <a:rPr lang="en-US" dirty="0"/>
              <a:t>Brute Force String Match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48A4D6A-C66A-2C2D-D331-CF324C559FE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40078" y="2633472"/>
            <a:ext cx="5455921" cy="3566159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86A724-CB37-41F0-C42D-E0AE38B4184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j is equal to 0.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C9F4AB-A98F-CDDB-0F38-974E11BF2F5E}"/>
              </a:ext>
            </a:extLst>
          </p:cNvPr>
          <p:cNvSpPr/>
          <p:nvPr/>
        </p:nvSpPr>
        <p:spPr>
          <a:xfrm>
            <a:off x="925940" y="4708053"/>
            <a:ext cx="1828146" cy="332031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7E81DC8-E7A9-0429-C8D6-FBAAD0E039F1}"/>
              </a:ext>
            </a:extLst>
          </p:cNvPr>
          <p:cNvCxnSpPr>
            <a:cxnSpLocks/>
            <a:endCxn id="8" idx="3"/>
          </p:cNvCxnSpPr>
          <p:nvPr/>
        </p:nvCxnSpPr>
        <p:spPr>
          <a:xfrm flipH="1">
            <a:off x="2754086" y="4874069"/>
            <a:ext cx="28586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954654F-3BC3-8319-0DA7-E56B33DA5971}"/>
              </a:ext>
            </a:extLst>
          </p:cNvPr>
          <p:cNvSpPr txBox="1"/>
          <p:nvPr/>
        </p:nvSpPr>
        <p:spPr>
          <a:xfrm>
            <a:off x="9843755" y="4886234"/>
            <a:ext cx="1600200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m=2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n=6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j=0</a:t>
            </a:r>
          </a:p>
          <a:p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AA6E078-C777-80EC-9B55-B6F681CAE3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6931301"/>
              </p:ext>
            </p:extLst>
          </p:nvPr>
        </p:nvGraphicFramePr>
        <p:xfrm>
          <a:off x="7584031" y="625560"/>
          <a:ext cx="3599544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9924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953453542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2920383398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214009401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3757313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3E78A6C-1208-5778-FEEE-1E9305736E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6473442"/>
              </p:ext>
            </p:extLst>
          </p:nvPr>
        </p:nvGraphicFramePr>
        <p:xfrm>
          <a:off x="9423852" y="1945431"/>
          <a:ext cx="1199848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9924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EF7BD28-D426-F923-39EB-BD66C783FEC4}"/>
              </a:ext>
            </a:extLst>
          </p:cNvPr>
          <p:cNvCxnSpPr>
            <a:cxnSpLocks/>
            <a:stCxn id="13" idx="2"/>
          </p:cNvCxnSpPr>
          <p:nvPr/>
        </p:nvCxnSpPr>
        <p:spPr>
          <a:xfrm>
            <a:off x="9737828" y="1813150"/>
            <a:ext cx="0" cy="1618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2B73E9D-3400-FE9A-AA4F-B03BBCDE524E}"/>
              </a:ext>
            </a:extLst>
          </p:cNvPr>
          <p:cNvSpPr txBox="1"/>
          <p:nvPr/>
        </p:nvSpPr>
        <p:spPr>
          <a:xfrm>
            <a:off x="9523002" y="1443818"/>
            <a:ext cx="42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j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7904079-1D6B-0AC3-BC4F-41D8C298C7A6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9671913" y="494438"/>
            <a:ext cx="0" cy="1618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1786F20-7B42-7FDC-527B-E7AF1F9271C7}"/>
              </a:ext>
            </a:extLst>
          </p:cNvPr>
          <p:cNvSpPr txBox="1"/>
          <p:nvPr/>
        </p:nvSpPr>
        <p:spPr>
          <a:xfrm>
            <a:off x="9457087" y="125106"/>
            <a:ext cx="42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0007142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2E1C4-3664-45DA-20B5-DD270E36C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197B9-AAE5-3DA6-1106-FC178D45A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8" y="1240973"/>
            <a:ext cx="5455920" cy="1097280"/>
          </a:xfrm>
        </p:spPr>
        <p:txBody>
          <a:bodyPr>
            <a:normAutofit fontScale="90000"/>
          </a:bodyPr>
          <a:lstStyle/>
          <a:p>
            <a:r>
              <a:rPr lang="en-US" dirty="0"/>
              <a:t>Brute Force String Match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72FF9EF-6B1A-2EEA-9B07-45ECC4DDCB8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40078" y="2633472"/>
            <a:ext cx="5455921" cy="3566159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CED21E-7F2F-407A-626B-85F0832F1A4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Check the condition for the while loop first, j&lt;m  0 &lt; 2. which is true for the second part P[</a:t>
            </a:r>
            <a:r>
              <a:rPr lang="en-US" dirty="0" err="1"/>
              <a:t>i</a:t>
            </a:r>
            <a:r>
              <a:rPr lang="en-US" dirty="0"/>
              <a:t>]=T[</a:t>
            </a:r>
            <a:r>
              <a:rPr lang="en-US" dirty="0" err="1"/>
              <a:t>i+j</a:t>
            </a:r>
            <a:r>
              <a:rPr lang="en-US" dirty="0"/>
              <a:t>] p[0]=T[3+0] or ‘t’=‘e’ which is false.</a:t>
            </a:r>
          </a:p>
          <a:p>
            <a:r>
              <a:rPr lang="en-US" dirty="0"/>
              <a:t> We exit the for loop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2D8A6D-CE08-E4FE-4B28-7E1E693483E1}"/>
              </a:ext>
            </a:extLst>
          </p:cNvPr>
          <p:cNvSpPr/>
          <p:nvPr/>
        </p:nvSpPr>
        <p:spPr>
          <a:xfrm>
            <a:off x="1241629" y="5012853"/>
            <a:ext cx="2851400" cy="321147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558F395-A1BF-29E3-7D41-3565C0479199}"/>
              </a:ext>
            </a:extLst>
          </p:cNvPr>
          <p:cNvCxnSpPr>
            <a:cxnSpLocks/>
            <a:endCxn id="8" idx="3"/>
          </p:cNvCxnSpPr>
          <p:nvPr/>
        </p:nvCxnSpPr>
        <p:spPr>
          <a:xfrm flipH="1">
            <a:off x="4093029" y="5173427"/>
            <a:ext cx="8490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9765FF6-E509-1140-463C-D3B2EA3249BC}"/>
              </a:ext>
            </a:extLst>
          </p:cNvPr>
          <p:cNvSpPr txBox="1"/>
          <p:nvPr/>
        </p:nvSpPr>
        <p:spPr>
          <a:xfrm>
            <a:off x="9843755" y="4886234"/>
            <a:ext cx="1600200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j=0</a:t>
            </a:r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333C61-AF5C-CBEE-8DF7-6515EF231AA0}"/>
              </a:ext>
            </a:extLst>
          </p:cNvPr>
          <p:cNvSpPr txBox="1"/>
          <p:nvPr/>
        </p:nvSpPr>
        <p:spPr>
          <a:xfrm>
            <a:off x="9843755" y="4886234"/>
            <a:ext cx="1600200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m=2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n=6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j=0</a:t>
            </a:r>
          </a:p>
          <a:p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F813567-B1CF-C280-D1B7-D8F914C286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2874651"/>
              </p:ext>
            </p:extLst>
          </p:nvPr>
        </p:nvGraphicFramePr>
        <p:xfrm>
          <a:off x="7694201" y="592509"/>
          <a:ext cx="3599544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9924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953453542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2920383398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214009401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3757313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562FC97-5AB1-F728-C7D2-E4C2E3DCD3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0034046"/>
              </p:ext>
            </p:extLst>
          </p:nvPr>
        </p:nvGraphicFramePr>
        <p:xfrm>
          <a:off x="9534022" y="1912380"/>
          <a:ext cx="1199848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9924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1730037-AD2B-3164-A138-F4B2DDD49497}"/>
              </a:ext>
            </a:extLst>
          </p:cNvPr>
          <p:cNvCxnSpPr>
            <a:cxnSpLocks/>
            <a:stCxn id="14" idx="2"/>
          </p:cNvCxnSpPr>
          <p:nvPr/>
        </p:nvCxnSpPr>
        <p:spPr>
          <a:xfrm>
            <a:off x="9847998" y="1780099"/>
            <a:ext cx="0" cy="1618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EC34680-827D-D850-70F4-04A8A58FC5AE}"/>
              </a:ext>
            </a:extLst>
          </p:cNvPr>
          <p:cNvSpPr txBox="1"/>
          <p:nvPr/>
        </p:nvSpPr>
        <p:spPr>
          <a:xfrm>
            <a:off x="9633172" y="1410767"/>
            <a:ext cx="42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j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A88CC86-A460-BBB1-BD0D-5B3257F87CB4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9782083" y="461387"/>
            <a:ext cx="0" cy="1618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9D363DF-ED8D-E426-6905-F2170933F298}"/>
              </a:ext>
            </a:extLst>
          </p:cNvPr>
          <p:cNvSpPr txBox="1"/>
          <p:nvPr/>
        </p:nvSpPr>
        <p:spPr>
          <a:xfrm>
            <a:off x="9567257" y="92055"/>
            <a:ext cx="42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i+j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9434339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0E7B8-929F-3AA3-CC97-422E33259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0F4B5-F9C6-0073-A8F2-C63C13096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8" y="1240973"/>
            <a:ext cx="5455920" cy="1097280"/>
          </a:xfrm>
        </p:spPr>
        <p:txBody>
          <a:bodyPr>
            <a:normAutofit fontScale="90000"/>
          </a:bodyPr>
          <a:lstStyle/>
          <a:p>
            <a:r>
              <a:rPr lang="en-US" dirty="0"/>
              <a:t>Brute Force String Match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BF06286-196C-D81A-3EC0-3A204346EA9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40078" y="2633472"/>
            <a:ext cx="5455921" cy="3566159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55078E-9CB1-853E-6D13-59AC271B549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Check if condition j=m or 0=2 which is false</a:t>
            </a:r>
          </a:p>
          <a:p>
            <a:r>
              <a:rPr lang="en-US" dirty="0"/>
              <a:t>We go to outer for loop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89A0A9-E654-6587-7C5B-37DC43CBD6BF}"/>
              </a:ext>
            </a:extLst>
          </p:cNvPr>
          <p:cNvSpPr/>
          <p:nvPr/>
        </p:nvSpPr>
        <p:spPr>
          <a:xfrm>
            <a:off x="1241629" y="5568027"/>
            <a:ext cx="1458028" cy="310259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A042E36-DB77-583D-45A4-D13E65E288B2}"/>
              </a:ext>
            </a:extLst>
          </p:cNvPr>
          <p:cNvCxnSpPr>
            <a:cxnSpLocks/>
            <a:endCxn id="8" idx="3"/>
          </p:cNvCxnSpPr>
          <p:nvPr/>
        </p:nvCxnSpPr>
        <p:spPr>
          <a:xfrm flipH="1" flipV="1">
            <a:off x="2699657" y="5723157"/>
            <a:ext cx="2242457" cy="54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719B58A-CA85-FD92-ABD6-B3C682D8B8D0}"/>
              </a:ext>
            </a:extLst>
          </p:cNvPr>
          <p:cNvSpPr txBox="1"/>
          <p:nvPr/>
        </p:nvSpPr>
        <p:spPr>
          <a:xfrm>
            <a:off x="9843755" y="4886234"/>
            <a:ext cx="1600200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j=0</a:t>
            </a:r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4AAA50-F22E-A2A5-2607-850A8667AA1B}"/>
              </a:ext>
            </a:extLst>
          </p:cNvPr>
          <p:cNvSpPr txBox="1"/>
          <p:nvPr/>
        </p:nvSpPr>
        <p:spPr>
          <a:xfrm>
            <a:off x="9843755" y="4886234"/>
            <a:ext cx="1600200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m=2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n=6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j=0</a:t>
            </a:r>
          </a:p>
          <a:p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6B7E8D1-72EB-7473-0122-4B407E1440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6931301"/>
              </p:ext>
            </p:extLst>
          </p:nvPr>
        </p:nvGraphicFramePr>
        <p:xfrm>
          <a:off x="7584031" y="625560"/>
          <a:ext cx="3599544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9924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953453542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2920383398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214009401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3757313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063DDDC-DDC2-9EC5-879C-1E73605865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6473442"/>
              </p:ext>
            </p:extLst>
          </p:nvPr>
        </p:nvGraphicFramePr>
        <p:xfrm>
          <a:off x="9423852" y="1945431"/>
          <a:ext cx="1199848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9924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0F91DCB-D714-0C58-554A-BD7EE0495578}"/>
              </a:ext>
            </a:extLst>
          </p:cNvPr>
          <p:cNvCxnSpPr>
            <a:cxnSpLocks/>
            <a:stCxn id="14" idx="2"/>
          </p:cNvCxnSpPr>
          <p:nvPr/>
        </p:nvCxnSpPr>
        <p:spPr>
          <a:xfrm>
            <a:off x="9737828" y="1813150"/>
            <a:ext cx="0" cy="1618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ADC0F4A-7742-AA3A-A02B-7BB2FE66110B}"/>
              </a:ext>
            </a:extLst>
          </p:cNvPr>
          <p:cNvSpPr txBox="1"/>
          <p:nvPr/>
        </p:nvSpPr>
        <p:spPr>
          <a:xfrm>
            <a:off x="9523002" y="1443818"/>
            <a:ext cx="42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j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2EDE5B8-8E94-9625-9956-1C9119D4FFA6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9671913" y="494438"/>
            <a:ext cx="0" cy="1618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0FABBC4-53A6-EF9B-A5FC-8528654A4742}"/>
              </a:ext>
            </a:extLst>
          </p:cNvPr>
          <p:cNvSpPr txBox="1"/>
          <p:nvPr/>
        </p:nvSpPr>
        <p:spPr>
          <a:xfrm>
            <a:off x="9457087" y="125106"/>
            <a:ext cx="42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1194883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35F20-3285-DF07-08E5-9C45A1BB4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31DE7-A06F-20D2-E7BB-2219F7CF6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8" y="1240973"/>
            <a:ext cx="5455920" cy="1097280"/>
          </a:xfrm>
        </p:spPr>
        <p:txBody>
          <a:bodyPr>
            <a:normAutofit fontScale="90000"/>
          </a:bodyPr>
          <a:lstStyle/>
          <a:p>
            <a:r>
              <a:rPr lang="en-US" dirty="0"/>
              <a:t>Brute Force String Match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7A38695-1A37-BD13-84FD-B68505AB6F2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40078" y="2633472"/>
            <a:ext cx="5455921" cy="3566159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5138E-BDE8-7261-363D-3969333A34E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Increment the value of </a:t>
            </a:r>
            <a:r>
              <a:rPr lang="en-US" dirty="0" err="1"/>
              <a:t>i</a:t>
            </a:r>
            <a:r>
              <a:rPr lang="en-US" dirty="0"/>
              <a:t> by 1 till n-m, which is 6-2=4 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CE2EBBC-A118-9290-D26D-4AD3A253389F}"/>
              </a:ext>
            </a:extLst>
          </p:cNvPr>
          <p:cNvSpPr/>
          <p:nvPr/>
        </p:nvSpPr>
        <p:spPr>
          <a:xfrm>
            <a:off x="925940" y="4457683"/>
            <a:ext cx="1828146" cy="332031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A043ED5-67BF-F4CD-332E-F8CE9695DEF6}"/>
              </a:ext>
            </a:extLst>
          </p:cNvPr>
          <p:cNvCxnSpPr>
            <a:cxnSpLocks/>
            <a:endCxn id="8" idx="3"/>
          </p:cNvCxnSpPr>
          <p:nvPr/>
        </p:nvCxnSpPr>
        <p:spPr>
          <a:xfrm flipH="1">
            <a:off x="2754086" y="4623699"/>
            <a:ext cx="28586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3D7A7F1-252D-9E6B-EFDF-9ED27DBAD3CF}"/>
              </a:ext>
            </a:extLst>
          </p:cNvPr>
          <p:cNvSpPr txBox="1"/>
          <p:nvPr/>
        </p:nvSpPr>
        <p:spPr>
          <a:xfrm>
            <a:off x="9843755" y="4886234"/>
            <a:ext cx="1600200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m=2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n=6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=4</a:t>
            </a:r>
          </a:p>
          <a:p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D3E4183-9F45-1F83-0F9B-73A8105FA3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4029212"/>
              </p:ext>
            </p:extLst>
          </p:nvPr>
        </p:nvGraphicFramePr>
        <p:xfrm>
          <a:off x="7561997" y="658368"/>
          <a:ext cx="3599544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9924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953453542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2920383398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214009401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3757313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D017356-8D10-C352-0CA6-5ED7C87588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7985625"/>
              </p:ext>
            </p:extLst>
          </p:nvPr>
        </p:nvGraphicFramePr>
        <p:xfrm>
          <a:off x="10018765" y="1978239"/>
          <a:ext cx="1199848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9924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56AC6A2-F537-77DE-661A-856AB305E968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10332741" y="1845958"/>
            <a:ext cx="0" cy="1618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A3846B1-934F-AF05-9658-FDDF9EAE2066}"/>
              </a:ext>
            </a:extLst>
          </p:cNvPr>
          <p:cNvSpPr txBox="1"/>
          <p:nvPr/>
        </p:nvSpPr>
        <p:spPr>
          <a:xfrm>
            <a:off x="10117915" y="1476626"/>
            <a:ext cx="42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j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32067F9-7E97-23D4-E461-74C8309FA087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10255807" y="515418"/>
            <a:ext cx="0" cy="1618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A0C64B1-7F8F-6C35-07CF-0997A55C1E81}"/>
              </a:ext>
            </a:extLst>
          </p:cNvPr>
          <p:cNvSpPr txBox="1"/>
          <p:nvPr/>
        </p:nvSpPr>
        <p:spPr>
          <a:xfrm>
            <a:off x="10040981" y="146086"/>
            <a:ext cx="42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1088942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8286C-B703-1EC7-AE4D-C88F94495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9E57E-76F6-9D1C-2FE0-A5DA0220D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8" y="1240973"/>
            <a:ext cx="5455920" cy="1097280"/>
          </a:xfrm>
        </p:spPr>
        <p:txBody>
          <a:bodyPr>
            <a:normAutofit fontScale="90000"/>
          </a:bodyPr>
          <a:lstStyle/>
          <a:p>
            <a:r>
              <a:rPr lang="en-US" dirty="0"/>
              <a:t>Brute Force String Match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14DCCB7-2F6A-FFC3-1C41-2EFF426D687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40078" y="2633472"/>
            <a:ext cx="5455921" cy="3566159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C6667A-3613-F054-1B4E-D0EEB2FDBFB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j is equal to 0.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A8FE05-94E5-C82A-4642-5F36DC17F933}"/>
              </a:ext>
            </a:extLst>
          </p:cNvPr>
          <p:cNvSpPr/>
          <p:nvPr/>
        </p:nvSpPr>
        <p:spPr>
          <a:xfrm>
            <a:off x="925940" y="4708053"/>
            <a:ext cx="1828146" cy="332031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29D112F-2A33-503E-0B1C-83D0196EB23D}"/>
              </a:ext>
            </a:extLst>
          </p:cNvPr>
          <p:cNvCxnSpPr>
            <a:cxnSpLocks/>
            <a:endCxn id="8" idx="3"/>
          </p:cNvCxnSpPr>
          <p:nvPr/>
        </p:nvCxnSpPr>
        <p:spPr>
          <a:xfrm flipH="1">
            <a:off x="2754086" y="4874069"/>
            <a:ext cx="28586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9492BF5-356A-5ED5-BAFF-D8ACD6D742B4}"/>
              </a:ext>
            </a:extLst>
          </p:cNvPr>
          <p:cNvSpPr txBox="1"/>
          <p:nvPr/>
        </p:nvSpPr>
        <p:spPr>
          <a:xfrm>
            <a:off x="9843755" y="4886234"/>
            <a:ext cx="1600200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m=2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n=6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j=0</a:t>
            </a:r>
          </a:p>
          <a:p>
            <a:endParaRPr lang="en-US" dirty="0"/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1141C7AD-B2E1-4598-9E94-0248A1B24D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4607936"/>
              </p:ext>
            </p:extLst>
          </p:nvPr>
        </p:nvGraphicFramePr>
        <p:xfrm>
          <a:off x="7561997" y="658368"/>
          <a:ext cx="3599544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9924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953453542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2920383398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214009401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3757313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3198A224-ABBD-BF88-B1C3-0E00A2F78F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2265796"/>
              </p:ext>
            </p:extLst>
          </p:nvPr>
        </p:nvGraphicFramePr>
        <p:xfrm>
          <a:off x="10018765" y="1978239"/>
          <a:ext cx="1199848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9924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C13D121-7525-6A98-D963-BE013E3C76AD}"/>
              </a:ext>
            </a:extLst>
          </p:cNvPr>
          <p:cNvCxnSpPr>
            <a:cxnSpLocks/>
            <a:stCxn id="19" idx="2"/>
          </p:cNvCxnSpPr>
          <p:nvPr/>
        </p:nvCxnSpPr>
        <p:spPr>
          <a:xfrm>
            <a:off x="10332741" y="1845958"/>
            <a:ext cx="0" cy="1618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C231FC86-435D-286C-DBB3-2B7CCD66111E}"/>
              </a:ext>
            </a:extLst>
          </p:cNvPr>
          <p:cNvSpPr txBox="1"/>
          <p:nvPr/>
        </p:nvSpPr>
        <p:spPr>
          <a:xfrm>
            <a:off x="10117915" y="1476626"/>
            <a:ext cx="42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j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8CE507E-5782-D638-7F19-F315E1892249}"/>
              </a:ext>
            </a:extLst>
          </p:cNvPr>
          <p:cNvCxnSpPr>
            <a:cxnSpLocks/>
            <a:stCxn id="21" idx="2"/>
          </p:cNvCxnSpPr>
          <p:nvPr/>
        </p:nvCxnSpPr>
        <p:spPr>
          <a:xfrm>
            <a:off x="10255807" y="515418"/>
            <a:ext cx="0" cy="1618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A85DDC7-5770-7301-12C4-6CDF22034366}"/>
              </a:ext>
            </a:extLst>
          </p:cNvPr>
          <p:cNvSpPr txBox="1"/>
          <p:nvPr/>
        </p:nvSpPr>
        <p:spPr>
          <a:xfrm>
            <a:off x="10040981" y="146086"/>
            <a:ext cx="42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7501469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AC9FF-2251-A60C-58B8-4A015E3DA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BDD49-0C42-8C47-3761-01D54BC50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8" y="1240973"/>
            <a:ext cx="5455920" cy="1097280"/>
          </a:xfrm>
        </p:spPr>
        <p:txBody>
          <a:bodyPr>
            <a:normAutofit fontScale="90000"/>
          </a:bodyPr>
          <a:lstStyle/>
          <a:p>
            <a:r>
              <a:rPr lang="en-US" dirty="0"/>
              <a:t>Brute Force String Match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CC4ED54-82C5-BCFE-81D3-D8DD048B9D4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40078" y="2633472"/>
            <a:ext cx="5455921" cy="3566159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6B8680-5841-0248-FD55-0A989F7C5AE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Check the condition for the while loop first, j&lt;m  0 &lt; 2. which is true for the second part P[</a:t>
            </a:r>
            <a:r>
              <a:rPr lang="en-US" dirty="0" err="1"/>
              <a:t>i</a:t>
            </a:r>
            <a:r>
              <a:rPr lang="en-US" dirty="0"/>
              <a:t>]=T[</a:t>
            </a:r>
            <a:r>
              <a:rPr lang="en-US" dirty="0" err="1"/>
              <a:t>i+j</a:t>
            </a:r>
            <a:r>
              <a:rPr lang="en-US" dirty="0"/>
              <a:t>] p[0]=T[4+0] or ‘e’=‘e’ which is true.</a:t>
            </a:r>
          </a:p>
          <a:p>
            <a:r>
              <a:rPr lang="en-US" dirty="0"/>
              <a:t> We enter the while loop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B38F96-B9B0-8E91-C8EE-40FDCD1D52C7}"/>
              </a:ext>
            </a:extLst>
          </p:cNvPr>
          <p:cNvSpPr/>
          <p:nvPr/>
        </p:nvSpPr>
        <p:spPr>
          <a:xfrm>
            <a:off x="1241629" y="5012853"/>
            <a:ext cx="2851400" cy="321147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72C89A5-E688-9BDC-DBEB-A8626AE96330}"/>
              </a:ext>
            </a:extLst>
          </p:cNvPr>
          <p:cNvCxnSpPr>
            <a:cxnSpLocks/>
            <a:endCxn id="8" idx="3"/>
          </p:cNvCxnSpPr>
          <p:nvPr/>
        </p:nvCxnSpPr>
        <p:spPr>
          <a:xfrm flipH="1">
            <a:off x="4093029" y="5173427"/>
            <a:ext cx="8490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B25CD03-C46D-6887-8897-E3788BD87950}"/>
              </a:ext>
            </a:extLst>
          </p:cNvPr>
          <p:cNvSpPr txBox="1"/>
          <p:nvPr/>
        </p:nvSpPr>
        <p:spPr>
          <a:xfrm>
            <a:off x="9843755" y="4886234"/>
            <a:ext cx="1600200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j=0</a:t>
            </a:r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2FECEB-3B5A-709A-C278-33A6B8FEF599}"/>
              </a:ext>
            </a:extLst>
          </p:cNvPr>
          <p:cNvSpPr txBox="1"/>
          <p:nvPr/>
        </p:nvSpPr>
        <p:spPr>
          <a:xfrm>
            <a:off x="9843755" y="4886234"/>
            <a:ext cx="1600200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m=2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n=6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j=0</a:t>
            </a:r>
          </a:p>
          <a:p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A5DF487-52C2-0B09-E290-C515B971E7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4607936"/>
              </p:ext>
            </p:extLst>
          </p:nvPr>
        </p:nvGraphicFramePr>
        <p:xfrm>
          <a:off x="7561997" y="658368"/>
          <a:ext cx="3599544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9924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953453542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2920383398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214009401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3757313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8013B0A-A333-C3A6-BB4E-89021E5A44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2265796"/>
              </p:ext>
            </p:extLst>
          </p:nvPr>
        </p:nvGraphicFramePr>
        <p:xfrm>
          <a:off x="10018765" y="1978239"/>
          <a:ext cx="1199848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9924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626089D-125B-F3D4-44E6-39FC556A74F7}"/>
              </a:ext>
            </a:extLst>
          </p:cNvPr>
          <p:cNvCxnSpPr>
            <a:cxnSpLocks/>
            <a:stCxn id="14" idx="2"/>
          </p:cNvCxnSpPr>
          <p:nvPr/>
        </p:nvCxnSpPr>
        <p:spPr>
          <a:xfrm>
            <a:off x="10332741" y="1845958"/>
            <a:ext cx="0" cy="1618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2E2FF40-D0DE-B0BE-5EE3-6923C3234CFA}"/>
              </a:ext>
            </a:extLst>
          </p:cNvPr>
          <p:cNvSpPr txBox="1"/>
          <p:nvPr/>
        </p:nvSpPr>
        <p:spPr>
          <a:xfrm>
            <a:off x="10117915" y="1476626"/>
            <a:ext cx="42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j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F0E3AFA-4D64-3D12-A01F-5E2BD6ACED4B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10255807" y="515418"/>
            <a:ext cx="0" cy="1618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A734FCF-D336-F926-9DA1-94561E6CFF87}"/>
              </a:ext>
            </a:extLst>
          </p:cNvPr>
          <p:cNvSpPr txBox="1"/>
          <p:nvPr/>
        </p:nvSpPr>
        <p:spPr>
          <a:xfrm>
            <a:off x="10040981" y="146086"/>
            <a:ext cx="42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i+j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1995990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FE10F-7E68-907F-C0EE-2963956AE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DEC36-9E3F-095A-E8D8-37BBDCECF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8" y="1240973"/>
            <a:ext cx="5455920" cy="1097280"/>
          </a:xfrm>
        </p:spPr>
        <p:txBody>
          <a:bodyPr>
            <a:normAutofit fontScale="90000"/>
          </a:bodyPr>
          <a:lstStyle/>
          <a:p>
            <a:r>
              <a:rPr lang="en-US" dirty="0"/>
              <a:t>Brute Force String Match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E369D94-839D-151B-E5D9-FD8B30904EC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40078" y="2633472"/>
            <a:ext cx="5455921" cy="3566159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15EB1E-E6B2-EE1C-ACF0-BB64B273388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Increment the j value by 1 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DED3042-E635-503A-047E-626C371CE50C}"/>
              </a:ext>
            </a:extLst>
          </p:cNvPr>
          <p:cNvSpPr/>
          <p:nvPr/>
        </p:nvSpPr>
        <p:spPr>
          <a:xfrm>
            <a:off x="1241629" y="5284996"/>
            <a:ext cx="2851400" cy="321147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8F38CBC-1DF8-DFB9-DE0E-D96F5E8A32AA}"/>
              </a:ext>
            </a:extLst>
          </p:cNvPr>
          <p:cNvCxnSpPr>
            <a:cxnSpLocks/>
            <a:endCxn id="8" idx="3"/>
          </p:cNvCxnSpPr>
          <p:nvPr/>
        </p:nvCxnSpPr>
        <p:spPr>
          <a:xfrm flipH="1">
            <a:off x="4093029" y="5445570"/>
            <a:ext cx="8490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97691C3-3B9B-F85D-A1F4-30EA9997DF35}"/>
              </a:ext>
            </a:extLst>
          </p:cNvPr>
          <p:cNvSpPr txBox="1"/>
          <p:nvPr/>
        </p:nvSpPr>
        <p:spPr>
          <a:xfrm>
            <a:off x="9843755" y="4886234"/>
            <a:ext cx="1600200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j=0</a:t>
            </a:r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DECC5D-5788-DFAD-A4DF-56AA55C3DD89}"/>
              </a:ext>
            </a:extLst>
          </p:cNvPr>
          <p:cNvSpPr txBox="1"/>
          <p:nvPr/>
        </p:nvSpPr>
        <p:spPr>
          <a:xfrm>
            <a:off x="9843755" y="4886234"/>
            <a:ext cx="1600200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m=2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n=6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j=1</a:t>
            </a:r>
          </a:p>
          <a:p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64D4598-F998-9DC7-83AA-A65032C500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4607936"/>
              </p:ext>
            </p:extLst>
          </p:nvPr>
        </p:nvGraphicFramePr>
        <p:xfrm>
          <a:off x="7561997" y="658368"/>
          <a:ext cx="3599544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9924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953453542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2920383398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214009401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3757313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9A3FB19-181D-8DE1-07DD-FE6EDD9F95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2265796"/>
              </p:ext>
            </p:extLst>
          </p:nvPr>
        </p:nvGraphicFramePr>
        <p:xfrm>
          <a:off x="10018765" y="1978239"/>
          <a:ext cx="1199848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9924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AB57151-852A-25D4-3EAB-9479BD220E7D}"/>
              </a:ext>
            </a:extLst>
          </p:cNvPr>
          <p:cNvCxnSpPr>
            <a:cxnSpLocks/>
            <a:stCxn id="14" idx="2"/>
          </p:cNvCxnSpPr>
          <p:nvPr/>
        </p:nvCxnSpPr>
        <p:spPr>
          <a:xfrm>
            <a:off x="10946715" y="1835289"/>
            <a:ext cx="0" cy="1618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6A83C0D-2D92-947F-0B2A-6DEB7C62B067}"/>
              </a:ext>
            </a:extLst>
          </p:cNvPr>
          <p:cNvSpPr txBox="1"/>
          <p:nvPr/>
        </p:nvSpPr>
        <p:spPr>
          <a:xfrm>
            <a:off x="10731889" y="1465957"/>
            <a:ext cx="42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j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F964B01-4009-46BF-19FB-783DD01E6853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10255807" y="515418"/>
            <a:ext cx="0" cy="1618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400A35F-A672-A593-E0E1-D928A6C2B94A}"/>
              </a:ext>
            </a:extLst>
          </p:cNvPr>
          <p:cNvSpPr txBox="1"/>
          <p:nvPr/>
        </p:nvSpPr>
        <p:spPr>
          <a:xfrm>
            <a:off x="10040981" y="146086"/>
            <a:ext cx="42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332990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6F4D1-EEEC-441B-7963-E5E69D091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1963B-4906-638C-D18F-1C90FE5F4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8" y="1240973"/>
            <a:ext cx="5455920" cy="1097280"/>
          </a:xfrm>
        </p:spPr>
        <p:txBody>
          <a:bodyPr>
            <a:normAutofit fontScale="90000"/>
          </a:bodyPr>
          <a:lstStyle/>
          <a:p>
            <a:r>
              <a:rPr lang="en-US" dirty="0"/>
              <a:t>Brute Force String Match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8B55E44-CE3D-3284-649D-639C7CE35B1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40078" y="2633472"/>
            <a:ext cx="5455921" cy="3566159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62DC8B-F500-3471-A358-40BEF464B90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Check the condition for the while loop first, j&lt;m  1 &lt; 2. which is true for the second part P[</a:t>
            </a:r>
            <a:r>
              <a:rPr lang="en-US" dirty="0" err="1"/>
              <a:t>i</a:t>
            </a:r>
            <a:r>
              <a:rPr lang="en-US" dirty="0"/>
              <a:t>]=T[</a:t>
            </a:r>
            <a:r>
              <a:rPr lang="en-US" dirty="0" err="1"/>
              <a:t>i+j</a:t>
            </a:r>
            <a:r>
              <a:rPr lang="en-US" dirty="0"/>
              <a:t>] p[0]=T[4+1] or ‘r’=‘r’ which is true.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83FAFFC-A353-09B2-BA67-A8D1669EBF85}"/>
              </a:ext>
            </a:extLst>
          </p:cNvPr>
          <p:cNvSpPr/>
          <p:nvPr/>
        </p:nvSpPr>
        <p:spPr>
          <a:xfrm>
            <a:off x="1241629" y="5012853"/>
            <a:ext cx="2851400" cy="321147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A49F3E5-D744-7BB6-85F4-308E5E99C7C6}"/>
              </a:ext>
            </a:extLst>
          </p:cNvPr>
          <p:cNvCxnSpPr>
            <a:cxnSpLocks/>
            <a:endCxn id="8" idx="3"/>
          </p:cNvCxnSpPr>
          <p:nvPr/>
        </p:nvCxnSpPr>
        <p:spPr>
          <a:xfrm flipH="1">
            <a:off x="4093029" y="5173427"/>
            <a:ext cx="8490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EBA56CE-B774-F4C6-3D38-C23EBCD718FF}"/>
              </a:ext>
            </a:extLst>
          </p:cNvPr>
          <p:cNvSpPr txBox="1"/>
          <p:nvPr/>
        </p:nvSpPr>
        <p:spPr>
          <a:xfrm>
            <a:off x="9843755" y="4886234"/>
            <a:ext cx="1600200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j=0</a:t>
            </a:r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E60773-22D6-6AB0-4A5E-2DA5353B359B}"/>
              </a:ext>
            </a:extLst>
          </p:cNvPr>
          <p:cNvSpPr txBox="1"/>
          <p:nvPr/>
        </p:nvSpPr>
        <p:spPr>
          <a:xfrm>
            <a:off x="9843755" y="4886234"/>
            <a:ext cx="1600200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m=2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n=6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j=1</a:t>
            </a:r>
          </a:p>
          <a:p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FEB4E49-5F17-2ACD-3852-8BB47C349D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9982925"/>
              </p:ext>
            </p:extLst>
          </p:nvPr>
        </p:nvGraphicFramePr>
        <p:xfrm>
          <a:off x="7561997" y="658368"/>
          <a:ext cx="3599544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9924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953453542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2920383398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214009401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3757313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8772EEE-5E88-C4BD-9D05-D272B88B7F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8468965"/>
              </p:ext>
            </p:extLst>
          </p:nvPr>
        </p:nvGraphicFramePr>
        <p:xfrm>
          <a:off x="10018765" y="1978239"/>
          <a:ext cx="1199848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9924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6C9999A-8E40-CE79-D169-6CF78EFD84C2}"/>
              </a:ext>
            </a:extLst>
          </p:cNvPr>
          <p:cNvCxnSpPr>
            <a:cxnSpLocks/>
            <a:stCxn id="14" idx="2"/>
          </p:cNvCxnSpPr>
          <p:nvPr/>
        </p:nvCxnSpPr>
        <p:spPr>
          <a:xfrm>
            <a:off x="10946715" y="1835289"/>
            <a:ext cx="0" cy="1618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81A536E-39C4-3CBB-9285-52E235983A65}"/>
              </a:ext>
            </a:extLst>
          </p:cNvPr>
          <p:cNvSpPr txBox="1"/>
          <p:nvPr/>
        </p:nvSpPr>
        <p:spPr>
          <a:xfrm>
            <a:off x="10731889" y="1465957"/>
            <a:ext cx="42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j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CB81FCA-8EDC-D772-794F-A3044F1B3424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10255807" y="515418"/>
            <a:ext cx="0" cy="1618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1F8EF2D-E575-4CB4-2B50-F9B19E7EAF91}"/>
              </a:ext>
            </a:extLst>
          </p:cNvPr>
          <p:cNvSpPr txBox="1"/>
          <p:nvPr/>
        </p:nvSpPr>
        <p:spPr>
          <a:xfrm>
            <a:off x="10040981" y="146086"/>
            <a:ext cx="42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i</a:t>
            </a:r>
            <a:endParaRPr lang="en-US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94833DF-A3CD-1EFB-4F56-1F4471D7075C}"/>
              </a:ext>
            </a:extLst>
          </p:cNvPr>
          <p:cNvCxnSpPr>
            <a:cxnSpLocks/>
            <a:stCxn id="18" idx="2"/>
          </p:cNvCxnSpPr>
          <p:nvPr/>
        </p:nvCxnSpPr>
        <p:spPr>
          <a:xfrm>
            <a:off x="10845727" y="522444"/>
            <a:ext cx="0" cy="1618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A381EEA-BE23-2BB4-2CDB-B9C2DF6CE709}"/>
              </a:ext>
            </a:extLst>
          </p:cNvPr>
          <p:cNvSpPr txBox="1"/>
          <p:nvPr/>
        </p:nvSpPr>
        <p:spPr>
          <a:xfrm>
            <a:off x="10630901" y="153112"/>
            <a:ext cx="42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i+j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8014022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D72B7-CF58-ADA4-6FD9-868387442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67292-F4A8-1BEA-05B1-D588FF892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8" y="1240973"/>
            <a:ext cx="5455920" cy="1097280"/>
          </a:xfrm>
        </p:spPr>
        <p:txBody>
          <a:bodyPr>
            <a:normAutofit fontScale="90000"/>
          </a:bodyPr>
          <a:lstStyle/>
          <a:p>
            <a:r>
              <a:rPr lang="en-US" dirty="0"/>
              <a:t>Brute Force String Match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31340E9-9D11-5C07-29E1-F085E45F311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40078" y="2633472"/>
            <a:ext cx="5455921" cy="3566159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43784F-74CC-D359-9A7A-6C214129E4A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Increment the j value by 1 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BFE325-5A56-93AA-FBCD-DCE86885D2B9}"/>
              </a:ext>
            </a:extLst>
          </p:cNvPr>
          <p:cNvSpPr/>
          <p:nvPr/>
        </p:nvSpPr>
        <p:spPr>
          <a:xfrm>
            <a:off x="1241629" y="5284996"/>
            <a:ext cx="2851400" cy="321147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250169C-1ADB-9701-A37F-437E6A744CB7}"/>
              </a:ext>
            </a:extLst>
          </p:cNvPr>
          <p:cNvCxnSpPr>
            <a:cxnSpLocks/>
            <a:endCxn id="8" idx="3"/>
          </p:cNvCxnSpPr>
          <p:nvPr/>
        </p:nvCxnSpPr>
        <p:spPr>
          <a:xfrm flipH="1">
            <a:off x="4093029" y="5445570"/>
            <a:ext cx="8490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9D8177C-D2A5-5B16-C676-19E3447FFDEA}"/>
              </a:ext>
            </a:extLst>
          </p:cNvPr>
          <p:cNvSpPr txBox="1"/>
          <p:nvPr/>
        </p:nvSpPr>
        <p:spPr>
          <a:xfrm>
            <a:off x="9843755" y="4886234"/>
            <a:ext cx="1600200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j=0</a:t>
            </a:r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81DA20-051D-B7E2-E241-B8A78FD4A4DE}"/>
              </a:ext>
            </a:extLst>
          </p:cNvPr>
          <p:cNvSpPr txBox="1"/>
          <p:nvPr/>
        </p:nvSpPr>
        <p:spPr>
          <a:xfrm>
            <a:off x="9843755" y="4886234"/>
            <a:ext cx="1600200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m=2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n=6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j=2</a:t>
            </a:r>
          </a:p>
          <a:p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FBAB773-508C-722C-3DC6-578C5F7BCD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0972586"/>
              </p:ext>
            </p:extLst>
          </p:nvPr>
        </p:nvGraphicFramePr>
        <p:xfrm>
          <a:off x="7561997" y="658368"/>
          <a:ext cx="3599544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9924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953453542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2920383398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214009401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3757313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B0380C9-AFCA-F905-0DE9-913E24FD2B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4309065"/>
              </p:ext>
            </p:extLst>
          </p:nvPr>
        </p:nvGraphicFramePr>
        <p:xfrm>
          <a:off x="10018765" y="1978239"/>
          <a:ext cx="1199848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9924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1BCDCBD-3CAB-9A1B-476B-BDDD289369E2}"/>
              </a:ext>
            </a:extLst>
          </p:cNvPr>
          <p:cNvCxnSpPr>
            <a:cxnSpLocks/>
            <a:stCxn id="14" idx="2"/>
          </p:cNvCxnSpPr>
          <p:nvPr/>
        </p:nvCxnSpPr>
        <p:spPr>
          <a:xfrm>
            <a:off x="11662812" y="1835289"/>
            <a:ext cx="0" cy="1618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22F4ABB-EAD0-2077-9B1A-6002C1A4648C}"/>
              </a:ext>
            </a:extLst>
          </p:cNvPr>
          <p:cNvSpPr txBox="1"/>
          <p:nvPr/>
        </p:nvSpPr>
        <p:spPr>
          <a:xfrm>
            <a:off x="11447986" y="1465957"/>
            <a:ext cx="42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j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926ED54-870B-49C4-8848-C41A67A7CE23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10255807" y="515418"/>
            <a:ext cx="0" cy="1618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5333B6C-A54D-5547-AC71-96856331CA5D}"/>
              </a:ext>
            </a:extLst>
          </p:cNvPr>
          <p:cNvSpPr txBox="1"/>
          <p:nvPr/>
        </p:nvSpPr>
        <p:spPr>
          <a:xfrm>
            <a:off x="10040981" y="146086"/>
            <a:ext cx="42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i</a:t>
            </a:r>
            <a:endParaRPr lang="en-US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46A6901-9F99-9A28-A9B9-7C91CA49869E}"/>
              </a:ext>
            </a:extLst>
          </p:cNvPr>
          <p:cNvCxnSpPr>
            <a:cxnSpLocks/>
            <a:stCxn id="18" idx="2"/>
          </p:cNvCxnSpPr>
          <p:nvPr/>
        </p:nvCxnSpPr>
        <p:spPr>
          <a:xfrm>
            <a:off x="10845727" y="522444"/>
            <a:ext cx="0" cy="1618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36ED50A-78EB-075A-9B76-4B1B5B1CB119}"/>
              </a:ext>
            </a:extLst>
          </p:cNvPr>
          <p:cNvSpPr txBox="1"/>
          <p:nvPr/>
        </p:nvSpPr>
        <p:spPr>
          <a:xfrm>
            <a:off x="10630901" y="153112"/>
            <a:ext cx="42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i+j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6275476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D4E8C-64F7-1401-055E-DC24A730C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EFD3D-F8B4-4AA4-8BE3-0BCA343AC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8" y="1240973"/>
            <a:ext cx="5455920" cy="1097280"/>
          </a:xfrm>
        </p:spPr>
        <p:txBody>
          <a:bodyPr>
            <a:normAutofit fontScale="90000"/>
          </a:bodyPr>
          <a:lstStyle/>
          <a:p>
            <a:r>
              <a:rPr lang="en-US" dirty="0"/>
              <a:t>Brute Force String Match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8AB5160-7D0E-88AA-24DB-84429D54FC1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40078" y="2633472"/>
            <a:ext cx="5455921" cy="3566159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2A0477-F416-5C69-B811-8CB2F0263B4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Check the condition for the while loop first, j&lt;m  2 &lt; 2. which is false and we exit the loop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3C2CF16-F6CA-0A6D-24BE-404787EA396D}"/>
              </a:ext>
            </a:extLst>
          </p:cNvPr>
          <p:cNvSpPr/>
          <p:nvPr/>
        </p:nvSpPr>
        <p:spPr>
          <a:xfrm>
            <a:off x="1241629" y="5012853"/>
            <a:ext cx="2851400" cy="321147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675F1F0-9E70-4C05-BAB3-7F841A536CCE}"/>
              </a:ext>
            </a:extLst>
          </p:cNvPr>
          <p:cNvCxnSpPr>
            <a:cxnSpLocks/>
            <a:endCxn id="8" idx="3"/>
          </p:cNvCxnSpPr>
          <p:nvPr/>
        </p:nvCxnSpPr>
        <p:spPr>
          <a:xfrm flipH="1">
            <a:off x="4093029" y="5173427"/>
            <a:ext cx="8490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1E8D4E7-3951-C7D0-DB3D-493E12CBA163}"/>
              </a:ext>
            </a:extLst>
          </p:cNvPr>
          <p:cNvSpPr txBox="1"/>
          <p:nvPr/>
        </p:nvSpPr>
        <p:spPr>
          <a:xfrm>
            <a:off x="9843755" y="4886234"/>
            <a:ext cx="1600200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j=0</a:t>
            </a:r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528C02-C28B-1B1F-6A79-257367CC35CD}"/>
              </a:ext>
            </a:extLst>
          </p:cNvPr>
          <p:cNvSpPr txBox="1"/>
          <p:nvPr/>
        </p:nvSpPr>
        <p:spPr>
          <a:xfrm>
            <a:off x="9843755" y="4886234"/>
            <a:ext cx="1600200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m=2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n=6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j=2</a:t>
            </a:r>
          </a:p>
          <a:p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834F42A-5C3C-A647-7BF2-5DF4181ABE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8114657"/>
              </p:ext>
            </p:extLst>
          </p:nvPr>
        </p:nvGraphicFramePr>
        <p:xfrm>
          <a:off x="7561997" y="658368"/>
          <a:ext cx="3599544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9924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953453542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2920383398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214009401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3757313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186D192-078F-41FD-9542-95712E2DAB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5011011"/>
              </p:ext>
            </p:extLst>
          </p:nvPr>
        </p:nvGraphicFramePr>
        <p:xfrm>
          <a:off x="10018765" y="1978239"/>
          <a:ext cx="1199848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9924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703FD6C-DE4A-045C-8A3B-47269F9CA178}"/>
              </a:ext>
            </a:extLst>
          </p:cNvPr>
          <p:cNvCxnSpPr>
            <a:cxnSpLocks/>
            <a:stCxn id="14" idx="2"/>
          </p:cNvCxnSpPr>
          <p:nvPr/>
        </p:nvCxnSpPr>
        <p:spPr>
          <a:xfrm>
            <a:off x="11662812" y="1835289"/>
            <a:ext cx="0" cy="1618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0F8016A-2845-3B77-A909-40B89D7D8E0D}"/>
              </a:ext>
            </a:extLst>
          </p:cNvPr>
          <p:cNvSpPr txBox="1"/>
          <p:nvPr/>
        </p:nvSpPr>
        <p:spPr>
          <a:xfrm>
            <a:off x="11447986" y="1465957"/>
            <a:ext cx="42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j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F4CEBF5-E393-110B-8347-FFF6B2BC4CE3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10255807" y="515418"/>
            <a:ext cx="0" cy="1618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064F40A-98F5-63D1-F8E4-D2073EDC7DC4}"/>
              </a:ext>
            </a:extLst>
          </p:cNvPr>
          <p:cNvSpPr txBox="1"/>
          <p:nvPr/>
        </p:nvSpPr>
        <p:spPr>
          <a:xfrm>
            <a:off x="10040981" y="146086"/>
            <a:ext cx="42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i</a:t>
            </a:r>
            <a:endParaRPr lang="en-US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6D65B97-1B43-06B0-E7C9-EE12164E27E8}"/>
              </a:ext>
            </a:extLst>
          </p:cNvPr>
          <p:cNvCxnSpPr>
            <a:cxnSpLocks/>
            <a:stCxn id="18" idx="2"/>
          </p:cNvCxnSpPr>
          <p:nvPr/>
        </p:nvCxnSpPr>
        <p:spPr>
          <a:xfrm>
            <a:off x="10845727" y="522444"/>
            <a:ext cx="0" cy="1618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B4AF0DB-83ED-5AC2-1326-B85FBC0E5700}"/>
              </a:ext>
            </a:extLst>
          </p:cNvPr>
          <p:cNvSpPr txBox="1"/>
          <p:nvPr/>
        </p:nvSpPr>
        <p:spPr>
          <a:xfrm>
            <a:off x="10630901" y="153112"/>
            <a:ext cx="42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i+j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911183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05E98-14E6-5585-7CC9-7980BD81E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EC319-9F50-084C-C5D1-BA21C56FC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8" y="1240973"/>
            <a:ext cx="5455920" cy="1097280"/>
          </a:xfrm>
        </p:spPr>
        <p:txBody>
          <a:bodyPr>
            <a:normAutofit fontScale="90000"/>
          </a:bodyPr>
          <a:lstStyle/>
          <a:p>
            <a:r>
              <a:rPr lang="en-US" dirty="0"/>
              <a:t>Brute Force String Match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7987294-5F94-1A7D-31D0-483021DA165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40078" y="2633472"/>
            <a:ext cx="5455921" cy="3566159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8DD22E-8AF0-08EA-3F3E-EE7B7C90442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Check if condition j=m or 2=2 which is </a:t>
            </a:r>
            <a:r>
              <a:rPr lang="en-US" dirty="0" err="1"/>
              <a:t>ture</a:t>
            </a:r>
            <a:endParaRPr lang="en-US" dirty="0"/>
          </a:p>
          <a:p>
            <a:r>
              <a:rPr lang="en-US" dirty="0"/>
              <a:t>So we return the index </a:t>
            </a:r>
            <a:r>
              <a:rPr lang="en-US" dirty="0" err="1"/>
              <a:t>i</a:t>
            </a:r>
            <a:r>
              <a:rPr lang="en-US" dirty="0"/>
              <a:t> = 2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482316D-B5DF-DC0F-0326-BD8B0D714333}"/>
              </a:ext>
            </a:extLst>
          </p:cNvPr>
          <p:cNvSpPr/>
          <p:nvPr/>
        </p:nvSpPr>
        <p:spPr>
          <a:xfrm>
            <a:off x="1241629" y="5568027"/>
            <a:ext cx="1458028" cy="310259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85E86AE-2184-3628-B231-C8122915B33A}"/>
              </a:ext>
            </a:extLst>
          </p:cNvPr>
          <p:cNvCxnSpPr>
            <a:cxnSpLocks/>
            <a:endCxn id="8" idx="3"/>
          </p:cNvCxnSpPr>
          <p:nvPr/>
        </p:nvCxnSpPr>
        <p:spPr>
          <a:xfrm flipH="1" flipV="1">
            <a:off x="2699657" y="5723157"/>
            <a:ext cx="2242457" cy="54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6CA5887-55E9-3ADA-1FF5-B1684F43CB44}"/>
              </a:ext>
            </a:extLst>
          </p:cNvPr>
          <p:cNvSpPr txBox="1"/>
          <p:nvPr/>
        </p:nvSpPr>
        <p:spPr>
          <a:xfrm>
            <a:off x="9843755" y="4886234"/>
            <a:ext cx="1600200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j=0</a:t>
            </a:r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8FE588-BC7A-DD88-C5F4-EE78C52818C7}"/>
              </a:ext>
            </a:extLst>
          </p:cNvPr>
          <p:cNvSpPr txBox="1"/>
          <p:nvPr/>
        </p:nvSpPr>
        <p:spPr>
          <a:xfrm>
            <a:off x="9843755" y="4886234"/>
            <a:ext cx="1600200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m=2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n=6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</a:t>
            </a:r>
            <a:r>
              <a:rPr lang="en-US" dirty="0"/>
              <a:t>=4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j=2</a:t>
            </a:r>
          </a:p>
          <a:p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D113019-06D4-7B84-2C1A-4B173EC0C8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8114657"/>
              </p:ext>
            </p:extLst>
          </p:nvPr>
        </p:nvGraphicFramePr>
        <p:xfrm>
          <a:off x="7561997" y="658368"/>
          <a:ext cx="3599544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9924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953453542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2920383398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214009401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3757313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85C761E-19E3-08CC-431B-10972E03EC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5011011"/>
              </p:ext>
            </p:extLst>
          </p:nvPr>
        </p:nvGraphicFramePr>
        <p:xfrm>
          <a:off x="10018765" y="1978239"/>
          <a:ext cx="1199848" cy="73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9924">
                  <a:extLst>
                    <a:ext uri="{9D8B030D-6E8A-4147-A177-3AD203B41FA5}">
                      <a16:colId xmlns:a16="http://schemas.microsoft.com/office/drawing/2014/main" val="3776879032"/>
                    </a:ext>
                  </a:extLst>
                </a:gridCol>
                <a:gridCol w="599924">
                  <a:extLst>
                    <a:ext uri="{9D8B030D-6E8A-4147-A177-3AD203B41FA5}">
                      <a16:colId xmlns:a16="http://schemas.microsoft.com/office/drawing/2014/main" val="17971615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4238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836611"/>
                  </a:ext>
                </a:extLst>
              </a:tr>
            </a:tbl>
          </a:graphicData>
        </a:graphic>
      </p:graphicFrame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65DDF77-4B58-F8D8-6581-327243F32E31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10255807" y="515418"/>
            <a:ext cx="0" cy="1618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BF02EB2-0814-23FB-0852-8CCC1FA66BDB}"/>
              </a:ext>
            </a:extLst>
          </p:cNvPr>
          <p:cNvSpPr txBox="1"/>
          <p:nvPr/>
        </p:nvSpPr>
        <p:spPr>
          <a:xfrm>
            <a:off x="10040981" y="146086"/>
            <a:ext cx="42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5361757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7C981-C1B3-98BD-4EC4-4D05657F7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Brute Force String Match (Time analysis)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0B96D12-70B0-779F-5966-96FAC8748A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Standard mathematical analysis for this algorithm can be considered </a:t>
            </a:r>
            <a:r>
              <a:rPr lang="en-US" b="1" dirty="0"/>
              <a:t>impractical</a:t>
            </a:r>
            <a:r>
              <a:rPr lang="en-US" dirty="0"/>
              <a:t> because the actual number of basic operations depends entirely on the specific content of the </a:t>
            </a:r>
            <a:r>
              <a:rPr lang="en-US" b="1" dirty="0"/>
              <a:t>two input parameters</a:t>
            </a:r>
            <a:r>
              <a:rPr lang="en-US" dirty="0"/>
              <a:t> (the text and the pattern).</a:t>
            </a:r>
          </a:p>
          <a:p>
            <a:r>
              <a:rPr lang="en-US" dirty="0"/>
              <a:t>So we can take the probability of matching one character in the English language is 1/26, which is actually very low, so the average case can be approximated as θ(n) or more accurately θ(</a:t>
            </a:r>
            <a:r>
              <a:rPr lang="en-US" dirty="0" err="1"/>
              <a:t>n+m</a:t>
            </a:r>
            <a:r>
              <a:rPr lang="en-US" dirty="0"/>
              <a:t>). n is the number of mismatches, and m is the number of matches of the pattern with the text.</a:t>
            </a:r>
          </a:p>
          <a:p>
            <a:r>
              <a:rPr lang="en-US" dirty="0"/>
              <a:t>The worst case, which is a rare occurrence, for example, a pattern of ‘</a:t>
            </a:r>
            <a:r>
              <a:rPr lang="en-US" dirty="0" err="1"/>
              <a:t>aaab</a:t>
            </a:r>
            <a:r>
              <a:rPr lang="en-US" dirty="0"/>
              <a:t>’ and text of all a’s (‘</a:t>
            </a:r>
            <a:r>
              <a:rPr lang="en-US" dirty="0" err="1"/>
              <a:t>aaaaaaa</a:t>
            </a:r>
            <a:r>
              <a:rPr lang="en-US" dirty="0"/>
              <a:t>…….’). In this case, it will be almost O(</a:t>
            </a:r>
            <a:r>
              <a:rPr lang="en-US" dirty="0" err="1"/>
              <a:t>n.m</a:t>
            </a:r>
            <a:r>
              <a:rPr lang="en-US" dirty="0"/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3391457998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10346</TotalTime>
  <Words>6019</Words>
  <Application>Microsoft Office PowerPoint</Application>
  <PresentationFormat>Widescreen</PresentationFormat>
  <Paragraphs>2070</Paragraphs>
  <Slides>113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113</vt:i4>
      </vt:variant>
    </vt:vector>
  </HeadingPairs>
  <TitlesOfParts>
    <vt:vector size="117" baseType="lpstr">
      <vt:lpstr>Arial</vt:lpstr>
      <vt:lpstr>Cambria Math</vt:lpstr>
      <vt:lpstr>Grandview Display</vt:lpstr>
      <vt:lpstr>DashVTI</vt:lpstr>
      <vt:lpstr>Computing Algorithms Lecture 4: Brute force part 1</vt:lpstr>
      <vt:lpstr>Agenda</vt:lpstr>
      <vt:lpstr>Introduction  </vt:lpstr>
      <vt:lpstr>What is a Brute force strategy </vt:lpstr>
      <vt:lpstr>Key Characteristics of Brute-Force Algorithms</vt:lpstr>
      <vt:lpstr>Examples</vt:lpstr>
      <vt:lpstr>When Brute Force Is Useful</vt:lpstr>
      <vt:lpstr>Selection and Bubble sort  </vt:lpstr>
      <vt:lpstr>Selection sort</vt:lpstr>
      <vt:lpstr>Selection sort</vt:lpstr>
      <vt:lpstr>Selection sort</vt:lpstr>
      <vt:lpstr>Selection sort</vt:lpstr>
      <vt:lpstr>Selection sort</vt:lpstr>
      <vt:lpstr>Selection sort</vt:lpstr>
      <vt:lpstr>Selection sort</vt:lpstr>
      <vt:lpstr>Selection sort</vt:lpstr>
      <vt:lpstr>Selection sort</vt:lpstr>
      <vt:lpstr>Selection sort</vt:lpstr>
      <vt:lpstr>Selection sort</vt:lpstr>
      <vt:lpstr>Selection sort</vt:lpstr>
      <vt:lpstr>Selection sort</vt:lpstr>
      <vt:lpstr>Selection sort</vt:lpstr>
      <vt:lpstr>Selection sort</vt:lpstr>
      <vt:lpstr>Selection sort</vt:lpstr>
      <vt:lpstr>Selection sort</vt:lpstr>
      <vt:lpstr>Selection sort</vt:lpstr>
      <vt:lpstr>Selection sort</vt:lpstr>
      <vt:lpstr>Selection sort</vt:lpstr>
      <vt:lpstr>Selection sort</vt:lpstr>
      <vt:lpstr>Selection sort</vt:lpstr>
      <vt:lpstr>Selection sort</vt:lpstr>
      <vt:lpstr>Selection sort</vt:lpstr>
      <vt:lpstr>Selection sort</vt:lpstr>
      <vt:lpstr>Selection sort</vt:lpstr>
      <vt:lpstr>Selection sort</vt:lpstr>
      <vt:lpstr>Selection sort</vt:lpstr>
      <vt:lpstr>Selection sort</vt:lpstr>
      <vt:lpstr>Selection sort</vt:lpstr>
      <vt:lpstr>Selection sort</vt:lpstr>
      <vt:lpstr>Selection sort</vt:lpstr>
      <vt:lpstr>Selection sort</vt:lpstr>
      <vt:lpstr>Selection sort</vt:lpstr>
      <vt:lpstr>Selection sort</vt:lpstr>
      <vt:lpstr>Selection sort</vt:lpstr>
      <vt:lpstr>Selection sort</vt:lpstr>
      <vt:lpstr>Selection sort (Time analysis)</vt:lpstr>
      <vt:lpstr>Bubble sort</vt:lpstr>
      <vt:lpstr>Bubble sort</vt:lpstr>
      <vt:lpstr>Bubble sort</vt:lpstr>
      <vt:lpstr>Bubble sort</vt:lpstr>
      <vt:lpstr>Bubble sort</vt:lpstr>
      <vt:lpstr>Bubble sort</vt:lpstr>
      <vt:lpstr>Bubble sort</vt:lpstr>
      <vt:lpstr>Bubble sort</vt:lpstr>
      <vt:lpstr>Bubble sort</vt:lpstr>
      <vt:lpstr>Bubble sort</vt:lpstr>
      <vt:lpstr>Bubble sort</vt:lpstr>
      <vt:lpstr>Bubble sort</vt:lpstr>
      <vt:lpstr>Bubble sort</vt:lpstr>
      <vt:lpstr>Bubble sort</vt:lpstr>
      <vt:lpstr>Bubble sort</vt:lpstr>
      <vt:lpstr>Bubble sort</vt:lpstr>
      <vt:lpstr>Bubble sort</vt:lpstr>
      <vt:lpstr>Bubble sort</vt:lpstr>
      <vt:lpstr>Bubble sort</vt:lpstr>
      <vt:lpstr>Bubble sort</vt:lpstr>
      <vt:lpstr>Bubble sort</vt:lpstr>
      <vt:lpstr>Bubble sort</vt:lpstr>
      <vt:lpstr>Bubble sort</vt:lpstr>
      <vt:lpstr>Bubble sort</vt:lpstr>
      <vt:lpstr>Bubble sort</vt:lpstr>
      <vt:lpstr>Bubble sort</vt:lpstr>
      <vt:lpstr>Bubble sort</vt:lpstr>
      <vt:lpstr>Bubble sort</vt:lpstr>
      <vt:lpstr>Bubble sort</vt:lpstr>
      <vt:lpstr>Bubble sort (time analysis)</vt:lpstr>
      <vt:lpstr>Sequential search and String matching  </vt:lpstr>
      <vt:lpstr>Sequential Search</vt:lpstr>
      <vt:lpstr>Sequential Search</vt:lpstr>
      <vt:lpstr>Sequential Search</vt:lpstr>
      <vt:lpstr>Sequential Search</vt:lpstr>
      <vt:lpstr>Sequential Search</vt:lpstr>
      <vt:lpstr>Sequential Search</vt:lpstr>
      <vt:lpstr>Sequential Search</vt:lpstr>
      <vt:lpstr>Sequential Search</vt:lpstr>
      <vt:lpstr>Sequential search (time analysis)</vt:lpstr>
      <vt:lpstr>Brute Force String Match </vt:lpstr>
      <vt:lpstr>Brute Force String Match </vt:lpstr>
      <vt:lpstr>Brute Force String Match </vt:lpstr>
      <vt:lpstr>Brute Force String Match </vt:lpstr>
      <vt:lpstr>Brute Force String Match </vt:lpstr>
      <vt:lpstr>Brute Force String Match </vt:lpstr>
      <vt:lpstr>Brute Force String Match </vt:lpstr>
      <vt:lpstr>Brute Force String Match </vt:lpstr>
      <vt:lpstr>Brute Force String Match </vt:lpstr>
      <vt:lpstr>Brute Force String Match </vt:lpstr>
      <vt:lpstr>Brute Force String Match </vt:lpstr>
      <vt:lpstr>Brute Force String Match </vt:lpstr>
      <vt:lpstr>Brute Force String Match </vt:lpstr>
      <vt:lpstr>Brute Force String Match </vt:lpstr>
      <vt:lpstr>Brute Force String Match </vt:lpstr>
      <vt:lpstr>Brute Force String Match </vt:lpstr>
      <vt:lpstr>Brute Force String Match </vt:lpstr>
      <vt:lpstr>Brute Force String Match </vt:lpstr>
      <vt:lpstr>Brute Force String Match </vt:lpstr>
      <vt:lpstr>Brute Force String Match </vt:lpstr>
      <vt:lpstr>Brute Force String Match </vt:lpstr>
      <vt:lpstr>Brute Force String Match </vt:lpstr>
      <vt:lpstr>Brute Force String Match </vt:lpstr>
      <vt:lpstr>Brute Force String Match </vt:lpstr>
      <vt:lpstr>Brute Force String Match </vt:lpstr>
      <vt:lpstr>Brute Force String Match </vt:lpstr>
      <vt:lpstr>Brute Force String Match (Time analysis)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Mohamed Moheeb</dc:creator>
  <cp:lastModifiedBy>Mohamed Moheeb</cp:lastModifiedBy>
  <cp:revision>63</cp:revision>
  <dcterms:created xsi:type="dcterms:W3CDTF">2026-01-25T09:41:58Z</dcterms:created>
  <dcterms:modified xsi:type="dcterms:W3CDTF">2026-02-26T14:18:55Z</dcterms:modified>
</cp:coreProperties>
</file>