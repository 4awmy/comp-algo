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59" r:id="rId5"/>
    <p:sldId id="309" r:id="rId6"/>
    <p:sldId id="260" r:id="rId7"/>
    <p:sldId id="262" r:id="rId8"/>
    <p:sldId id="261" r:id="rId9"/>
    <p:sldId id="263" r:id="rId10"/>
    <p:sldId id="265" r:id="rId11"/>
    <p:sldId id="266" r:id="rId12"/>
    <p:sldId id="267" r:id="rId13"/>
    <p:sldId id="268" r:id="rId14"/>
    <p:sldId id="269" r:id="rId15"/>
    <p:sldId id="270" r:id="rId16"/>
    <p:sldId id="271" r:id="rId17"/>
    <p:sldId id="272" r:id="rId18"/>
    <p:sldId id="273" r:id="rId19"/>
    <p:sldId id="274" r:id="rId20"/>
    <p:sldId id="26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6"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4E6F2F-0E63-4291-99CD-236C253159C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5F2E9BF-C3A9-4D42-9A89-346ABE9C0912}">
      <dgm:prSet/>
      <dgm:spPr/>
      <dgm:t>
        <a:bodyPr/>
        <a:lstStyle/>
        <a:p>
          <a:r>
            <a:rPr lang="en-US" dirty="0"/>
            <a:t>Introduction to computing Algorithm (week 1)</a:t>
          </a:r>
        </a:p>
      </dgm:t>
    </dgm:pt>
    <dgm:pt modelId="{D528A77D-389A-4DBF-8635-C5EBCD414570}" type="parTrans" cxnId="{E81DD664-6FE8-48CF-9223-60E4918E09BA}">
      <dgm:prSet/>
      <dgm:spPr/>
      <dgm:t>
        <a:bodyPr/>
        <a:lstStyle/>
        <a:p>
          <a:endParaRPr lang="en-US"/>
        </a:p>
      </dgm:t>
    </dgm:pt>
    <dgm:pt modelId="{AE83DD98-7456-4A4F-925E-9286E4D5C4D4}" type="sibTrans" cxnId="{E81DD664-6FE8-48CF-9223-60E4918E09BA}">
      <dgm:prSet/>
      <dgm:spPr/>
      <dgm:t>
        <a:bodyPr/>
        <a:lstStyle/>
        <a:p>
          <a:endParaRPr lang="en-US"/>
        </a:p>
      </dgm:t>
    </dgm:pt>
    <dgm:pt modelId="{A588EA3E-DE3B-4369-99AB-5572C19EC031}">
      <dgm:prSet/>
      <dgm:spPr/>
      <dgm:t>
        <a:bodyPr/>
        <a:lstStyle/>
        <a:p>
          <a:r>
            <a:rPr lang="en-US" dirty="0"/>
            <a:t>Fundamentals for algorithm analysis (week 2-3)</a:t>
          </a:r>
        </a:p>
      </dgm:t>
    </dgm:pt>
    <dgm:pt modelId="{3393FCFE-3215-4ACD-AEDE-47537757412B}" type="parTrans" cxnId="{CEF7BA12-931D-43A5-8C64-6B830D59E1E9}">
      <dgm:prSet/>
      <dgm:spPr/>
      <dgm:t>
        <a:bodyPr/>
        <a:lstStyle/>
        <a:p>
          <a:endParaRPr lang="en-US"/>
        </a:p>
      </dgm:t>
    </dgm:pt>
    <dgm:pt modelId="{E4CB564C-2622-405C-AF0B-DE1074035BD0}" type="sibTrans" cxnId="{CEF7BA12-931D-43A5-8C64-6B830D59E1E9}">
      <dgm:prSet/>
      <dgm:spPr/>
      <dgm:t>
        <a:bodyPr/>
        <a:lstStyle/>
        <a:p>
          <a:endParaRPr lang="en-US"/>
        </a:p>
      </dgm:t>
    </dgm:pt>
    <dgm:pt modelId="{A08DE400-EF6B-4DAF-B5A7-B7E7E7625DE6}">
      <dgm:prSet/>
      <dgm:spPr/>
      <dgm:t>
        <a:bodyPr/>
        <a:lstStyle/>
        <a:p>
          <a:r>
            <a:rPr lang="en-US" dirty="0"/>
            <a:t>Brute Force (week 4-5)</a:t>
          </a:r>
        </a:p>
      </dgm:t>
    </dgm:pt>
    <dgm:pt modelId="{D005DB91-2F73-43D3-9984-AFAF02ED159A}" type="parTrans" cxnId="{40C71637-2F40-486A-AAFA-E1CA0FAA2929}">
      <dgm:prSet/>
      <dgm:spPr/>
      <dgm:t>
        <a:bodyPr/>
        <a:lstStyle/>
        <a:p>
          <a:endParaRPr lang="en-US"/>
        </a:p>
      </dgm:t>
    </dgm:pt>
    <dgm:pt modelId="{5006A962-4B29-4468-99FD-B733755C65FE}" type="sibTrans" cxnId="{40C71637-2F40-486A-AAFA-E1CA0FAA2929}">
      <dgm:prSet/>
      <dgm:spPr/>
      <dgm:t>
        <a:bodyPr/>
        <a:lstStyle/>
        <a:p>
          <a:endParaRPr lang="en-US"/>
        </a:p>
      </dgm:t>
    </dgm:pt>
    <dgm:pt modelId="{22B8F068-56B4-4415-BA1A-583EE5BBB65B}">
      <dgm:prSet/>
      <dgm:spPr/>
      <dgm:t>
        <a:bodyPr/>
        <a:lstStyle/>
        <a:p>
          <a:r>
            <a:rPr lang="en-US" dirty="0"/>
            <a:t>Decrease and Conquer (week 6)</a:t>
          </a:r>
        </a:p>
      </dgm:t>
    </dgm:pt>
    <dgm:pt modelId="{D6AFBA49-CDF2-41A4-8142-26F3A8E39277}" type="parTrans" cxnId="{BBB5C107-8457-4298-B5DA-0C7C656917EE}">
      <dgm:prSet/>
      <dgm:spPr/>
      <dgm:t>
        <a:bodyPr/>
        <a:lstStyle/>
        <a:p>
          <a:endParaRPr lang="en-US"/>
        </a:p>
      </dgm:t>
    </dgm:pt>
    <dgm:pt modelId="{A8720463-272A-4269-8B38-9184D279B4F5}" type="sibTrans" cxnId="{BBB5C107-8457-4298-B5DA-0C7C656917EE}">
      <dgm:prSet/>
      <dgm:spPr/>
      <dgm:t>
        <a:bodyPr/>
        <a:lstStyle/>
        <a:p>
          <a:endParaRPr lang="en-US"/>
        </a:p>
      </dgm:t>
    </dgm:pt>
    <dgm:pt modelId="{B6FD5CA2-0CCC-42AD-9E50-3563B80EA3DC}">
      <dgm:prSet/>
      <dgm:spPr/>
      <dgm:t>
        <a:bodyPr/>
        <a:lstStyle/>
        <a:p>
          <a:r>
            <a:rPr lang="en-US" dirty="0"/>
            <a:t>Divide and Conquer (week 8-9)</a:t>
          </a:r>
        </a:p>
      </dgm:t>
    </dgm:pt>
    <dgm:pt modelId="{ABD402B0-1502-42EA-974D-0ACA71661A7D}" type="parTrans" cxnId="{4E0698DD-DEA4-45FB-90B7-880F6DBB0422}">
      <dgm:prSet/>
      <dgm:spPr/>
      <dgm:t>
        <a:bodyPr/>
        <a:lstStyle/>
        <a:p>
          <a:endParaRPr lang="en-US"/>
        </a:p>
      </dgm:t>
    </dgm:pt>
    <dgm:pt modelId="{6443CAE8-06DD-4A40-97A4-5979377E5135}" type="sibTrans" cxnId="{4E0698DD-DEA4-45FB-90B7-880F6DBB0422}">
      <dgm:prSet/>
      <dgm:spPr/>
      <dgm:t>
        <a:bodyPr/>
        <a:lstStyle/>
        <a:p>
          <a:endParaRPr lang="en-US"/>
        </a:p>
      </dgm:t>
    </dgm:pt>
    <dgm:pt modelId="{593FF565-8896-481F-AE9D-ED4E62671071}">
      <dgm:prSet/>
      <dgm:spPr/>
      <dgm:t>
        <a:bodyPr/>
        <a:lstStyle/>
        <a:p>
          <a:r>
            <a:rPr lang="en-US" dirty="0"/>
            <a:t>Transform and Conquer (week 10)</a:t>
          </a:r>
        </a:p>
      </dgm:t>
    </dgm:pt>
    <dgm:pt modelId="{7812988B-58A9-4B91-AE50-381A5B14BC0C}" type="parTrans" cxnId="{2469840C-B8E3-42AF-836B-4802C59CC1BC}">
      <dgm:prSet/>
      <dgm:spPr/>
      <dgm:t>
        <a:bodyPr/>
        <a:lstStyle/>
        <a:p>
          <a:endParaRPr lang="en-US"/>
        </a:p>
      </dgm:t>
    </dgm:pt>
    <dgm:pt modelId="{E026FF47-5544-4626-BE6C-E04F85F6604B}" type="sibTrans" cxnId="{2469840C-B8E3-42AF-836B-4802C59CC1BC}">
      <dgm:prSet/>
      <dgm:spPr/>
      <dgm:t>
        <a:bodyPr/>
        <a:lstStyle/>
        <a:p>
          <a:endParaRPr lang="en-US"/>
        </a:p>
      </dgm:t>
    </dgm:pt>
    <dgm:pt modelId="{F20539AD-5767-42A9-9CAE-3C21D354A10E}">
      <dgm:prSet/>
      <dgm:spPr/>
      <dgm:t>
        <a:bodyPr/>
        <a:lstStyle/>
        <a:p>
          <a:r>
            <a:rPr lang="en-US" dirty="0"/>
            <a:t>Space and Time Trade-Offs (week 11)</a:t>
          </a:r>
        </a:p>
      </dgm:t>
    </dgm:pt>
    <dgm:pt modelId="{D6013695-AEE2-4771-8188-C14D9BD052E5}" type="parTrans" cxnId="{EB99E96E-264E-43FF-8E3E-C4F26B302BF7}">
      <dgm:prSet/>
      <dgm:spPr/>
      <dgm:t>
        <a:bodyPr/>
        <a:lstStyle/>
        <a:p>
          <a:endParaRPr lang="en-US"/>
        </a:p>
      </dgm:t>
    </dgm:pt>
    <dgm:pt modelId="{D2E459B6-9052-4DF5-BC02-11E4D21E2B94}" type="sibTrans" cxnId="{EB99E96E-264E-43FF-8E3E-C4F26B302BF7}">
      <dgm:prSet/>
      <dgm:spPr/>
      <dgm:t>
        <a:bodyPr/>
        <a:lstStyle/>
        <a:p>
          <a:endParaRPr lang="en-US"/>
        </a:p>
      </dgm:t>
    </dgm:pt>
    <dgm:pt modelId="{B74D114D-5FA6-42AB-B1FA-CAC937C8883E}">
      <dgm:prSet/>
      <dgm:spPr/>
      <dgm:t>
        <a:bodyPr/>
        <a:lstStyle/>
        <a:p>
          <a:r>
            <a:rPr lang="en-US" dirty="0"/>
            <a:t>Dynamic Programming (week 13)</a:t>
          </a:r>
        </a:p>
      </dgm:t>
    </dgm:pt>
    <dgm:pt modelId="{2A00C3CA-578E-4026-A622-929B6A9D1179}" type="parTrans" cxnId="{C7BBD74C-1F03-42C3-9FA6-D70A53C4AD79}">
      <dgm:prSet/>
      <dgm:spPr/>
      <dgm:t>
        <a:bodyPr/>
        <a:lstStyle/>
        <a:p>
          <a:endParaRPr lang="en-US"/>
        </a:p>
      </dgm:t>
    </dgm:pt>
    <dgm:pt modelId="{964A222D-87BA-4ACD-BF20-3C231FC1095C}" type="sibTrans" cxnId="{C7BBD74C-1F03-42C3-9FA6-D70A53C4AD79}">
      <dgm:prSet/>
      <dgm:spPr/>
      <dgm:t>
        <a:bodyPr/>
        <a:lstStyle/>
        <a:p>
          <a:endParaRPr lang="en-US"/>
        </a:p>
      </dgm:t>
    </dgm:pt>
    <dgm:pt modelId="{3497E650-12E5-47E0-822D-FC9A6285E8AB}">
      <dgm:prSet/>
      <dgm:spPr/>
      <dgm:t>
        <a:bodyPr/>
        <a:lstStyle/>
        <a:p>
          <a:r>
            <a:rPr lang="en-US" dirty="0"/>
            <a:t>Greedy Technique (week 14)</a:t>
          </a:r>
        </a:p>
      </dgm:t>
    </dgm:pt>
    <dgm:pt modelId="{50E14B95-3EE9-4E88-80D7-825C79764ADF}" type="parTrans" cxnId="{C16635F8-5A2B-4E76-A991-017B7AFAE4DA}">
      <dgm:prSet/>
      <dgm:spPr/>
      <dgm:t>
        <a:bodyPr/>
        <a:lstStyle/>
        <a:p>
          <a:endParaRPr lang="en-US"/>
        </a:p>
      </dgm:t>
    </dgm:pt>
    <dgm:pt modelId="{856A0B11-706E-480B-B8B5-CB90C52CDA6F}" type="sibTrans" cxnId="{C16635F8-5A2B-4E76-A991-017B7AFAE4DA}">
      <dgm:prSet/>
      <dgm:spPr/>
      <dgm:t>
        <a:bodyPr/>
        <a:lstStyle/>
        <a:p>
          <a:endParaRPr lang="en-US"/>
        </a:p>
      </dgm:t>
    </dgm:pt>
    <dgm:pt modelId="{E8AE14FF-B521-42DA-A384-5B1C191B978F}" type="pres">
      <dgm:prSet presAssocID="{374E6F2F-0E63-4291-99CD-236C253159C9}" presName="vert0" presStyleCnt="0">
        <dgm:presLayoutVars>
          <dgm:dir/>
          <dgm:animOne val="branch"/>
          <dgm:animLvl val="lvl"/>
        </dgm:presLayoutVars>
      </dgm:prSet>
      <dgm:spPr/>
    </dgm:pt>
    <dgm:pt modelId="{74BC7DE6-C852-4BDE-B27F-C794477C98ED}" type="pres">
      <dgm:prSet presAssocID="{75F2E9BF-C3A9-4D42-9A89-346ABE9C0912}" presName="thickLine" presStyleLbl="alignNode1" presStyleIdx="0" presStyleCnt="9"/>
      <dgm:spPr/>
    </dgm:pt>
    <dgm:pt modelId="{267FF9EA-F4C4-479E-98A8-1869A67241FE}" type="pres">
      <dgm:prSet presAssocID="{75F2E9BF-C3A9-4D42-9A89-346ABE9C0912}" presName="horz1" presStyleCnt="0"/>
      <dgm:spPr/>
    </dgm:pt>
    <dgm:pt modelId="{8321DD0B-5007-4917-84F4-D986A7F531FC}" type="pres">
      <dgm:prSet presAssocID="{75F2E9BF-C3A9-4D42-9A89-346ABE9C0912}" presName="tx1" presStyleLbl="revTx" presStyleIdx="0" presStyleCnt="9"/>
      <dgm:spPr/>
    </dgm:pt>
    <dgm:pt modelId="{503FD89E-9D26-4682-97BE-26CB76893AA2}" type="pres">
      <dgm:prSet presAssocID="{75F2E9BF-C3A9-4D42-9A89-346ABE9C0912}" presName="vert1" presStyleCnt="0"/>
      <dgm:spPr/>
    </dgm:pt>
    <dgm:pt modelId="{8B6FB405-77A3-4492-BC2E-A39DE2F03983}" type="pres">
      <dgm:prSet presAssocID="{A588EA3E-DE3B-4369-99AB-5572C19EC031}" presName="thickLine" presStyleLbl="alignNode1" presStyleIdx="1" presStyleCnt="9"/>
      <dgm:spPr/>
    </dgm:pt>
    <dgm:pt modelId="{F4F2D215-657B-4BF5-8A7C-E9C520D8EAA4}" type="pres">
      <dgm:prSet presAssocID="{A588EA3E-DE3B-4369-99AB-5572C19EC031}" presName="horz1" presStyleCnt="0"/>
      <dgm:spPr/>
    </dgm:pt>
    <dgm:pt modelId="{DFF20251-5859-4974-A280-67C3AFB6D170}" type="pres">
      <dgm:prSet presAssocID="{A588EA3E-DE3B-4369-99AB-5572C19EC031}" presName="tx1" presStyleLbl="revTx" presStyleIdx="1" presStyleCnt="9"/>
      <dgm:spPr/>
    </dgm:pt>
    <dgm:pt modelId="{F9CF0BCC-1A79-4853-B43D-099776800ACF}" type="pres">
      <dgm:prSet presAssocID="{A588EA3E-DE3B-4369-99AB-5572C19EC031}" presName="vert1" presStyleCnt="0"/>
      <dgm:spPr/>
    </dgm:pt>
    <dgm:pt modelId="{325D68B1-C777-4A2C-81E8-629DC0529DE1}" type="pres">
      <dgm:prSet presAssocID="{A08DE400-EF6B-4DAF-B5A7-B7E7E7625DE6}" presName="thickLine" presStyleLbl="alignNode1" presStyleIdx="2" presStyleCnt="9"/>
      <dgm:spPr/>
    </dgm:pt>
    <dgm:pt modelId="{95D7C8AE-8D3F-4905-AB9F-0A30E7910984}" type="pres">
      <dgm:prSet presAssocID="{A08DE400-EF6B-4DAF-B5A7-B7E7E7625DE6}" presName="horz1" presStyleCnt="0"/>
      <dgm:spPr/>
    </dgm:pt>
    <dgm:pt modelId="{34BA36EC-871E-4B6C-B04A-5349C85482D6}" type="pres">
      <dgm:prSet presAssocID="{A08DE400-EF6B-4DAF-B5A7-B7E7E7625DE6}" presName="tx1" presStyleLbl="revTx" presStyleIdx="2" presStyleCnt="9"/>
      <dgm:spPr/>
    </dgm:pt>
    <dgm:pt modelId="{4576F2A7-3FEB-4B4B-9123-E861E42BDDA3}" type="pres">
      <dgm:prSet presAssocID="{A08DE400-EF6B-4DAF-B5A7-B7E7E7625DE6}" presName="vert1" presStyleCnt="0"/>
      <dgm:spPr/>
    </dgm:pt>
    <dgm:pt modelId="{96B9945F-FC9D-44D7-B968-D9BF42F5DB41}" type="pres">
      <dgm:prSet presAssocID="{22B8F068-56B4-4415-BA1A-583EE5BBB65B}" presName="thickLine" presStyleLbl="alignNode1" presStyleIdx="3" presStyleCnt="9"/>
      <dgm:spPr/>
    </dgm:pt>
    <dgm:pt modelId="{C2CAFF69-04C2-4C7E-9A97-44E55F7DD027}" type="pres">
      <dgm:prSet presAssocID="{22B8F068-56B4-4415-BA1A-583EE5BBB65B}" presName="horz1" presStyleCnt="0"/>
      <dgm:spPr/>
    </dgm:pt>
    <dgm:pt modelId="{8648A949-B1F7-4EBB-9EFF-EC138E6526E5}" type="pres">
      <dgm:prSet presAssocID="{22B8F068-56B4-4415-BA1A-583EE5BBB65B}" presName="tx1" presStyleLbl="revTx" presStyleIdx="3" presStyleCnt="9"/>
      <dgm:spPr/>
    </dgm:pt>
    <dgm:pt modelId="{DF4B309D-94A2-4561-8A35-0E686CD3EF04}" type="pres">
      <dgm:prSet presAssocID="{22B8F068-56B4-4415-BA1A-583EE5BBB65B}" presName="vert1" presStyleCnt="0"/>
      <dgm:spPr/>
    </dgm:pt>
    <dgm:pt modelId="{4E92766B-27A3-4B65-952E-B5CCEFE4C8F8}" type="pres">
      <dgm:prSet presAssocID="{B6FD5CA2-0CCC-42AD-9E50-3563B80EA3DC}" presName="thickLine" presStyleLbl="alignNode1" presStyleIdx="4" presStyleCnt="9"/>
      <dgm:spPr/>
    </dgm:pt>
    <dgm:pt modelId="{E449E3B8-9422-445C-952C-11F7ABC68A6F}" type="pres">
      <dgm:prSet presAssocID="{B6FD5CA2-0CCC-42AD-9E50-3563B80EA3DC}" presName="horz1" presStyleCnt="0"/>
      <dgm:spPr/>
    </dgm:pt>
    <dgm:pt modelId="{DAD6ECB5-9FD0-4F3F-A0AB-22BEB69C26C6}" type="pres">
      <dgm:prSet presAssocID="{B6FD5CA2-0CCC-42AD-9E50-3563B80EA3DC}" presName="tx1" presStyleLbl="revTx" presStyleIdx="4" presStyleCnt="9"/>
      <dgm:spPr/>
    </dgm:pt>
    <dgm:pt modelId="{90DF94D1-B4D8-4D6B-B0CF-DEFD6EBFE28B}" type="pres">
      <dgm:prSet presAssocID="{B6FD5CA2-0CCC-42AD-9E50-3563B80EA3DC}" presName="vert1" presStyleCnt="0"/>
      <dgm:spPr/>
    </dgm:pt>
    <dgm:pt modelId="{4E597294-6FF1-4AAE-8CA6-7BC908E7F5F5}" type="pres">
      <dgm:prSet presAssocID="{593FF565-8896-481F-AE9D-ED4E62671071}" presName="thickLine" presStyleLbl="alignNode1" presStyleIdx="5" presStyleCnt="9"/>
      <dgm:spPr/>
    </dgm:pt>
    <dgm:pt modelId="{D8DEE587-4339-4FB7-9273-B620CF79FF7E}" type="pres">
      <dgm:prSet presAssocID="{593FF565-8896-481F-AE9D-ED4E62671071}" presName="horz1" presStyleCnt="0"/>
      <dgm:spPr/>
    </dgm:pt>
    <dgm:pt modelId="{33100CE9-E24D-448F-933C-5EE0780CAFDD}" type="pres">
      <dgm:prSet presAssocID="{593FF565-8896-481F-AE9D-ED4E62671071}" presName="tx1" presStyleLbl="revTx" presStyleIdx="5" presStyleCnt="9"/>
      <dgm:spPr/>
    </dgm:pt>
    <dgm:pt modelId="{CC6B92D2-A37A-4C87-8966-00C9BC140107}" type="pres">
      <dgm:prSet presAssocID="{593FF565-8896-481F-AE9D-ED4E62671071}" presName="vert1" presStyleCnt="0"/>
      <dgm:spPr/>
    </dgm:pt>
    <dgm:pt modelId="{14DCAA85-6B68-4174-9CA9-95AF27A2D5FE}" type="pres">
      <dgm:prSet presAssocID="{F20539AD-5767-42A9-9CAE-3C21D354A10E}" presName="thickLine" presStyleLbl="alignNode1" presStyleIdx="6" presStyleCnt="9"/>
      <dgm:spPr/>
    </dgm:pt>
    <dgm:pt modelId="{027ED6C0-ABAC-4606-93A7-8AD1ECF72E26}" type="pres">
      <dgm:prSet presAssocID="{F20539AD-5767-42A9-9CAE-3C21D354A10E}" presName="horz1" presStyleCnt="0"/>
      <dgm:spPr/>
    </dgm:pt>
    <dgm:pt modelId="{7C59D4CD-2299-4807-B53C-F312A9299410}" type="pres">
      <dgm:prSet presAssocID="{F20539AD-5767-42A9-9CAE-3C21D354A10E}" presName="tx1" presStyleLbl="revTx" presStyleIdx="6" presStyleCnt="9"/>
      <dgm:spPr/>
    </dgm:pt>
    <dgm:pt modelId="{5845C871-351F-441F-9C1D-7E01B3024910}" type="pres">
      <dgm:prSet presAssocID="{F20539AD-5767-42A9-9CAE-3C21D354A10E}" presName="vert1" presStyleCnt="0"/>
      <dgm:spPr/>
    </dgm:pt>
    <dgm:pt modelId="{3A9DB6A9-C1F6-407E-B82A-A583D713DCE0}" type="pres">
      <dgm:prSet presAssocID="{B74D114D-5FA6-42AB-B1FA-CAC937C8883E}" presName="thickLine" presStyleLbl="alignNode1" presStyleIdx="7" presStyleCnt="9"/>
      <dgm:spPr/>
    </dgm:pt>
    <dgm:pt modelId="{C2A4CF0C-9621-4F58-A856-29F0A853373D}" type="pres">
      <dgm:prSet presAssocID="{B74D114D-5FA6-42AB-B1FA-CAC937C8883E}" presName="horz1" presStyleCnt="0"/>
      <dgm:spPr/>
    </dgm:pt>
    <dgm:pt modelId="{8EB42CA4-07FD-44ED-BC44-5C294B8C77C6}" type="pres">
      <dgm:prSet presAssocID="{B74D114D-5FA6-42AB-B1FA-CAC937C8883E}" presName="tx1" presStyleLbl="revTx" presStyleIdx="7" presStyleCnt="9"/>
      <dgm:spPr/>
    </dgm:pt>
    <dgm:pt modelId="{C06D91EB-E439-4666-9049-7F2B92E2E5AA}" type="pres">
      <dgm:prSet presAssocID="{B74D114D-5FA6-42AB-B1FA-CAC937C8883E}" presName="vert1" presStyleCnt="0"/>
      <dgm:spPr/>
    </dgm:pt>
    <dgm:pt modelId="{7590FBD2-C5C7-4221-8973-2CC186F2721B}" type="pres">
      <dgm:prSet presAssocID="{3497E650-12E5-47E0-822D-FC9A6285E8AB}" presName="thickLine" presStyleLbl="alignNode1" presStyleIdx="8" presStyleCnt="9"/>
      <dgm:spPr/>
    </dgm:pt>
    <dgm:pt modelId="{513C79DF-0CEE-4A47-9A8C-4DEFBDFF2AC4}" type="pres">
      <dgm:prSet presAssocID="{3497E650-12E5-47E0-822D-FC9A6285E8AB}" presName="horz1" presStyleCnt="0"/>
      <dgm:spPr/>
    </dgm:pt>
    <dgm:pt modelId="{0779D5AF-ACB2-4B2E-84B3-A12929EA1F2E}" type="pres">
      <dgm:prSet presAssocID="{3497E650-12E5-47E0-822D-FC9A6285E8AB}" presName="tx1" presStyleLbl="revTx" presStyleIdx="8" presStyleCnt="9"/>
      <dgm:spPr/>
    </dgm:pt>
    <dgm:pt modelId="{5E43E13C-CC8C-49ED-B194-A78AB327183F}" type="pres">
      <dgm:prSet presAssocID="{3497E650-12E5-47E0-822D-FC9A6285E8AB}" presName="vert1" presStyleCnt="0"/>
      <dgm:spPr/>
    </dgm:pt>
  </dgm:ptLst>
  <dgm:cxnLst>
    <dgm:cxn modelId="{BBB5C107-8457-4298-B5DA-0C7C656917EE}" srcId="{374E6F2F-0E63-4291-99CD-236C253159C9}" destId="{22B8F068-56B4-4415-BA1A-583EE5BBB65B}" srcOrd="3" destOrd="0" parTransId="{D6AFBA49-CDF2-41A4-8142-26F3A8E39277}" sibTransId="{A8720463-272A-4269-8B38-9184D279B4F5}"/>
    <dgm:cxn modelId="{1D31010C-2BE3-4B8D-9B13-3BABDCD48B19}" type="presOf" srcId="{B74D114D-5FA6-42AB-B1FA-CAC937C8883E}" destId="{8EB42CA4-07FD-44ED-BC44-5C294B8C77C6}" srcOrd="0" destOrd="0" presId="urn:microsoft.com/office/officeart/2008/layout/LinedList"/>
    <dgm:cxn modelId="{2469840C-B8E3-42AF-836B-4802C59CC1BC}" srcId="{374E6F2F-0E63-4291-99CD-236C253159C9}" destId="{593FF565-8896-481F-AE9D-ED4E62671071}" srcOrd="5" destOrd="0" parTransId="{7812988B-58A9-4B91-AE50-381A5B14BC0C}" sibTransId="{E026FF47-5544-4626-BE6C-E04F85F6604B}"/>
    <dgm:cxn modelId="{CEF7BA12-931D-43A5-8C64-6B830D59E1E9}" srcId="{374E6F2F-0E63-4291-99CD-236C253159C9}" destId="{A588EA3E-DE3B-4369-99AB-5572C19EC031}" srcOrd="1" destOrd="0" parTransId="{3393FCFE-3215-4ACD-AEDE-47537757412B}" sibTransId="{E4CB564C-2622-405C-AF0B-DE1074035BD0}"/>
    <dgm:cxn modelId="{7F9A5432-8857-4715-A45A-52ABF3D8EB3E}" type="presOf" srcId="{374E6F2F-0E63-4291-99CD-236C253159C9}" destId="{E8AE14FF-B521-42DA-A384-5B1C191B978F}" srcOrd="0" destOrd="0" presId="urn:microsoft.com/office/officeart/2008/layout/LinedList"/>
    <dgm:cxn modelId="{40C71637-2F40-486A-AAFA-E1CA0FAA2929}" srcId="{374E6F2F-0E63-4291-99CD-236C253159C9}" destId="{A08DE400-EF6B-4DAF-B5A7-B7E7E7625DE6}" srcOrd="2" destOrd="0" parTransId="{D005DB91-2F73-43D3-9984-AFAF02ED159A}" sibTransId="{5006A962-4B29-4468-99FD-B733755C65FE}"/>
    <dgm:cxn modelId="{E81DD664-6FE8-48CF-9223-60E4918E09BA}" srcId="{374E6F2F-0E63-4291-99CD-236C253159C9}" destId="{75F2E9BF-C3A9-4D42-9A89-346ABE9C0912}" srcOrd="0" destOrd="0" parTransId="{D528A77D-389A-4DBF-8635-C5EBCD414570}" sibTransId="{AE83DD98-7456-4A4F-925E-9286E4D5C4D4}"/>
    <dgm:cxn modelId="{06C0D247-2DB5-42FC-9B77-9E30686D0C16}" type="presOf" srcId="{A08DE400-EF6B-4DAF-B5A7-B7E7E7625DE6}" destId="{34BA36EC-871E-4B6C-B04A-5349C85482D6}" srcOrd="0" destOrd="0" presId="urn:microsoft.com/office/officeart/2008/layout/LinedList"/>
    <dgm:cxn modelId="{C7BBD74C-1F03-42C3-9FA6-D70A53C4AD79}" srcId="{374E6F2F-0E63-4291-99CD-236C253159C9}" destId="{B74D114D-5FA6-42AB-B1FA-CAC937C8883E}" srcOrd="7" destOrd="0" parTransId="{2A00C3CA-578E-4026-A622-929B6A9D1179}" sibTransId="{964A222D-87BA-4ACD-BF20-3C231FC1095C}"/>
    <dgm:cxn modelId="{EB99E96E-264E-43FF-8E3E-C4F26B302BF7}" srcId="{374E6F2F-0E63-4291-99CD-236C253159C9}" destId="{F20539AD-5767-42A9-9CAE-3C21D354A10E}" srcOrd="6" destOrd="0" parTransId="{D6013695-AEE2-4771-8188-C14D9BD052E5}" sibTransId="{D2E459B6-9052-4DF5-BC02-11E4D21E2B94}"/>
    <dgm:cxn modelId="{E14F0752-ED7F-4A76-8FBB-48EF0054BF56}" type="presOf" srcId="{B6FD5CA2-0CCC-42AD-9E50-3563B80EA3DC}" destId="{DAD6ECB5-9FD0-4F3F-A0AB-22BEB69C26C6}" srcOrd="0" destOrd="0" presId="urn:microsoft.com/office/officeart/2008/layout/LinedList"/>
    <dgm:cxn modelId="{7A6E3554-1FCF-4547-B825-A85A24C6EC51}" type="presOf" srcId="{3497E650-12E5-47E0-822D-FC9A6285E8AB}" destId="{0779D5AF-ACB2-4B2E-84B3-A12929EA1F2E}" srcOrd="0" destOrd="0" presId="urn:microsoft.com/office/officeart/2008/layout/LinedList"/>
    <dgm:cxn modelId="{E87A84A0-2260-4C26-9F89-3B976ECCE9BE}" type="presOf" srcId="{F20539AD-5767-42A9-9CAE-3C21D354A10E}" destId="{7C59D4CD-2299-4807-B53C-F312A9299410}" srcOrd="0" destOrd="0" presId="urn:microsoft.com/office/officeart/2008/layout/LinedList"/>
    <dgm:cxn modelId="{32EDC1B8-E2A0-4927-85B3-5810F9600CB5}" type="presOf" srcId="{A588EA3E-DE3B-4369-99AB-5572C19EC031}" destId="{DFF20251-5859-4974-A280-67C3AFB6D170}" srcOrd="0" destOrd="0" presId="urn:microsoft.com/office/officeart/2008/layout/LinedList"/>
    <dgm:cxn modelId="{0100D6CA-3E44-4EA7-AC99-2A065B80C1B7}" type="presOf" srcId="{75F2E9BF-C3A9-4D42-9A89-346ABE9C0912}" destId="{8321DD0B-5007-4917-84F4-D986A7F531FC}" srcOrd="0" destOrd="0" presId="urn:microsoft.com/office/officeart/2008/layout/LinedList"/>
    <dgm:cxn modelId="{0DC92CCB-03BC-4562-8057-1382DD2B2A88}" type="presOf" srcId="{593FF565-8896-481F-AE9D-ED4E62671071}" destId="{33100CE9-E24D-448F-933C-5EE0780CAFDD}" srcOrd="0" destOrd="0" presId="urn:microsoft.com/office/officeart/2008/layout/LinedList"/>
    <dgm:cxn modelId="{4E0698DD-DEA4-45FB-90B7-880F6DBB0422}" srcId="{374E6F2F-0E63-4291-99CD-236C253159C9}" destId="{B6FD5CA2-0CCC-42AD-9E50-3563B80EA3DC}" srcOrd="4" destOrd="0" parTransId="{ABD402B0-1502-42EA-974D-0ACA71661A7D}" sibTransId="{6443CAE8-06DD-4A40-97A4-5979377E5135}"/>
    <dgm:cxn modelId="{DCC405F4-3753-4C66-B1DB-FDC2B6B71F79}" type="presOf" srcId="{22B8F068-56B4-4415-BA1A-583EE5BBB65B}" destId="{8648A949-B1F7-4EBB-9EFF-EC138E6526E5}" srcOrd="0" destOrd="0" presId="urn:microsoft.com/office/officeart/2008/layout/LinedList"/>
    <dgm:cxn modelId="{C16635F8-5A2B-4E76-A991-017B7AFAE4DA}" srcId="{374E6F2F-0E63-4291-99CD-236C253159C9}" destId="{3497E650-12E5-47E0-822D-FC9A6285E8AB}" srcOrd="8" destOrd="0" parTransId="{50E14B95-3EE9-4E88-80D7-825C79764ADF}" sibTransId="{856A0B11-706E-480B-B8B5-CB90C52CDA6F}"/>
    <dgm:cxn modelId="{F66EA92D-431A-4971-A948-05AABCD8F267}" type="presParOf" srcId="{E8AE14FF-B521-42DA-A384-5B1C191B978F}" destId="{74BC7DE6-C852-4BDE-B27F-C794477C98ED}" srcOrd="0" destOrd="0" presId="urn:microsoft.com/office/officeart/2008/layout/LinedList"/>
    <dgm:cxn modelId="{279D4212-11F0-497F-BB2C-8AFBF691DBD9}" type="presParOf" srcId="{E8AE14FF-B521-42DA-A384-5B1C191B978F}" destId="{267FF9EA-F4C4-479E-98A8-1869A67241FE}" srcOrd="1" destOrd="0" presId="urn:microsoft.com/office/officeart/2008/layout/LinedList"/>
    <dgm:cxn modelId="{5220C51E-523D-4767-88B8-BF7F828B3DA4}" type="presParOf" srcId="{267FF9EA-F4C4-479E-98A8-1869A67241FE}" destId="{8321DD0B-5007-4917-84F4-D986A7F531FC}" srcOrd="0" destOrd="0" presId="urn:microsoft.com/office/officeart/2008/layout/LinedList"/>
    <dgm:cxn modelId="{9238AD30-FF00-41CF-8385-B11A3DFFD2BA}" type="presParOf" srcId="{267FF9EA-F4C4-479E-98A8-1869A67241FE}" destId="{503FD89E-9D26-4682-97BE-26CB76893AA2}" srcOrd="1" destOrd="0" presId="urn:microsoft.com/office/officeart/2008/layout/LinedList"/>
    <dgm:cxn modelId="{318D71D7-90FF-4F55-89D1-3783F7387A3D}" type="presParOf" srcId="{E8AE14FF-B521-42DA-A384-5B1C191B978F}" destId="{8B6FB405-77A3-4492-BC2E-A39DE2F03983}" srcOrd="2" destOrd="0" presId="urn:microsoft.com/office/officeart/2008/layout/LinedList"/>
    <dgm:cxn modelId="{6FEAF15D-34AB-4D52-A1BB-A42E2F01FC9C}" type="presParOf" srcId="{E8AE14FF-B521-42DA-A384-5B1C191B978F}" destId="{F4F2D215-657B-4BF5-8A7C-E9C520D8EAA4}" srcOrd="3" destOrd="0" presId="urn:microsoft.com/office/officeart/2008/layout/LinedList"/>
    <dgm:cxn modelId="{58801A60-C7EB-46D5-A07E-FDF69DFE4581}" type="presParOf" srcId="{F4F2D215-657B-4BF5-8A7C-E9C520D8EAA4}" destId="{DFF20251-5859-4974-A280-67C3AFB6D170}" srcOrd="0" destOrd="0" presId="urn:microsoft.com/office/officeart/2008/layout/LinedList"/>
    <dgm:cxn modelId="{14E8A5CA-5F1D-4606-976F-FF34259D6918}" type="presParOf" srcId="{F4F2D215-657B-4BF5-8A7C-E9C520D8EAA4}" destId="{F9CF0BCC-1A79-4853-B43D-099776800ACF}" srcOrd="1" destOrd="0" presId="urn:microsoft.com/office/officeart/2008/layout/LinedList"/>
    <dgm:cxn modelId="{B0234605-51B3-40E4-A38C-54696DDC56B7}" type="presParOf" srcId="{E8AE14FF-B521-42DA-A384-5B1C191B978F}" destId="{325D68B1-C777-4A2C-81E8-629DC0529DE1}" srcOrd="4" destOrd="0" presId="urn:microsoft.com/office/officeart/2008/layout/LinedList"/>
    <dgm:cxn modelId="{61FE1160-C5DA-4E94-AD00-7CFC70DE0D9F}" type="presParOf" srcId="{E8AE14FF-B521-42DA-A384-5B1C191B978F}" destId="{95D7C8AE-8D3F-4905-AB9F-0A30E7910984}" srcOrd="5" destOrd="0" presId="urn:microsoft.com/office/officeart/2008/layout/LinedList"/>
    <dgm:cxn modelId="{F5D6D89B-BFAB-4936-8D50-1F0486CA3C56}" type="presParOf" srcId="{95D7C8AE-8D3F-4905-AB9F-0A30E7910984}" destId="{34BA36EC-871E-4B6C-B04A-5349C85482D6}" srcOrd="0" destOrd="0" presId="urn:microsoft.com/office/officeart/2008/layout/LinedList"/>
    <dgm:cxn modelId="{7C23C303-36D4-4524-873F-D34D07A64EA2}" type="presParOf" srcId="{95D7C8AE-8D3F-4905-AB9F-0A30E7910984}" destId="{4576F2A7-3FEB-4B4B-9123-E861E42BDDA3}" srcOrd="1" destOrd="0" presId="urn:microsoft.com/office/officeart/2008/layout/LinedList"/>
    <dgm:cxn modelId="{0E4A2D19-61D0-44C7-B20D-5A58B74D1187}" type="presParOf" srcId="{E8AE14FF-B521-42DA-A384-5B1C191B978F}" destId="{96B9945F-FC9D-44D7-B968-D9BF42F5DB41}" srcOrd="6" destOrd="0" presId="urn:microsoft.com/office/officeart/2008/layout/LinedList"/>
    <dgm:cxn modelId="{5C6F2290-55AA-455C-99C6-F406DF4F91F5}" type="presParOf" srcId="{E8AE14FF-B521-42DA-A384-5B1C191B978F}" destId="{C2CAFF69-04C2-4C7E-9A97-44E55F7DD027}" srcOrd="7" destOrd="0" presId="urn:microsoft.com/office/officeart/2008/layout/LinedList"/>
    <dgm:cxn modelId="{2BF900DE-1FF4-4E8E-B590-141EA6845EDE}" type="presParOf" srcId="{C2CAFF69-04C2-4C7E-9A97-44E55F7DD027}" destId="{8648A949-B1F7-4EBB-9EFF-EC138E6526E5}" srcOrd="0" destOrd="0" presId="urn:microsoft.com/office/officeart/2008/layout/LinedList"/>
    <dgm:cxn modelId="{EF6BFD1A-613A-403C-806F-393BEB8A2B29}" type="presParOf" srcId="{C2CAFF69-04C2-4C7E-9A97-44E55F7DD027}" destId="{DF4B309D-94A2-4561-8A35-0E686CD3EF04}" srcOrd="1" destOrd="0" presId="urn:microsoft.com/office/officeart/2008/layout/LinedList"/>
    <dgm:cxn modelId="{2179CF44-1937-49BC-8FA2-14E3E97246D7}" type="presParOf" srcId="{E8AE14FF-B521-42DA-A384-5B1C191B978F}" destId="{4E92766B-27A3-4B65-952E-B5CCEFE4C8F8}" srcOrd="8" destOrd="0" presId="urn:microsoft.com/office/officeart/2008/layout/LinedList"/>
    <dgm:cxn modelId="{8B02BB69-6539-40CA-B18E-AC3A3849B514}" type="presParOf" srcId="{E8AE14FF-B521-42DA-A384-5B1C191B978F}" destId="{E449E3B8-9422-445C-952C-11F7ABC68A6F}" srcOrd="9" destOrd="0" presId="urn:microsoft.com/office/officeart/2008/layout/LinedList"/>
    <dgm:cxn modelId="{2943B241-F9C2-4951-A18C-463E7AFF45EF}" type="presParOf" srcId="{E449E3B8-9422-445C-952C-11F7ABC68A6F}" destId="{DAD6ECB5-9FD0-4F3F-A0AB-22BEB69C26C6}" srcOrd="0" destOrd="0" presId="urn:microsoft.com/office/officeart/2008/layout/LinedList"/>
    <dgm:cxn modelId="{3BED9D78-E955-4C9F-8107-E04CDE062E7A}" type="presParOf" srcId="{E449E3B8-9422-445C-952C-11F7ABC68A6F}" destId="{90DF94D1-B4D8-4D6B-B0CF-DEFD6EBFE28B}" srcOrd="1" destOrd="0" presId="urn:microsoft.com/office/officeart/2008/layout/LinedList"/>
    <dgm:cxn modelId="{130ACBB1-E019-4471-9AFB-C1FEE1B2F31E}" type="presParOf" srcId="{E8AE14FF-B521-42DA-A384-5B1C191B978F}" destId="{4E597294-6FF1-4AAE-8CA6-7BC908E7F5F5}" srcOrd="10" destOrd="0" presId="urn:microsoft.com/office/officeart/2008/layout/LinedList"/>
    <dgm:cxn modelId="{DD89AC00-049B-4782-83EF-14C6247AFEB2}" type="presParOf" srcId="{E8AE14FF-B521-42DA-A384-5B1C191B978F}" destId="{D8DEE587-4339-4FB7-9273-B620CF79FF7E}" srcOrd="11" destOrd="0" presId="urn:microsoft.com/office/officeart/2008/layout/LinedList"/>
    <dgm:cxn modelId="{6A4325CB-E690-405E-BB4C-3A8E06E60AA4}" type="presParOf" srcId="{D8DEE587-4339-4FB7-9273-B620CF79FF7E}" destId="{33100CE9-E24D-448F-933C-5EE0780CAFDD}" srcOrd="0" destOrd="0" presId="urn:microsoft.com/office/officeart/2008/layout/LinedList"/>
    <dgm:cxn modelId="{17956571-1D9F-40EE-9AB5-5EAEEDB78C62}" type="presParOf" srcId="{D8DEE587-4339-4FB7-9273-B620CF79FF7E}" destId="{CC6B92D2-A37A-4C87-8966-00C9BC140107}" srcOrd="1" destOrd="0" presId="urn:microsoft.com/office/officeart/2008/layout/LinedList"/>
    <dgm:cxn modelId="{5BCAA763-D937-469B-9250-436AEDD15273}" type="presParOf" srcId="{E8AE14FF-B521-42DA-A384-5B1C191B978F}" destId="{14DCAA85-6B68-4174-9CA9-95AF27A2D5FE}" srcOrd="12" destOrd="0" presId="urn:microsoft.com/office/officeart/2008/layout/LinedList"/>
    <dgm:cxn modelId="{0FA96344-C55B-43F7-A577-4280C2808DE5}" type="presParOf" srcId="{E8AE14FF-B521-42DA-A384-5B1C191B978F}" destId="{027ED6C0-ABAC-4606-93A7-8AD1ECF72E26}" srcOrd="13" destOrd="0" presId="urn:microsoft.com/office/officeart/2008/layout/LinedList"/>
    <dgm:cxn modelId="{B51186B7-0ABD-4724-B7AD-9A4259D83B44}" type="presParOf" srcId="{027ED6C0-ABAC-4606-93A7-8AD1ECF72E26}" destId="{7C59D4CD-2299-4807-B53C-F312A9299410}" srcOrd="0" destOrd="0" presId="urn:microsoft.com/office/officeart/2008/layout/LinedList"/>
    <dgm:cxn modelId="{4C793671-9A1C-425C-B0D4-3DA791AF4ED5}" type="presParOf" srcId="{027ED6C0-ABAC-4606-93A7-8AD1ECF72E26}" destId="{5845C871-351F-441F-9C1D-7E01B3024910}" srcOrd="1" destOrd="0" presId="urn:microsoft.com/office/officeart/2008/layout/LinedList"/>
    <dgm:cxn modelId="{5F08DF44-45C2-40A6-82F5-7B727C5B814D}" type="presParOf" srcId="{E8AE14FF-B521-42DA-A384-5B1C191B978F}" destId="{3A9DB6A9-C1F6-407E-B82A-A583D713DCE0}" srcOrd="14" destOrd="0" presId="urn:microsoft.com/office/officeart/2008/layout/LinedList"/>
    <dgm:cxn modelId="{0F31E9CF-B53E-4347-B8AC-90780A2CEC9B}" type="presParOf" srcId="{E8AE14FF-B521-42DA-A384-5B1C191B978F}" destId="{C2A4CF0C-9621-4F58-A856-29F0A853373D}" srcOrd="15" destOrd="0" presId="urn:microsoft.com/office/officeart/2008/layout/LinedList"/>
    <dgm:cxn modelId="{8DC2ED87-95A4-460D-BA50-2AC8BEEC0478}" type="presParOf" srcId="{C2A4CF0C-9621-4F58-A856-29F0A853373D}" destId="{8EB42CA4-07FD-44ED-BC44-5C294B8C77C6}" srcOrd="0" destOrd="0" presId="urn:microsoft.com/office/officeart/2008/layout/LinedList"/>
    <dgm:cxn modelId="{39E3B6E7-50E4-4AFC-922E-D6A02CCE091A}" type="presParOf" srcId="{C2A4CF0C-9621-4F58-A856-29F0A853373D}" destId="{C06D91EB-E439-4666-9049-7F2B92E2E5AA}" srcOrd="1" destOrd="0" presId="urn:microsoft.com/office/officeart/2008/layout/LinedList"/>
    <dgm:cxn modelId="{6D607797-9E33-4B94-AAAF-152145465435}" type="presParOf" srcId="{E8AE14FF-B521-42DA-A384-5B1C191B978F}" destId="{7590FBD2-C5C7-4221-8973-2CC186F2721B}" srcOrd="16" destOrd="0" presId="urn:microsoft.com/office/officeart/2008/layout/LinedList"/>
    <dgm:cxn modelId="{A1E0686D-E176-4746-BD0F-CA4253C219B1}" type="presParOf" srcId="{E8AE14FF-B521-42DA-A384-5B1C191B978F}" destId="{513C79DF-0CEE-4A47-9A8C-4DEFBDFF2AC4}" srcOrd="17" destOrd="0" presId="urn:microsoft.com/office/officeart/2008/layout/LinedList"/>
    <dgm:cxn modelId="{F664676C-899C-4710-B9CA-9497FCCE234A}" type="presParOf" srcId="{513C79DF-0CEE-4A47-9A8C-4DEFBDFF2AC4}" destId="{0779D5AF-ACB2-4B2E-84B3-A12929EA1F2E}" srcOrd="0" destOrd="0" presId="urn:microsoft.com/office/officeart/2008/layout/LinedList"/>
    <dgm:cxn modelId="{3A92FD83-E598-4A4D-A9C0-DA186A4A3CAC}" type="presParOf" srcId="{513C79DF-0CEE-4A47-9A8C-4DEFBDFF2AC4}" destId="{5E43E13C-CC8C-49ED-B194-A78AB327183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C7DE6-C852-4BDE-B27F-C794477C98ED}">
      <dsp:nvSpPr>
        <dsp:cNvPr id="0" name=""/>
        <dsp:cNvSpPr/>
      </dsp:nvSpPr>
      <dsp:spPr>
        <a:xfrm>
          <a:off x="0" y="623"/>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21DD0B-5007-4917-84F4-D986A7F531FC}">
      <dsp:nvSpPr>
        <dsp:cNvPr id="0" name=""/>
        <dsp:cNvSpPr/>
      </dsp:nvSpPr>
      <dsp:spPr>
        <a:xfrm>
          <a:off x="0" y="623"/>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Introduction to computing Algorithm (week 1)</a:t>
          </a:r>
        </a:p>
      </dsp:txBody>
      <dsp:txXfrm>
        <a:off x="0" y="623"/>
        <a:ext cx="7216416" cy="567779"/>
      </dsp:txXfrm>
    </dsp:sp>
    <dsp:sp modelId="{8B6FB405-77A3-4492-BC2E-A39DE2F03983}">
      <dsp:nvSpPr>
        <dsp:cNvPr id="0" name=""/>
        <dsp:cNvSpPr/>
      </dsp:nvSpPr>
      <dsp:spPr>
        <a:xfrm>
          <a:off x="0" y="568403"/>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F20251-5859-4974-A280-67C3AFB6D170}">
      <dsp:nvSpPr>
        <dsp:cNvPr id="0" name=""/>
        <dsp:cNvSpPr/>
      </dsp:nvSpPr>
      <dsp:spPr>
        <a:xfrm>
          <a:off x="0" y="568403"/>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Fundamentals for algorithm analysis (week 2-3)</a:t>
          </a:r>
        </a:p>
      </dsp:txBody>
      <dsp:txXfrm>
        <a:off x="0" y="568403"/>
        <a:ext cx="7216416" cy="567779"/>
      </dsp:txXfrm>
    </dsp:sp>
    <dsp:sp modelId="{325D68B1-C777-4A2C-81E8-629DC0529DE1}">
      <dsp:nvSpPr>
        <dsp:cNvPr id="0" name=""/>
        <dsp:cNvSpPr/>
      </dsp:nvSpPr>
      <dsp:spPr>
        <a:xfrm>
          <a:off x="0" y="1136182"/>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BA36EC-871E-4B6C-B04A-5349C85482D6}">
      <dsp:nvSpPr>
        <dsp:cNvPr id="0" name=""/>
        <dsp:cNvSpPr/>
      </dsp:nvSpPr>
      <dsp:spPr>
        <a:xfrm>
          <a:off x="0" y="1136182"/>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Brute Force (week 4-5)</a:t>
          </a:r>
        </a:p>
      </dsp:txBody>
      <dsp:txXfrm>
        <a:off x="0" y="1136182"/>
        <a:ext cx="7216416" cy="567779"/>
      </dsp:txXfrm>
    </dsp:sp>
    <dsp:sp modelId="{96B9945F-FC9D-44D7-B968-D9BF42F5DB41}">
      <dsp:nvSpPr>
        <dsp:cNvPr id="0" name=""/>
        <dsp:cNvSpPr/>
      </dsp:nvSpPr>
      <dsp:spPr>
        <a:xfrm>
          <a:off x="0" y="1703961"/>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48A949-B1F7-4EBB-9EFF-EC138E6526E5}">
      <dsp:nvSpPr>
        <dsp:cNvPr id="0" name=""/>
        <dsp:cNvSpPr/>
      </dsp:nvSpPr>
      <dsp:spPr>
        <a:xfrm>
          <a:off x="0" y="1703961"/>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Decrease and Conquer (week 6)</a:t>
          </a:r>
        </a:p>
      </dsp:txBody>
      <dsp:txXfrm>
        <a:off x="0" y="1703961"/>
        <a:ext cx="7216416" cy="567779"/>
      </dsp:txXfrm>
    </dsp:sp>
    <dsp:sp modelId="{4E92766B-27A3-4B65-952E-B5CCEFE4C8F8}">
      <dsp:nvSpPr>
        <dsp:cNvPr id="0" name=""/>
        <dsp:cNvSpPr/>
      </dsp:nvSpPr>
      <dsp:spPr>
        <a:xfrm>
          <a:off x="0" y="2271740"/>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6ECB5-9FD0-4F3F-A0AB-22BEB69C26C6}">
      <dsp:nvSpPr>
        <dsp:cNvPr id="0" name=""/>
        <dsp:cNvSpPr/>
      </dsp:nvSpPr>
      <dsp:spPr>
        <a:xfrm>
          <a:off x="0" y="2271740"/>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Divide and Conquer (week 8-9)</a:t>
          </a:r>
        </a:p>
      </dsp:txBody>
      <dsp:txXfrm>
        <a:off x="0" y="2271740"/>
        <a:ext cx="7216416" cy="567779"/>
      </dsp:txXfrm>
    </dsp:sp>
    <dsp:sp modelId="{4E597294-6FF1-4AAE-8CA6-7BC908E7F5F5}">
      <dsp:nvSpPr>
        <dsp:cNvPr id="0" name=""/>
        <dsp:cNvSpPr/>
      </dsp:nvSpPr>
      <dsp:spPr>
        <a:xfrm>
          <a:off x="0" y="2839519"/>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100CE9-E24D-448F-933C-5EE0780CAFDD}">
      <dsp:nvSpPr>
        <dsp:cNvPr id="0" name=""/>
        <dsp:cNvSpPr/>
      </dsp:nvSpPr>
      <dsp:spPr>
        <a:xfrm>
          <a:off x="0" y="2839519"/>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Transform and Conquer (week 10)</a:t>
          </a:r>
        </a:p>
      </dsp:txBody>
      <dsp:txXfrm>
        <a:off x="0" y="2839519"/>
        <a:ext cx="7216416" cy="567779"/>
      </dsp:txXfrm>
    </dsp:sp>
    <dsp:sp modelId="{14DCAA85-6B68-4174-9CA9-95AF27A2D5FE}">
      <dsp:nvSpPr>
        <dsp:cNvPr id="0" name=""/>
        <dsp:cNvSpPr/>
      </dsp:nvSpPr>
      <dsp:spPr>
        <a:xfrm>
          <a:off x="0" y="3407298"/>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59D4CD-2299-4807-B53C-F312A9299410}">
      <dsp:nvSpPr>
        <dsp:cNvPr id="0" name=""/>
        <dsp:cNvSpPr/>
      </dsp:nvSpPr>
      <dsp:spPr>
        <a:xfrm>
          <a:off x="0" y="3407298"/>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Space and Time Trade-Offs (week 11)</a:t>
          </a:r>
        </a:p>
      </dsp:txBody>
      <dsp:txXfrm>
        <a:off x="0" y="3407298"/>
        <a:ext cx="7216416" cy="567779"/>
      </dsp:txXfrm>
    </dsp:sp>
    <dsp:sp modelId="{3A9DB6A9-C1F6-407E-B82A-A583D713DCE0}">
      <dsp:nvSpPr>
        <dsp:cNvPr id="0" name=""/>
        <dsp:cNvSpPr/>
      </dsp:nvSpPr>
      <dsp:spPr>
        <a:xfrm>
          <a:off x="0" y="3975077"/>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B42CA4-07FD-44ED-BC44-5C294B8C77C6}">
      <dsp:nvSpPr>
        <dsp:cNvPr id="0" name=""/>
        <dsp:cNvSpPr/>
      </dsp:nvSpPr>
      <dsp:spPr>
        <a:xfrm>
          <a:off x="0" y="3975077"/>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Dynamic Programming (week 13)</a:t>
          </a:r>
        </a:p>
      </dsp:txBody>
      <dsp:txXfrm>
        <a:off x="0" y="3975077"/>
        <a:ext cx="7216416" cy="567779"/>
      </dsp:txXfrm>
    </dsp:sp>
    <dsp:sp modelId="{7590FBD2-C5C7-4221-8973-2CC186F2721B}">
      <dsp:nvSpPr>
        <dsp:cNvPr id="0" name=""/>
        <dsp:cNvSpPr/>
      </dsp:nvSpPr>
      <dsp:spPr>
        <a:xfrm>
          <a:off x="0" y="4542856"/>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79D5AF-ACB2-4B2E-84B3-A12929EA1F2E}">
      <dsp:nvSpPr>
        <dsp:cNvPr id="0" name=""/>
        <dsp:cNvSpPr/>
      </dsp:nvSpPr>
      <dsp:spPr>
        <a:xfrm>
          <a:off x="0" y="4542856"/>
          <a:ext cx="7216416" cy="56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Greedy Technique (week 14)</a:t>
          </a:r>
        </a:p>
      </dsp:txBody>
      <dsp:txXfrm>
        <a:off x="0" y="4542856"/>
        <a:ext cx="7216416" cy="56777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2/9/2026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84463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2/9/2026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91633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2/9/2026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403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2/9/2026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605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2/9/2026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75414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2/9/2026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54808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2/9/2026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72344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2/9/2026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96499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2/9/2026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0837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2/9/2026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716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2/9/2026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789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2/9/2026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42388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EAE456-DA79-9895-19B2-CBCA5A8A7115}"/>
              </a:ext>
            </a:extLst>
          </p:cNvPr>
          <p:cNvSpPr>
            <a:spLocks noGrp="1"/>
          </p:cNvSpPr>
          <p:nvPr>
            <p:ph type="ctrTitle"/>
          </p:nvPr>
        </p:nvSpPr>
        <p:spPr>
          <a:xfrm>
            <a:off x="640080" y="1371600"/>
            <a:ext cx="4670661" cy="3030842"/>
          </a:xfrm>
        </p:spPr>
        <p:txBody>
          <a:bodyPr>
            <a:normAutofit/>
          </a:bodyPr>
          <a:lstStyle/>
          <a:p>
            <a:r>
              <a:rPr lang="en-US" dirty="0"/>
              <a:t>Computing Algorithms</a:t>
            </a:r>
            <a:br>
              <a:rPr lang="en-US" dirty="0"/>
            </a:br>
            <a:r>
              <a:rPr lang="en-US" dirty="0"/>
              <a:t>Lecture 1</a:t>
            </a:r>
          </a:p>
        </p:txBody>
      </p:sp>
      <p:sp>
        <p:nvSpPr>
          <p:cNvPr id="3" name="Subtitle 2">
            <a:extLst>
              <a:ext uri="{FF2B5EF4-FFF2-40B4-BE49-F238E27FC236}">
                <a16:creationId xmlns:a16="http://schemas.microsoft.com/office/drawing/2014/main" id="{8B383053-DBC8-A47D-72F0-B866CFBE532C}"/>
              </a:ext>
            </a:extLst>
          </p:cNvPr>
          <p:cNvSpPr>
            <a:spLocks noGrp="1"/>
          </p:cNvSpPr>
          <p:nvPr>
            <p:ph type="subTitle" idx="1"/>
          </p:nvPr>
        </p:nvSpPr>
        <p:spPr>
          <a:xfrm>
            <a:off x="640080" y="4584879"/>
            <a:ext cx="4670660" cy="1287887"/>
          </a:xfrm>
        </p:spPr>
        <p:txBody>
          <a:bodyPr>
            <a:normAutofit/>
          </a:bodyPr>
          <a:lstStyle/>
          <a:p>
            <a:r>
              <a:rPr lang="en-US" dirty="0"/>
              <a:t>By: Dr. Mohamed Moheeb </a:t>
            </a:r>
          </a:p>
        </p:txBody>
      </p:sp>
      <p:cxnSp>
        <p:nvCxnSpPr>
          <p:cNvPr id="11" name="Straight Connector 10">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94A22F1-6EB7-DAD1-49EB-40097999324D}"/>
              </a:ext>
            </a:extLst>
          </p:cNvPr>
          <p:cNvPicPr>
            <a:picLocks noChangeAspect="1"/>
          </p:cNvPicPr>
          <p:nvPr/>
        </p:nvPicPr>
        <p:blipFill>
          <a:blip r:embed="rId2"/>
          <a:srcRect l="17422" r="27944"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131340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8632-A97F-2592-E5E1-57A965B044D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731E22B-CE58-F133-934B-D7163601B3A9}"/>
              </a:ext>
            </a:extLst>
          </p:cNvPr>
          <p:cNvSpPr>
            <a:spLocks noGrp="1"/>
          </p:cNvSpPr>
          <p:nvPr>
            <p:ph idx="1"/>
          </p:nvPr>
        </p:nvSpPr>
        <p:spPr/>
        <p:txBody>
          <a:bodyPr>
            <a:normAutofit/>
          </a:bodyPr>
          <a:lstStyle/>
          <a:p>
            <a:r>
              <a:rPr lang="en-US" sz="2400" dirty="0"/>
              <a:t>The Course plan</a:t>
            </a:r>
          </a:p>
          <a:p>
            <a:r>
              <a:rPr lang="en-US" sz="2400" dirty="0"/>
              <a:t>What is an algorithm</a:t>
            </a:r>
          </a:p>
          <a:p>
            <a:r>
              <a:rPr lang="en-US" sz="2400" dirty="0"/>
              <a:t>Important Problem types</a:t>
            </a:r>
          </a:p>
          <a:p>
            <a:r>
              <a:rPr lang="en-US" sz="2400" dirty="0"/>
              <a:t>Fundamental Data Structures </a:t>
            </a:r>
          </a:p>
        </p:txBody>
      </p:sp>
    </p:spTree>
    <p:extLst>
      <p:ext uri="{BB962C8B-B14F-4D97-AF65-F5344CB8AC3E}">
        <p14:creationId xmlns:p14="http://schemas.microsoft.com/office/powerpoint/2010/main" val="192019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9D429E3-8814-9358-053E-1C57F72F060F}"/>
              </a:ext>
            </a:extLst>
          </p:cNvPr>
          <p:cNvSpPr>
            <a:spLocks noGrp="1"/>
          </p:cNvSpPr>
          <p:nvPr>
            <p:ph type="title"/>
          </p:nvPr>
        </p:nvSpPr>
        <p:spPr>
          <a:xfrm>
            <a:off x="514117" y="952500"/>
            <a:ext cx="4124557" cy="3524250"/>
          </a:xfrm>
        </p:spPr>
        <p:txBody>
          <a:bodyPr vert="horz" lIns="91440" tIns="45720" rIns="91440" bIns="45720" rtlCol="0" anchor="t">
            <a:normAutofit/>
          </a:bodyPr>
          <a:lstStyle/>
          <a:p>
            <a:r>
              <a:rPr lang="en-US" sz="5800" b="1" kern="1200">
                <a:solidFill>
                  <a:schemeClr val="tx1"/>
                </a:solidFill>
                <a:latin typeface="+mj-lt"/>
                <a:ea typeface="+mj-ea"/>
                <a:cs typeface="+mj-cs"/>
              </a:rPr>
              <a:t>Course Plan</a:t>
            </a:r>
          </a:p>
        </p:txBody>
      </p:sp>
      <p:cxnSp>
        <p:nvCxnSpPr>
          <p:cNvPr id="13" name="Straight Connector 12">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descr="Person writing on a notepad">
            <a:extLst>
              <a:ext uri="{FF2B5EF4-FFF2-40B4-BE49-F238E27FC236}">
                <a16:creationId xmlns:a16="http://schemas.microsoft.com/office/drawing/2014/main" id="{B5D3EDC5-ED95-EE43-A78B-161F7429A928}"/>
              </a:ext>
            </a:extLst>
          </p:cNvPr>
          <p:cNvPicPr>
            <a:picLocks noChangeAspect="1"/>
          </p:cNvPicPr>
          <p:nvPr/>
        </p:nvPicPr>
        <p:blipFill>
          <a:blip r:embed="rId2"/>
          <a:srcRect l="13651" r="6266"/>
          <a:stretch>
            <a:fillRect/>
          </a:stretch>
        </p:blipFill>
        <p:spPr>
          <a:xfrm>
            <a:off x="5261956" y="10"/>
            <a:ext cx="6930043" cy="6857990"/>
          </a:xfrm>
          <a:prstGeom prst="rect">
            <a:avLst/>
          </a:prstGeom>
        </p:spPr>
      </p:pic>
    </p:spTree>
    <p:extLst>
      <p:ext uri="{BB962C8B-B14F-4D97-AF65-F5344CB8AC3E}">
        <p14:creationId xmlns:p14="http://schemas.microsoft.com/office/powerpoint/2010/main" val="2744075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EF4424-F871-7934-D4EF-5F32DEE33E8B}"/>
              </a:ext>
            </a:extLst>
          </p:cNvPr>
          <p:cNvSpPr>
            <a:spLocks noGrp="1"/>
          </p:cNvSpPr>
          <p:nvPr>
            <p:ph type="title"/>
          </p:nvPr>
        </p:nvSpPr>
        <p:spPr>
          <a:xfrm>
            <a:off x="640080" y="914399"/>
            <a:ext cx="3000587" cy="4160520"/>
          </a:xfrm>
        </p:spPr>
        <p:txBody>
          <a:bodyPr anchor="t">
            <a:normAutofit/>
          </a:bodyPr>
          <a:lstStyle/>
          <a:p>
            <a:r>
              <a:rPr lang="en-US" sz="3600"/>
              <a:t>Course Content</a:t>
            </a:r>
          </a:p>
        </p:txBody>
      </p:sp>
      <p:cxnSp>
        <p:nvCxnSpPr>
          <p:cNvPr id="12" name="Straight Connector 11">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99FC6B5-800A-0DA9-63BD-DBFCEAA4E216}"/>
              </a:ext>
            </a:extLst>
          </p:cNvPr>
          <p:cNvGraphicFramePr>
            <a:graphicFrameLocks noGrp="1"/>
          </p:cNvGraphicFramePr>
          <p:nvPr>
            <p:ph idx="1"/>
            <p:extLst>
              <p:ext uri="{D42A27DB-BD31-4B8C-83A1-F6EECF244321}">
                <p14:modId xmlns:p14="http://schemas.microsoft.com/office/powerpoint/2010/main" val="964100900"/>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2233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15CADF-D639-8B8E-64AA-B419C85BA8CA}"/>
              </a:ext>
            </a:extLst>
          </p:cNvPr>
          <p:cNvSpPr>
            <a:spLocks noGrp="1"/>
          </p:cNvSpPr>
          <p:nvPr>
            <p:ph type="title"/>
          </p:nvPr>
        </p:nvSpPr>
        <p:spPr>
          <a:xfrm>
            <a:off x="640080" y="1371600"/>
            <a:ext cx="4670661" cy="3030842"/>
          </a:xfrm>
        </p:spPr>
        <p:txBody>
          <a:bodyPr vert="horz" lIns="91440" tIns="45720" rIns="91440" bIns="45720" rtlCol="0" anchor="t">
            <a:normAutofit/>
          </a:bodyPr>
          <a:lstStyle/>
          <a:p>
            <a:r>
              <a:rPr lang="en-US" sz="5400" b="1" kern="1200">
                <a:solidFill>
                  <a:schemeClr val="tx1"/>
                </a:solidFill>
                <a:latin typeface="+mj-lt"/>
                <a:ea typeface="+mj-ea"/>
                <a:cs typeface="+mj-cs"/>
              </a:rPr>
              <a:t>Course Book</a:t>
            </a:r>
          </a:p>
        </p:txBody>
      </p:sp>
      <p:cxnSp>
        <p:nvCxnSpPr>
          <p:cNvPr id="15" name="Straight Connector 14">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83A66296-3088-1AE0-7936-E1014222C2D5}"/>
              </a:ext>
            </a:extLst>
          </p:cNvPr>
          <p:cNvPicPr>
            <a:picLocks noGrp="1" noChangeAspect="1"/>
          </p:cNvPicPr>
          <p:nvPr>
            <p:ph sz="half" idx="2"/>
          </p:nvPr>
        </p:nvPicPr>
        <p:blipFill>
          <a:blip r:embed="rId2"/>
          <a:srcRect r="-1" b="2751"/>
          <a:stretch>
            <a:fillRect/>
          </a:stretch>
        </p:blipFill>
        <p:spPr>
          <a:xfrm>
            <a:off x="6515100" y="10"/>
            <a:ext cx="5676900" cy="6857990"/>
          </a:xfrm>
          <a:prstGeom prst="rect">
            <a:avLst/>
          </a:prstGeom>
        </p:spPr>
      </p:pic>
    </p:spTree>
    <p:extLst>
      <p:ext uri="{BB962C8B-B14F-4D97-AF65-F5344CB8AC3E}">
        <p14:creationId xmlns:p14="http://schemas.microsoft.com/office/powerpoint/2010/main" val="1223548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EDA2D-0577-164B-ACE2-7554CF5263E5}"/>
              </a:ext>
            </a:extLst>
          </p:cNvPr>
          <p:cNvSpPr>
            <a:spLocks noGrp="1"/>
          </p:cNvSpPr>
          <p:nvPr>
            <p:ph type="title"/>
          </p:nvPr>
        </p:nvSpPr>
        <p:spPr/>
        <p:txBody>
          <a:bodyPr/>
          <a:lstStyle/>
          <a:p>
            <a:r>
              <a:rPr lang="en-US" dirty="0"/>
              <a:t>Course Grades</a:t>
            </a:r>
          </a:p>
        </p:txBody>
      </p:sp>
      <p:sp>
        <p:nvSpPr>
          <p:cNvPr id="3" name="Content Placeholder 2">
            <a:extLst>
              <a:ext uri="{FF2B5EF4-FFF2-40B4-BE49-F238E27FC236}">
                <a16:creationId xmlns:a16="http://schemas.microsoft.com/office/drawing/2014/main" id="{F57E0EA7-AC3F-9858-A118-3727CF6D209B}"/>
              </a:ext>
            </a:extLst>
          </p:cNvPr>
          <p:cNvSpPr>
            <a:spLocks noGrp="1"/>
          </p:cNvSpPr>
          <p:nvPr>
            <p:ph idx="1"/>
          </p:nvPr>
        </p:nvSpPr>
        <p:spPr/>
        <p:txBody>
          <a:bodyPr>
            <a:normAutofit fontScale="92500" lnSpcReduction="20000"/>
          </a:bodyPr>
          <a:lstStyle/>
          <a:p>
            <a:r>
              <a:rPr lang="en-US" dirty="0"/>
              <a:t>Week 5: 5% (quiz)</a:t>
            </a:r>
          </a:p>
          <a:p>
            <a:r>
              <a:rPr lang="en-US" dirty="0"/>
              <a:t>Week 7: 20% (exam) &amp; 5%(assignment) </a:t>
            </a:r>
          </a:p>
          <a:p>
            <a:r>
              <a:rPr lang="en-US" dirty="0"/>
              <a:t>Week 10: 5% (quiz)</a:t>
            </a:r>
          </a:p>
          <a:p>
            <a:r>
              <a:rPr lang="en-US" dirty="0"/>
              <a:t>Week 12: 15% (project)</a:t>
            </a:r>
          </a:p>
          <a:p>
            <a:r>
              <a:rPr lang="en-US" dirty="0"/>
              <a:t>Prefinal: 10% (assignment)</a:t>
            </a:r>
          </a:p>
          <a:p>
            <a:r>
              <a:rPr lang="en-US" dirty="0"/>
              <a:t>Final: 40% (exam)</a:t>
            </a:r>
          </a:p>
          <a:p>
            <a:pPr marL="0" indent="0">
              <a:buNone/>
            </a:pPr>
            <a:r>
              <a:rPr lang="en-US" dirty="0"/>
              <a:t>Note: Each student who exceeds 20% in course attendance will receive a warning; at 25%, the course will be withdrawn. Every student should attend according to their schedule, and if you are absent, you are responsible for following up on what you missed.</a:t>
            </a:r>
          </a:p>
        </p:txBody>
      </p:sp>
    </p:spTree>
    <p:extLst>
      <p:ext uri="{BB962C8B-B14F-4D97-AF65-F5344CB8AC3E}">
        <p14:creationId xmlns:p14="http://schemas.microsoft.com/office/powerpoint/2010/main" val="1657780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0E83FC-8173-347F-0AFC-FB436C80DDBE}"/>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AA9AB39-2625-B662-59F3-21475F8CF574}"/>
              </a:ext>
            </a:extLst>
          </p:cNvPr>
          <p:cNvSpPr>
            <a:spLocks noGrp="1"/>
          </p:cNvSpPr>
          <p:nvPr>
            <p:ph type="title"/>
          </p:nvPr>
        </p:nvSpPr>
        <p:spPr>
          <a:xfrm>
            <a:off x="514117" y="952500"/>
            <a:ext cx="4124557" cy="3524250"/>
          </a:xfrm>
        </p:spPr>
        <p:txBody>
          <a:bodyPr vert="horz" lIns="91440" tIns="45720" rIns="91440" bIns="45720" rtlCol="0" anchor="t">
            <a:normAutofit/>
          </a:bodyPr>
          <a:lstStyle/>
          <a:p>
            <a:r>
              <a:rPr lang="en-US" sz="4900" b="1" kern="1200">
                <a:solidFill>
                  <a:schemeClr val="tx1"/>
                </a:solidFill>
                <a:latin typeface="+mj-lt"/>
                <a:ea typeface="+mj-ea"/>
                <a:cs typeface="+mj-cs"/>
              </a:rPr>
              <a:t>Fundamentals of algorithms</a:t>
            </a:r>
          </a:p>
        </p:txBody>
      </p:sp>
      <p:cxnSp>
        <p:nvCxnSpPr>
          <p:cNvPr id="24" name="Straight Connector 23">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EFBFAB98-FE7F-2F10-BB7E-F473F76604A0}"/>
              </a:ext>
            </a:extLst>
          </p:cNvPr>
          <p:cNvPicPr>
            <a:picLocks noChangeAspect="1"/>
          </p:cNvPicPr>
          <p:nvPr/>
        </p:nvPicPr>
        <p:blipFill>
          <a:blip r:embed="rId2"/>
          <a:srcRect l="1476" r="2" b="2"/>
          <a:stretch>
            <a:fillRect/>
          </a:stretch>
        </p:blipFill>
        <p:spPr>
          <a:xfrm>
            <a:off x="5261956" y="10"/>
            <a:ext cx="6930043" cy="6857990"/>
          </a:xfrm>
          <a:prstGeom prst="rect">
            <a:avLst/>
          </a:prstGeom>
        </p:spPr>
      </p:pic>
    </p:spTree>
    <p:extLst>
      <p:ext uri="{BB962C8B-B14F-4D97-AF65-F5344CB8AC3E}">
        <p14:creationId xmlns:p14="http://schemas.microsoft.com/office/powerpoint/2010/main" val="285196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AA6D30-CD60-8CF1-7DB9-396F14754A27}"/>
              </a:ext>
            </a:extLst>
          </p:cNvPr>
          <p:cNvSpPr>
            <a:spLocks noGrp="1"/>
          </p:cNvSpPr>
          <p:nvPr>
            <p:ph type="title"/>
          </p:nvPr>
        </p:nvSpPr>
        <p:spPr>
          <a:xfrm>
            <a:off x="640080" y="1371600"/>
            <a:ext cx="10890928" cy="971550"/>
          </a:xfrm>
        </p:spPr>
        <p:txBody>
          <a:bodyPr anchor="t">
            <a:normAutofit/>
          </a:bodyPr>
          <a:lstStyle/>
          <a:p>
            <a:r>
              <a:rPr lang="en-US" dirty="0"/>
              <a:t>What is an algorithm</a:t>
            </a:r>
          </a:p>
        </p:txBody>
      </p:sp>
      <p:cxnSp>
        <p:nvCxnSpPr>
          <p:cNvPr id="12" name="Straight Connector 11">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9782988-4B53-A0DA-E4C7-6D9C602F4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232" y="2942100"/>
            <a:ext cx="5648193" cy="2951179"/>
          </a:xfrm>
          <a:prstGeom prst="rect">
            <a:avLst/>
          </a:prstGeom>
        </p:spPr>
      </p:pic>
      <p:sp>
        <p:nvSpPr>
          <p:cNvPr id="3" name="Content Placeholder 2">
            <a:extLst>
              <a:ext uri="{FF2B5EF4-FFF2-40B4-BE49-F238E27FC236}">
                <a16:creationId xmlns:a16="http://schemas.microsoft.com/office/drawing/2014/main" id="{07978257-BAEC-FA92-75AC-049FD6235BAA}"/>
              </a:ext>
            </a:extLst>
          </p:cNvPr>
          <p:cNvSpPr>
            <a:spLocks noGrp="1"/>
          </p:cNvSpPr>
          <p:nvPr>
            <p:ph idx="1"/>
          </p:nvPr>
        </p:nvSpPr>
        <p:spPr>
          <a:xfrm>
            <a:off x="6871063" y="2537460"/>
            <a:ext cx="4659945" cy="3760459"/>
          </a:xfrm>
        </p:spPr>
        <p:txBody>
          <a:bodyPr anchor="t">
            <a:normAutofit/>
          </a:bodyPr>
          <a:lstStyle/>
          <a:p>
            <a:r>
              <a:rPr lang="en-US" dirty="0"/>
              <a:t>An algorithm is a sequence of unambiguous instructions for solving a problem, i.e., for obtaining a required output for any legitimate input in a finite amount of time</a:t>
            </a:r>
          </a:p>
        </p:txBody>
      </p:sp>
      <p:sp>
        <p:nvSpPr>
          <p:cNvPr id="4" name="TextBox 3">
            <a:extLst>
              <a:ext uri="{FF2B5EF4-FFF2-40B4-BE49-F238E27FC236}">
                <a16:creationId xmlns:a16="http://schemas.microsoft.com/office/drawing/2014/main" id="{FC0B65BC-B7E6-116E-5401-ADB531DA8478}"/>
              </a:ext>
            </a:extLst>
          </p:cNvPr>
          <p:cNvSpPr txBox="1"/>
          <p:nvPr/>
        </p:nvSpPr>
        <p:spPr>
          <a:xfrm>
            <a:off x="1270646" y="5990142"/>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308370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9705B-C975-885E-8038-18DEB0C2D699}"/>
              </a:ext>
            </a:extLst>
          </p:cNvPr>
          <p:cNvSpPr>
            <a:spLocks noGrp="1"/>
          </p:cNvSpPr>
          <p:nvPr>
            <p:ph type="title"/>
          </p:nvPr>
        </p:nvSpPr>
        <p:spPr/>
        <p:txBody>
          <a:bodyPr/>
          <a:lstStyle/>
          <a:p>
            <a:r>
              <a:rPr lang="en-US" dirty="0"/>
              <a:t>What makes a good algorithm ?</a:t>
            </a:r>
          </a:p>
        </p:txBody>
      </p:sp>
      <p:sp>
        <p:nvSpPr>
          <p:cNvPr id="3" name="Content Placeholder 2">
            <a:extLst>
              <a:ext uri="{FF2B5EF4-FFF2-40B4-BE49-F238E27FC236}">
                <a16:creationId xmlns:a16="http://schemas.microsoft.com/office/drawing/2014/main" id="{5F5851F6-9FAC-442A-10FF-476ACC2FEACB}"/>
              </a:ext>
            </a:extLst>
          </p:cNvPr>
          <p:cNvSpPr>
            <a:spLocks noGrp="1"/>
          </p:cNvSpPr>
          <p:nvPr>
            <p:ph idx="1"/>
          </p:nvPr>
        </p:nvSpPr>
        <p:spPr/>
        <p:txBody>
          <a:bodyPr/>
          <a:lstStyle/>
          <a:p>
            <a:r>
              <a:rPr lang="en-US" dirty="0"/>
              <a:t> Let’s take  an example of how to find  the greatest common divisor (GCD using two different algorithms </a:t>
            </a:r>
          </a:p>
          <a:p>
            <a:r>
              <a:rPr lang="en-US" dirty="0"/>
              <a:t>The GCD of 60 and 24 is 12, which is the largest number that both input numbers are divisible by. </a:t>
            </a:r>
          </a:p>
        </p:txBody>
      </p:sp>
    </p:spTree>
    <p:extLst>
      <p:ext uri="{BB962C8B-B14F-4D97-AF65-F5344CB8AC3E}">
        <p14:creationId xmlns:p14="http://schemas.microsoft.com/office/powerpoint/2010/main" val="4104631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E8681-7465-0ADA-37F4-DFF3086BB084}"/>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2EC9ACC9-CFBB-4F2D-9F8B-97498354BC3A}"/>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1320BA13-D815-0146-E04A-6EB8590922FF}"/>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Given that inputs for the Euclid(</a:t>
            </a:r>
            <a:r>
              <a:rPr lang="en-US" dirty="0" err="1"/>
              <a:t>m,n</a:t>
            </a:r>
            <a:r>
              <a:rPr lang="en-US" dirty="0"/>
              <a:t>) are m=60 and n=24</a:t>
            </a:r>
          </a:p>
          <a:p>
            <a:r>
              <a:rPr lang="en-US" dirty="0"/>
              <a:t>is not equal to 0, then the Condition for the while loop is true.</a:t>
            </a:r>
          </a:p>
          <a:p>
            <a:endParaRPr lang="en-US" dirty="0"/>
          </a:p>
        </p:txBody>
      </p:sp>
      <p:sp>
        <p:nvSpPr>
          <p:cNvPr id="8" name="Rectangle 7">
            <a:extLst>
              <a:ext uri="{FF2B5EF4-FFF2-40B4-BE49-F238E27FC236}">
                <a16:creationId xmlns:a16="http://schemas.microsoft.com/office/drawing/2014/main" id="{80A93F92-27F2-7EFC-2832-D988F476F0DA}"/>
              </a:ext>
            </a:extLst>
          </p:cNvPr>
          <p:cNvSpPr/>
          <p:nvPr/>
        </p:nvSpPr>
        <p:spPr>
          <a:xfrm>
            <a:off x="1088571" y="4223657"/>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2CC28601-FD4D-FFA0-8FFF-6E8A09019FAF}"/>
              </a:ext>
            </a:extLst>
          </p:cNvPr>
          <p:cNvCxnSpPr>
            <a:cxnSpLocks/>
            <a:endCxn id="8" idx="3"/>
          </p:cNvCxnSpPr>
          <p:nvPr/>
        </p:nvCxnSpPr>
        <p:spPr>
          <a:xfrm flipH="1">
            <a:off x="2514600" y="4408714"/>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84815AEC-1DEB-D416-6950-5CAF4DF0C0E3}"/>
              </a:ext>
            </a:extLst>
          </p:cNvPr>
          <p:cNvSpPr/>
          <p:nvPr/>
        </p:nvSpPr>
        <p:spPr>
          <a:xfrm>
            <a:off x="10101942" y="4133524"/>
            <a:ext cx="1143000" cy="14913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Variables</a:t>
            </a:r>
          </a:p>
          <a:p>
            <a:pPr algn="ctr"/>
            <a:r>
              <a:rPr lang="en-US" dirty="0"/>
              <a:t>n= 24</a:t>
            </a:r>
          </a:p>
          <a:p>
            <a:pPr algn="ctr"/>
            <a:r>
              <a:rPr lang="en-US" dirty="0"/>
              <a:t>m=60 </a:t>
            </a:r>
          </a:p>
        </p:txBody>
      </p:sp>
      <p:sp>
        <p:nvSpPr>
          <p:cNvPr id="13" name="TextBox 12">
            <a:extLst>
              <a:ext uri="{FF2B5EF4-FFF2-40B4-BE49-F238E27FC236}">
                <a16:creationId xmlns:a16="http://schemas.microsoft.com/office/drawing/2014/main" id="{82B4CCCA-12D4-8210-9141-B86D2E582338}"/>
              </a:ext>
            </a:extLst>
          </p:cNvPr>
          <p:cNvSpPr txBox="1"/>
          <p:nvPr/>
        </p:nvSpPr>
        <p:spPr>
          <a:xfrm>
            <a:off x="6318928" y="2181845"/>
            <a:ext cx="3439886" cy="369332"/>
          </a:xfrm>
          <a:prstGeom prst="rect">
            <a:avLst/>
          </a:prstGeom>
          <a:noFill/>
        </p:spPr>
        <p:txBody>
          <a:bodyPr wrap="square" rtlCol="0">
            <a:spAutoFit/>
          </a:bodyPr>
          <a:lstStyle/>
          <a:p>
            <a:r>
              <a:rPr lang="en-US" b="1" dirty="0"/>
              <a:t>Iteration 1</a:t>
            </a:r>
          </a:p>
        </p:txBody>
      </p:sp>
    </p:spTree>
    <p:extLst>
      <p:ext uri="{BB962C8B-B14F-4D97-AF65-F5344CB8AC3E}">
        <p14:creationId xmlns:p14="http://schemas.microsoft.com/office/powerpoint/2010/main" val="1737771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A6EAC-BE84-9392-D141-8F114B02E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04F5A-2DA0-B722-2585-AA976500C88D}"/>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E6481DCE-ACB9-D18B-B7A8-180272419389}"/>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9A46F677-E29F-ACB0-A34C-41E8EB336F7A}"/>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r= 60 % 24 = 12</a:t>
            </a:r>
          </a:p>
        </p:txBody>
      </p:sp>
      <p:sp>
        <p:nvSpPr>
          <p:cNvPr id="8" name="Rectangle 7">
            <a:extLst>
              <a:ext uri="{FF2B5EF4-FFF2-40B4-BE49-F238E27FC236}">
                <a16:creationId xmlns:a16="http://schemas.microsoft.com/office/drawing/2014/main" id="{56761680-C2F8-49C9-1695-26CFE14251A7}"/>
              </a:ext>
            </a:extLst>
          </p:cNvPr>
          <p:cNvSpPr/>
          <p:nvPr/>
        </p:nvSpPr>
        <p:spPr>
          <a:xfrm>
            <a:off x="1338942" y="4615544"/>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EE8343FF-20AF-F05C-4250-F7EBE34BA1FD}"/>
              </a:ext>
            </a:extLst>
          </p:cNvPr>
          <p:cNvCxnSpPr>
            <a:cxnSpLocks/>
            <a:endCxn id="8" idx="3"/>
          </p:cNvCxnSpPr>
          <p:nvPr/>
        </p:nvCxnSpPr>
        <p:spPr>
          <a:xfrm flipH="1">
            <a:off x="2764971" y="4800601"/>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F03321B0-5A35-7DCF-612A-6841332073F5}"/>
              </a:ext>
            </a:extLst>
          </p:cNvPr>
          <p:cNvSpPr/>
          <p:nvPr/>
        </p:nvSpPr>
        <p:spPr>
          <a:xfrm>
            <a:off x="10123714" y="2884713"/>
            <a:ext cx="1099458" cy="137160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r= 12 </a:t>
            </a:r>
          </a:p>
        </p:txBody>
      </p:sp>
      <p:sp>
        <p:nvSpPr>
          <p:cNvPr id="3" name="TextBox 2">
            <a:extLst>
              <a:ext uri="{FF2B5EF4-FFF2-40B4-BE49-F238E27FC236}">
                <a16:creationId xmlns:a16="http://schemas.microsoft.com/office/drawing/2014/main" id="{6DA18FFC-FD33-5585-AB7C-704EF2D9FCFE}"/>
              </a:ext>
            </a:extLst>
          </p:cNvPr>
          <p:cNvSpPr txBox="1"/>
          <p:nvPr/>
        </p:nvSpPr>
        <p:spPr>
          <a:xfrm>
            <a:off x="6318928" y="2099549"/>
            <a:ext cx="3439886" cy="369332"/>
          </a:xfrm>
          <a:prstGeom prst="rect">
            <a:avLst/>
          </a:prstGeom>
          <a:noFill/>
        </p:spPr>
        <p:txBody>
          <a:bodyPr wrap="square" rtlCol="0">
            <a:spAutoFit/>
          </a:bodyPr>
          <a:lstStyle/>
          <a:p>
            <a:r>
              <a:rPr lang="en-US" b="1" dirty="0"/>
              <a:t>Iteration 1</a:t>
            </a:r>
          </a:p>
        </p:txBody>
      </p:sp>
    </p:spTree>
    <p:extLst>
      <p:ext uri="{BB962C8B-B14F-4D97-AF65-F5344CB8AC3E}">
        <p14:creationId xmlns:p14="http://schemas.microsoft.com/office/powerpoint/2010/main" val="2370576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0B90C-164E-DB0F-76AD-9E6C6F464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FC962-365F-D05A-F9F2-8297C6E65A2E}"/>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16CCCECA-9FFE-573A-5B62-9B344D7B0948}"/>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D8E02F92-3AFB-4358-30EE-D99A253506FB}"/>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n = 24</a:t>
            </a:r>
          </a:p>
        </p:txBody>
      </p:sp>
      <p:sp>
        <p:nvSpPr>
          <p:cNvPr id="8" name="Rectangle 7">
            <a:extLst>
              <a:ext uri="{FF2B5EF4-FFF2-40B4-BE49-F238E27FC236}">
                <a16:creationId xmlns:a16="http://schemas.microsoft.com/office/drawing/2014/main" id="{842EFAF2-A6BA-BC62-5263-8D7652516E2F}"/>
              </a:ext>
            </a:extLst>
          </p:cNvPr>
          <p:cNvSpPr/>
          <p:nvPr/>
        </p:nvSpPr>
        <p:spPr>
          <a:xfrm>
            <a:off x="1338942" y="4953002"/>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DFB250F2-771F-8AD0-DA34-D12A29BF3BCE}"/>
              </a:ext>
            </a:extLst>
          </p:cNvPr>
          <p:cNvCxnSpPr>
            <a:cxnSpLocks/>
            <a:endCxn id="8" idx="3"/>
          </p:cNvCxnSpPr>
          <p:nvPr/>
        </p:nvCxnSpPr>
        <p:spPr>
          <a:xfrm flipH="1">
            <a:off x="2764971" y="5138059"/>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997577F8-4C74-8554-EE91-CECBFD62420C}"/>
              </a:ext>
            </a:extLst>
          </p:cNvPr>
          <p:cNvSpPr/>
          <p:nvPr/>
        </p:nvSpPr>
        <p:spPr>
          <a:xfrm>
            <a:off x="9982200" y="2884713"/>
            <a:ext cx="1240972"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m=24</a:t>
            </a:r>
          </a:p>
          <a:p>
            <a:pPr algn="ctr"/>
            <a:r>
              <a:rPr lang="en-US" dirty="0"/>
              <a:t>r= 12 </a:t>
            </a:r>
          </a:p>
        </p:txBody>
      </p:sp>
      <p:sp>
        <p:nvSpPr>
          <p:cNvPr id="3" name="TextBox 2">
            <a:extLst>
              <a:ext uri="{FF2B5EF4-FFF2-40B4-BE49-F238E27FC236}">
                <a16:creationId xmlns:a16="http://schemas.microsoft.com/office/drawing/2014/main" id="{E40463B5-E854-78DE-5FE6-5BFE7930B1CC}"/>
              </a:ext>
            </a:extLst>
          </p:cNvPr>
          <p:cNvSpPr txBox="1"/>
          <p:nvPr/>
        </p:nvSpPr>
        <p:spPr>
          <a:xfrm>
            <a:off x="6318928" y="2181845"/>
            <a:ext cx="3439886" cy="369332"/>
          </a:xfrm>
          <a:prstGeom prst="rect">
            <a:avLst/>
          </a:prstGeom>
          <a:noFill/>
        </p:spPr>
        <p:txBody>
          <a:bodyPr wrap="square" rtlCol="0">
            <a:spAutoFit/>
          </a:bodyPr>
          <a:lstStyle/>
          <a:p>
            <a:r>
              <a:rPr lang="en-US" b="1" dirty="0"/>
              <a:t>Iteration 1</a:t>
            </a:r>
          </a:p>
        </p:txBody>
      </p:sp>
    </p:spTree>
    <p:extLst>
      <p:ext uri="{BB962C8B-B14F-4D97-AF65-F5344CB8AC3E}">
        <p14:creationId xmlns:p14="http://schemas.microsoft.com/office/powerpoint/2010/main" val="3618818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53238-2A3E-8E51-5920-83DC9366D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A1934-EAFD-818B-5B24-CE77DBE28E96}"/>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25C4B34A-563C-9656-CF89-2E729F04A2B9}"/>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4D91D032-DFD2-E132-29F8-A683D059EC4F}"/>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n=r= 12</a:t>
            </a:r>
          </a:p>
        </p:txBody>
      </p:sp>
      <p:sp>
        <p:nvSpPr>
          <p:cNvPr id="8" name="Rectangle 7">
            <a:extLst>
              <a:ext uri="{FF2B5EF4-FFF2-40B4-BE49-F238E27FC236}">
                <a16:creationId xmlns:a16="http://schemas.microsoft.com/office/drawing/2014/main" id="{C5119866-08D8-E117-8B39-5D05D7916263}"/>
              </a:ext>
            </a:extLst>
          </p:cNvPr>
          <p:cNvSpPr/>
          <p:nvPr/>
        </p:nvSpPr>
        <p:spPr>
          <a:xfrm>
            <a:off x="1338942" y="5312231"/>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8E102CBD-9EC0-CA05-4C21-13BD2D4FC9F5}"/>
              </a:ext>
            </a:extLst>
          </p:cNvPr>
          <p:cNvCxnSpPr>
            <a:cxnSpLocks/>
            <a:endCxn id="8" idx="3"/>
          </p:cNvCxnSpPr>
          <p:nvPr/>
        </p:nvCxnSpPr>
        <p:spPr>
          <a:xfrm flipH="1">
            <a:off x="2764971" y="5497288"/>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FB99DB20-294E-CEE8-6F43-D4342CB36143}"/>
              </a:ext>
            </a:extLst>
          </p:cNvPr>
          <p:cNvSpPr/>
          <p:nvPr/>
        </p:nvSpPr>
        <p:spPr>
          <a:xfrm>
            <a:off x="10112829" y="2884713"/>
            <a:ext cx="1110343" cy="15457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12</a:t>
            </a:r>
          </a:p>
          <a:p>
            <a:pPr algn="ctr"/>
            <a:r>
              <a:rPr lang="en-US" dirty="0"/>
              <a:t>m=24</a:t>
            </a:r>
          </a:p>
          <a:p>
            <a:pPr algn="ctr"/>
            <a:r>
              <a:rPr lang="en-US" dirty="0"/>
              <a:t>r= 12 </a:t>
            </a:r>
          </a:p>
        </p:txBody>
      </p:sp>
      <p:sp>
        <p:nvSpPr>
          <p:cNvPr id="3" name="TextBox 2">
            <a:extLst>
              <a:ext uri="{FF2B5EF4-FFF2-40B4-BE49-F238E27FC236}">
                <a16:creationId xmlns:a16="http://schemas.microsoft.com/office/drawing/2014/main" id="{2D54D957-8FD7-4F2C-1D20-CAD6487F9F8D}"/>
              </a:ext>
            </a:extLst>
          </p:cNvPr>
          <p:cNvSpPr txBox="1"/>
          <p:nvPr/>
        </p:nvSpPr>
        <p:spPr>
          <a:xfrm>
            <a:off x="6318928" y="2181845"/>
            <a:ext cx="3439886" cy="369332"/>
          </a:xfrm>
          <a:prstGeom prst="rect">
            <a:avLst/>
          </a:prstGeom>
          <a:noFill/>
        </p:spPr>
        <p:txBody>
          <a:bodyPr wrap="square" rtlCol="0">
            <a:spAutoFit/>
          </a:bodyPr>
          <a:lstStyle/>
          <a:p>
            <a:r>
              <a:rPr lang="en-US" b="1" dirty="0"/>
              <a:t>Iteration 1</a:t>
            </a:r>
          </a:p>
        </p:txBody>
      </p:sp>
    </p:spTree>
    <p:extLst>
      <p:ext uri="{BB962C8B-B14F-4D97-AF65-F5344CB8AC3E}">
        <p14:creationId xmlns:p14="http://schemas.microsoft.com/office/powerpoint/2010/main" val="655254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C83DD-E2F9-4430-B93C-AE0B17A9F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B1697-780D-5826-C44A-1EABBBA7FA15}"/>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A35D756F-4D3F-A8D4-BE91-69943FDDC24E}"/>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FC877929-8253-4398-1A94-79D9B7895C96}"/>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Since n is still </a:t>
            </a:r>
            <a:r>
              <a:rPr lang="en-US" dirty="0">
                <a:latin typeface="Times New Roman" panose="02020603050405020304" pitchFamily="18" charset="0"/>
                <a:cs typeface="Times New Roman" panose="02020603050405020304" pitchFamily="18" charset="0"/>
              </a:rPr>
              <a:t>≠ 0, </a:t>
            </a:r>
            <a:r>
              <a:rPr lang="en-US" dirty="0"/>
              <a:t>the condition  is true</a:t>
            </a:r>
          </a:p>
        </p:txBody>
      </p:sp>
      <p:sp>
        <p:nvSpPr>
          <p:cNvPr id="8" name="Rectangle 7">
            <a:extLst>
              <a:ext uri="{FF2B5EF4-FFF2-40B4-BE49-F238E27FC236}">
                <a16:creationId xmlns:a16="http://schemas.microsoft.com/office/drawing/2014/main" id="{C4286637-038D-EF2C-8F5E-7E43A28A78BE}"/>
              </a:ext>
            </a:extLst>
          </p:cNvPr>
          <p:cNvSpPr/>
          <p:nvPr/>
        </p:nvSpPr>
        <p:spPr>
          <a:xfrm>
            <a:off x="1055914" y="4267201"/>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F209FEE-E38B-EC52-C1DD-F6D6C8CA641C}"/>
              </a:ext>
            </a:extLst>
          </p:cNvPr>
          <p:cNvCxnSpPr>
            <a:cxnSpLocks/>
            <a:endCxn id="8" idx="3"/>
          </p:cNvCxnSpPr>
          <p:nvPr/>
        </p:nvCxnSpPr>
        <p:spPr>
          <a:xfrm flipH="1">
            <a:off x="2481943" y="4452258"/>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0AD0BC07-6A85-F3AA-3076-A148C09E6ED4}"/>
              </a:ext>
            </a:extLst>
          </p:cNvPr>
          <p:cNvSpPr/>
          <p:nvPr/>
        </p:nvSpPr>
        <p:spPr>
          <a:xfrm>
            <a:off x="9938657" y="3233057"/>
            <a:ext cx="1284515" cy="138248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12</a:t>
            </a:r>
          </a:p>
          <a:p>
            <a:pPr algn="ctr"/>
            <a:r>
              <a:rPr lang="en-US" dirty="0"/>
              <a:t>m=24</a:t>
            </a:r>
          </a:p>
          <a:p>
            <a:pPr algn="ctr"/>
            <a:r>
              <a:rPr lang="en-US" dirty="0"/>
              <a:t>r= 12 </a:t>
            </a:r>
          </a:p>
        </p:txBody>
      </p:sp>
      <p:sp>
        <p:nvSpPr>
          <p:cNvPr id="3" name="TextBox 2">
            <a:extLst>
              <a:ext uri="{FF2B5EF4-FFF2-40B4-BE49-F238E27FC236}">
                <a16:creationId xmlns:a16="http://schemas.microsoft.com/office/drawing/2014/main" id="{59E1303B-F42F-F51D-4B37-F8AD07EE7284}"/>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1022230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F0431-0A48-5EAD-3145-30D215BE4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2EB8A-415A-A52D-34C3-E907C6451741}"/>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C2AA8CA2-EAC6-053C-9932-70FDA482A6D7}"/>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71005273-D91D-331E-B4AC-7B5AAC0D7FA0}"/>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r= 24 % 12 = 0</a:t>
            </a:r>
          </a:p>
        </p:txBody>
      </p:sp>
      <p:sp>
        <p:nvSpPr>
          <p:cNvPr id="8" name="Rectangle 7">
            <a:extLst>
              <a:ext uri="{FF2B5EF4-FFF2-40B4-BE49-F238E27FC236}">
                <a16:creationId xmlns:a16="http://schemas.microsoft.com/office/drawing/2014/main" id="{6969AE17-4F70-3504-88FD-020A2BD532E0}"/>
              </a:ext>
            </a:extLst>
          </p:cNvPr>
          <p:cNvSpPr/>
          <p:nvPr/>
        </p:nvSpPr>
        <p:spPr>
          <a:xfrm>
            <a:off x="1338942" y="4615544"/>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03D3A231-4DE5-F1D9-FB10-B0CDCEFC20A1}"/>
              </a:ext>
            </a:extLst>
          </p:cNvPr>
          <p:cNvCxnSpPr>
            <a:cxnSpLocks/>
            <a:endCxn id="8" idx="3"/>
          </p:cNvCxnSpPr>
          <p:nvPr/>
        </p:nvCxnSpPr>
        <p:spPr>
          <a:xfrm flipH="1">
            <a:off x="2764971" y="4800601"/>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FC913E9B-BFE0-2B32-6307-89B5A83DBF08}"/>
              </a:ext>
            </a:extLst>
          </p:cNvPr>
          <p:cNvSpPr/>
          <p:nvPr/>
        </p:nvSpPr>
        <p:spPr>
          <a:xfrm>
            <a:off x="10167257" y="2884713"/>
            <a:ext cx="1055915" cy="145868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12</a:t>
            </a:r>
          </a:p>
          <a:p>
            <a:pPr algn="ctr"/>
            <a:r>
              <a:rPr lang="en-US" dirty="0"/>
              <a:t>m=24</a:t>
            </a:r>
          </a:p>
          <a:p>
            <a:pPr algn="ctr"/>
            <a:r>
              <a:rPr lang="en-US" dirty="0"/>
              <a:t>r= 0 </a:t>
            </a:r>
          </a:p>
        </p:txBody>
      </p:sp>
      <p:sp>
        <p:nvSpPr>
          <p:cNvPr id="3" name="TextBox 2">
            <a:extLst>
              <a:ext uri="{FF2B5EF4-FFF2-40B4-BE49-F238E27FC236}">
                <a16:creationId xmlns:a16="http://schemas.microsoft.com/office/drawing/2014/main" id="{74A85BE7-63D8-C75D-A3AF-B87B5B58732E}"/>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4055076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7C9C7-F530-7350-E975-14730F462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51C38-6D3A-F8B0-83DE-419B1154EF43}"/>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BF63BCDB-B00D-B878-4573-6262EABB6DB2}"/>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76862C77-2B02-0601-5C6F-85809866136E}"/>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n = 12</a:t>
            </a:r>
          </a:p>
        </p:txBody>
      </p:sp>
      <p:sp>
        <p:nvSpPr>
          <p:cNvPr id="8" name="Rectangle 7">
            <a:extLst>
              <a:ext uri="{FF2B5EF4-FFF2-40B4-BE49-F238E27FC236}">
                <a16:creationId xmlns:a16="http://schemas.microsoft.com/office/drawing/2014/main" id="{5938F770-C937-8308-2158-DF233E6A8E71}"/>
              </a:ext>
            </a:extLst>
          </p:cNvPr>
          <p:cNvSpPr/>
          <p:nvPr/>
        </p:nvSpPr>
        <p:spPr>
          <a:xfrm>
            <a:off x="1338942" y="4953002"/>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A93893CF-C3EC-E802-0D41-3D4D378B99AB}"/>
              </a:ext>
            </a:extLst>
          </p:cNvPr>
          <p:cNvCxnSpPr>
            <a:cxnSpLocks/>
            <a:endCxn id="8" idx="3"/>
          </p:cNvCxnSpPr>
          <p:nvPr/>
        </p:nvCxnSpPr>
        <p:spPr>
          <a:xfrm flipH="1">
            <a:off x="2764971" y="5138059"/>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CFBF32FB-F1C3-5682-0B92-1642E3E37A91}"/>
              </a:ext>
            </a:extLst>
          </p:cNvPr>
          <p:cNvSpPr/>
          <p:nvPr/>
        </p:nvSpPr>
        <p:spPr>
          <a:xfrm>
            <a:off x="10080171" y="2884713"/>
            <a:ext cx="1143001" cy="137160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12</a:t>
            </a:r>
          </a:p>
          <a:p>
            <a:pPr algn="ctr"/>
            <a:r>
              <a:rPr lang="en-US" dirty="0"/>
              <a:t>m=12</a:t>
            </a:r>
          </a:p>
          <a:p>
            <a:pPr algn="ctr"/>
            <a:r>
              <a:rPr lang="en-US" dirty="0"/>
              <a:t>r= 0 </a:t>
            </a:r>
          </a:p>
        </p:txBody>
      </p:sp>
      <p:sp>
        <p:nvSpPr>
          <p:cNvPr id="3" name="TextBox 2">
            <a:extLst>
              <a:ext uri="{FF2B5EF4-FFF2-40B4-BE49-F238E27FC236}">
                <a16:creationId xmlns:a16="http://schemas.microsoft.com/office/drawing/2014/main" id="{2E313014-C5D9-6566-91F8-1B9D6A485042}"/>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1525390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AE156-00DF-2C2E-8178-E6D72CE78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A619F-43AA-5414-2100-3DF1F91F7F8E}"/>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7AA44243-8C4F-E468-5CAC-C06EF7BB71AC}"/>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509C3653-A7A5-D86C-34D7-1BEAA73D30CE}"/>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n=r= 0</a:t>
            </a:r>
          </a:p>
        </p:txBody>
      </p:sp>
      <p:sp>
        <p:nvSpPr>
          <p:cNvPr id="8" name="Rectangle 7">
            <a:extLst>
              <a:ext uri="{FF2B5EF4-FFF2-40B4-BE49-F238E27FC236}">
                <a16:creationId xmlns:a16="http://schemas.microsoft.com/office/drawing/2014/main" id="{F083D40E-BC9B-5FB4-BADA-595EA8DA3EB2}"/>
              </a:ext>
            </a:extLst>
          </p:cNvPr>
          <p:cNvSpPr/>
          <p:nvPr/>
        </p:nvSpPr>
        <p:spPr>
          <a:xfrm>
            <a:off x="1338942" y="5312231"/>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FB93710-1811-4E4B-C6B6-3AEF3F8476D0}"/>
              </a:ext>
            </a:extLst>
          </p:cNvPr>
          <p:cNvCxnSpPr>
            <a:cxnSpLocks/>
            <a:endCxn id="8" idx="3"/>
          </p:cNvCxnSpPr>
          <p:nvPr/>
        </p:nvCxnSpPr>
        <p:spPr>
          <a:xfrm flipH="1">
            <a:off x="2764971" y="5497288"/>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90D9C86F-17FB-5E9E-3881-E71F2A01CBD1}"/>
              </a:ext>
            </a:extLst>
          </p:cNvPr>
          <p:cNvSpPr/>
          <p:nvPr/>
        </p:nvSpPr>
        <p:spPr>
          <a:xfrm>
            <a:off x="10080171" y="2884713"/>
            <a:ext cx="1143001" cy="138248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0</a:t>
            </a:r>
          </a:p>
          <a:p>
            <a:pPr algn="ctr"/>
            <a:r>
              <a:rPr lang="en-US" dirty="0"/>
              <a:t>m=12</a:t>
            </a:r>
          </a:p>
          <a:p>
            <a:pPr algn="ctr"/>
            <a:r>
              <a:rPr lang="en-US" dirty="0"/>
              <a:t>r= 0 </a:t>
            </a:r>
          </a:p>
        </p:txBody>
      </p:sp>
      <p:sp>
        <p:nvSpPr>
          <p:cNvPr id="3" name="TextBox 2">
            <a:extLst>
              <a:ext uri="{FF2B5EF4-FFF2-40B4-BE49-F238E27FC236}">
                <a16:creationId xmlns:a16="http://schemas.microsoft.com/office/drawing/2014/main" id="{55131417-79CD-4A36-0940-AC5F00147433}"/>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4062323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EE167-B70F-EBE6-7518-1479D839B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32B0D-8E4C-4A3B-1515-639D1714A0B6}"/>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806BA87A-F290-45AA-94D6-885585FAAEB8}"/>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EC45E399-3A61-9C70-82F8-DB82C95E6089}"/>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Since n </a:t>
            </a:r>
            <a:r>
              <a:rPr lang="en-US" dirty="0">
                <a:latin typeface="Times New Roman" panose="02020603050405020304" pitchFamily="18" charset="0"/>
                <a:cs typeface="Times New Roman" panose="02020603050405020304" pitchFamily="18" charset="0"/>
              </a:rPr>
              <a:t>=0 ,</a:t>
            </a:r>
            <a:r>
              <a:rPr lang="en-US" dirty="0"/>
              <a:t>the condition is false </a:t>
            </a:r>
          </a:p>
        </p:txBody>
      </p:sp>
      <p:sp>
        <p:nvSpPr>
          <p:cNvPr id="8" name="Rectangle 7">
            <a:extLst>
              <a:ext uri="{FF2B5EF4-FFF2-40B4-BE49-F238E27FC236}">
                <a16:creationId xmlns:a16="http://schemas.microsoft.com/office/drawing/2014/main" id="{583956F6-F81D-1412-9EEA-A1DA27272D66}"/>
              </a:ext>
            </a:extLst>
          </p:cNvPr>
          <p:cNvSpPr/>
          <p:nvPr/>
        </p:nvSpPr>
        <p:spPr>
          <a:xfrm>
            <a:off x="1055914" y="4267201"/>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6CB73E6-0745-1C44-D357-516C5DEDEBDD}"/>
              </a:ext>
            </a:extLst>
          </p:cNvPr>
          <p:cNvCxnSpPr>
            <a:cxnSpLocks/>
            <a:endCxn id="8" idx="3"/>
          </p:cNvCxnSpPr>
          <p:nvPr/>
        </p:nvCxnSpPr>
        <p:spPr>
          <a:xfrm flipH="1">
            <a:off x="2481943" y="4452258"/>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F3370360-00E3-FFE3-F86F-060E2BC73603}"/>
              </a:ext>
            </a:extLst>
          </p:cNvPr>
          <p:cNvSpPr/>
          <p:nvPr/>
        </p:nvSpPr>
        <p:spPr>
          <a:xfrm>
            <a:off x="10232571" y="3156857"/>
            <a:ext cx="1055915" cy="138248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0</a:t>
            </a:r>
          </a:p>
          <a:p>
            <a:pPr algn="ctr"/>
            <a:r>
              <a:rPr lang="en-US" dirty="0"/>
              <a:t>m=12</a:t>
            </a:r>
          </a:p>
          <a:p>
            <a:pPr algn="ctr"/>
            <a:r>
              <a:rPr lang="en-US" dirty="0"/>
              <a:t>r= 0 </a:t>
            </a:r>
          </a:p>
        </p:txBody>
      </p:sp>
    </p:spTree>
    <p:extLst>
      <p:ext uri="{BB962C8B-B14F-4D97-AF65-F5344CB8AC3E}">
        <p14:creationId xmlns:p14="http://schemas.microsoft.com/office/powerpoint/2010/main" val="669480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6244F-1975-51A5-1ACA-DF323C87F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107F7-4433-FFA0-309D-4D3DBAA8389E}"/>
              </a:ext>
            </a:extLst>
          </p:cNvPr>
          <p:cNvSpPr>
            <a:spLocks noGrp="1"/>
          </p:cNvSpPr>
          <p:nvPr>
            <p:ph type="title"/>
          </p:nvPr>
        </p:nvSpPr>
        <p:spPr/>
        <p:txBody>
          <a:bodyPr/>
          <a:lstStyle/>
          <a:p>
            <a:r>
              <a:rPr lang="en-US" dirty="0"/>
              <a:t>Euclid’s Algorithm</a:t>
            </a:r>
          </a:p>
        </p:txBody>
      </p:sp>
      <p:pic>
        <p:nvPicPr>
          <p:cNvPr id="6" name="Content Placeholder 5">
            <a:extLst>
              <a:ext uri="{FF2B5EF4-FFF2-40B4-BE49-F238E27FC236}">
                <a16:creationId xmlns:a16="http://schemas.microsoft.com/office/drawing/2014/main" id="{EF628CF2-D1F3-71A1-0C6B-B5BB84047323}"/>
              </a:ext>
            </a:extLst>
          </p:cNvPr>
          <p:cNvPicPr>
            <a:picLocks noGrp="1" noChangeAspect="1"/>
          </p:cNvPicPr>
          <p:nvPr>
            <p:ph sz="half" idx="1"/>
          </p:nvPr>
        </p:nvPicPr>
        <p:blipFill>
          <a:blip r:embed="rId2"/>
          <a:stretch>
            <a:fillRect/>
          </a:stretch>
        </p:blipFill>
        <p:spPr>
          <a:xfrm>
            <a:off x="640079" y="2633472"/>
            <a:ext cx="5357950" cy="3566160"/>
          </a:xfrm>
          <a:prstGeom prst="rect">
            <a:avLst/>
          </a:prstGeom>
        </p:spPr>
      </p:pic>
      <p:sp>
        <p:nvSpPr>
          <p:cNvPr id="4" name="Content Placeholder 3">
            <a:extLst>
              <a:ext uri="{FF2B5EF4-FFF2-40B4-BE49-F238E27FC236}">
                <a16:creationId xmlns:a16="http://schemas.microsoft.com/office/drawing/2014/main" id="{285FAC3E-613C-9FED-73DD-7C5F003B366E}"/>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The function returns m=12 which is the GCD.</a:t>
            </a:r>
          </a:p>
        </p:txBody>
      </p:sp>
      <p:sp>
        <p:nvSpPr>
          <p:cNvPr id="8" name="Rectangle 7">
            <a:extLst>
              <a:ext uri="{FF2B5EF4-FFF2-40B4-BE49-F238E27FC236}">
                <a16:creationId xmlns:a16="http://schemas.microsoft.com/office/drawing/2014/main" id="{E78C1C3A-05A5-66AD-143A-A02B5EDBA8EB}"/>
              </a:ext>
            </a:extLst>
          </p:cNvPr>
          <p:cNvSpPr/>
          <p:nvPr/>
        </p:nvSpPr>
        <p:spPr>
          <a:xfrm>
            <a:off x="957942" y="5715000"/>
            <a:ext cx="1426029" cy="3701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3815B680-07CC-C8C7-0533-5987887409B5}"/>
              </a:ext>
            </a:extLst>
          </p:cNvPr>
          <p:cNvCxnSpPr>
            <a:cxnSpLocks/>
            <a:endCxn id="8" idx="3"/>
          </p:cNvCxnSpPr>
          <p:nvPr/>
        </p:nvCxnSpPr>
        <p:spPr>
          <a:xfrm flipH="1">
            <a:off x="2383971" y="5900057"/>
            <a:ext cx="85997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72B5B661-C5C3-1B21-3452-981F0DD93BA0}"/>
              </a:ext>
            </a:extLst>
          </p:cNvPr>
          <p:cNvSpPr/>
          <p:nvPr/>
        </p:nvSpPr>
        <p:spPr>
          <a:xfrm>
            <a:off x="10243456" y="3211284"/>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0</a:t>
            </a:r>
          </a:p>
          <a:p>
            <a:pPr algn="ctr"/>
            <a:r>
              <a:rPr lang="en-US" dirty="0"/>
              <a:t>m=12</a:t>
            </a:r>
          </a:p>
          <a:p>
            <a:pPr algn="ctr"/>
            <a:r>
              <a:rPr lang="en-US" dirty="0"/>
              <a:t>r= 0 </a:t>
            </a:r>
          </a:p>
        </p:txBody>
      </p:sp>
    </p:spTree>
    <p:extLst>
      <p:ext uri="{BB962C8B-B14F-4D97-AF65-F5344CB8AC3E}">
        <p14:creationId xmlns:p14="http://schemas.microsoft.com/office/powerpoint/2010/main" val="3681141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504755-BA9A-833D-E0B7-24054B1ED638}"/>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ECDB6A7B-86A5-ADE5-46EE-F79716B3B547}"/>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D9CF7E84-426B-CDC2-7F8D-D5E723BF5ACC}"/>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The inputs are also m=60 and n =24</a:t>
            </a:r>
          </a:p>
          <a:p>
            <a:r>
              <a:rPr lang="en-US" dirty="0"/>
              <a:t>t=min{60,24}=24</a:t>
            </a:r>
          </a:p>
        </p:txBody>
      </p:sp>
      <p:sp>
        <p:nvSpPr>
          <p:cNvPr id="5" name="Rectangle 4">
            <a:extLst>
              <a:ext uri="{FF2B5EF4-FFF2-40B4-BE49-F238E27FC236}">
                <a16:creationId xmlns:a16="http://schemas.microsoft.com/office/drawing/2014/main" id="{3B5EDAB7-25EA-BFCB-43A0-C4B3F29A7834}"/>
              </a:ext>
            </a:extLst>
          </p:cNvPr>
          <p:cNvSpPr/>
          <p:nvPr/>
        </p:nvSpPr>
        <p:spPr>
          <a:xfrm>
            <a:off x="1021188" y="3288173"/>
            <a:ext cx="2937353" cy="45045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846EEAA-9561-6D72-2170-D51FFB7535F4}"/>
              </a:ext>
            </a:extLst>
          </p:cNvPr>
          <p:cNvCxnSpPr>
            <a:cxnSpLocks/>
            <a:endCxn id="5" idx="3"/>
          </p:cNvCxnSpPr>
          <p:nvPr/>
        </p:nvCxnSpPr>
        <p:spPr>
          <a:xfrm flipH="1">
            <a:off x="3958541" y="3513398"/>
            <a:ext cx="925975"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97F81541-E48B-5A5B-BB50-72D9CA8DAFD0}"/>
              </a:ext>
            </a:extLst>
          </p:cNvPr>
          <p:cNvSpPr/>
          <p:nvPr/>
        </p:nvSpPr>
        <p:spPr>
          <a:xfrm>
            <a:off x="10243456" y="3211284"/>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24 </a:t>
            </a:r>
          </a:p>
        </p:txBody>
      </p:sp>
    </p:spTree>
    <p:extLst>
      <p:ext uri="{BB962C8B-B14F-4D97-AF65-F5344CB8AC3E}">
        <p14:creationId xmlns:p14="http://schemas.microsoft.com/office/powerpoint/2010/main" val="1643368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A8F3-2020-0062-C549-F90C123B19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DA432B-03D8-E3B6-9296-2CADC4585FE1}"/>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83E76849-1CD9-2933-F7A8-8C487039B4D6}"/>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B822B3CC-EE50-9B17-AF5D-CBE8C736FE82}"/>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t =60/24,  where the quotient is 2 and the remainder is 12</a:t>
            </a:r>
          </a:p>
          <a:p>
            <a:r>
              <a:rPr lang="en-US" dirty="0"/>
              <a:t>Since the remainder is not equal to 0, then we go to step 4.</a:t>
            </a:r>
          </a:p>
          <a:p>
            <a:pPr marL="0" indent="0">
              <a:buNone/>
            </a:pPr>
            <a:endParaRPr lang="en-US" dirty="0"/>
          </a:p>
        </p:txBody>
      </p:sp>
      <p:sp>
        <p:nvSpPr>
          <p:cNvPr id="5" name="Rectangle 4">
            <a:extLst>
              <a:ext uri="{FF2B5EF4-FFF2-40B4-BE49-F238E27FC236}">
                <a16:creationId xmlns:a16="http://schemas.microsoft.com/office/drawing/2014/main" id="{9AE4C2DD-71F0-143B-433E-2CB20C321F63}"/>
              </a:ext>
            </a:extLst>
          </p:cNvPr>
          <p:cNvSpPr/>
          <p:nvPr/>
        </p:nvSpPr>
        <p:spPr>
          <a:xfrm>
            <a:off x="1032763" y="3796496"/>
            <a:ext cx="5063237" cy="80816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A6D675B-207B-0438-0ED5-E941C7FDAA1E}"/>
              </a:ext>
            </a:extLst>
          </p:cNvPr>
          <p:cNvCxnSpPr>
            <a:cxnSpLocks/>
            <a:endCxn id="5" idx="3"/>
          </p:cNvCxnSpPr>
          <p:nvPr/>
        </p:nvCxnSpPr>
        <p:spPr>
          <a:xfrm flipH="1">
            <a:off x="6096000" y="4200576"/>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E77F1E04-0ADC-5FF3-1D34-B720F0FB00A5}"/>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24 </a:t>
            </a:r>
          </a:p>
        </p:txBody>
      </p:sp>
      <p:sp>
        <p:nvSpPr>
          <p:cNvPr id="2" name="TextBox 1">
            <a:extLst>
              <a:ext uri="{FF2B5EF4-FFF2-40B4-BE49-F238E27FC236}">
                <a16:creationId xmlns:a16="http://schemas.microsoft.com/office/drawing/2014/main" id="{ED8544E8-2C79-7780-34E6-C54B015C2704}"/>
              </a:ext>
            </a:extLst>
          </p:cNvPr>
          <p:cNvSpPr txBox="1"/>
          <p:nvPr/>
        </p:nvSpPr>
        <p:spPr>
          <a:xfrm>
            <a:off x="6318928" y="2181845"/>
            <a:ext cx="3439886" cy="369332"/>
          </a:xfrm>
          <a:prstGeom prst="rect">
            <a:avLst/>
          </a:prstGeom>
          <a:noFill/>
        </p:spPr>
        <p:txBody>
          <a:bodyPr wrap="square" rtlCol="0">
            <a:spAutoFit/>
          </a:bodyPr>
          <a:lstStyle/>
          <a:p>
            <a:r>
              <a:rPr lang="en-US" b="1" dirty="0"/>
              <a:t>Iteration 1</a:t>
            </a:r>
          </a:p>
        </p:txBody>
      </p:sp>
    </p:spTree>
    <p:extLst>
      <p:ext uri="{BB962C8B-B14F-4D97-AF65-F5344CB8AC3E}">
        <p14:creationId xmlns:p14="http://schemas.microsoft.com/office/powerpoint/2010/main" val="2802212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C2876-9731-7A80-2078-82B2D73A79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0F6458-52D3-5E05-DDE1-7B99FF50D013}"/>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A3F07605-4A7D-9A6E-E456-3B6164EA2A12}"/>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77F8F363-9289-E221-E8FF-E31339575C5D}"/>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 is equal to t-1 = 24 -1 =23</a:t>
            </a:r>
          </a:p>
          <a:p>
            <a:r>
              <a:rPr lang="en-US" dirty="0"/>
              <a:t>Go to step 2 again</a:t>
            </a:r>
          </a:p>
          <a:p>
            <a:pPr marL="0" indent="0">
              <a:buNone/>
            </a:pPr>
            <a:endParaRPr lang="en-US" dirty="0"/>
          </a:p>
        </p:txBody>
      </p:sp>
      <p:sp>
        <p:nvSpPr>
          <p:cNvPr id="5" name="Rectangle 4">
            <a:extLst>
              <a:ext uri="{FF2B5EF4-FFF2-40B4-BE49-F238E27FC236}">
                <a16:creationId xmlns:a16="http://schemas.microsoft.com/office/drawing/2014/main" id="{1A051069-EF5B-6728-E3A2-199131C7EA6B}"/>
              </a:ext>
            </a:extLst>
          </p:cNvPr>
          <p:cNvSpPr/>
          <p:nvPr/>
        </p:nvSpPr>
        <p:spPr>
          <a:xfrm>
            <a:off x="998039" y="5613718"/>
            <a:ext cx="3377192" cy="5859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DFA70C5F-4000-8293-292C-CB6D0C544066}"/>
              </a:ext>
            </a:extLst>
          </p:cNvPr>
          <p:cNvCxnSpPr>
            <a:cxnSpLocks/>
            <a:endCxn id="5" idx="3"/>
          </p:cNvCxnSpPr>
          <p:nvPr/>
        </p:nvCxnSpPr>
        <p:spPr>
          <a:xfrm flipH="1">
            <a:off x="4375231" y="5906675"/>
            <a:ext cx="59030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FE729A53-2753-8670-E647-5D1C070FB82A}"/>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23 </a:t>
            </a:r>
          </a:p>
        </p:txBody>
      </p:sp>
      <p:sp>
        <p:nvSpPr>
          <p:cNvPr id="2" name="TextBox 1">
            <a:extLst>
              <a:ext uri="{FF2B5EF4-FFF2-40B4-BE49-F238E27FC236}">
                <a16:creationId xmlns:a16="http://schemas.microsoft.com/office/drawing/2014/main" id="{D2B3F7F5-EA31-E4E8-5929-BFF23F2319EA}"/>
              </a:ext>
            </a:extLst>
          </p:cNvPr>
          <p:cNvSpPr txBox="1"/>
          <p:nvPr/>
        </p:nvSpPr>
        <p:spPr>
          <a:xfrm>
            <a:off x="6318928" y="2181845"/>
            <a:ext cx="3439886" cy="369332"/>
          </a:xfrm>
          <a:prstGeom prst="rect">
            <a:avLst/>
          </a:prstGeom>
          <a:noFill/>
        </p:spPr>
        <p:txBody>
          <a:bodyPr wrap="square" rtlCol="0">
            <a:spAutoFit/>
          </a:bodyPr>
          <a:lstStyle/>
          <a:p>
            <a:r>
              <a:rPr lang="en-US" b="1" dirty="0"/>
              <a:t>Iteration 1</a:t>
            </a:r>
          </a:p>
        </p:txBody>
      </p:sp>
    </p:spTree>
    <p:extLst>
      <p:ext uri="{BB962C8B-B14F-4D97-AF65-F5344CB8AC3E}">
        <p14:creationId xmlns:p14="http://schemas.microsoft.com/office/powerpoint/2010/main" val="48554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4226A-3052-1D61-0DDC-C8212529D9E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F51E32-11FB-458E-D7D4-E77CFFDAEE69}"/>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558C3251-2AA8-7EF1-A053-9D03EA2F0B84}"/>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73A1945F-F2BF-C396-6270-74132E5C66A2}"/>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t =60/23,  where the quotient is 2, and the remainder is 14</a:t>
            </a:r>
          </a:p>
          <a:p>
            <a:r>
              <a:rPr lang="en-US" dirty="0"/>
              <a:t>Since the remainder is not equal to 0, we go to step 4.</a:t>
            </a:r>
          </a:p>
          <a:p>
            <a:pPr marL="0" indent="0">
              <a:buNone/>
            </a:pPr>
            <a:endParaRPr lang="en-US" dirty="0"/>
          </a:p>
        </p:txBody>
      </p:sp>
      <p:sp>
        <p:nvSpPr>
          <p:cNvPr id="5" name="Rectangle 4">
            <a:extLst>
              <a:ext uri="{FF2B5EF4-FFF2-40B4-BE49-F238E27FC236}">
                <a16:creationId xmlns:a16="http://schemas.microsoft.com/office/drawing/2014/main" id="{8926F2B3-554A-1649-391D-37E3BF17DFF1}"/>
              </a:ext>
            </a:extLst>
          </p:cNvPr>
          <p:cNvSpPr/>
          <p:nvPr/>
        </p:nvSpPr>
        <p:spPr>
          <a:xfrm>
            <a:off x="1032763" y="3796496"/>
            <a:ext cx="5063237" cy="80816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0F185B8-563E-8FF3-D5A3-D96A25104290}"/>
              </a:ext>
            </a:extLst>
          </p:cNvPr>
          <p:cNvCxnSpPr>
            <a:cxnSpLocks/>
            <a:endCxn id="5" idx="3"/>
          </p:cNvCxnSpPr>
          <p:nvPr/>
        </p:nvCxnSpPr>
        <p:spPr>
          <a:xfrm flipH="1">
            <a:off x="6096000" y="4200576"/>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7706341F-9D95-ADF6-23CF-E130E4A50422}"/>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23 </a:t>
            </a:r>
          </a:p>
        </p:txBody>
      </p:sp>
      <p:sp>
        <p:nvSpPr>
          <p:cNvPr id="2" name="TextBox 1">
            <a:extLst>
              <a:ext uri="{FF2B5EF4-FFF2-40B4-BE49-F238E27FC236}">
                <a16:creationId xmlns:a16="http://schemas.microsoft.com/office/drawing/2014/main" id="{56AC3CB5-3B19-1099-4687-EDA19C0991C4}"/>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2057855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85278-64E5-7B94-F76B-380CA2E726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03A5872-EF5E-1D05-E735-89FF83CE6FE7}"/>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2FC7E295-0D18-F753-F625-77C417E3AF2B}"/>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8058B6B7-A381-147E-7F03-9C0F91A36C0E}"/>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 is equal to t-1 = 23 -1 =22</a:t>
            </a:r>
          </a:p>
          <a:p>
            <a:r>
              <a:rPr lang="en-US" dirty="0"/>
              <a:t>Go to step 2 again</a:t>
            </a:r>
          </a:p>
          <a:p>
            <a:pPr marL="0" indent="0">
              <a:buNone/>
            </a:pPr>
            <a:endParaRPr lang="en-US" dirty="0"/>
          </a:p>
        </p:txBody>
      </p:sp>
      <p:sp>
        <p:nvSpPr>
          <p:cNvPr id="5" name="Rectangle 4">
            <a:extLst>
              <a:ext uri="{FF2B5EF4-FFF2-40B4-BE49-F238E27FC236}">
                <a16:creationId xmlns:a16="http://schemas.microsoft.com/office/drawing/2014/main" id="{6E65C249-520F-3F68-FD7A-A770EE0AB3AA}"/>
              </a:ext>
            </a:extLst>
          </p:cNvPr>
          <p:cNvSpPr/>
          <p:nvPr/>
        </p:nvSpPr>
        <p:spPr>
          <a:xfrm>
            <a:off x="998039" y="5613718"/>
            <a:ext cx="3377192" cy="5859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108BD0B-972D-B519-00AD-F38C0672D4C4}"/>
              </a:ext>
            </a:extLst>
          </p:cNvPr>
          <p:cNvCxnSpPr>
            <a:cxnSpLocks/>
            <a:endCxn id="5" idx="3"/>
          </p:cNvCxnSpPr>
          <p:nvPr/>
        </p:nvCxnSpPr>
        <p:spPr>
          <a:xfrm flipH="1">
            <a:off x="4375231" y="5906675"/>
            <a:ext cx="59030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18BCE364-C91E-6B53-7E62-BF77A71F618B}"/>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22 </a:t>
            </a:r>
          </a:p>
        </p:txBody>
      </p:sp>
      <p:sp>
        <p:nvSpPr>
          <p:cNvPr id="2" name="TextBox 1">
            <a:extLst>
              <a:ext uri="{FF2B5EF4-FFF2-40B4-BE49-F238E27FC236}">
                <a16:creationId xmlns:a16="http://schemas.microsoft.com/office/drawing/2014/main" id="{E0BAA38C-3B8A-B73B-08B7-DFDB2D5B95EF}"/>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1501585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2FAD7-4B78-A3E1-2206-CAA1E72DAB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711FAB-481C-1744-3A15-46CC8BE7BBE8}"/>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D409A2F0-D99C-2E06-6513-59FC869ED6CD}"/>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DAF66569-BABD-82C1-69C4-45BA42E3C497}"/>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t =60/23,  where the quotient is 2 and the remainder is 14</a:t>
            </a:r>
          </a:p>
          <a:p>
            <a:r>
              <a:rPr lang="en-US" dirty="0"/>
              <a:t>Since the remainder is not equal to 0, we go to step 4.</a:t>
            </a:r>
          </a:p>
          <a:p>
            <a:pPr marL="0" indent="0">
              <a:buNone/>
            </a:pPr>
            <a:endParaRPr lang="en-US" dirty="0"/>
          </a:p>
        </p:txBody>
      </p:sp>
      <p:sp>
        <p:nvSpPr>
          <p:cNvPr id="5" name="Rectangle 4">
            <a:extLst>
              <a:ext uri="{FF2B5EF4-FFF2-40B4-BE49-F238E27FC236}">
                <a16:creationId xmlns:a16="http://schemas.microsoft.com/office/drawing/2014/main" id="{054DCA24-CF7A-923A-DF65-360122E6EE99}"/>
              </a:ext>
            </a:extLst>
          </p:cNvPr>
          <p:cNvSpPr/>
          <p:nvPr/>
        </p:nvSpPr>
        <p:spPr>
          <a:xfrm>
            <a:off x="1032763" y="3796496"/>
            <a:ext cx="5063237" cy="80816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08AE397-E8EF-664A-CD68-C48D007A8A1A}"/>
              </a:ext>
            </a:extLst>
          </p:cNvPr>
          <p:cNvCxnSpPr>
            <a:cxnSpLocks/>
            <a:endCxn id="5" idx="3"/>
          </p:cNvCxnSpPr>
          <p:nvPr/>
        </p:nvCxnSpPr>
        <p:spPr>
          <a:xfrm flipH="1">
            <a:off x="6096000" y="4200576"/>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2C377A81-A852-A124-6230-984E0D41E613}"/>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23 </a:t>
            </a:r>
          </a:p>
        </p:txBody>
      </p:sp>
      <p:sp>
        <p:nvSpPr>
          <p:cNvPr id="2" name="TextBox 1">
            <a:extLst>
              <a:ext uri="{FF2B5EF4-FFF2-40B4-BE49-F238E27FC236}">
                <a16:creationId xmlns:a16="http://schemas.microsoft.com/office/drawing/2014/main" id="{918D8432-18F5-DE07-ADA5-B6CC67CDF744}"/>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4139832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E47C8-133B-074E-BEF3-5691CFF450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7109BD-5C85-4782-9EBB-E557741AC59D}"/>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2F8ECF68-879C-E35F-6170-14E00432CC60}"/>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97B864AC-EA25-F8B4-C6D9-3952CACA7C8C}"/>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 is equal to t-1 = 23 -1 =22</a:t>
            </a:r>
          </a:p>
          <a:p>
            <a:r>
              <a:rPr lang="en-US" dirty="0"/>
              <a:t>Go to step 2 again</a:t>
            </a:r>
          </a:p>
          <a:p>
            <a:pPr marL="0" indent="0">
              <a:buNone/>
            </a:pPr>
            <a:endParaRPr lang="en-US" dirty="0"/>
          </a:p>
        </p:txBody>
      </p:sp>
      <p:sp>
        <p:nvSpPr>
          <p:cNvPr id="5" name="Rectangle 4">
            <a:extLst>
              <a:ext uri="{FF2B5EF4-FFF2-40B4-BE49-F238E27FC236}">
                <a16:creationId xmlns:a16="http://schemas.microsoft.com/office/drawing/2014/main" id="{D66BE071-3894-0368-4368-F74691800DDD}"/>
              </a:ext>
            </a:extLst>
          </p:cNvPr>
          <p:cNvSpPr/>
          <p:nvPr/>
        </p:nvSpPr>
        <p:spPr>
          <a:xfrm>
            <a:off x="998039" y="5613718"/>
            <a:ext cx="3377192" cy="5859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B806903-3E1D-0895-A056-16C267A31366}"/>
              </a:ext>
            </a:extLst>
          </p:cNvPr>
          <p:cNvCxnSpPr>
            <a:cxnSpLocks/>
            <a:endCxn id="5" idx="3"/>
          </p:cNvCxnSpPr>
          <p:nvPr/>
        </p:nvCxnSpPr>
        <p:spPr>
          <a:xfrm flipH="1">
            <a:off x="4375231" y="5906675"/>
            <a:ext cx="59030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398588E6-701B-1A90-8A62-51478959AFAC}"/>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22 </a:t>
            </a:r>
          </a:p>
        </p:txBody>
      </p:sp>
      <p:sp>
        <p:nvSpPr>
          <p:cNvPr id="2" name="TextBox 1">
            <a:extLst>
              <a:ext uri="{FF2B5EF4-FFF2-40B4-BE49-F238E27FC236}">
                <a16:creationId xmlns:a16="http://schemas.microsoft.com/office/drawing/2014/main" id="{E50DE4D6-5593-EA6C-C34F-6A1E2274083F}"/>
              </a:ext>
            </a:extLst>
          </p:cNvPr>
          <p:cNvSpPr txBox="1"/>
          <p:nvPr/>
        </p:nvSpPr>
        <p:spPr>
          <a:xfrm>
            <a:off x="6318928" y="2181845"/>
            <a:ext cx="3439886" cy="369332"/>
          </a:xfrm>
          <a:prstGeom prst="rect">
            <a:avLst/>
          </a:prstGeom>
          <a:noFill/>
        </p:spPr>
        <p:txBody>
          <a:bodyPr wrap="square" rtlCol="0">
            <a:spAutoFit/>
          </a:bodyPr>
          <a:lstStyle/>
          <a:p>
            <a:r>
              <a:rPr lang="en-US" b="1" dirty="0"/>
              <a:t>Iteration 2</a:t>
            </a:r>
          </a:p>
        </p:txBody>
      </p:sp>
    </p:spTree>
    <p:extLst>
      <p:ext uri="{BB962C8B-B14F-4D97-AF65-F5344CB8AC3E}">
        <p14:creationId xmlns:p14="http://schemas.microsoft.com/office/powerpoint/2010/main" val="4055488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525DA-B9F9-D39C-D829-678587728D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FB099A-5930-448D-D6E1-82E30CEA1C68}"/>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7DBEA098-2E53-0EAA-67BD-216076BE3D71}"/>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B959E1D6-2A5F-0F4B-3F26-537F4A069366}"/>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t =60/22,  where the quotient is 2 and the remainder is 16</a:t>
            </a:r>
          </a:p>
          <a:p>
            <a:r>
              <a:rPr lang="en-US" dirty="0"/>
              <a:t>Since the remainder is not equal to 0, we go to step 4.</a:t>
            </a:r>
          </a:p>
          <a:p>
            <a:pPr marL="0" indent="0">
              <a:buNone/>
            </a:pPr>
            <a:endParaRPr lang="en-US" dirty="0"/>
          </a:p>
        </p:txBody>
      </p:sp>
      <p:sp>
        <p:nvSpPr>
          <p:cNvPr id="5" name="Rectangle 4">
            <a:extLst>
              <a:ext uri="{FF2B5EF4-FFF2-40B4-BE49-F238E27FC236}">
                <a16:creationId xmlns:a16="http://schemas.microsoft.com/office/drawing/2014/main" id="{B9316C22-9439-AAA6-0330-A892411D9D2F}"/>
              </a:ext>
            </a:extLst>
          </p:cNvPr>
          <p:cNvSpPr/>
          <p:nvPr/>
        </p:nvSpPr>
        <p:spPr>
          <a:xfrm>
            <a:off x="1032763" y="3796496"/>
            <a:ext cx="5063237" cy="80816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A27F9E6-10FC-0CAB-BBA9-3643E29D5595}"/>
              </a:ext>
            </a:extLst>
          </p:cNvPr>
          <p:cNvCxnSpPr>
            <a:cxnSpLocks/>
            <a:endCxn id="5" idx="3"/>
          </p:cNvCxnSpPr>
          <p:nvPr/>
        </p:nvCxnSpPr>
        <p:spPr>
          <a:xfrm flipH="1">
            <a:off x="6096000" y="4200576"/>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3F6EBD67-4133-3B50-7649-ACC6FF6D5C3A}"/>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22 </a:t>
            </a:r>
          </a:p>
        </p:txBody>
      </p:sp>
      <p:sp>
        <p:nvSpPr>
          <p:cNvPr id="2" name="TextBox 1">
            <a:extLst>
              <a:ext uri="{FF2B5EF4-FFF2-40B4-BE49-F238E27FC236}">
                <a16:creationId xmlns:a16="http://schemas.microsoft.com/office/drawing/2014/main" id="{D5E165A5-6C59-B9E3-3DD5-94B56613CFBB}"/>
              </a:ext>
            </a:extLst>
          </p:cNvPr>
          <p:cNvSpPr txBox="1"/>
          <p:nvPr/>
        </p:nvSpPr>
        <p:spPr>
          <a:xfrm>
            <a:off x="6318928" y="2181845"/>
            <a:ext cx="3439886" cy="369332"/>
          </a:xfrm>
          <a:prstGeom prst="rect">
            <a:avLst/>
          </a:prstGeom>
          <a:noFill/>
        </p:spPr>
        <p:txBody>
          <a:bodyPr wrap="square" rtlCol="0">
            <a:spAutoFit/>
          </a:bodyPr>
          <a:lstStyle/>
          <a:p>
            <a:r>
              <a:rPr lang="en-US" b="1" dirty="0"/>
              <a:t>Iteration 3</a:t>
            </a:r>
          </a:p>
        </p:txBody>
      </p:sp>
    </p:spTree>
    <p:extLst>
      <p:ext uri="{BB962C8B-B14F-4D97-AF65-F5344CB8AC3E}">
        <p14:creationId xmlns:p14="http://schemas.microsoft.com/office/powerpoint/2010/main" val="563279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4F473-CCF7-0A54-C982-0B56564E83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1F660E-C9E5-E231-916F-4282C9191953}"/>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131D1CCC-7816-65C6-52FC-2511B0A1E1B3}"/>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C8340304-CBA3-2867-4535-37AE1CB4CDA2}"/>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 is equal to t-1 = 22 -1 =21</a:t>
            </a:r>
          </a:p>
          <a:p>
            <a:r>
              <a:rPr lang="en-US" dirty="0"/>
              <a:t>Go to step 2 again</a:t>
            </a:r>
          </a:p>
          <a:p>
            <a:pPr marL="0" indent="0">
              <a:buNone/>
            </a:pPr>
            <a:endParaRPr lang="en-US" dirty="0"/>
          </a:p>
        </p:txBody>
      </p:sp>
      <p:sp>
        <p:nvSpPr>
          <p:cNvPr id="5" name="Rectangle 4">
            <a:extLst>
              <a:ext uri="{FF2B5EF4-FFF2-40B4-BE49-F238E27FC236}">
                <a16:creationId xmlns:a16="http://schemas.microsoft.com/office/drawing/2014/main" id="{1A671829-7CA7-114B-8DAD-B42354AA0B53}"/>
              </a:ext>
            </a:extLst>
          </p:cNvPr>
          <p:cNvSpPr/>
          <p:nvPr/>
        </p:nvSpPr>
        <p:spPr>
          <a:xfrm>
            <a:off x="998039" y="5613718"/>
            <a:ext cx="3377192" cy="5859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6751B5BD-89B4-7156-1DDC-80123B8B8AEC}"/>
              </a:ext>
            </a:extLst>
          </p:cNvPr>
          <p:cNvCxnSpPr>
            <a:cxnSpLocks/>
            <a:endCxn id="5" idx="3"/>
          </p:cNvCxnSpPr>
          <p:nvPr/>
        </p:nvCxnSpPr>
        <p:spPr>
          <a:xfrm flipH="1">
            <a:off x="4375231" y="5906675"/>
            <a:ext cx="59030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CECA9DE5-427E-741E-1B13-F262D677E0CE}"/>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21 </a:t>
            </a:r>
          </a:p>
        </p:txBody>
      </p:sp>
      <p:sp>
        <p:nvSpPr>
          <p:cNvPr id="2" name="TextBox 1">
            <a:extLst>
              <a:ext uri="{FF2B5EF4-FFF2-40B4-BE49-F238E27FC236}">
                <a16:creationId xmlns:a16="http://schemas.microsoft.com/office/drawing/2014/main" id="{FA954D56-94D5-C061-32D7-4C35779B5F33}"/>
              </a:ext>
            </a:extLst>
          </p:cNvPr>
          <p:cNvSpPr txBox="1"/>
          <p:nvPr/>
        </p:nvSpPr>
        <p:spPr>
          <a:xfrm>
            <a:off x="6318928" y="2181845"/>
            <a:ext cx="3439886" cy="369332"/>
          </a:xfrm>
          <a:prstGeom prst="rect">
            <a:avLst/>
          </a:prstGeom>
          <a:noFill/>
        </p:spPr>
        <p:txBody>
          <a:bodyPr wrap="square" rtlCol="0">
            <a:spAutoFit/>
          </a:bodyPr>
          <a:lstStyle/>
          <a:p>
            <a:r>
              <a:rPr lang="en-US" b="1" dirty="0"/>
              <a:t>Iteration 3</a:t>
            </a:r>
          </a:p>
        </p:txBody>
      </p:sp>
    </p:spTree>
    <p:extLst>
      <p:ext uri="{BB962C8B-B14F-4D97-AF65-F5344CB8AC3E}">
        <p14:creationId xmlns:p14="http://schemas.microsoft.com/office/powerpoint/2010/main" val="4160846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78A5E-AEB5-EDFA-1C99-697F541B2C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1896ED-AA79-32BE-FE6F-5F79CDE2DDD8}"/>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BE284E40-D5D4-171E-7B48-B46C451AFBCA}"/>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498441BF-8FD7-09FF-AEFC-60BFB9469D37}"/>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t =60/21,  where the quotient is 2 and the remainder is 18</a:t>
            </a:r>
          </a:p>
          <a:p>
            <a:r>
              <a:rPr lang="en-US" dirty="0"/>
              <a:t>Since the remainder is not equal to 0, then we go to step 4.</a:t>
            </a:r>
          </a:p>
          <a:p>
            <a:pPr marL="0" indent="0">
              <a:buNone/>
            </a:pPr>
            <a:endParaRPr lang="en-US" dirty="0"/>
          </a:p>
        </p:txBody>
      </p:sp>
      <p:sp>
        <p:nvSpPr>
          <p:cNvPr id="5" name="Rectangle 4">
            <a:extLst>
              <a:ext uri="{FF2B5EF4-FFF2-40B4-BE49-F238E27FC236}">
                <a16:creationId xmlns:a16="http://schemas.microsoft.com/office/drawing/2014/main" id="{0A703DF0-F789-2520-9A97-E41C0FC14375}"/>
              </a:ext>
            </a:extLst>
          </p:cNvPr>
          <p:cNvSpPr/>
          <p:nvPr/>
        </p:nvSpPr>
        <p:spPr>
          <a:xfrm>
            <a:off x="1032763" y="3796496"/>
            <a:ext cx="5063237" cy="80816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9D7DA9D-1367-D763-4C5D-77FDFFD4FADB}"/>
              </a:ext>
            </a:extLst>
          </p:cNvPr>
          <p:cNvCxnSpPr>
            <a:cxnSpLocks/>
            <a:endCxn id="5" idx="3"/>
          </p:cNvCxnSpPr>
          <p:nvPr/>
        </p:nvCxnSpPr>
        <p:spPr>
          <a:xfrm flipH="1">
            <a:off x="6096000" y="4200576"/>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1B920277-427D-09F6-773B-3ED6E0856675}"/>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21 </a:t>
            </a:r>
          </a:p>
        </p:txBody>
      </p:sp>
      <p:sp>
        <p:nvSpPr>
          <p:cNvPr id="2" name="TextBox 1">
            <a:extLst>
              <a:ext uri="{FF2B5EF4-FFF2-40B4-BE49-F238E27FC236}">
                <a16:creationId xmlns:a16="http://schemas.microsoft.com/office/drawing/2014/main" id="{F916076A-8842-587A-A457-80F342320BC7}"/>
              </a:ext>
            </a:extLst>
          </p:cNvPr>
          <p:cNvSpPr txBox="1"/>
          <p:nvPr/>
        </p:nvSpPr>
        <p:spPr>
          <a:xfrm>
            <a:off x="6318928" y="2181845"/>
            <a:ext cx="3439886" cy="369332"/>
          </a:xfrm>
          <a:prstGeom prst="rect">
            <a:avLst/>
          </a:prstGeom>
          <a:noFill/>
        </p:spPr>
        <p:txBody>
          <a:bodyPr wrap="square" rtlCol="0">
            <a:spAutoFit/>
          </a:bodyPr>
          <a:lstStyle/>
          <a:p>
            <a:r>
              <a:rPr lang="en-US" b="1" dirty="0"/>
              <a:t>Iteration 4</a:t>
            </a:r>
          </a:p>
        </p:txBody>
      </p:sp>
    </p:spTree>
    <p:extLst>
      <p:ext uri="{BB962C8B-B14F-4D97-AF65-F5344CB8AC3E}">
        <p14:creationId xmlns:p14="http://schemas.microsoft.com/office/powerpoint/2010/main" val="4249023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6D092-E0EC-2263-88AA-91663A87D5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895CD4-515F-8D21-EE77-60796EB129F2}"/>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B1005C2E-9757-4258-B6BD-41763843DC1A}"/>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09FD6D5D-C9AB-DEA8-127A-45E66179D4C4}"/>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 is equal to t-1 = 21 -1 =20</a:t>
            </a:r>
          </a:p>
          <a:p>
            <a:r>
              <a:rPr lang="en-US" dirty="0"/>
              <a:t>Go to step 2 again</a:t>
            </a:r>
          </a:p>
          <a:p>
            <a:pPr marL="0" indent="0">
              <a:buNone/>
            </a:pPr>
            <a:endParaRPr lang="en-US" dirty="0"/>
          </a:p>
        </p:txBody>
      </p:sp>
      <p:sp>
        <p:nvSpPr>
          <p:cNvPr id="5" name="Rectangle 4">
            <a:extLst>
              <a:ext uri="{FF2B5EF4-FFF2-40B4-BE49-F238E27FC236}">
                <a16:creationId xmlns:a16="http://schemas.microsoft.com/office/drawing/2014/main" id="{FA9A7DF9-6B1B-305A-536C-6DCA432A091C}"/>
              </a:ext>
            </a:extLst>
          </p:cNvPr>
          <p:cNvSpPr/>
          <p:nvPr/>
        </p:nvSpPr>
        <p:spPr>
          <a:xfrm>
            <a:off x="998039" y="5613718"/>
            <a:ext cx="3377192" cy="5859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0F7839E-1868-71C5-AC1B-BE0CD4E293D3}"/>
              </a:ext>
            </a:extLst>
          </p:cNvPr>
          <p:cNvCxnSpPr>
            <a:cxnSpLocks/>
            <a:endCxn id="5" idx="3"/>
          </p:cNvCxnSpPr>
          <p:nvPr/>
        </p:nvCxnSpPr>
        <p:spPr>
          <a:xfrm flipH="1">
            <a:off x="4375231" y="5906675"/>
            <a:ext cx="59030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B474A2E2-5AE3-1BFA-7760-61C45148C70D}"/>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20 </a:t>
            </a:r>
          </a:p>
        </p:txBody>
      </p:sp>
      <p:sp>
        <p:nvSpPr>
          <p:cNvPr id="2" name="TextBox 1">
            <a:extLst>
              <a:ext uri="{FF2B5EF4-FFF2-40B4-BE49-F238E27FC236}">
                <a16:creationId xmlns:a16="http://schemas.microsoft.com/office/drawing/2014/main" id="{F4355E50-F7A5-71E2-796A-FAAD4C9E426B}"/>
              </a:ext>
            </a:extLst>
          </p:cNvPr>
          <p:cNvSpPr txBox="1"/>
          <p:nvPr/>
        </p:nvSpPr>
        <p:spPr>
          <a:xfrm>
            <a:off x="6318928" y="2181845"/>
            <a:ext cx="3439886" cy="369332"/>
          </a:xfrm>
          <a:prstGeom prst="rect">
            <a:avLst/>
          </a:prstGeom>
          <a:noFill/>
        </p:spPr>
        <p:txBody>
          <a:bodyPr wrap="square" rtlCol="0">
            <a:spAutoFit/>
          </a:bodyPr>
          <a:lstStyle/>
          <a:p>
            <a:r>
              <a:rPr lang="en-US" b="1" dirty="0"/>
              <a:t>Iteration 4</a:t>
            </a:r>
          </a:p>
        </p:txBody>
      </p:sp>
    </p:spTree>
    <p:extLst>
      <p:ext uri="{BB962C8B-B14F-4D97-AF65-F5344CB8AC3E}">
        <p14:creationId xmlns:p14="http://schemas.microsoft.com/office/powerpoint/2010/main" val="1918867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8D936-2948-E6E1-A37D-57BAE6EFAA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7AE099-F066-8EFE-CDE7-00A2C6373F81}"/>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69826E96-D9D1-73A4-9FAC-D5BD93F3AA2F}"/>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C7AAA6BD-750D-9854-7B29-9B09BC398FC8}"/>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t =60/20,  where the quotient is 3, and the remainder is 0</a:t>
            </a:r>
          </a:p>
          <a:p>
            <a:r>
              <a:rPr lang="en-US" dirty="0"/>
              <a:t>Since the remainder is equal to 0, we go to step 3.</a:t>
            </a:r>
          </a:p>
          <a:p>
            <a:pPr marL="0" indent="0">
              <a:buNone/>
            </a:pPr>
            <a:endParaRPr lang="en-US" dirty="0"/>
          </a:p>
        </p:txBody>
      </p:sp>
      <p:sp>
        <p:nvSpPr>
          <p:cNvPr id="5" name="Rectangle 4">
            <a:extLst>
              <a:ext uri="{FF2B5EF4-FFF2-40B4-BE49-F238E27FC236}">
                <a16:creationId xmlns:a16="http://schemas.microsoft.com/office/drawing/2014/main" id="{079EB984-8B61-2294-D8BB-9C88A715D27E}"/>
              </a:ext>
            </a:extLst>
          </p:cNvPr>
          <p:cNvSpPr/>
          <p:nvPr/>
        </p:nvSpPr>
        <p:spPr>
          <a:xfrm>
            <a:off x="1032763" y="3796496"/>
            <a:ext cx="5063237" cy="80816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FDC01B26-02F7-71C0-DA1B-7F1011A3D653}"/>
              </a:ext>
            </a:extLst>
          </p:cNvPr>
          <p:cNvCxnSpPr>
            <a:cxnSpLocks/>
            <a:endCxn id="5" idx="3"/>
          </p:cNvCxnSpPr>
          <p:nvPr/>
        </p:nvCxnSpPr>
        <p:spPr>
          <a:xfrm flipH="1">
            <a:off x="6096000" y="4200576"/>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DB52CDFB-151D-1A89-2274-B22F04314B20}"/>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20 </a:t>
            </a:r>
          </a:p>
        </p:txBody>
      </p:sp>
      <p:sp>
        <p:nvSpPr>
          <p:cNvPr id="2" name="TextBox 1">
            <a:extLst>
              <a:ext uri="{FF2B5EF4-FFF2-40B4-BE49-F238E27FC236}">
                <a16:creationId xmlns:a16="http://schemas.microsoft.com/office/drawing/2014/main" id="{319652A5-758A-DDF0-2F88-985D065B0CA3}"/>
              </a:ext>
            </a:extLst>
          </p:cNvPr>
          <p:cNvSpPr txBox="1"/>
          <p:nvPr/>
        </p:nvSpPr>
        <p:spPr>
          <a:xfrm>
            <a:off x="6318928" y="2181845"/>
            <a:ext cx="3439886" cy="369332"/>
          </a:xfrm>
          <a:prstGeom prst="rect">
            <a:avLst/>
          </a:prstGeom>
          <a:noFill/>
        </p:spPr>
        <p:txBody>
          <a:bodyPr wrap="square" rtlCol="0">
            <a:spAutoFit/>
          </a:bodyPr>
          <a:lstStyle/>
          <a:p>
            <a:r>
              <a:rPr lang="en-US" b="1" dirty="0"/>
              <a:t>Iteration 5</a:t>
            </a:r>
          </a:p>
        </p:txBody>
      </p:sp>
    </p:spTree>
    <p:extLst>
      <p:ext uri="{BB962C8B-B14F-4D97-AF65-F5344CB8AC3E}">
        <p14:creationId xmlns:p14="http://schemas.microsoft.com/office/powerpoint/2010/main" val="2927960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35FF-FB58-8C64-87C1-503EB894F8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5C49E1-F818-0465-D354-33C9F18A9CA7}"/>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2B629F88-C044-C52A-29AE-77DBDE2B9E54}"/>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392A8D19-E472-D940-E081-6A744D535C05}"/>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n/ t =24/20,  where the quotient is 1 and the remainder is 4</a:t>
            </a:r>
          </a:p>
          <a:p>
            <a:r>
              <a:rPr lang="en-US" dirty="0"/>
              <a:t>Since the remainder is not equal to 0, we go to step 4.</a:t>
            </a:r>
          </a:p>
          <a:p>
            <a:pPr marL="0" indent="0">
              <a:buNone/>
            </a:pPr>
            <a:endParaRPr lang="en-US" dirty="0"/>
          </a:p>
        </p:txBody>
      </p:sp>
      <p:sp>
        <p:nvSpPr>
          <p:cNvPr id="5" name="Rectangle 4">
            <a:extLst>
              <a:ext uri="{FF2B5EF4-FFF2-40B4-BE49-F238E27FC236}">
                <a16:creationId xmlns:a16="http://schemas.microsoft.com/office/drawing/2014/main" id="{06E45CE9-5BBB-2C4B-43DC-B3736072E42A}"/>
              </a:ext>
            </a:extLst>
          </p:cNvPr>
          <p:cNvSpPr/>
          <p:nvPr/>
        </p:nvSpPr>
        <p:spPr>
          <a:xfrm>
            <a:off x="1032763" y="4745619"/>
            <a:ext cx="5063237" cy="891251"/>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FA44768C-17F6-6301-8E24-BF485D379D26}"/>
              </a:ext>
            </a:extLst>
          </p:cNvPr>
          <p:cNvCxnSpPr>
            <a:cxnSpLocks/>
            <a:endCxn id="5" idx="3"/>
          </p:cNvCxnSpPr>
          <p:nvPr/>
        </p:nvCxnSpPr>
        <p:spPr>
          <a:xfrm flipH="1">
            <a:off x="6096000" y="5191245"/>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6587859A-9B38-D784-8216-B926C1F4058D}"/>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20 </a:t>
            </a:r>
          </a:p>
        </p:txBody>
      </p:sp>
      <p:sp>
        <p:nvSpPr>
          <p:cNvPr id="2" name="TextBox 1">
            <a:extLst>
              <a:ext uri="{FF2B5EF4-FFF2-40B4-BE49-F238E27FC236}">
                <a16:creationId xmlns:a16="http://schemas.microsoft.com/office/drawing/2014/main" id="{53801274-D9CE-30D2-6B98-73F14B504D26}"/>
              </a:ext>
            </a:extLst>
          </p:cNvPr>
          <p:cNvSpPr txBox="1"/>
          <p:nvPr/>
        </p:nvSpPr>
        <p:spPr>
          <a:xfrm>
            <a:off x="6318928" y="2181845"/>
            <a:ext cx="3439886" cy="369332"/>
          </a:xfrm>
          <a:prstGeom prst="rect">
            <a:avLst/>
          </a:prstGeom>
          <a:noFill/>
        </p:spPr>
        <p:txBody>
          <a:bodyPr wrap="square" rtlCol="0">
            <a:spAutoFit/>
          </a:bodyPr>
          <a:lstStyle/>
          <a:p>
            <a:r>
              <a:rPr lang="en-US" b="1" dirty="0"/>
              <a:t>Iteration 5</a:t>
            </a:r>
          </a:p>
        </p:txBody>
      </p:sp>
    </p:spTree>
    <p:extLst>
      <p:ext uri="{BB962C8B-B14F-4D97-AF65-F5344CB8AC3E}">
        <p14:creationId xmlns:p14="http://schemas.microsoft.com/office/powerpoint/2010/main" val="2487743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09028-B00F-A8A3-101B-2F42970839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0368FB-E5D3-E632-DD04-529F41A66E21}"/>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E80E7A78-2EEC-3CCC-2B24-D9A47B42F637}"/>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CE85F03C-44F1-7924-F37A-2F020649083D}"/>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t is equal to t-1 = 20 -1 =19</a:t>
            </a:r>
          </a:p>
          <a:p>
            <a:r>
              <a:rPr lang="en-US" dirty="0"/>
              <a:t>Go to step 2 again</a:t>
            </a:r>
          </a:p>
          <a:p>
            <a:r>
              <a:rPr lang="en-US" dirty="0"/>
              <a:t>Skipping the remaining iterations till reaching iteration 13</a:t>
            </a:r>
          </a:p>
          <a:p>
            <a:pPr marL="0" indent="0">
              <a:buNone/>
            </a:pPr>
            <a:endParaRPr lang="en-US" dirty="0"/>
          </a:p>
        </p:txBody>
      </p:sp>
      <p:sp>
        <p:nvSpPr>
          <p:cNvPr id="5" name="Rectangle 4">
            <a:extLst>
              <a:ext uri="{FF2B5EF4-FFF2-40B4-BE49-F238E27FC236}">
                <a16:creationId xmlns:a16="http://schemas.microsoft.com/office/drawing/2014/main" id="{BA0FE710-7FB8-3671-3776-A5994CA36191}"/>
              </a:ext>
            </a:extLst>
          </p:cNvPr>
          <p:cNvSpPr/>
          <p:nvPr/>
        </p:nvSpPr>
        <p:spPr>
          <a:xfrm>
            <a:off x="998039" y="5613718"/>
            <a:ext cx="3377192" cy="58591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243801B-8C9A-09ED-1A62-61C72E953A13}"/>
              </a:ext>
            </a:extLst>
          </p:cNvPr>
          <p:cNvCxnSpPr>
            <a:cxnSpLocks/>
            <a:endCxn id="5" idx="3"/>
          </p:cNvCxnSpPr>
          <p:nvPr/>
        </p:nvCxnSpPr>
        <p:spPr>
          <a:xfrm flipH="1">
            <a:off x="4375231" y="5906675"/>
            <a:ext cx="59030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19ACB2F9-C4DD-B3BA-7B8F-68DFEC41FFDC}"/>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19 </a:t>
            </a:r>
          </a:p>
        </p:txBody>
      </p:sp>
      <p:sp>
        <p:nvSpPr>
          <p:cNvPr id="2" name="TextBox 1">
            <a:extLst>
              <a:ext uri="{FF2B5EF4-FFF2-40B4-BE49-F238E27FC236}">
                <a16:creationId xmlns:a16="http://schemas.microsoft.com/office/drawing/2014/main" id="{C7DB4629-340D-9F9D-7CA9-1B0AF80BA4E5}"/>
              </a:ext>
            </a:extLst>
          </p:cNvPr>
          <p:cNvSpPr txBox="1"/>
          <p:nvPr/>
        </p:nvSpPr>
        <p:spPr>
          <a:xfrm>
            <a:off x="6318928" y="2181845"/>
            <a:ext cx="3439886" cy="369332"/>
          </a:xfrm>
          <a:prstGeom prst="rect">
            <a:avLst/>
          </a:prstGeom>
          <a:noFill/>
        </p:spPr>
        <p:txBody>
          <a:bodyPr wrap="square" rtlCol="0">
            <a:spAutoFit/>
          </a:bodyPr>
          <a:lstStyle/>
          <a:p>
            <a:r>
              <a:rPr lang="en-US" b="1" dirty="0"/>
              <a:t>Iteration 5</a:t>
            </a:r>
          </a:p>
        </p:txBody>
      </p:sp>
    </p:spTree>
    <p:extLst>
      <p:ext uri="{BB962C8B-B14F-4D97-AF65-F5344CB8AC3E}">
        <p14:creationId xmlns:p14="http://schemas.microsoft.com/office/powerpoint/2010/main" val="8070569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C067-485D-680C-B17E-6AA9778F75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315028-C5B1-A18B-420B-8252680D417D}"/>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BF5D9B89-65E1-4887-4FF4-F8B952B4CD97}"/>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17726F17-D274-BA35-EF7B-261407BC21E7}"/>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m/ t =60/12,  where the quotient is 5, and the remainder is 0</a:t>
            </a:r>
          </a:p>
          <a:p>
            <a:r>
              <a:rPr lang="en-US" dirty="0"/>
              <a:t>Since the remainder is equal to 0, we go to step 3.</a:t>
            </a:r>
          </a:p>
          <a:p>
            <a:pPr marL="0" indent="0">
              <a:buNone/>
            </a:pPr>
            <a:endParaRPr lang="en-US" dirty="0"/>
          </a:p>
        </p:txBody>
      </p:sp>
      <p:sp>
        <p:nvSpPr>
          <p:cNvPr id="5" name="Rectangle 4">
            <a:extLst>
              <a:ext uri="{FF2B5EF4-FFF2-40B4-BE49-F238E27FC236}">
                <a16:creationId xmlns:a16="http://schemas.microsoft.com/office/drawing/2014/main" id="{22AA2AEF-7E5D-A7E7-0DA3-206B5522F7CF}"/>
              </a:ext>
            </a:extLst>
          </p:cNvPr>
          <p:cNvSpPr/>
          <p:nvPr/>
        </p:nvSpPr>
        <p:spPr>
          <a:xfrm>
            <a:off x="1032763" y="3796496"/>
            <a:ext cx="5063237" cy="80816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717AC36-2C46-57FA-5889-90F108709CE7}"/>
              </a:ext>
            </a:extLst>
          </p:cNvPr>
          <p:cNvCxnSpPr>
            <a:cxnSpLocks/>
            <a:endCxn id="5" idx="3"/>
          </p:cNvCxnSpPr>
          <p:nvPr/>
        </p:nvCxnSpPr>
        <p:spPr>
          <a:xfrm flipH="1">
            <a:off x="6096000" y="4200576"/>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7A079E29-2A52-0323-1B8C-F83380E6738F}"/>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12 </a:t>
            </a:r>
          </a:p>
        </p:txBody>
      </p:sp>
      <p:sp>
        <p:nvSpPr>
          <p:cNvPr id="2" name="TextBox 1">
            <a:extLst>
              <a:ext uri="{FF2B5EF4-FFF2-40B4-BE49-F238E27FC236}">
                <a16:creationId xmlns:a16="http://schemas.microsoft.com/office/drawing/2014/main" id="{BA4A2B88-14B3-B0D6-782F-3DF2788C9DDE}"/>
              </a:ext>
            </a:extLst>
          </p:cNvPr>
          <p:cNvSpPr txBox="1"/>
          <p:nvPr/>
        </p:nvSpPr>
        <p:spPr>
          <a:xfrm>
            <a:off x="6318928" y="2181845"/>
            <a:ext cx="3439886" cy="369332"/>
          </a:xfrm>
          <a:prstGeom prst="rect">
            <a:avLst/>
          </a:prstGeom>
          <a:noFill/>
        </p:spPr>
        <p:txBody>
          <a:bodyPr wrap="square" rtlCol="0">
            <a:spAutoFit/>
          </a:bodyPr>
          <a:lstStyle/>
          <a:p>
            <a:r>
              <a:rPr lang="en-US" b="1" dirty="0"/>
              <a:t>Iteration 13</a:t>
            </a:r>
          </a:p>
        </p:txBody>
      </p:sp>
    </p:spTree>
    <p:extLst>
      <p:ext uri="{BB962C8B-B14F-4D97-AF65-F5344CB8AC3E}">
        <p14:creationId xmlns:p14="http://schemas.microsoft.com/office/powerpoint/2010/main" val="690409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4B672-11AB-A0D8-D389-FB281F68F6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61E6C7-242C-A29C-F149-D3C17936DF56}"/>
              </a:ext>
            </a:extLst>
          </p:cNvPr>
          <p:cNvSpPr>
            <a:spLocks noGrp="1"/>
          </p:cNvSpPr>
          <p:nvPr>
            <p:ph type="title"/>
          </p:nvPr>
        </p:nvSpPr>
        <p:spPr/>
        <p:txBody>
          <a:bodyPr/>
          <a:lstStyle/>
          <a:p>
            <a:r>
              <a:rPr lang="en-US" dirty="0"/>
              <a:t>Consecutive integer checking algorithm</a:t>
            </a:r>
          </a:p>
        </p:txBody>
      </p:sp>
      <p:pic>
        <p:nvPicPr>
          <p:cNvPr id="8" name="Content Placeholder 7">
            <a:extLst>
              <a:ext uri="{FF2B5EF4-FFF2-40B4-BE49-F238E27FC236}">
                <a16:creationId xmlns:a16="http://schemas.microsoft.com/office/drawing/2014/main" id="{DB296DD5-7CC3-4F27-8D5C-E22822F4E73C}"/>
              </a:ext>
            </a:extLst>
          </p:cNvPr>
          <p:cNvPicPr>
            <a:picLocks noGrp="1" noChangeAspect="1"/>
          </p:cNvPicPr>
          <p:nvPr>
            <p:ph sz="half" idx="1"/>
          </p:nvPr>
        </p:nvPicPr>
        <p:blipFill>
          <a:blip r:embed="rId2"/>
          <a:stretch>
            <a:fillRect/>
          </a:stretch>
        </p:blipFill>
        <p:spPr>
          <a:xfrm>
            <a:off x="660992" y="2633472"/>
            <a:ext cx="5511208" cy="3566160"/>
          </a:xfrm>
          <a:prstGeom prst="rect">
            <a:avLst/>
          </a:prstGeom>
        </p:spPr>
      </p:pic>
      <p:sp>
        <p:nvSpPr>
          <p:cNvPr id="6" name="Content Placeholder 5">
            <a:extLst>
              <a:ext uri="{FF2B5EF4-FFF2-40B4-BE49-F238E27FC236}">
                <a16:creationId xmlns:a16="http://schemas.microsoft.com/office/drawing/2014/main" id="{45AA9A74-77C4-BE88-ECF6-F5F0AD6F4D61}"/>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r>
              <a:rPr lang="en-US" dirty="0"/>
              <a:t>n/ t =24/12,  where the quotient is 2 and the remainder is 0</a:t>
            </a:r>
          </a:p>
          <a:p>
            <a:r>
              <a:rPr lang="en-US" dirty="0"/>
              <a:t>Since the remainder is equal to 0, then we return t=12 and stop.</a:t>
            </a:r>
          </a:p>
          <a:p>
            <a:pPr marL="0" indent="0">
              <a:buNone/>
            </a:pPr>
            <a:endParaRPr lang="en-US" dirty="0"/>
          </a:p>
        </p:txBody>
      </p:sp>
      <p:sp>
        <p:nvSpPr>
          <p:cNvPr id="5" name="Rectangle 4">
            <a:extLst>
              <a:ext uri="{FF2B5EF4-FFF2-40B4-BE49-F238E27FC236}">
                <a16:creationId xmlns:a16="http://schemas.microsoft.com/office/drawing/2014/main" id="{B11E193B-94F2-F7DB-3904-80BBAF9E19AB}"/>
              </a:ext>
            </a:extLst>
          </p:cNvPr>
          <p:cNvSpPr/>
          <p:nvPr/>
        </p:nvSpPr>
        <p:spPr>
          <a:xfrm>
            <a:off x="1032763" y="4745619"/>
            <a:ext cx="5063237" cy="891251"/>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C9BA8741-7225-AE3A-3D42-D02B23D72000}"/>
              </a:ext>
            </a:extLst>
          </p:cNvPr>
          <p:cNvCxnSpPr>
            <a:cxnSpLocks/>
            <a:endCxn id="5" idx="3"/>
          </p:cNvCxnSpPr>
          <p:nvPr/>
        </p:nvCxnSpPr>
        <p:spPr>
          <a:xfrm flipH="1">
            <a:off x="6096000" y="5191245"/>
            <a:ext cx="22292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10">
            <a:extLst>
              <a:ext uri="{FF2B5EF4-FFF2-40B4-BE49-F238E27FC236}">
                <a16:creationId xmlns:a16="http://schemas.microsoft.com/office/drawing/2014/main" id="{01F72585-A734-951F-7776-05FA1FE06B18}"/>
              </a:ext>
            </a:extLst>
          </p:cNvPr>
          <p:cNvSpPr/>
          <p:nvPr/>
        </p:nvSpPr>
        <p:spPr>
          <a:xfrm>
            <a:off x="10243456" y="4056238"/>
            <a:ext cx="1034143" cy="13933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masis MT Pro Light" panose="020F0502020204030204" pitchFamily="18" charset="0"/>
              </a:rPr>
              <a:t>Variables</a:t>
            </a:r>
          </a:p>
          <a:p>
            <a:pPr algn="ctr"/>
            <a:r>
              <a:rPr lang="en-US" dirty="0"/>
              <a:t>n= 24</a:t>
            </a:r>
          </a:p>
          <a:p>
            <a:pPr algn="ctr"/>
            <a:r>
              <a:rPr lang="en-US" dirty="0"/>
              <a:t>m=60</a:t>
            </a:r>
          </a:p>
          <a:p>
            <a:pPr algn="ctr"/>
            <a:r>
              <a:rPr lang="en-US" dirty="0"/>
              <a:t>t= 12 </a:t>
            </a:r>
          </a:p>
        </p:txBody>
      </p:sp>
      <p:sp>
        <p:nvSpPr>
          <p:cNvPr id="2" name="TextBox 1">
            <a:extLst>
              <a:ext uri="{FF2B5EF4-FFF2-40B4-BE49-F238E27FC236}">
                <a16:creationId xmlns:a16="http://schemas.microsoft.com/office/drawing/2014/main" id="{02E34790-2EFB-6FEE-1147-CC48B1802800}"/>
              </a:ext>
            </a:extLst>
          </p:cNvPr>
          <p:cNvSpPr txBox="1"/>
          <p:nvPr/>
        </p:nvSpPr>
        <p:spPr>
          <a:xfrm>
            <a:off x="6318928" y="2181845"/>
            <a:ext cx="3439886" cy="369332"/>
          </a:xfrm>
          <a:prstGeom prst="rect">
            <a:avLst/>
          </a:prstGeom>
          <a:noFill/>
        </p:spPr>
        <p:txBody>
          <a:bodyPr wrap="square" rtlCol="0">
            <a:spAutoFit/>
          </a:bodyPr>
          <a:lstStyle/>
          <a:p>
            <a:r>
              <a:rPr lang="en-US" b="1" dirty="0"/>
              <a:t>Iteration 13</a:t>
            </a:r>
          </a:p>
        </p:txBody>
      </p:sp>
    </p:spTree>
    <p:extLst>
      <p:ext uri="{BB962C8B-B14F-4D97-AF65-F5344CB8AC3E}">
        <p14:creationId xmlns:p14="http://schemas.microsoft.com/office/powerpoint/2010/main" val="3522250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983104-81F7-3904-11D4-71B4BCC2D756}"/>
              </a:ext>
            </a:extLst>
          </p:cNvPr>
          <p:cNvSpPr>
            <a:spLocks noGrp="1"/>
          </p:cNvSpPr>
          <p:nvPr>
            <p:ph type="title"/>
          </p:nvPr>
        </p:nvSpPr>
        <p:spPr/>
        <p:txBody>
          <a:bodyPr/>
          <a:lstStyle/>
          <a:p>
            <a:r>
              <a:rPr lang="en-US" dirty="0"/>
              <a:t>Which algorithm is better ?</a:t>
            </a:r>
          </a:p>
        </p:txBody>
      </p:sp>
      <p:sp>
        <p:nvSpPr>
          <p:cNvPr id="6" name="Content Placeholder 5">
            <a:extLst>
              <a:ext uri="{FF2B5EF4-FFF2-40B4-BE49-F238E27FC236}">
                <a16:creationId xmlns:a16="http://schemas.microsoft.com/office/drawing/2014/main" id="{12FC21F8-B49C-F2EE-28FD-F2B8BDBA8653}"/>
              </a:ext>
            </a:extLst>
          </p:cNvPr>
          <p:cNvSpPr>
            <a:spLocks noGrp="1"/>
          </p:cNvSpPr>
          <p:nvPr>
            <p:ph idx="1"/>
          </p:nvPr>
        </p:nvSpPr>
        <p:spPr/>
        <p:txBody>
          <a:bodyPr>
            <a:normAutofit/>
          </a:bodyPr>
          <a:lstStyle/>
          <a:p>
            <a:r>
              <a:rPr lang="en-US" sz="2400" dirty="0"/>
              <a:t>Both get the final answer correctly, but Euclid's algorithm is much faster.</a:t>
            </a:r>
          </a:p>
          <a:p>
            <a:r>
              <a:rPr lang="en-US" sz="2400" dirty="0"/>
              <a:t>Conclusion:</a:t>
            </a:r>
          </a:p>
          <a:p>
            <a:pPr lvl="1"/>
            <a:r>
              <a:rPr lang="en-US" sz="2000" dirty="0"/>
              <a:t>The strategy or technique used for designing an algorithm affects how good the algorithm is( Euclid’s algorithm uses decrease and conquer, while consecutive integer checking uses brute force)</a:t>
            </a:r>
          </a:p>
          <a:p>
            <a:pPr lvl="1"/>
            <a:r>
              <a:rPr lang="en-US" sz="2000" dirty="0"/>
              <a:t>The input values for the algorithm affect the number of iterations to be executed; a better algorithm can reduce the number of iterations without affecting the output of the algorithm. (time complexity).    </a:t>
            </a:r>
          </a:p>
        </p:txBody>
      </p:sp>
    </p:spTree>
    <p:extLst>
      <p:ext uri="{BB962C8B-B14F-4D97-AF65-F5344CB8AC3E}">
        <p14:creationId xmlns:p14="http://schemas.microsoft.com/office/powerpoint/2010/main" val="1410922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8EC55-0073-E359-C17A-39E94CB5A1D9}"/>
              </a:ext>
            </a:extLst>
          </p:cNvPr>
          <p:cNvSpPr>
            <a:spLocks noGrp="1"/>
          </p:cNvSpPr>
          <p:nvPr>
            <p:ph type="title"/>
          </p:nvPr>
        </p:nvSpPr>
        <p:spPr>
          <a:xfrm>
            <a:off x="640080" y="1371600"/>
            <a:ext cx="4670661" cy="3030842"/>
          </a:xfrm>
        </p:spPr>
        <p:txBody>
          <a:bodyPr vert="horz" lIns="91440" tIns="45720" rIns="91440" bIns="45720" rtlCol="0" anchor="t">
            <a:normAutofit fontScale="90000"/>
          </a:bodyPr>
          <a:lstStyle/>
          <a:p>
            <a:r>
              <a:rPr lang="en-US" sz="5400" dirty="0"/>
              <a:t>Fundamentals of Algorithmic Problem Solving</a:t>
            </a:r>
            <a:endParaRPr lang="en-US" sz="5400" b="1" kern="1200" dirty="0">
              <a:solidFill>
                <a:schemeClr val="tx1"/>
              </a:solidFill>
              <a:latin typeface="+mj-lt"/>
              <a:ea typeface="+mj-ea"/>
              <a:cs typeface="+mj-cs"/>
            </a:endParaRPr>
          </a:p>
        </p:txBody>
      </p:sp>
      <p:cxnSp>
        <p:nvCxnSpPr>
          <p:cNvPr id="14" name="Straight Connector 13">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2CA5BB61-D357-A378-974C-364B2CF49173}"/>
              </a:ext>
            </a:extLst>
          </p:cNvPr>
          <p:cNvPicPr>
            <a:picLocks noGrp="1" noChangeAspect="1"/>
          </p:cNvPicPr>
          <p:nvPr>
            <p:ph idx="1"/>
          </p:nvPr>
        </p:nvPicPr>
        <p:blipFill>
          <a:blip r:embed="rId2"/>
          <a:srcRect l="3959" r="66"/>
          <a:stretch>
            <a:fillRect/>
          </a:stretch>
        </p:blipFill>
        <p:spPr>
          <a:xfrm>
            <a:off x="6481757" y="555828"/>
            <a:ext cx="5676900" cy="5515781"/>
          </a:xfrm>
          <a:prstGeom prst="rect">
            <a:avLst/>
          </a:prstGeom>
        </p:spPr>
      </p:pic>
      <p:sp>
        <p:nvSpPr>
          <p:cNvPr id="3" name="TextBox 2">
            <a:extLst>
              <a:ext uri="{FF2B5EF4-FFF2-40B4-BE49-F238E27FC236}">
                <a16:creationId xmlns:a16="http://schemas.microsoft.com/office/drawing/2014/main" id="{5A0E954C-1B29-09C7-C55B-B20635A5FD60}"/>
              </a:ext>
            </a:extLst>
          </p:cNvPr>
          <p:cNvSpPr txBox="1"/>
          <p:nvPr/>
        </p:nvSpPr>
        <p:spPr>
          <a:xfrm>
            <a:off x="6912758" y="6278291"/>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3023288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A57734-DE7C-E1BF-FDD7-CF2199439616}"/>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D3F791-5D92-3204-BD86-923546C60247}"/>
              </a:ext>
            </a:extLst>
          </p:cNvPr>
          <p:cNvSpPr>
            <a:spLocks noGrp="1"/>
          </p:cNvSpPr>
          <p:nvPr>
            <p:ph type="title"/>
          </p:nvPr>
        </p:nvSpPr>
        <p:spPr>
          <a:xfrm>
            <a:off x="640080" y="1371600"/>
            <a:ext cx="4670661" cy="3030842"/>
          </a:xfrm>
        </p:spPr>
        <p:txBody>
          <a:bodyPr vert="horz" lIns="91440" tIns="45720" rIns="91440" bIns="45720" rtlCol="0" anchor="t">
            <a:normAutofit/>
          </a:bodyPr>
          <a:lstStyle/>
          <a:p>
            <a:r>
              <a:rPr lang="en-US" sz="5400" b="1" kern="1200">
                <a:solidFill>
                  <a:schemeClr val="tx1"/>
                </a:solidFill>
                <a:latin typeface="+mj-lt"/>
                <a:ea typeface="+mj-ea"/>
                <a:cs typeface="+mj-cs"/>
              </a:rPr>
              <a:t>Important problem types</a:t>
            </a:r>
          </a:p>
        </p:txBody>
      </p:sp>
      <p:cxnSp>
        <p:nvCxnSpPr>
          <p:cNvPr id="12" name="Straight Connector 11">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3D black question marks with one yellow question mark">
            <a:extLst>
              <a:ext uri="{FF2B5EF4-FFF2-40B4-BE49-F238E27FC236}">
                <a16:creationId xmlns:a16="http://schemas.microsoft.com/office/drawing/2014/main" id="{A63B9DDB-AE5A-0797-60C0-D4628516919C}"/>
              </a:ext>
            </a:extLst>
          </p:cNvPr>
          <p:cNvPicPr>
            <a:picLocks noChangeAspect="1"/>
          </p:cNvPicPr>
          <p:nvPr/>
        </p:nvPicPr>
        <p:blipFill>
          <a:blip r:embed="rId2"/>
          <a:srcRect l="46327" r="23459"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104175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6843-254E-9511-0AA7-EDEEAC93FCD3}"/>
              </a:ext>
            </a:extLst>
          </p:cNvPr>
          <p:cNvSpPr>
            <a:spLocks noGrp="1"/>
          </p:cNvSpPr>
          <p:nvPr>
            <p:ph type="title"/>
          </p:nvPr>
        </p:nvSpPr>
        <p:spPr/>
        <p:txBody>
          <a:bodyPr/>
          <a:lstStyle/>
          <a:p>
            <a:r>
              <a:rPr lang="en-US" dirty="0"/>
              <a:t>Sorting </a:t>
            </a:r>
          </a:p>
        </p:txBody>
      </p:sp>
      <p:pic>
        <p:nvPicPr>
          <p:cNvPr id="1026" name="Picture 2" descr="GitHub - CarolinaDCode/sorting_algorithms: Sorting algorithms &amp; Big O">
            <a:extLst>
              <a:ext uri="{FF2B5EF4-FFF2-40B4-BE49-F238E27FC236}">
                <a16:creationId xmlns:a16="http://schemas.microsoft.com/office/drawing/2014/main" id="{61314801-B692-249A-9113-15201CD71D6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6440814" y="3439220"/>
            <a:ext cx="5211762" cy="195441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42187A8-62A4-ED91-0071-1C734D3FE0E0}"/>
              </a:ext>
            </a:extLst>
          </p:cNvPr>
          <p:cNvSpPr>
            <a:spLocks noGrp="1"/>
          </p:cNvSpPr>
          <p:nvPr>
            <p:ph sz="half" idx="2"/>
          </p:nvPr>
        </p:nvSpPr>
        <p:spPr>
          <a:xfrm>
            <a:off x="832511" y="2633472"/>
            <a:ext cx="5212080" cy="3566160"/>
          </a:xfrm>
        </p:spPr>
        <p:txBody>
          <a:bodyPr/>
          <a:lstStyle/>
          <a:p>
            <a:r>
              <a:rPr lang="en-US" dirty="0"/>
              <a:t>The sorting problem is to rearrange the items of a given list in nondecreasing order</a:t>
            </a:r>
          </a:p>
        </p:txBody>
      </p:sp>
      <p:sp>
        <p:nvSpPr>
          <p:cNvPr id="4" name="TextBox 3">
            <a:extLst>
              <a:ext uri="{FF2B5EF4-FFF2-40B4-BE49-F238E27FC236}">
                <a16:creationId xmlns:a16="http://schemas.microsoft.com/office/drawing/2014/main" id="{6869369D-736A-6344-CE3B-35E0CB91CD15}"/>
              </a:ext>
            </a:extLst>
          </p:cNvPr>
          <p:cNvSpPr txBox="1"/>
          <p:nvPr/>
        </p:nvSpPr>
        <p:spPr>
          <a:xfrm>
            <a:off x="6440814" y="5558221"/>
            <a:ext cx="5211762" cy="307777"/>
          </a:xfrm>
          <a:prstGeom prst="rect">
            <a:avLst/>
          </a:prstGeom>
          <a:noFill/>
        </p:spPr>
        <p:txBody>
          <a:bodyPr wrap="square" rtlCol="0">
            <a:spAutoFit/>
          </a:bodyPr>
          <a:lstStyle/>
          <a:p>
            <a:r>
              <a:rPr lang="en-US" sz="1400" dirty="0"/>
              <a:t>https://github.com/CarolinaDCode/sorting_algorithms</a:t>
            </a:r>
          </a:p>
        </p:txBody>
      </p:sp>
    </p:spTree>
    <p:extLst>
      <p:ext uri="{BB962C8B-B14F-4D97-AF65-F5344CB8AC3E}">
        <p14:creationId xmlns:p14="http://schemas.microsoft.com/office/powerpoint/2010/main" val="1857757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2FB3-C21C-C49D-0DDB-0DFCA4113567}"/>
              </a:ext>
            </a:extLst>
          </p:cNvPr>
          <p:cNvSpPr>
            <a:spLocks noGrp="1"/>
          </p:cNvSpPr>
          <p:nvPr>
            <p:ph type="title"/>
          </p:nvPr>
        </p:nvSpPr>
        <p:spPr/>
        <p:txBody>
          <a:bodyPr/>
          <a:lstStyle/>
          <a:p>
            <a:r>
              <a:rPr lang="en-US" dirty="0"/>
              <a:t>Searching </a:t>
            </a:r>
          </a:p>
        </p:txBody>
      </p:sp>
      <p:pic>
        <p:nvPicPr>
          <p:cNvPr id="2050" name="Picture 2" descr="Searching Algorithms: Visualized – Sushrut Kuchik">
            <a:extLst>
              <a:ext uri="{FF2B5EF4-FFF2-40B4-BE49-F238E27FC236}">
                <a16:creationId xmlns:a16="http://schemas.microsoft.com/office/drawing/2014/main" id="{C82E508F-2431-02C0-8A2A-3C24C391101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6862399" y="2497289"/>
            <a:ext cx="4171950" cy="17145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9949E96-5759-F89F-AC22-8AEB7FE86D1D}"/>
              </a:ext>
            </a:extLst>
          </p:cNvPr>
          <p:cNvSpPr>
            <a:spLocks noGrp="1"/>
          </p:cNvSpPr>
          <p:nvPr>
            <p:ph sz="half" idx="2"/>
          </p:nvPr>
        </p:nvSpPr>
        <p:spPr>
          <a:xfrm>
            <a:off x="714523" y="2633472"/>
            <a:ext cx="5212080" cy="3566160"/>
          </a:xfrm>
        </p:spPr>
        <p:txBody>
          <a:bodyPr/>
          <a:lstStyle/>
          <a:p>
            <a:r>
              <a:rPr lang="en-US" dirty="0"/>
              <a:t>The searching problem deals with finding a given value, called a search key, in a given set</a:t>
            </a:r>
          </a:p>
        </p:txBody>
      </p:sp>
      <p:sp>
        <p:nvSpPr>
          <p:cNvPr id="4" name="TextBox 3">
            <a:extLst>
              <a:ext uri="{FF2B5EF4-FFF2-40B4-BE49-F238E27FC236}">
                <a16:creationId xmlns:a16="http://schemas.microsoft.com/office/drawing/2014/main" id="{5F2884E2-AC44-F28E-79E0-AD20F54A80F8}"/>
              </a:ext>
            </a:extLst>
          </p:cNvPr>
          <p:cNvSpPr txBox="1"/>
          <p:nvPr/>
        </p:nvSpPr>
        <p:spPr>
          <a:xfrm>
            <a:off x="7029547" y="4092814"/>
            <a:ext cx="4171950" cy="523220"/>
          </a:xfrm>
          <a:prstGeom prst="rect">
            <a:avLst/>
          </a:prstGeom>
          <a:noFill/>
        </p:spPr>
        <p:txBody>
          <a:bodyPr wrap="square" rtlCol="0">
            <a:spAutoFit/>
          </a:bodyPr>
          <a:lstStyle/>
          <a:p>
            <a:r>
              <a:rPr lang="en-US" sz="1400" dirty="0"/>
              <a:t>https://sushrutkuchik.wordpress.com/2020/05/24/searching-algorithms-visualized/</a:t>
            </a:r>
          </a:p>
        </p:txBody>
      </p:sp>
    </p:spTree>
    <p:extLst>
      <p:ext uri="{BB962C8B-B14F-4D97-AF65-F5344CB8AC3E}">
        <p14:creationId xmlns:p14="http://schemas.microsoft.com/office/powerpoint/2010/main" val="34485664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DF32-AB4C-B513-2F7D-4CFD1C8C2F3D}"/>
              </a:ext>
            </a:extLst>
          </p:cNvPr>
          <p:cNvSpPr>
            <a:spLocks noGrp="1"/>
          </p:cNvSpPr>
          <p:nvPr>
            <p:ph type="title"/>
          </p:nvPr>
        </p:nvSpPr>
        <p:spPr/>
        <p:txBody>
          <a:bodyPr/>
          <a:lstStyle/>
          <a:p>
            <a:r>
              <a:rPr lang="en-US" dirty="0"/>
              <a:t>String processing</a:t>
            </a:r>
          </a:p>
        </p:txBody>
      </p:sp>
      <p:sp>
        <p:nvSpPr>
          <p:cNvPr id="4" name="Content Placeholder 3">
            <a:extLst>
              <a:ext uri="{FF2B5EF4-FFF2-40B4-BE49-F238E27FC236}">
                <a16:creationId xmlns:a16="http://schemas.microsoft.com/office/drawing/2014/main" id="{B1C0FAB7-3298-9299-CAE8-C750C70AE544}"/>
              </a:ext>
            </a:extLst>
          </p:cNvPr>
          <p:cNvSpPr>
            <a:spLocks noGrp="1"/>
          </p:cNvSpPr>
          <p:nvPr>
            <p:ph idx="1"/>
          </p:nvPr>
        </p:nvSpPr>
        <p:spPr/>
        <p:txBody>
          <a:bodyPr/>
          <a:lstStyle/>
          <a:p>
            <a:r>
              <a:rPr lang="en-US" dirty="0"/>
              <a:t>are essential for manipulating and analyzing text data.</a:t>
            </a:r>
          </a:p>
          <a:p>
            <a:r>
              <a:rPr lang="en-US" dirty="0"/>
              <a:t>Examples:</a:t>
            </a:r>
          </a:p>
          <a:p>
            <a:pPr lvl="1"/>
            <a:r>
              <a:rPr lang="en-US" sz="2000" dirty="0"/>
              <a:t>String Manipulation, like reversing or concatenating</a:t>
            </a:r>
          </a:p>
          <a:p>
            <a:pPr lvl="1"/>
            <a:r>
              <a:rPr lang="en-US" sz="2000" dirty="0"/>
              <a:t>String matching to find a substring in a string</a:t>
            </a:r>
          </a:p>
          <a:p>
            <a:pPr lvl="1"/>
            <a:r>
              <a:rPr lang="en-US" sz="2000" dirty="0"/>
              <a:t>Longest Common Subsequence (LCS) used in DNA sequences</a:t>
            </a:r>
          </a:p>
          <a:p>
            <a:pPr marL="265176" lvl="1" indent="0">
              <a:buNone/>
            </a:pPr>
            <a:r>
              <a:rPr lang="en-US" b="1" dirty="0"/>
              <a:t> </a:t>
            </a:r>
          </a:p>
          <a:p>
            <a:pPr lvl="1"/>
            <a:endParaRPr lang="en-US" dirty="0"/>
          </a:p>
        </p:txBody>
      </p:sp>
    </p:spTree>
    <p:extLst>
      <p:ext uri="{BB962C8B-B14F-4D97-AF65-F5344CB8AC3E}">
        <p14:creationId xmlns:p14="http://schemas.microsoft.com/office/powerpoint/2010/main" val="36671299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61A7F-5EAE-17ED-249C-7D27C4BB2A0A}"/>
              </a:ext>
            </a:extLst>
          </p:cNvPr>
          <p:cNvSpPr>
            <a:spLocks noGrp="1"/>
          </p:cNvSpPr>
          <p:nvPr>
            <p:ph type="title"/>
          </p:nvPr>
        </p:nvSpPr>
        <p:spPr/>
        <p:txBody>
          <a:bodyPr/>
          <a:lstStyle/>
          <a:p>
            <a:r>
              <a:rPr lang="en-US" dirty="0"/>
              <a:t>Graph problems</a:t>
            </a:r>
          </a:p>
        </p:txBody>
      </p:sp>
      <p:sp>
        <p:nvSpPr>
          <p:cNvPr id="3" name="Content Placeholder 2">
            <a:extLst>
              <a:ext uri="{FF2B5EF4-FFF2-40B4-BE49-F238E27FC236}">
                <a16:creationId xmlns:a16="http://schemas.microsoft.com/office/drawing/2014/main" id="{1727C826-038D-BF66-EE2C-0C7F9B1F657C}"/>
              </a:ext>
            </a:extLst>
          </p:cNvPr>
          <p:cNvSpPr>
            <a:spLocks noGrp="1"/>
          </p:cNvSpPr>
          <p:nvPr>
            <p:ph sz="half" idx="1"/>
          </p:nvPr>
        </p:nvSpPr>
        <p:spPr/>
        <p:txBody>
          <a:bodyPr/>
          <a:lstStyle/>
          <a:p>
            <a:r>
              <a:rPr lang="en-US" dirty="0"/>
              <a:t>Graphs can be used for modeling a wide variety of applications, including networks or traffic</a:t>
            </a:r>
          </a:p>
          <a:p>
            <a:endParaRPr lang="en-US" dirty="0"/>
          </a:p>
        </p:txBody>
      </p:sp>
      <p:pic>
        <p:nvPicPr>
          <p:cNvPr id="1026" name="Picture 2">
            <a:extLst>
              <a:ext uri="{FF2B5EF4-FFF2-40B4-BE49-F238E27FC236}">
                <a16:creationId xmlns:a16="http://schemas.microsoft.com/office/drawing/2014/main" id="{6E820503-3666-C012-72A4-A6B8077CFCB0}"/>
              </a:ext>
              <a:ext uri="{C183D7F6-B498-43B3-948B-1728B52AA6E4}">
                <adec:decorative xmlns:adec="http://schemas.microsoft.com/office/drawing/2017/decorative" val="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49394" y="1719264"/>
            <a:ext cx="5002526" cy="315418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2C7BA09-B179-06F1-FF12-F74A0ED7525F}"/>
              </a:ext>
            </a:extLst>
          </p:cNvPr>
          <p:cNvSpPr txBox="1"/>
          <p:nvPr/>
        </p:nvSpPr>
        <p:spPr>
          <a:xfrm>
            <a:off x="6412993" y="4633550"/>
            <a:ext cx="5449035" cy="646331"/>
          </a:xfrm>
          <a:prstGeom prst="rect">
            <a:avLst/>
          </a:prstGeom>
          <a:noFill/>
        </p:spPr>
        <p:txBody>
          <a:bodyPr wrap="square" rtlCol="0">
            <a:spAutoFit/>
          </a:bodyPr>
          <a:lstStyle/>
          <a:p>
            <a:r>
              <a:rPr lang="en-US" dirty="0"/>
              <a:t>https://stemlounge.com/animated-algorithms-for-the-traveling-salesman-problem/</a:t>
            </a:r>
          </a:p>
        </p:txBody>
      </p:sp>
    </p:spTree>
    <p:extLst>
      <p:ext uri="{BB962C8B-B14F-4D97-AF65-F5344CB8AC3E}">
        <p14:creationId xmlns:p14="http://schemas.microsoft.com/office/powerpoint/2010/main" val="891053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3B04C-ABC4-325A-CC3F-8BB251425282}"/>
              </a:ext>
            </a:extLst>
          </p:cNvPr>
          <p:cNvSpPr>
            <a:spLocks noGrp="1"/>
          </p:cNvSpPr>
          <p:nvPr>
            <p:ph type="title"/>
          </p:nvPr>
        </p:nvSpPr>
        <p:spPr/>
        <p:txBody>
          <a:bodyPr/>
          <a:lstStyle/>
          <a:p>
            <a:r>
              <a:rPr lang="en-US" dirty="0"/>
              <a:t>Combinatorial problems</a:t>
            </a:r>
          </a:p>
        </p:txBody>
      </p:sp>
      <p:sp>
        <p:nvSpPr>
          <p:cNvPr id="3" name="Content Placeholder 2">
            <a:extLst>
              <a:ext uri="{FF2B5EF4-FFF2-40B4-BE49-F238E27FC236}">
                <a16:creationId xmlns:a16="http://schemas.microsoft.com/office/drawing/2014/main" id="{808AB271-B2F2-97BF-A4A0-84B6CC709E0E}"/>
              </a:ext>
            </a:extLst>
          </p:cNvPr>
          <p:cNvSpPr>
            <a:spLocks noGrp="1"/>
          </p:cNvSpPr>
          <p:nvPr>
            <p:ph sz="half" idx="1"/>
          </p:nvPr>
        </p:nvSpPr>
        <p:spPr/>
        <p:txBody>
          <a:bodyPr/>
          <a:lstStyle/>
          <a:p>
            <a:r>
              <a:rPr lang="en-US" dirty="0"/>
              <a:t>These are problems that ask, explicitly or implicitly, to find a combinatorial object such as a permutation, a combination, or a subset that satisfies certain constraints.</a:t>
            </a:r>
          </a:p>
        </p:txBody>
      </p:sp>
      <p:sp>
        <p:nvSpPr>
          <p:cNvPr id="4" name="Content Placeholder 3">
            <a:extLst>
              <a:ext uri="{FF2B5EF4-FFF2-40B4-BE49-F238E27FC236}">
                <a16:creationId xmlns:a16="http://schemas.microsoft.com/office/drawing/2014/main" id="{46DD2BBC-0A82-C3D4-AF1B-D48C8E585688}"/>
              </a:ext>
            </a:extLst>
          </p:cNvPr>
          <p:cNvSpPr>
            <a:spLocks noGrp="1"/>
          </p:cNvSpPr>
          <p:nvPr>
            <p:ph sz="half" idx="2"/>
          </p:nvPr>
        </p:nvSpPr>
        <p:spPr/>
        <p:txBody>
          <a:bodyPr/>
          <a:lstStyle/>
          <a:p>
            <a:r>
              <a:rPr lang="en-US" dirty="0"/>
              <a:t>Example: permutation for  of A,B,C</a:t>
            </a:r>
          </a:p>
          <a:p>
            <a:pPr marL="608076" lvl="1" indent="-342900">
              <a:buFont typeface="+mj-lt"/>
              <a:buAutoNum type="arabicPeriod"/>
            </a:pPr>
            <a:r>
              <a:rPr lang="en-US" dirty="0"/>
              <a:t>A,B,C  </a:t>
            </a:r>
          </a:p>
          <a:p>
            <a:pPr marL="608076" lvl="1" indent="-342900">
              <a:buFont typeface="+mj-lt"/>
              <a:buAutoNum type="arabicPeriod"/>
            </a:pPr>
            <a:r>
              <a:rPr lang="en-US" dirty="0"/>
              <a:t>A,C,B  </a:t>
            </a:r>
          </a:p>
          <a:p>
            <a:pPr marL="608076" lvl="1" indent="-342900">
              <a:buFont typeface="+mj-lt"/>
              <a:buAutoNum type="arabicPeriod"/>
            </a:pPr>
            <a:r>
              <a:rPr lang="en-US" dirty="0"/>
              <a:t>B,A,C </a:t>
            </a:r>
          </a:p>
          <a:p>
            <a:pPr marL="608076" lvl="1" indent="-342900">
              <a:buFont typeface="+mj-lt"/>
              <a:buAutoNum type="arabicPeriod"/>
            </a:pPr>
            <a:r>
              <a:rPr lang="en-US" dirty="0"/>
              <a:t>B,C,A </a:t>
            </a:r>
          </a:p>
          <a:p>
            <a:pPr marL="608076" lvl="1" indent="-342900">
              <a:buFont typeface="+mj-lt"/>
              <a:buAutoNum type="arabicPeriod"/>
            </a:pPr>
            <a:r>
              <a:rPr lang="en-US" dirty="0"/>
              <a:t>C,A,B </a:t>
            </a:r>
          </a:p>
          <a:p>
            <a:pPr marL="608076" lvl="1" indent="-342900">
              <a:buFont typeface="+mj-lt"/>
              <a:buAutoNum type="arabicPeriod"/>
            </a:pPr>
            <a:r>
              <a:rPr lang="en-US" dirty="0"/>
              <a:t>C,B,A</a:t>
            </a:r>
          </a:p>
        </p:txBody>
      </p:sp>
    </p:spTree>
    <p:extLst>
      <p:ext uri="{BB962C8B-B14F-4D97-AF65-F5344CB8AC3E}">
        <p14:creationId xmlns:p14="http://schemas.microsoft.com/office/powerpoint/2010/main" val="19928257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EE78E-8731-4F0F-E9D7-C32CA70BE938}"/>
              </a:ext>
            </a:extLst>
          </p:cNvPr>
          <p:cNvSpPr>
            <a:spLocks noGrp="1"/>
          </p:cNvSpPr>
          <p:nvPr>
            <p:ph type="title"/>
          </p:nvPr>
        </p:nvSpPr>
        <p:spPr/>
        <p:txBody>
          <a:bodyPr/>
          <a:lstStyle/>
          <a:p>
            <a:r>
              <a:rPr lang="en-US" dirty="0"/>
              <a:t>Geometric problems</a:t>
            </a:r>
          </a:p>
        </p:txBody>
      </p:sp>
      <p:sp>
        <p:nvSpPr>
          <p:cNvPr id="3" name="Content Placeholder 2">
            <a:extLst>
              <a:ext uri="{FF2B5EF4-FFF2-40B4-BE49-F238E27FC236}">
                <a16:creationId xmlns:a16="http://schemas.microsoft.com/office/drawing/2014/main" id="{FA932AF9-D96D-E1FF-F190-AA56088D9455}"/>
              </a:ext>
            </a:extLst>
          </p:cNvPr>
          <p:cNvSpPr>
            <a:spLocks noGrp="1"/>
          </p:cNvSpPr>
          <p:nvPr>
            <p:ph sz="half" idx="1"/>
          </p:nvPr>
        </p:nvSpPr>
        <p:spPr/>
        <p:txBody>
          <a:bodyPr/>
          <a:lstStyle/>
          <a:p>
            <a:r>
              <a:rPr lang="en-US" dirty="0"/>
              <a:t>Deal with geometric objects such as points, lines, and polygons</a:t>
            </a:r>
          </a:p>
          <a:p>
            <a:r>
              <a:rPr lang="en-US" dirty="0"/>
              <a:t>Example:</a:t>
            </a:r>
          </a:p>
          <a:p>
            <a:pPr lvl="1"/>
            <a:r>
              <a:rPr lang="en-US" dirty="0"/>
              <a:t>Closest pair problem</a:t>
            </a:r>
          </a:p>
          <a:p>
            <a:pPr lvl="1"/>
            <a:r>
              <a:rPr lang="en-US" dirty="0"/>
              <a:t>Convex-hull problem</a:t>
            </a:r>
          </a:p>
        </p:txBody>
      </p:sp>
      <p:pic>
        <p:nvPicPr>
          <p:cNvPr id="2050" name="Picture 2" descr="Minimum Distance between Two Points - GeeksforGeeks">
            <a:extLst>
              <a:ext uri="{FF2B5EF4-FFF2-40B4-BE49-F238E27FC236}">
                <a16:creationId xmlns:a16="http://schemas.microsoft.com/office/drawing/2014/main" id="{1EB6873E-F8F4-035C-F940-10A7C27C840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97465" y="2230540"/>
            <a:ext cx="4454920" cy="35655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7D04E13-C48C-8187-2E0A-E056938488E9}"/>
              </a:ext>
            </a:extLst>
          </p:cNvPr>
          <p:cNvSpPr txBox="1"/>
          <p:nvPr/>
        </p:nvSpPr>
        <p:spPr>
          <a:xfrm>
            <a:off x="6587613" y="5796065"/>
            <a:ext cx="4564772" cy="523220"/>
          </a:xfrm>
          <a:prstGeom prst="rect">
            <a:avLst/>
          </a:prstGeom>
          <a:noFill/>
        </p:spPr>
        <p:txBody>
          <a:bodyPr wrap="square" rtlCol="0">
            <a:spAutoFit/>
          </a:bodyPr>
          <a:lstStyle/>
          <a:p>
            <a:r>
              <a:rPr lang="en-US" sz="1400" dirty="0"/>
              <a:t>https://www.geeksforgeeks.org/dsa/closest-pair-of-points-using-divide-and-conquer-algorithm/</a:t>
            </a:r>
          </a:p>
        </p:txBody>
      </p:sp>
    </p:spTree>
    <p:extLst>
      <p:ext uri="{BB962C8B-B14F-4D97-AF65-F5344CB8AC3E}">
        <p14:creationId xmlns:p14="http://schemas.microsoft.com/office/powerpoint/2010/main" val="21001300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B7EF6-4F14-947B-19D7-49637C32756B}"/>
              </a:ext>
            </a:extLst>
          </p:cNvPr>
          <p:cNvSpPr>
            <a:spLocks noGrp="1"/>
          </p:cNvSpPr>
          <p:nvPr>
            <p:ph type="title"/>
          </p:nvPr>
        </p:nvSpPr>
        <p:spPr/>
        <p:txBody>
          <a:bodyPr/>
          <a:lstStyle/>
          <a:p>
            <a:r>
              <a:rPr lang="en-US" dirty="0"/>
              <a:t>Numerical problems</a:t>
            </a:r>
          </a:p>
        </p:txBody>
      </p:sp>
      <p:sp>
        <p:nvSpPr>
          <p:cNvPr id="3" name="Content Placeholder 2">
            <a:extLst>
              <a:ext uri="{FF2B5EF4-FFF2-40B4-BE49-F238E27FC236}">
                <a16:creationId xmlns:a16="http://schemas.microsoft.com/office/drawing/2014/main" id="{591842C0-B2C3-E962-0976-D7ABD36587A9}"/>
              </a:ext>
            </a:extLst>
          </p:cNvPr>
          <p:cNvSpPr>
            <a:spLocks noGrp="1"/>
          </p:cNvSpPr>
          <p:nvPr>
            <p:ph sz="half" idx="1"/>
          </p:nvPr>
        </p:nvSpPr>
        <p:spPr/>
        <p:txBody>
          <a:bodyPr/>
          <a:lstStyle/>
          <a:p>
            <a:r>
              <a:rPr lang="en-US" dirty="0"/>
              <a:t>are problems that involve mathematical objects of continuous nature: solving equations and systems of equations, computing definite integrals.</a:t>
            </a:r>
          </a:p>
        </p:txBody>
      </p:sp>
      <p:pic>
        <p:nvPicPr>
          <p:cNvPr id="6" name="Content Placeholder 5">
            <a:extLst>
              <a:ext uri="{FF2B5EF4-FFF2-40B4-BE49-F238E27FC236}">
                <a16:creationId xmlns:a16="http://schemas.microsoft.com/office/drawing/2014/main" id="{934D5315-44E2-DF33-5BE9-C817D65094C1}"/>
              </a:ext>
            </a:extLst>
          </p:cNvPr>
          <p:cNvPicPr>
            <a:picLocks noGrp="1" noChangeAspect="1"/>
          </p:cNvPicPr>
          <p:nvPr>
            <p:ph sz="half" idx="2"/>
          </p:nvPr>
        </p:nvPicPr>
        <p:blipFill>
          <a:blip r:embed="rId2"/>
          <a:stretch>
            <a:fillRect/>
          </a:stretch>
        </p:blipFill>
        <p:spPr>
          <a:xfrm>
            <a:off x="6339841" y="2566219"/>
            <a:ext cx="5042861" cy="3184633"/>
          </a:xfrm>
          <a:prstGeom prst="rect">
            <a:avLst/>
          </a:prstGeom>
        </p:spPr>
      </p:pic>
      <p:sp>
        <p:nvSpPr>
          <p:cNvPr id="7" name="TextBox 6">
            <a:extLst>
              <a:ext uri="{FF2B5EF4-FFF2-40B4-BE49-F238E27FC236}">
                <a16:creationId xmlns:a16="http://schemas.microsoft.com/office/drawing/2014/main" id="{0E68650C-20E3-9B43-C37E-C3186590AEEA}"/>
              </a:ext>
            </a:extLst>
          </p:cNvPr>
          <p:cNvSpPr txBox="1"/>
          <p:nvPr/>
        </p:nvSpPr>
        <p:spPr>
          <a:xfrm>
            <a:off x="6578459" y="5973490"/>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956683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AFE2C0-F2FE-330F-BCE6-587734A9F220}"/>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50DF7-A823-F812-6413-064AD07D1CBD}"/>
              </a:ext>
            </a:extLst>
          </p:cNvPr>
          <p:cNvSpPr>
            <a:spLocks noGrp="1"/>
          </p:cNvSpPr>
          <p:nvPr>
            <p:ph type="title"/>
          </p:nvPr>
        </p:nvSpPr>
        <p:spPr>
          <a:xfrm>
            <a:off x="640080" y="1371600"/>
            <a:ext cx="4670661" cy="3030842"/>
          </a:xfrm>
        </p:spPr>
        <p:txBody>
          <a:bodyPr vert="horz" lIns="91440" tIns="45720" rIns="91440" bIns="45720" rtlCol="0" anchor="t">
            <a:normAutofit/>
          </a:bodyPr>
          <a:lstStyle/>
          <a:p>
            <a:r>
              <a:rPr lang="en-US" sz="5400" b="1" kern="1200">
                <a:solidFill>
                  <a:schemeClr val="tx1"/>
                </a:solidFill>
                <a:latin typeface="+mj-lt"/>
                <a:ea typeface="+mj-ea"/>
                <a:cs typeface="+mj-cs"/>
              </a:rPr>
              <a:t>Fundamental Data Structures </a:t>
            </a:r>
          </a:p>
        </p:txBody>
      </p:sp>
      <p:cxnSp>
        <p:nvCxnSpPr>
          <p:cNvPr id="23" name="Straight Connector 2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descr="Abstract particle graph background">
            <a:extLst>
              <a:ext uri="{FF2B5EF4-FFF2-40B4-BE49-F238E27FC236}">
                <a16:creationId xmlns:a16="http://schemas.microsoft.com/office/drawing/2014/main" id="{BBE677B5-ECC3-AA12-AD40-31FA901BBD0E}"/>
              </a:ext>
            </a:extLst>
          </p:cNvPr>
          <p:cNvPicPr>
            <a:picLocks noChangeAspect="1"/>
          </p:cNvPicPr>
          <p:nvPr/>
        </p:nvPicPr>
        <p:blipFill>
          <a:blip r:embed="rId2"/>
          <a:srcRect l="22373" r="22372"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359789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0294-ED4A-9AD2-3906-DD7EB47406DF}"/>
              </a:ext>
            </a:extLst>
          </p:cNvPr>
          <p:cNvSpPr>
            <a:spLocks noGrp="1"/>
          </p:cNvSpPr>
          <p:nvPr>
            <p:ph type="title"/>
          </p:nvPr>
        </p:nvSpPr>
        <p:spPr/>
        <p:txBody>
          <a:bodyPr/>
          <a:lstStyle/>
          <a:p>
            <a:r>
              <a:rPr lang="en-US" dirty="0"/>
              <a:t>Fundamental Data Structure</a:t>
            </a:r>
          </a:p>
        </p:txBody>
      </p:sp>
      <p:sp>
        <p:nvSpPr>
          <p:cNvPr id="3" name="Content Placeholder 2">
            <a:extLst>
              <a:ext uri="{FF2B5EF4-FFF2-40B4-BE49-F238E27FC236}">
                <a16:creationId xmlns:a16="http://schemas.microsoft.com/office/drawing/2014/main" id="{F4BDC100-FC9F-B3A8-EA61-27BAB782D7EB}"/>
              </a:ext>
            </a:extLst>
          </p:cNvPr>
          <p:cNvSpPr>
            <a:spLocks noGrp="1"/>
          </p:cNvSpPr>
          <p:nvPr>
            <p:ph idx="1"/>
          </p:nvPr>
        </p:nvSpPr>
        <p:spPr/>
        <p:txBody>
          <a:bodyPr>
            <a:normAutofit/>
          </a:bodyPr>
          <a:lstStyle/>
          <a:p>
            <a:r>
              <a:rPr lang="en-US" sz="2400" dirty="0"/>
              <a:t>In essence, the data structure is the foundation of the algorithm. </a:t>
            </a:r>
          </a:p>
          <a:p>
            <a:r>
              <a:rPr lang="en-US" sz="2400" dirty="0"/>
              <a:t>A well-chosen data structure enables elegant, efficient solutions.</a:t>
            </a:r>
          </a:p>
          <a:p>
            <a:r>
              <a:rPr lang="en-US" sz="2400" dirty="0"/>
              <a:t> A poor choice can render even the most logically sound algorithm impractical.</a:t>
            </a:r>
          </a:p>
        </p:txBody>
      </p:sp>
    </p:spTree>
    <p:extLst>
      <p:ext uri="{BB962C8B-B14F-4D97-AF65-F5344CB8AC3E}">
        <p14:creationId xmlns:p14="http://schemas.microsoft.com/office/powerpoint/2010/main" val="1044045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BA12F-6B89-CFEB-A936-A0CE4A7EAD3C}"/>
              </a:ext>
            </a:extLst>
          </p:cNvPr>
          <p:cNvSpPr>
            <a:spLocks noGrp="1"/>
          </p:cNvSpPr>
          <p:nvPr>
            <p:ph type="title"/>
          </p:nvPr>
        </p:nvSpPr>
        <p:spPr/>
        <p:txBody>
          <a:bodyPr/>
          <a:lstStyle/>
          <a:p>
            <a:r>
              <a:rPr lang="en-US" dirty="0"/>
              <a:t>Linear Data Structures</a:t>
            </a:r>
          </a:p>
        </p:txBody>
      </p:sp>
      <p:sp>
        <p:nvSpPr>
          <p:cNvPr id="3" name="Content Placeholder 2">
            <a:extLst>
              <a:ext uri="{FF2B5EF4-FFF2-40B4-BE49-F238E27FC236}">
                <a16:creationId xmlns:a16="http://schemas.microsoft.com/office/drawing/2014/main" id="{D0D7A088-732B-5DD6-C534-4EF1E5AD66B2}"/>
              </a:ext>
            </a:extLst>
          </p:cNvPr>
          <p:cNvSpPr>
            <a:spLocks noGrp="1"/>
          </p:cNvSpPr>
          <p:nvPr>
            <p:ph idx="1"/>
          </p:nvPr>
        </p:nvSpPr>
        <p:spPr/>
        <p:txBody>
          <a:bodyPr>
            <a:normAutofit fontScale="92500" lnSpcReduction="10000"/>
          </a:bodyPr>
          <a:lstStyle/>
          <a:p>
            <a:r>
              <a:rPr lang="en-US" sz="2400" dirty="0"/>
              <a:t>Arrays: an index indicates the value and a 1D or 2D array</a:t>
            </a:r>
          </a:p>
          <a:p>
            <a:r>
              <a:rPr lang="en-US" sz="2400" dirty="0"/>
              <a:t>Linked list: each element is called a node and is connected to the others using a pointer,</a:t>
            </a:r>
          </a:p>
          <a:p>
            <a:r>
              <a:rPr lang="en-US" sz="2400" dirty="0"/>
              <a:t>Stack: is like a linked list, where the top of the stack is the only visible part, and you either insert to the top (push) or return and delete the top (pop). (LIFO)</a:t>
            </a:r>
          </a:p>
          <a:p>
            <a:r>
              <a:rPr lang="en-US" sz="2400" dirty="0"/>
              <a:t>Queue: is also similar to the linked list, where the elements are deleted from one end, the front of the queue (dequeue), and new elements are inserted at the end of the queue (enqueue). (FIFO)</a:t>
            </a:r>
          </a:p>
          <a:p>
            <a:endParaRPr lang="en-US" dirty="0"/>
          </a:p>
          <a:p>
            <a:endParaRPr lang="en-US" dirty="0"/>
          </a:p>
        </p:txBody>
      </p:sp>
    </p:spTree>
    <p:extLst>
      <p:ext uri="{BB962C8B-B14F-4D97-AF65-F5344CB8AC3E}">
        <p14:creationId xmlns:p14="http://schemas.microsoft.com/office/powerpoint/2010/main" val="8319979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12CF1-05B9-A067-A368-1AEC325E3E24}"/>
              </a:ext>
            </a:extLst>
          </p:cNvPr>
          <p:cNvSpPr>
            <a:spLocks noGrp="1"/>
          </p:cNvSpPr>
          <p:nvPr>
            <p:ph type="title"/>
          </p:nvPr>
        </p:nvSpPr>
        <p:spPr/>
        <p:txBody>
          <a:bodyPr/>
          <a:lstStyle/>
          <a:p>
            <a:r>
              <a:rPr lang="en-US" dirty="0"/>
              <a:t>Graphs</a:t>
            </a:r>
          </a:p>
        </p:txBody>
      </p:sp>
      <p:sp>
        <p:nvSpPr>
          <p:cNvPr id="3" name="Content Placeholder 2">
            <a:extLst>
              <a:ext uri="{FF2B5EF4-FFF2-40B4-BE49-F238E27FC236}">
                <a16:creationId xmlns:a16="http://schemas.microsoft.com/office/drawing/2014/main" id="{1AC72FF2-9EEE-F934-D6BD-B1B55F41AD23}"/>
              </a:ext>
            </a:extLst>
          </p:cNvPr>
          <p:cNvSpPr>
            <a:spLocks noGrp="1"/>
          </p:cNvSpPr>
          <p:nvPr>
            <p:ph sz="half" idx="1"/>
          </p:nvPr>
        </p:nvSpPr>
        <p:spPr/>
        <p:txBody>
          <a:bodyPr/>
          <a:lstStyle/>
          <a:p>
            <a:r>
              <a:rPr lang="en-US" dirty="0"/>
              <a:t>Graphs consist of several nodes (vertices) that are connected to each other through a link (edges).</a:t>
            </a:r>
          </a:p>
          <a:p>
            <a:r>
              <a:rPr lang="en-US" dirty="0"/>
              <a:t>There are two types of graphs:</a:t>
            </a:r>
          </a:p>
          <a:p>
            <a:pPr lvl="1"/>
            <a:r>
              <a:rPr lang="en-US" dirty="0"/>
              <a:t>Undirected graph </a:t>
            </a:r>
          </a:p>
          <a:p>
            <a:pPr lvl="1"/>
            <a:r>
              <a:rPr lang="en-US" dirty="0"/>
              <a:t>Directed graph (digraph)</a:t>
            </a:r>
          </a:p>
        </p:txBody>
      </p:sp>
      <p:pic>
        <p:nvPicPr>
          <p:cNvPr id="6" name="Content Placeholder 5">
            <a:extLst>
              <a:ext uri="{FF2B5EF4-FFF2-40B4-BE49-F238E27FC236}">
                <a16:creationId xmlns:a16="http://schemas.microsoft.com/office/drawing/2014/main" id="{B8713678-003B-C3E4-4585-D0C05B0A818F}"/>
              </a:ext>
            </a:extLst>
          </p:cNvPr>
          <p:cNvPicPr>
            <a:picLocks noGrp="1" noChangeAspect="1"/>
          </p:cNvPicPr>
          <p:nvPr>
            <p:ph sz="half" idx="2"/>
          </p:nvPr>
        </p:nvPicPr>
        <p:blipFill>
          <a:blip r:embed="rId2"/>
          <a:stretch>
            <a:fillRect/>
          </a:stretch>
        </p:blipFill>
        <p:spPr>
          <a:xfrm>
            <a:off x="6914147" y="2005263"/>
            <a:ext cx="4812632" cy="3921404"/>
          </a:xfrm>
          <a:prstGeom prst="rect">
            <a:avLst/>
          </a:prstGeom>
        </p:spPr>
      </p:pic>
      <p:sp>
        <p:nvSpPr>
          <p:cNvPr id="7" name="TextBox 6">
            <a:extLst>
              <a:ext uri="{FF2B5EF4-FFF2-40B4-BE49-F238E27FC236}">
                <a16:creationId xmlns:a16="http://schemas.microsoft.com/office/drawing/2014/main" id="{910817E9-E15D-475B-E932-760C5B9FF614}"/>
              </a:ext>
            </a:extLst>
          </p:cNvPr>
          <p:cNvSpPr txBox="1"/>
          <p:nvPr/>
        </p:nvSpPr>
        <p:spPr>
          <a:xfrm>
            <a:off x="6911881" y="5926667"/>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25391289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2BA63-F295-B22F-6DFE-A70373765083}"/>
              </a:ext>
            </a:extLst>
          </p:cNvPr>
          <p:cNvSpPr>
            <a:spLocks noGrp="1"/>
          </p:cNvSpPr>
          <p:nvPr>
            <p:ph type="title"/>
          </p:nvPr>
        </p:nvSpPr>
        <p:spPr/>
        <p:txBody>
          <a:bodyPr/>
          <a:lstStyle/>
          <a:p>
            <a:r>
              <a:rPr lang="en-US"/>
              <a:t>Graph Representations</a:t>
            </a:r>
            <a:endParaRPr lang="en-US" dirty="0"/>
          </a:p>
        </p:txBody>
      </p:sp>
      <p:sp>
        <p:nvSpPr>
          <p:cNvPr id="3" name="Content Placeholder 2">
            <a:extLst>
              <a:ext uri="{FF2B5EF4-FFF2-40B4-BE49-F238E27FC236}">
                <a16:creationId xmlns:a16="http://schemas.microsoft.com/office/drawing/2014/main" id="{9BD91DC8-D345-57C5-5DB3-30A5357A0BF6}"/>
              </a:ext>
            </a:extLst>
          </p:cNvPr>
          <p:cNvSpPr>
            <a:spLocks noGrp="1"/>
          </p:cNvSpPr>
          <p:nvPr>
            <p:ph sz="half" idx="1"/>
          </p:nvPr>
        </p:nvSpPr>
        <p:spPr/>
        <p:txBody>
          <a:bodyPr/>
          <a:lstStyle/>
          <a:p>
            <a:r>
              <a:rPr lang="en-US" sz="2400" dirty="0"/>
              <a:t>The graph can be represented using:</a:t>
            </a:r>
          </a:p>
          <a:p>
            <a:pPr marL="608076" lvl="1" indent="-342900">
              <a:buFont typeface="+mj-lt"/>
              <a:buAutoNum type="arabicPeriod"/>
            </a:pPr>
            <a:r>
              <a:rPr lang="en-US" sz="2000" dirty="0"/>
              <a:t>Adjacency matrix</a:t>
            </a:r>
          </a:p>
          <a:p>
            <a:pPr marL="608076" lvl="1" indent="-342900">
              <a:buFont typeface="+mj-lt"/>
              <a:buAutoNum type="arabicPeriod"/>
            </a:pPr>
            <a:r>
              <a:rPr lang="en-US" sz="2000" dirty="0"/>
              <a:t>Adjacency lists</a:t>
            </a:r>
          </a:p>
          <a:p>
            <a:pPr marL="0" indent="0">
              <a:buNone/>
            </a:pPr>
            <a:r>
              <a:rPr lang="en-US" dirty="0"/>
              <a:t> </a:t>
            </a:r>
          </a:p>
        </p:txBody>
      </p:sp>
      <p:pic>
        <p:nvPicPr>
          <p:cNvPr id="6" name="Content Placeholder 5">
            <a:extLst>
              <a:ext uri="{FF2B5EF4-FFF2-40B4-BE49-F238E27FC236}">
                <a16:creationId xmlns:a16="http://schemas.microsoft.com/office/drawing/2014/main" id="{04741BAA-B314-4492-A4D0-7EC58610F2F7}"/>
              </a:ext>
            </a:extLst>
          </p:cNvPr>
          <p:cNvPicPr>
            <a:picLocks noGrp="1" noChangeAspect="1"/>
          </p:cNvPicPr>
          <p:nvPr>
            <p:ph sz="half" idx="2"/>
          </p:nvPr>
        </p:nvPicPr>
        <p:blipFill>
          <a:blip r:embed="rId2"/>
          <a:stretch>
            <a:fillRect/>
          </a:stretch>
        </p:blipFill>
        <p:spPr>
          <a:xfrm>
            <a:off x="6339843" y="1604211"/>
            <a:ext cx="5354852" cy="3882188"/>
          </a:xfrm>
          <a:prstGeom prst="rect">
            <a:avLst/>
          </a:prstGeom>
        </p:spPr>
      </p:pic>
      <p:sp>
        <p:nvSpPr>
          <p:cNvPr id="7" name="TextBox 6">
            <a:extLst>
              <a:ext uri="{FF2B5EF4-FFF2-40B4-BE49-F238E27FC236}">
                <a16:creationId xmlns:a16="http://schemas.microsoft.com/office/drawing/2014/main" id="{8C85A42D-9198-3162-9D16-76FDBBA4B980}"/>
              </a:ext>
            </a:extLst>
          </p:cNvPr>
          <p:cNvSpPr txBox="1"/>
          <p:nvPr/>
        </p:nvSpPr>
        <p:spPr>
          <a:xfrm>
            <a:off x="6609820" y="5719009"/>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16521146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977FF5-903E-947B-0F80-F397CD1E7B5C}"/>
              </a:ext>
            </a:extLst>
          </p:cNvPr>
          <p:cNvSpPr>
            <a:spLocks noGrp="1"/>
          </p:cNvSpPr>
          <p:nvPr>
            <p:ph type="title"/>
          </p:nvPr>
        </p:nvSpPr>
        <p:spPr>
          <a:xfrm>
            <a:off x="640080" y="1371601"/>
            <a:ext cx="4297680" cy="1789608"/>
          </a:xfrm>
        </p:spPr>
        <p:txBody>
          <a:bodyPr vert="horz" lIns="91440" tIns="45720" rIns="91440" bIns="45720" rtlCol="0" anchor="t">
            <a:normAutofit/>
          </a:bodyPr>
          <a:lstStyle/>
          <a:p>
            <a:r>
              <a:rPr lang="en-US" dirty="0"/>
              <a:t>Weighted Graphs</a:t>
            </a:r>
          </a:p>
        </p:txBody>
      </p:sp>
      <p:cxnSp>
        <p:nvCxnSpPr>
          <p:cNvPr id="15" name="Straight Connector 14">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5ADEC102-03D4-D0CF-00AF-95AD0578B033}"/>
              </a:ext>
            </a:extLst>
          </p:cNvPr>
          <p:cNvPicPr>
            <a:picLocks noGrp="1" noChangeAspect="1"/>
          </p:cNvPicPr>
          <p:nvPr>
            <p:ph sz="half" idx="2"/>
          </p:nvPr>
        </p:nvPicPr>
        <p:blipFill>
          <a:blip r:embed="rId2"/>
          <a:stretch>
            <a:fillRect/>
          </a:stretch>
        </p:blipFill>
        <p:spPr>
          <a:xfrm>
            <a:off x="716279" y="3161210"/>
            <a:ext cx="10527453" cy="2665790"/>
          </a:xfrm>
          <a:prstGeom prst="rect">
            <a:avLst/>
          </a:prstGeom>
        </p:spPr>
      </p:pic>
      <p:sp>
        <p:nvSpPr>
          <p:cNvPr id="3" name="Content Placeholder 2">
            <a:extLst>
              <a:ext uri="{FF2B5EF4-FFF2-40B4-BE49-F238E27FC236}">
                <a16:creationId xmlns:a16="http://schemas.microsoft.com/office/drawing/2014/main" id="{03B37EEF-1746-FE3B-5EEF-288D052F0C10}"/>
              </a:ext>
            </a:extLst>
          </p:cNvPr>
          <p:cNvSpPr>
            <a:spLocks noGrp="1"/>
          </p:cNvSpPr>
          <p:nvPr>
            <p:ph sz="half" idx="1"/>
          </p:nvPr>
        </p:nvSpPr>
        <p:spPr>
          <a:xfrm>
            <a:off x="5641848" y="1371602"/>
            <a:ext cx="5888736" cy="1789608"/>
          </a:xfrm>
        </p:spPr>
        <p:txBody>
          <a:bodyPr vert="horz" lIns="91440" tIns="45720" rIns="91440" bIns="45720" rtlCol="0">
            <a:normAutofit/>
          </a:bodyPr>
          <a:lstStyle/>
          <a:p>
            <a:r>
              <a:rPr lang="en-US" dirty="0"/>
              <a:t>is a graph (or digraph) with numbers assigned to its edges. These numbers are called weights or costs</a:t>
            </a:r>
          </a:p>
        </p:txBody>
      </p:sp>
      <p:sp>
        <p:nvSpPr>
          <p:cNvPr id="7" name="TextBox 6">
            <a:extLst>
              <a:ext uri="{FF2B5EF4-FFF2-40B4-BE49-F238E27FC236}">
                <a16:creationId xmlns:a16="http://schemas.microsoft.com/office/drawing/2014/main" id="{B3C50963-5051-300F-1F2E-E54A62C13FBA}"/>
              </a:ext>
            </a:extLst>
          </p:cNvPr>
          <p:cNvSpPr txBox="1"/>
          <p:nvPr/>
        </p:nvSpPr>
        <p:spPr>
          <a:xfrm>
            <a:off x="3234399" y="5980802"/>
            <a:ext cx="4814898" cy="307777"/>
          </a:xfrm>
          <a:prstGeom prst="rect">
            <a:avLst/>
          </a:prstGeom>
          <a:noFill/>
        </p:spPr>
        <p:txBody>
          <a:bodyPr wrap="square" rtlCol="0">
            <a:spAutoFit/>
          </a:bodyPr>
          <a:lstStyle/>
          <a:p>
            <a:r>
              <a:rPr lang="en-US" sz="1400" dirty="0"/>
              <a:t>Book: Introduction to the Design and Analysis of Algorithms </a:t>
            </a:r>
          </a:p>
        </p:txBody>
      </p:sp>
    </p:spTree>
    <p:extLst>
      <p:ext uri="{BB962C8B-B14F-4D97-AF65-F5344CB8AC3E}">
        <p14:creationId xmlns:p14="http://schemas.microsoft.com/office/powerpoint/2010/main" val="3985829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AB4EB-9874-4B98-2ED7-1B60213B4D12}"/>
              </a:ext>
            </a:extLst>
          </p:cNvPr>
          <p:cNvSpPr>
            <a:spLocks noGrp="1"/>
          </p:cNvSpPr>
          <p:nvPr>
            <p:ph type="title"/>
          </p:nvPr>
        </p:nvSpPr>
        <p:spPr/>
        <p:txBody>
          <a:bodyPr/>
          <a:lstStyle/>
          <a:p>
            <a:r>
              <a:rPr lang="en-US" dirty="0"/>
              <a:t>Tree</a:t>
            </a:r>
          </a:p>
        </p:txBody>
      </p:sp>
      <p:sp>
        <p:nvSpPr>
          <p:cNvPr id="3" name="Content Placeholder 2">
            <a:extLst>
              <a:ext uri="{FF2B5EF4-FFF2-40B4-BE49-F238E27FC236}">
                <a16:creationId xmlns:a16="http://schemas.microsoft.com/office/drawing/2014/main" id="{AA4EFAD1-BDBB-A7F8-824A-10CBC47BB172}"/>
              </a:ext>
            </a:extLst>
          </p:cNvPr>
          <p:cNvSpPr>
            <a:spLocks noGrp="1"/>
          </p:cNvSpPr>
          <p:nvPr>
            <p:ph sz="half" idx="1"/>
          </p:nvPr>
        </p:nvSpPr>
        <p:spPr/>
        <p:txBody>
          <a:bodyPr/>
          <a:lstStyle/>
          <a:p>
            <a:r>
              <a:rPr lang="en-US" dirty="0"/>
              <a:t> A rooted tree in which all the children of each vertex are ordered (ordered tree)</a:t>
            </a:r>
          </a:p>
          <a:p>
            <a:r>
              <a:rPr lang="en-US" dirty="0"/>
              <a:t>The height of a tree is the length of the longest simple path from the root to a leaf</a:t>
            </a:r>
          </a:p>
        </p:txBody>
      </p:sp>
      <p:sp>
        <p:nvSpPr>
          <p:cNvPr id="7" name="TextBox 6">
            <a:extLst>
              <a:ext uri="{FF2B5EF4-FFF2-40B4-BE49-F238E27FC236}">
                <a16:creationId xmlns:a16="http://schemas.microsoft.com/office/drawing/2014/main" id="{FE4A75A5-8297-307C-8814-80C79D88BB9A}"/>
              </a:ext>
            </a:extLst>
          </p:cNvPr>
          <p:cNvSpPr txBox="1"/>
          <p:nvPr/>
        </p:nvSpPr>
        <p:spPr>
          <a:xfrm>
            <a:off x="6577782" y="5259431"/>
            <a:ext cx="5044666" cy="276999"/>
          </a:xfrm>
          <a:prstGeom prst="rect">
            <a:avLst/>
          </a:prstGeom>
          <a:noFill/>
        </p:spPr>
        <p:txBody>
          <a:bodyPr wrap="square">
            <a:spAutoFit/>
          </a:bodyPr>
          <a:lstStyle/>
          <a:p>
            <a:r>
              <a:rPr lang="en-US" sz="1200" dirty="0"/>
              <a:t>https://www.geeksforgeeks.org/dsa/introduction-to-tree-data-structure/</a:t>
            </a:r>
          </a:p>
        </p:txBody>
      </p:sp>
      <p:pic>
        <p:nvPicPr>
          <p:cNvPr id="12" name="Content Placeholder 11">
            <a:extLst>
              <a:ext uri="{FF2B5EF4-FFF2-40B4-BE49-F238E27FC236}">
                <a16:creationId xmlns:a16="http://schemas.microsoft.com/office/drawing/2014/main" id="{74EAE068-2B80-0A3F-F804-585759C5EC76}"/>
              </a:ext>
            </a:extLst>
          </p:cNvPr>
          <p:cNvPicPr>
            <a:picLocks noGrp="1" noChangeAspect="1"/>
          </p:cNvPicPr>
          <p:nvPr>
            <p:ph sz="half" idx="2"/>
          </p:nvPr>
        </p:nvPicPr>
        <p:blipFill>
          <a:blip r:embed="rId2"/>
          <a:stretch>
            <a:fillRect/>
          </a:stretch>
        </p:blipFill>
        <p:spPr>
          <a:xfrm>
            <a:off x="6409098" y="2633472"/>
            <a:ext cx="5213350" cy="2599868"/>
          </a:xfrm>
          <a:prstGeom prst="rect">
            <a:avLst/>
          </a:prstGeom>
        </p:spPr>
      </p:pic>
      <p:sp>
        <p:nvSpPr>
          <p:cNvPr id="9" name="AutoShape 4" descr="1.webp">
            <a:extLst>
              <a:ext uri="{FF2B5EF4-FFF2-40B4-BE49-F238E27FC236}">
                <a16:creationId xmlns:a16="http://schemas.microsoft.com/office/drawing/2014/main" id="{4EBE7A60-F51C-3EB5-4761-3FD226DABCC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93728368"/>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emplate>Office 2013 - 2022 Theme</Template>
  <TotalTime>4366</TotalTime>
  <Words>1873</Words>
  <Application>Microsoft Office PowerPoint</Application>
  <PresentationFormat>Widescreen</PresentationFormat>
  <Paragraphs>301</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Amasis MT Pro Light</vt:lpstr>
      <vt:lpstr>Arial</vt:lpstr>
      <vt:lpstr>Grandview Display</vt:lpstr>
      <vt:lpstr>Times New Roman</vt:lpstr>
      <vt:lpstr>DashVTI</vt:lpstr>
      <vt:lpstr>Computing Algorithms Lecture 1</vt:lpstr>
      <vt:lpstr>Agenda</vt:lpstr>
      <vt:lpstr>Course Plan</vt:lpstr>
      <vt:lpstr>Course Content</vt:lpstr>
      <vt:lpstr>Course Book</vt:lpstr>
      <vt:lpstr>Course Grades</vt:lpstr>
      <vt:lpstr>Fundamentals of algorithms</vt:lpstr>
      <vt:lpstr>What is an algorithm</vt:lpstr>
      <vt:lpstr>What makes a good algorithm ?</vt:lpstr>
      <vt:lpstr>Euclid’s Algorithm</vt:lpstr>
      <vt:lpstr>Euclid’s Algorithm</vt:lpstr>
      <vt:lpstr>Euclid’s Algorithm</vt:lpstr>
      <vt:lpstr>Euclid’s Algorithm</vt:lpstr>
      <vt:lpstr>Euclid’s Algorithm</vt:lpstr>
      <vt:lpstr>Euclid’s Algorithm</vt:lpstr>
      <vt:lpstr>Euclid’s Algorithm</vt:lpstr>
      <vt:lpstr>Euclid’s Algorithm</vt:lpstr>
      <vt:lpstr>Euclid’s Algorithm</vt:lpstr>
      <vt:lpstr>Euclid’s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Consecutive integer checking algorithm</vt:lpstr>
      <vt:lpstr>Which algorithm is better ?</vt:lpstr>
      <vt:lpstr>Fundamentals of Algorithmic Problem Solving</vt:lpstr>
      <vt:lpstr>Important problem types</vt:lpstr>
      <vt:lpstr>Sorting </vt:lpstr>
      <vt:lpstr>Searching </vt:lpstr>
      <vt:lpstr>String processing</vt:lpstr>
      <vt:lpstr>Graph problems</vt:lpstr>
      <vt:lpstr>Combinatorial problems</vt:lpstr>
      <vt:lpstr>Geometric problems</vt:lpstr>
      <vt:lpstr>Numerical problems</vt:lpstr>
      <vt:lpstr>Fundamental Data Structures </vt:lpstr>
      <vt:lpstr>Fundamental Data Structure</vt:lpstr>
      <vt:lpstr>Linear Data Structures</vt:lpstr>
      <vt:lpstr>Graphs</vt:lpstr>
      <vt:lpstr>Graph Representations</vt:lpstr>
      <vt:lpstr>Weighted Graphs</vt:lpstr>
      <vt:lpstr>Tree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Moheeb</dc:creator>
  <cp:lastModifiedBy>Mohamed Moheeb</cp:lastModifiedBy>
  <cp:revision>15</cp:revision>
  <dcterms:created xsi:type="dcterms:W3CDTF">2026-01-25T09:41:58Z</dcterms:created>
  <dcterms:modified xsi:type="dcterms:W3CDTF">2026-02-10T12:12:49Z</dcterms:modified>
</cp:coreProperties>
</file>