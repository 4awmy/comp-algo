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6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7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8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9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10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11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12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13.xml" ContentType="application/vnd.openxmlformats-officedocument.drawingml.chartshape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drawings/drawing14.xml" ContentType="application/vnd.openxmlformats-officedocument.drawingml.chartshapes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15.xml" ContentType="application/vnd.openxmlformats-officedocument.drawingml.chartshapes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drawings/drawing16.xml" ContentType="application/vnd.openxmlformats-officedocument.drawingml.chartshapes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drawings/drawing17.xml" ContentType="application/vnd.openxmlformats-officedocument.drawingml.chartshapes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drawings/drawing18.xml" ContentType="application/vnd.openxmlformats-officedocument.drawingml.chartshapes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drawings/drawing19.xml" ContentType="application/vnd.openxmlformats-officedocument.drawingml.chartshapes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drawings/drawing20.xml" ContentType="application/vnd.openxmlformats-officedocument.drawingml.chartshapes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drawings/drawing2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34"/>
  </p:notesMasterIdLst>
  <p:sldIdLst>
    <p:sldId id="256" r:id="rId2"/>
    <p:sldId id="257" r:id="rId3"/>
    <p:sldId id="259" r:id="rId4"/>
    <p:sldId id="265" r:id="rId5"/>
    <p:sldId id="272" r:id="rId6"/>
    <p:sldId id="266" r:id="rId7"/>
    <p:sldId id="267" r:id="rId8"/>
    <p:sldId id="268" r:id="rId9"/>
    <p:sldId id="269" r:id="rId10"/>
    <p:sldId id="270" r:id="rId11"/>
    <p:sldId id="271" r:id="rId12"/>
    <p:sldId id="282" r:id="rId13"/>
    <p:sldId id="273" r:id="rId14"/>
    <p:sldId id="274" r:id="rId15"/>
    <p:sldId id="275" r:id="rId16"/>
    <p:sldId id="276" r:id="rId17"/>
    <p:sldId id="277" r:id="rId18"/>
    <p:sldId id="283" r:id="rId19"/>
    <p:sldId id="278" r:id="rId20"/>
    <p:sldId id="279" r:id="rId21"/>
    <p:sldId id="280" r:id="rId22"/>
    <p:sldId id="284" r:id="rId23"/>
    <p:sldId id="285" r:id="rId24"/>
    <p:sldId id="286" r:id="rId25"/>
    <p:sldId id="288" r:id="rId26"/>
    <p:sldId id="287" r:id="rId27"/>
    <p:sldId id="289" r:id="rId28"/>
    <p:sldId id="290" r:id="rId29"/>
    <p:sldId id="294" r:id="rId30"/>
    <p:sldId id="295" r:id="rId31"/>
    <p:sldId id="291" r:id="rId32"/>
    <p:sldId id="293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chartUserShapes" Target="../drawings/drawing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chartUserShapes" Target="../drawings/drawing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chartUserShapes" Target="../drawings/drawing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chartUserShapes" Target="../drawings/drawing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chartUserShapes" Target="../drawings/drawing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chartUserShapes" Target="../drawings/drawing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chartUserShapes" Target="../drawings/drawing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47950933660698E-2"/>
          <c:y val="2.5583329243239073E-2"/>
          <c:w val="0.90693277834789532"/>
          <c:h val="0.854031033298041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F-454E-A92D-587EFFED7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DF-454E-A92D-587EFFED72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81168"/>
        <c:axId val="17974448"/>
      </c:scatterChart>
      <c:valAx>
        <c:axId val="17981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4448"/>
        <c:crosses val="autoZero"/>
        <c:crossBetween val="midCat"/>
      </c:valAx>
      <c:valAx>
        <c:axId val="1797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1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0.42852</cdr:x>
      <cdr:y>0.06618</cdr:y>
    </cdr:from>
    <cdr:to>
      <cdr:x>0.63705</cdr:x>
      <cdr:y>0.14243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2051CD83-AEFB-75F4-D61B-A3F21D1769B9}"/>
            </a:ext>
          </a:extLst>
        </cdr:cNvPr>
        <cdr:cNvSpPr txBox="1"/>
      </cdr:nvSpPr>
      <cdr:spPr>
        <a:xfrm xmlns:a="http://schemas.openxmlformats.org/drawingml/2006/main">
          <a:off x="2234031" y="235955"/>
          <a:ext cx="1087120" cy="27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d=16</a:t>
          </a:r>
          <a:endParaRPr lang="en-US" sz="1100" kern="1200" dirty="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0.22215</cdr:x>
      <cdr:y>0.24783</cdr:y>
    </cdr:from>
    <cdr:to>
      <cdr:x>0.43068</cdr:x>
      <cdr:y>0.32408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2051CD83-AEFB-75F4-D61B-A3F21D1769B9}"/>
            </a:ext>
          </a:extLst>
        </cdr:cNvPr>
        <cdr:cNvSpPr txBox="1"/>
      </cdr:nvSpPr>
      <cdr:spPr>
        <a:xfrm xmlns:a="http://schemas.openxmlformats.org/drawingml/2006/main">
          <a:off x="1158149" y="883638"/>
          <a:ext cx="1087120" cy="27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d=4</a:t>
          </a:r>
          <a:endParaRPr lang="en-US" sz="1100" kern="1200" dirty="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0.38196</cdr:x>
      <cdr:y>0.46188</cdr:y>
    </cdr:from>
    <cdr:to>
      <cdr:x>0.59048</cdr:x>
      <cdr:y>0.53812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2051CD83-AEFB-75F4-D61B-A3F21D1769B9}"/>
            </a:ext>
          </a:extLst>
        </cdr:cNvPr>
        <cdr:cNvSpPr txBox="1"/>
      </cdr:nvSpPr>
      <cdr:spPr>
        <a:xfrm xmlns:a="http://schemas.openxmlformats.org/drawingml/2006/main">
          <a:off x="1991269" y="1646828"/>
          <a:ext cx="1087120" cy="27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d=10</a:t>
          </a:r>
          <a:endParaRPr lang="en-US" sz="1100" kern="1200" dirty="0"/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0.30205</cdr:x>
      <cdr:y>0.28616</cdr:y>
    </cdr:from>
    <cdr:to>
      <cdr:x>0.51058</cdr:x>
      <cdr:y>0.36241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2051CD83-AEFB-75F4-D61B-A3F21D1769B9}"/>
            </a:ext>
          </a:extLst>
        </cdr:cNvPr>
        <cdr:cNvSpPr txBox="1"/>
      </cdr:nvSpPr>
      <cdr:spPr>
        <a:xfrm xmlns:a="http://schemas.openxmlformats.org/drawingml/2006/main">
          <a:off x="1574709" y="1020326"/>
          <a:ext cx="1087120" cy="27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d=20</a:t>
          </a:r>
          <a:endParaRPr lang="en-US" sz="1100" kern="1200" dirty="0"/>
        </a:p>
      </cdr:txBody>
    </cdr: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14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0.41663</cdr:x>
      <cdr:y>0.35682</cdr:y>
    </cdr:from>
    <cdr:to>
      <cdr:x>0.62516</cdr:x>
      <cdr:y>0.43307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2051CD83-AEFB-75F4-D61B-A3F21D1769B9}"/>
            </a:ext>
          </a:extLst>
        </cdr:cNvPr>
        <cdr:cNvSpPr txBox="1"/>
      </cdr:nvSpPr>
      <cdr:spPr>
        <a:xfrm xmlns:a="http://schemas.openxmlformats.org/drawingml/2006/main">
          <a:off x="2172062" y="1272259"/>
          <a:ext cx="1087120" cy="27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d=18</a:t>
          </a:r>
          <a:endParaRPr lang="en-US" sz="1100" kern="1200" dirty="0"/>
        </a:p>
      </cdr:txBody>
    </cdr:sp>
  </cdr:relSizeAnchor>
</c:userShapes>
</file>

<file path=ppt/drawings/drawing15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drawings/drawing16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17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18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0.28549</cdr:x>
      <cdr:y>0.43375</cdr:y>
    </cdr:from>
    <cdr:to>
      <cdr:x>0.49401</cdr:x>
      <cdr:y>0.51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2051CD83-AEFB-75F4-D61B-A3F21D1769B9}"/>
            </a:ext>
          </a:extLst>
        </cdr:cNvPr>
        <cdr:cNvSpPr txBox="1"/>
      </cdr:nvSpPr>
      <cdr:spPr>
        <a:xfrm xmlns:a="http://schemas.openxmlformats.org/drawingml/2006/main">
          <a:off x="1488349" y="1546559"/>
          <a:ext cx="1087120" cy="27186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d=2</a:t>
          </a:r>
          <a:endParaRPr lang="en-US" sz="1100" kern="1200" dirty="0"/>
        </a:p>
      </cdr:txBody>
    </cdr:sp>
  </cdr:relSizeAnchor>
</c:userShapes>
</file>

<file path=ppt/drawings/drawing19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  <cdr:relSizeAnchor xmlns:cdr="http://schemas.openxmlformats.org/drawingml/2006/chartDrawing">
    <cdr:from>
      <cdr:x>0.37025</cdr:x>
      <cdr:y>0.04611</cdr:y>
    </cdr:from>
    <cdr:to>
      <cdr:x>0.66257</cdr:x>
      <cdr:y>0.12901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FC6CF8-D837-0CDC-1C70-68CE234ED947}"/>
            </a:ext>
          </a:extLst>
        </cdr:cNvPr>
        <cdr:cNvSpPr txBox="1"/>
      </cdr:nvSpPr>
      <cdr:spPr>
        <a:xfrm xmlns:a="http://schemas.openxmlformats.org/drawingml/2006/main">
          <a:off x="1930218" y="164413"/>
          <a:ext cx="1524000" cy="295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drawings/drawing20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drawings/drawing21.xml><?xml version="1.0" encoding="utf-8"?>
<c:userShapes xmlns:c="http://schemas.openxmlformats.org/drawingml/2006/chart">
  <cdr:relSizeAnchor xmlns:cdr="http://schemas.openxmlformats.org/drawingml/2006/chartDrawing">
    <cdr:from>
      <cdr:x>0.13666</cdr:x>
      <cdr:y>0.39642</cdr:y>
    </cdr:from>
    <cdr:to>
      <cdr:x>0.24775</cdr:x>
      <cdr:y>0.5</cdr:y>
    </cdr:to>
    <cdr:sp macro="" textlink="">
      <cdr:nvSpPr>
        <cdr:cNvPr id="2" name="TextBox 13">
          <a:extLst xmlns:a="http://schemas.openxmlformats.org/drawingml/2006/main">
            <a:ext uri="{FF2B5EF4-FFF2-40B4-BE49-F238E27FC236}">
              <a16:creationId xmlns:a16="http://schemas.microsoft.com/office/drawing/2014/main" id="{989E3C9C-0529-0AF4-F5EA-6827E4EA9C2C}"/>
            </a:ext>
          </a:extLst>
        </cdr:cNvPr>
        <cdr:cNvSpPr txBox="1"/>
      </cdr:nvSpPr>
      <cdr:spPr>
        <a:xfrm xmlns:a="http://schemas.openxmlformats.org/drawingml/2006/main">
          <a:off x="712470" y="1413430"/>
          <a:ext cx="57912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p3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52ECC-1B11-423C-B09A-13D0289A9C7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26EFB-E3F6-4F64-9528-97A47048D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4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3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4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1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0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4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37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8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AE456-DA79-9895-19B2-CBCA5A8A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Autofit/>
          </a:bodyPr>
          <a:lstStyle/>
          <a:p>
            <a:r>
              <a:rPr lang="en-US" sz="3600" dirty="0"/>
              <a:t>Computing Algorithms</a:t>
            </a:r>
            <a:br>
              <a:rPr lang="en-US" sz="3600" dirty="0"/>
            </a:br>
            <a:r>
              <a:rPr lang="en-US" sz="3600" dirty="0"/>
              <a:t>Lecture 5:</a:t>
            </a:r>
            <a:br>
              <a:rPr lang="en-US" sz="3600" dirty="0"/>
            </a:br>
            <a:r>
              <a:rPr lang="en-US" sz="3600" dirty="0"/>
              <a:t>Brute force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83053-DBC8-A47D-72F0-B866CFBE5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By: Dr. Mohamed Moheeb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4A22F1-6EB7-DAD1-49EB-40097999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2" r="27944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8632-A97F-2592-E5E1-57A965B0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E22B-CE58-F133-934B-D7163601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Closest-pair problem</a:t>
            </a:r>
          </a:p>
          <a:p>
            <a:r>
              <a:rPr lang="en-US" sz="2400" dirty="0"/>
              <a:t>Exhaustive search</a:t>
            </a:r>
          </a:p>
        </p:txBody>
      </p:sp>
    </p:spTree>
    <p:extLst>
      <p:ext uri="{BB962C8B-B14F-4D97-AF65-F5344CB8AC3E}">
        <p14:creationId xmlns:p14="http://schemas.microsoft.com/office/powerpoint/2010/main" val="19201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7B381-ADD4-866C-A69D-01F8C070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A0433-35AC-4F4A-DE05-51074C2B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6000" dirty="0"/>
              <a:t>Closest-pair problem</a:t>
            </a:r>
            <a:br>
              <a:rPr lang="en-US" sz="6000" dirty="0"/>
            </a:br>
            <a:b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4B4382BC-613B-3E3D-69A5-2D973FD7C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3" r="17669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35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98D2-FB84-C099-AB1E-4AA4A759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88BCF5-B94F-4272-E5B4-880DFF0B29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DD18187-20E5-6D35-4405-6710CE211A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98257814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C8E909A-356D-8FEA-1D4A-F306DD066964}"/>
              </a:ext>
            </a:extLst>
          </p:cNvPr>
          <p:cNvSpPr/>
          <p:nvPr/>
        </p:nvSpPr>
        <p:spPr>
          <a:xfrm>
            <a:off x="959394" y="429644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0F435F-0C52-C4E8-7497-AAF4B1C28D1F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114766" y="449783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1F6DEDB-D164-1BA8-492B-831579E11EFF}"/>
              </a:ext>
            </a:extLst>
          </p:cNvPr>
          <p:cNvSpPr txBox="1"/>
          <p:nvPr/>
        </p:nvSpPr>
        <p:spPr>
          <a:xfrm>
            <a:off x="6792686" y="4376050"/>
            <a:ext cx="4439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Given that the input is 4 points shown in the figure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 the distance by infinity 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8A7AA-F16A-8935-3BF1-F38524FA93BF}"/>
              </a:ext>
            </a:extLst>
          </p:cNvPr>
          <p:cNvSpPr txBox="1"/>
          <p:nvPr/>
        </p:nvSpPr>
        <p:spPr>
          <a:xfrm>
            <a:off x="10204270" y="5312078"/>
            <a:ext cx="16002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d=∞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E3C9C-0529-0AF4-F5EA-6827E4EA9C2C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99EFFB-E990-3267-781D-70C4C741B070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5A2FEF-F9CB-6A12-B209-A2C3BFA05CA6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3381904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140A6-6A5B-002A-11D4-DC2A5B63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1D4C-CE7A-B347-C4FC-25D9F6DD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DE1C6F-D2B8-FAEF-18D3-39ACE7987C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4833B07-D6E3-65C3-D833-709C697D1E8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5D9C332-97AE-B0E7-2A76-7E10D8A42639}"/>
              </a:ext>
            </a:extLst>
          </p:cNvPr>
          <p:cNvSpPr/>
          <p:nvPr/>
        </p:nvSpPr>
        <p:spPr>
          <a:xfrm>
            <a:off x="959394" y="463172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B3A666-562A-C98E-6304-5A2CF6A6A24E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114766" y="483311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9FAE84-AD83-029B-92CE-05121ECB034D}"/>
              </a:ext>
            </a:extLst>
          </p:cNvPr>
          <p:cNvSpPr txBox="1"/>
          <p:nvPr/>
        </p:nvSpPr>
        <p:spPr>
          <a:xfrm>
            <a:off x="6792686" y="4376050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 index </a:t>
            </a:r>
            <a:r>
              <a:rPr lang="en-US" dirty="0" err="1"/>
              <a:t>i</a:t>
            </a:r>
            <a:r>
              <a:rPr lang="en-US" dirty="0"/>
              <a:t>=1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BF01F8-4A32-6DAD-6E27-AB1B4C3ED7CB}"/>
              </a:ext>
            </a:extLst>
          </p:cNvPr>
          <p:cNvSpPr txBox="1"/>
          <p:nvPr/>
        </p:nvSpPr>
        <p:spPr>
          <a:xfrm>
            <a:off x="10204270" y="5312078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d=∞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CAD758-9FDC-CC56-884E-E949ADE7A2A8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A2139-5CA8-812D-739C-AE53CDB4A43D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065EF8-6B96-1976-DA02-23C8976B1751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2541792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2394-CCE3-0A7F-E1E6-13ECF70EC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4DBD2-0CC5-8DB1-C40D-77185B65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C5DB0E-1B03-3583-26CA-8A364CC0D7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80F5C0E-0F22-52F6-0C25-BECC933CE58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161EBCC-3685-3991-75D3-D654F20F0C83}"/>
              </a:ext>
            </a:extLst>
          </p:cNvPr>
          <p:cNvSpPr/>
          <p:nvPr/>
        </p:nvSpPr>
        <p:spPr>
          <a:xfrm>
            <a:off x="1182914" y="4987324"/>
            <a:ext cx="1824446" cy="3771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645C7D-921A-16F1-432E-B8EB5F085BD2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3007360" y="5175902"/>
            <a:ext cx="1060269" cy="1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E3577E-63B9-7947-6367-FC8D53F097A4}"/>
              </a:ext>
            </a:extLst>
          </p:cNvPr>
          <p:cNvSpPr txBox="1"/>
          <p:nvPr/>
        </p:nvSpPr>
        <p:spPr>
          <a:xfrm>
            <a:off x="6792686" y="4376050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 index j to i+1 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506FE-4872-7CE4-AD5C-8ECFABE313FA}"/>
              </a:ext>
            </a:extLst>
          </p:cNvPr>
          <p:cNvSpPr txBox="1"/>
          <p:nvPr/>
        </p:nvSpPr>
        <p:spPr>
          <a:xfrm>
            <a:off x="10195945" y="4822950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d=∞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8157E2-9F84-488C-F2C5-837C4C4CC292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BCD803-B5D5-CA21-6E81-FC0DBC06F2BF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9117FA-728C-72DF-9C6C-457C023706FA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418909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C951C-B124-497E-5480-C2149E45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70AE-5292-0EF3-7AD7-F8F03ADE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18F484-544E-0EEE-2C86-511111D86F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5D6BCAB-C4A8-2DA6-5508-F75AFD87C49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6834818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7DA0AD0-1440-0FB9-12C5-DD2180BD2E5B}"/>
              </a:ext>
            </a:extLst>
          </p:cNvPr>
          <p:cNvSpPr/>
          <p:nvPr/>
        </p:nvSpPr>
        <p:spPr>
          <a:xfrm>
            <a:off x="1568994" y="5373404"/>
            <a:ext cx="399868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B556BE-3522-F2D1-D12B-AE139CC6ED6D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567680" y="5551822"/>
            <a:ext cx="4267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DE2273-08EB-9B16-84C5-41DDBCFFBCEE}"/>
              </a:ext>
            </a:extLst>
          </p:cNvPr>
          <p:cNvSpPr txBox="1"/>
          <p:nvPr/>
        </p:nvSpPr>
        <p:spPr>
          <a:xfrm>
            <a:off x="6625136" y="4264712"/>
            <a:ext cx="49929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the distance between pi and </a:t>
            </a:r>
            <a:r>
              <a:rPr lang="en-US" dirty="0" err="1"/>
              <a:t>pj</a:t>
            </a:r>
            <a:r>
              <a:rPr lang="en-US" dirty="0"/>
              <a:t> or p1 and p2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between the Calculated distance (16) and d (∞) and set the min as the new d=16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C1BB9B-A951-6925-BE4F-04D602F0FDC3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BF514D-DB32-7576-943B-E8DEFC267DA5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87F8D-A07A-8B00-C084-D18CCBA70BDD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DD3510-B3BC-1BC5-FE0F-9ABD5307546E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A6F9D0-9709-224D-FE5C-B869E35173CF}"/>
              </a:ext>
            </a:extLst>
          </p:cNvPr>
          <p:cNvCxnSpPr/>
          <p:nvPr/>
        </p:nvCxnSpPr>
        <p:spPr>
          <a:xfrm>
            <a:off x="7508240" y="1260263"/>
            <a:ext cx="3088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686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52E6-DA88-7322-5072-7FB6D382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72EA-381C-87F6-835E-47BB8CDE7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0A15ED-F0DE-C211-BAF8-4886504E2B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DF90AA7-EC95-1F8B-E9F2-0EB1A20F0C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77299555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F7CF37E-3FBA-4727-5DF5-D424435BC1E4}"/>
              </a:ext>
            </a:extLst>
          </p:cNvPr>
          <p:cNvSpPr/>
          <p:nvPr/>
        </p:nvSpPr>
        <p:spPr>
          <a:xfrm>
            <a:off x="1233714" y="5027964"/>
            <a:ext cx="160092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E78083-FA78-2DFA-86B9-C21E2675C4B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834640" y="5206382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893E0B-A306-0798-47E2-274F256B2C6E}"/>
              </a:ext>
            </a:extLst>
          </p:cNvPr>
          <p:cNvSpPr txBox="1"/>
          <p:nvPr/>
        </p:nvSpPr>
        <p:spPr>
          <a:xfrm>
            <a:off x="6625136" y="4264712"/>
            <a:ext cx="499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j by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7BEB4E-EB6E-EE59-4947-9A7319BA433F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9FAD-6D0B-5A2B-2D53-07D2692C36E0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60A54C-B898-3929-8CC5-7E0DFEC25629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F3E1F5-6FB9-D0CB-6D7A-271C4BAFF78A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48BA8E-72CE-7A39-31AE-012ECA1DD7E5}"/>
              </a:ext>
            </a:extLst>
          </p:cNvPr>
          <p:cNvCxnSpPr>
            <a:cxnSpLocks/>
          </p:cNvCxnSpPr>
          <p:nvPr/>
        </p:nvCxnSpPr>
        <p:spPr>
          <a:xfrm>
            <a:off x="7508240" y="1260263"/>
            <a:ext cx="0" cy="1056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83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3CE27-EF7D-F88F-5F60-B3297D99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154C-D1AB-09B9-8716-E6872FB5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A753BE-693F-E589-DE29-ED918CB489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ADB3775-6C54-BF2C-CB35-6F51C7218B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72180088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A056CE0-B602-3859-C165-6276D99A826C}"/>
              </a:ext>
            </a:extLst>
          </p:cNvPr>
          <p:cNvSpPr/>
          <p:nvPr/>
        </p:nvSpPr>
        <p:spPr>
          <a:xfrm>
            <a:off x="1558834" y="5342924"/>
            <a:ext cx="411044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EEF7BE-622D-FFD5-9A48-E0E802AC25E3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669280" y="5521342"/>
            <a:ext cx="325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9A75CA8-60AB-3B77-0EBD-3D24CDAE68D2}"/>
              </a:ext>
            </a:extLst>
          </p:cNvPr>
          <p:cNvSpPr txBox="1"/>
          <p:nvPr/>
        </p:nvSpPr>
        <p:spPr>
          <a:xfrm>
            <a:off x="6625136" y="4264712"/>
            <a:ext cx="4992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the distance between pi and </a:t>
            </a:r>
            <a:r>
              <a:rPr lang="en-US" dirty="0" err="1"/>
              <a:t>pj</a:t>
            </a:r>
            <a:r>
              <a:rPr lang="en-US" dirty="0"/>
              <a:t> or p1 and p3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between the Calculated distance (4) and d (16) and set the min as the new d=4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B252C-1193-5F94-1306-558D32D94F43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A07858-8BB0-477E-A085-B1DD786A8C9A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AF537-309D-5294-CF0D-EC4DE9C891CD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53547-835B-7359-C481-0122584782E8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9E3EB6-A5C2-445C-9D11-023A9D7B790F}"/>
              </a:ext>
            </a:extLst>
          </p:cNvPr>
          <p:cNvCxnSpPr>
            <a:cxnSpLocks/>
          </p:cNvCxnSpPr>
          <p:nvPr/>
        </p:nvCxnSpPr>
        <p:spPr>
          <a:xfrm>
            <a:off x="7508240" y="1260263"/>
            <a:ext cx="0" cy="1056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78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3D7A1-9CD1-3EF8-F8D2-430AA312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8692-ECEE-FCB2-7939-899E1CE1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115E8E-8B04-2F10-60E8-DBB3B35344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E91DC4B-B45E-50ED-E190-18C629C1941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72069142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71985DD-2E6F-D3FD-632D-2A07691E2A98}"/>
              </a:ext>
            </a:extLst>
          </p:cNvPr>
          <p:cNvSpPr/>
          <p:nvPr/>
        </p:nvSpPr>
        <p:spPr>
          <a:xfrm>
            <a:off x="1233714" y="5027964"/>
            <a:ext cx="160092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D05F37-F37D-1F3A-23F1-BA1739EF350A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834640" y="5206382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716D9FF-A092-5E84-9D93-65F999C7ED6E}"/>
              </a:ext>
            </a:extLst>
          </p:cNvPr>
          <p:cNvSpPr txBox="1"/>
          <p:nvPr/>
        </p:nvSpPr>
        <p:spPr>
          <a:xfrm>
            <a:off x="6625136" y="4264712"/>
            <a:ext cx="499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j by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6463D-7C6B-B728-DD5E-3FC0EFF899F3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F3CE5E-4427-5073-CBE1-F541C276963A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340B9C-35DD-A998-32D2-37B08079CDF9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6D7A1-28AD-0DFD-62F6-FA710A1EB3C6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F9726F-ACF3-8C77-6D8C-153371639855}"/>
              </a:ext>
            </a:extLst>
          </p:cNvPr>
          <p:cNvCxnSpPr>
            <a:cxnSpLocks/>
          </p:cNvCxnSpPr>
          <p:nvPr/>
        </p:nvCxnSpPr>
        <p:spPr>
          <a:xfrm>
            <a:off x="7508240" y="1260263"/>
            <a:ext cx="762000" cy="153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0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487CE-F51D-87E2-F8A4-25F61E13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C1AD-FB2D-A62B-9D82-011DF7C8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CA2791-6E6C-6997-9325-C0F4478FC9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2AB4E4FD-8F57-84D4-8FFA-737BB1F3AE6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0898110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899FDB7-F06A-267B-64D0-63BA73DD7FCD}"/>
              </a:ext>
            </a:extLst>
          </p:cNvPr>
          <p:cNvSpPr/>
          <p:nvPr/>
        </p:nvSpPr>
        <p:spPr>
          <a:xfrm>
            <a:off x="1558834" y="5342924"/>
            <a:ext cx="411044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E79B54-94DE-E510-FAA1-A734D91A9AB7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669280" y="5521342"/>
            <a:ext cx="325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4CB459C-4EE8-E4C2-6666-7973F6611360}"/>
              </a:ext>
            </a:extLst>
          </p:cNvPr>
          <p:cNvSpPr txBox="1"/>
          <p:nvPr/>
        </p:nvSpPr>
        <p:spPr>
          <a:xfrm>
            <a:off x="6625136" y="4264712"/>
            <a:ext cx="4992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the distance between pi and </a:t>
            </a:r>
            <a:r>
              <a:rPr lang="en-US" dirty="0" err="1"/>
              <a:t>pj</a:t>
            </a:r>
            <a:r>
              <a:rPr lang="en-US" dirty="0"/>
              <a:t> or p1 and p3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between the Calculated distance (10) and d (4) and set the min as the new d=4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AB1034-08F7-EB5A-E9F7-E89A17334562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510425-2AFA-F05E-38CB-F69C52DB8900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90876C-18E6-D0F8-E228-A4B3AEB27F86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FA75A6-19E9-F9AC-E652-A284AD3A016D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019F2E-20BB-1283-F611-4ADA8945D88C}"/>
              </a:ext>
            </a:extLst>
          </p:cNvPr>
          <p:cNvCxnSpPr>
            <a:cxnSpLocks/>
          </p:cNvCxnSpPr>
          <p:nvPr/>
        </p:nvCxnSpPr>
        <p:spPr>
          <a:xfrm>
            <a:off x="7508240" y="1260263"/>
            <a:ext cx="808742" cy="153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651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31699-A222-B9C3-7269-FF695F06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E9C7-F6EF-35C1-C7F0-1E4C19F3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488C58-796C-7248-F302-E094B43E85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41DE3FE-21CB-4526-CF9D-9516FCE7EE5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CBA54A0-75B0-2386-7E4E-6743408F0FE0}"/>
              </a:ext>
            </a:extLst>
          </p:cNvPr>
          <p:cNvSpPr/>
          <p:nvPr/>
        </p:nvSpPr>
        <p:spPr>
          <a:xfrm>
            <a:off x="1233714" y="5027964"/>
            <a:ext cx="160092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93D8D4-3166-0035-6B70-16B5C41357D7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834640" y="5206382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B8A10BE-0B45-DC77-E416-8A5A3B8A2A71}"/>
              </a:ext>
            </a:extLst>
          </p:cNvPr>
          <p:cNvSpPr txBox="1"/>
          <p:nvPr/>
        </p:nvSpPr>
        <p:spPr>
          <a:xfrm>
            <a:off x="6625136" y="4264712"/>
            <a:ext cx="499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j by 1 which exceed the value of n(4), then exit the inner loop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CBEB1C-5113-FA6E-4629-03E197964066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7D0411-051A-40AA-F444-B44EFE486291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05AF3-470D-4009-87D0-C979A10FA147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307F00-FADC-95F5-7B35-0437715CB39B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7268C5-5420-CADD-A534-DDBF6EB7BAC2}"/>
              </a:ext>
            </a:extLst>
          </p:cNvPr>
          <p:cNvCxnSpPr>
            <a:cxnSpLocks/>
          </p:cNvCxnSpPr>
          <p:nvPr/>
        </p:nvCxnSpPr>
        <p:spPr>
          <a:xfrm>
            <a:off x="7508240" y="1260263"/>
            <a:ext cx="762000" cy="153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564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39377-B1DA-DE87-726D-11CB2512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F405F-7F23-AE56-A6C9-ACEC17AD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DF69DD-7E4E-A546-E3A9-ED6C839067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91A8ABC-AF5B-0B40-306F-B65E92D9F1F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BD90C9-DCEC-54E8-3249-6E6E773557DE}"/>
              </a:ext>
            </a:extLst>
          </p:cNvPr>
          <p:cNvSpPr/>
          <p:nvPr/>
        </p:nvSpPr>
        <p:spPr>
          <a:xfrm>
            <a:off x="959394" y="463172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4301A1-EC7E-7A3E-A73A-EBC653FAF6A2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114766" y="483311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B630399-E4A6-4427-CA33-CB523D6CFC4F}"/>
              </a:ext>
            </a:extLst>
          </p:cNvPr>
          <p:cNvSpPr txBox="1"/>
          <p:nvPr/>
        </p:nvSpPr>
        <p:spPr>
          <a:xfrm>
            <a:off x="6792686" y="4376050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</a:t>
            </a:r>
            <a:r>
              <a:rPr lang="en-US" dirty="0" err="1"/>
              <a:t>i</a:t>
            </a:r>
            <a:r>
              <a:rPr lang="en-US" dirty="0"/>
              <a:t>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6F2159-11F1-995B-8106-775C067A2DCD}"/>
              </a:ext>
            </a:extLst>
          </p:cNvPr>
          <p:cNvSpPr txBox="1"/>
          <p:nvPr/>
        </p:nvSpPr>
        <p:spPr>
          <a:xfrm>
            <a:off x="10204270" y="5312078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02AF74-7239-1EB3-BA8C-8F2594DF82F4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4AE3EF-3B7F-5129-9BF0-F60C4E6432BC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64D686-0B8B-867C-400D-0CDCD3152B6E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2614134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6974A-55AE-2E3C-A9FC-CD48D2D8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555E-49B1-F6B5-7F23-12853D45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2F9CAD-EB47-C9EE-2AB3-9648523046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44FD507-AE9A-576F-A4D9-505BC808472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7061900-4205-CDD7-4020-AEDCA919503C}"/>
              </a:ext>
            </a:extLst>
          </p:cNvPr>
          <p:cNvSpPr/>
          <p:nvPr/>
        </p:nvSpPr>
        <p:spPr>
          <a:xfrm>
            <a:off x="1182914" y="4987324"/>
            <a:ext cx="1824446" cy="3771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9FA8F6-6059-4EA3-14A0-38FFFD8079EC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3007360" y="5175902"/>
            <a:ext cx="1060269" cy="1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58CF448-F474-EE1F-1455-696CE320DC03}"/>
              </a:ext>
            </a:extLst>
          </p:cNvPr>
          <p:cNvSpPr txBox="1"/>
          <p:nvPr/>
        </p:nvSpPr>
        <p:spPr>
          <a:xfrm>
            <a:off x="6792686" y="4376050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 index j to i+1 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8A4123-BE0E-6318-A386-6805D353A101}"/>
              </a:ext>
            </a:extLst>
          </p:cNvPr>
          <p:cNvSpPr txBox="1"/>
          <p:nvPr/>
        </p:nvSpPr>
        <p:spPr>
          <a:xfrm>
            <a:off x="10195945" y="4822950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FC77A-7FC5-1276-7815-37298C84A0AA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604F46-945C-4BCD-34F3-3739B9CF8F1B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4E2321-AE85-7C64-E9EC-26A388A3C34A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2474594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EB85-1435-82C9-5F52-7883D4DC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929A-021A-80BF-9B9E-A58C3D0C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D32B65-58A7-3E0A-2B57-43F6C81A95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2E9BC1F-7C0C-EF84-0923-3A1A7526F2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3701099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5E7B43D-FC3B-F4B8-5A22-D0BE0CB89298}"/>
              </a:ext>
            </a:extLst>
          </p:cNvPr>
          <p:cNvSpPr/>
          <p:nvPr/>
        </p:nvSpPr>
        <p:spPr>
          <a:xfrm>
            <a:off x="1558834" y="5342924"/>
            <a:ext cx="411044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ED3A2E-3DD4-6FBF-19BC-1967C73B2D9D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669280" y="5521342"/>
            <a:ext cx="325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0A36F42-AFF4-9863-31BE-A6D4F2B73126}"/>
              </a:ext>
            </a:extLst>
          </p:cNvPr>
          <p:cNvSpPr txBox="1"/>
          <p:nvPr/>
        </p:nvSpPr>
        <p:spPr>
          <a:xfrm>
            <a:off x="6625136" y="4264712"/>
            <a:ext cx="4992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the distance between pi and </a:t>
            </a:r>
            <a:r>
              <a:rPr lang="en-US" dirty="0" err="1"/>
              <a:t>pj</a:t>
            </a:r>
            <a:r>
              <a:rPr lang="en-US" dirty="0"/>
              <a:t> or p2 and p3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between the Calculated distance (20) and d (4) and set the min as the new d=4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156B9-1774-396E-C152-2B41EE6AABF3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4AD17F-737B-11BA-C15D-B99BD069179B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372BF5-7D64-EAD5-4242-85274C51CF7E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70CDB-8E5B-34DA-219E-9EB40114D0A5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EC5A55-CFF7-6133-B311-43B154223E94}"/>
              </a:ext>
            </a:extLst>
          </p:cNvPr>
          <p:cNvCxnSpPr>
            <a:cxnSpLocks/>
          </p:cNvCxnSpPr>
          <p:nvPr/>
        </p:nvCxnSpPr>
        <p:spPr>
          <a:xfrm flipH="1">
            <a:off x="7508240" y="1284820"/>
            <a:ext cx="3109932" cy="101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270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1C35-F090-D7B0-FB55-31366FAFB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70E0E-C8A5-DFC4-A7CD-64265387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8B4A16-32D5-C33D-8ADF-998E969D8B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B56F6CE-C9DA-B831-EB1F-40715E3ED59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8FBCFC8-5EB5-657D-6D87-AF2240A70BCB}"/>
              </a:ext>
            </a:extLst>
          </p:cNvPr>
          <p:cNvSpPr/>
          <p:nvPr/>
        </p:nvSpPr>
        <p:spPr>
          <a:xfrm>
            <a:off x="1182914" y="4987324"/>
            <a:ext cx="1824446" cy="3771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F826BB-FB7A-FE29-2C9F-F29FF542A47C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3007360" y="5175902"/>
            <a:ext cx="1060269" cy="1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A32ACD-86EC-57E8-B45B-60834F2F8D03}"/>
              </a:ext>
            </a:extLst>
          </p:cNvPr>
          <p:cNvSpPr txBox="1"/>
          <p:nvPr/>
        </p:nvSpPr>
        <p:spPr>
          <a:xfrm>
            <a:off x="6792686" y="4376050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j by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AD11B9-2404-CEB6-2B8B-5CC2678FD959}"/>
              </a:ext>
            </a:extLst>
          </p:cNvPr>
          <p:cNvSpPr txBox="1"/>
          <p:nvPr/>
        </p:nvSpPr>
        <p:spPr>
          <a:xfrm>
            <a:off x="10195945" y="4822950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8964ED-7ECD-0034-348E-27E24781A885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46F7ED-DE7E-5BFF-15ED-33370012DF9E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BFF087-CC1A-4232-68D5-3BC892E6615B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40000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DE083-A87B-5BA5-5657-7EF40949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1F22-3344-1EF0-782A-3E34140C9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7DA213-B2FE-91BA-50BA-047A016427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93004CA-93EF-AA82-BAFE-EA75289D375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9121779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04EB538-CCB5-E435-56A7-2D0CF8E2E7FD}"/>
              </a:ext>
            </a:extLst>
          </p:cNvPr>
          <p:cNvSpPr/>
          <p:nvPr/>
        </p:nvSpPr>
        <p:spPr>
          <a:xfrm>
            <a:off x="1558834" y="5342924"/>
            <a:ext cx="411044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06F194-15CE-C3FB-F21D-AC8E4228601E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669280" y="5521342"/>
            <a:ext cx="325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B998720-590A-BF6C-B69B-B3807D3E283C}"/>
              </a:ext>
            </a:extLst>
          </p:cNvPr>
          <p:cNvSpPr txBox="1"/>
          <p:nvPr/>
        </p:nvSpPr>
        <p:spPr>
          <a:xfrm>
            <a:off x="6625136" y="4264712"/>
            <a:ext cx="4992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the distance between pi and </a:t>
            </a:r>
            <a:r>
              <a:rPr lang="en-US" dirty="0" err="1"/>
              <a:t>pj</a:t>
            </a:r>
            <a:r>
              <a:rPr lang="en-US" dirty="0"/>
              <a:t> or p2 and p4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between the Calculated distance (18) and d (4) and set the min as the new d=4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5C5368-4B63-15DE-09D5-3F991D015969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135D99-2EC1-12B2-045B-3128EDC77A10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E7B534-1F8D-8ED2-F90F-17C5085B3DD3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6E24D2-F9F3-3BA1-B4F6-88F0037901B3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E599AB-E298-5F76-9B29-29D8FBCACFBA}"/>
              </a:ext>
            </a:extLst>
          </p:cNvPr>
          <p:cNvCxnSpPr>
            <a:cxnSpLocks/>
          </p:cNvCxnSpPr>
          <p:nvPr/>
        </p:nvCxnSpPr>
        <p:spPr>
          <a:xfrm flipH="1">
            <a:off x="8270240" y="1284820"/>
            <a:ext cx="2347932" cy="1509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49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AF2E-7D97-5FEC-2B61-C9787F3B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2A17-B8DF-3817-D139-7580258B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C4BD51-0277-72A1-4209-833FE32640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F04775B-1A63-1C13-E919-23DEE5BAA65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9E4F822-0FB5-019C-CF7C-E8C3A21430EC}"/>
              </a:ext>
            </a:extLst>
          </p:cNvPr>
          <p:cNvSpPr/>
          <p:nvPr/>
        </p:nvSpPr>
        <p:spPr>
          <a:xfrm>
            <a:off x="1233714" y="5027964"/>
            <a:ext cx="160092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2F6682-AF58-3FA1-4397-D99B8402C984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834640" y="5206382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E9339A1-414C-1B09-D068-9E7C0D38FB7F}"/>
              </a:ext>
            </a:extLst>
          </p:cNvPr>
          <p:cNvSpPr txBox="1"/>
          <p:nvPr/>
        </p:nvSpPr>
        <p:spPr>
          <a:xfrm>
            <a:off x="6625136" y="4264712"/>
            <a:ext cx="499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j by 1 which exceed the value of n(4), then exit the inner loop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3289C-3B4F-A520-78A4-3B54F4BC7BC3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4091B7-189C-7F55-2C61-C31AD6EDF1D1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E1D5E-1E24-262E-6C4B-E9215C3BD06C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B548AA-B176-9890-22E8-4AABE29542EC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86D934-A4CE-462D-DA73-9BF67250D24E}"/>
              </a:ext>
            </a:extLst>
          </p:cNvPr>
          <p:cNvCxnSpPr>
            <a:cxnSpLocks/>
          </p:cNvCxnSpPr>
          <p:nvPr/>
        </p:nvCxnSpPr>
        <p:spPr>
          <a:xfrm flipH="1">
            <a:off x="8270240" y="1290320"/>
            <a:ext cx="2436245" cy="1503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632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35AC9-1C6C-02D2-87B3-627D7089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C496-8F04-2108-C706-D34A731C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8AA22D-3BCF-5646-083C-518BDEE0BF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90EE3E3-B8B6-2E73-3593-48C56202497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6DC894F-B2AE-A078-34C9-6F5C184B82E3}"/>
              </a:ext>
            </a:extLst>
          </p:cNvPr>
          <p:cNvSpPr/>
          <p:nvPr/>
        </p:nvSpPr>
        <p:spPr>
          <a:xfrm>
            <a:off x="959394" y="463172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6EAF38-AD27-1374-AA53-4906115ECA9F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114766" y="483311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8CF4409-F072-9403-2738-5E866D94F70A}"/>
              </a:ext>
            </a:extLst>
          </p:cNvPr>
          <p:cNvSpPr txBox="1"/>
          <p:nvPr/>
        </p:nvSpPr>
        <p:spPr>
          <a:xfrm>
            <a:off x="6792686" y="4376050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</a:t>
            </a:r>
            <a:r>
              <a:rPr lang="en-US" dirty="0" err="1"/>
              <a:t>i</a:t>
            </a:r>
            <a:r>
              <a:rPr lang="en-US" dirty="0"/>
              <a:t>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7CD4F7-90B3-B47C-0738-FD6554D4F6C2}"/>
              </a:ext>
            </a:extLst>
          </p:cNvPr>
          <p:cNvSpPr txBox="1"/>
          <p:nvPr/>
        </p:nvSpPr>
        <p:spPr>
          <a:xfrm>
            <a:off x="10204270" y="5312078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B7D310-F3BF-4F8A-13BA-823391FBB431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6E376-2D7D-9567-9443-681407287357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C2948D-398A-7EF8-803F-BB7CEA22959B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2149201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B8D25-B507-F807-15DF-86DB206C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3EF6-7198-67D5-F611-105BA1CB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B134B7-C39D-8CBB-261E-E1A82287F6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42BEE26-8293-BCFF-A37D-80E82D347CC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4C9E7C0-8531-2693-58F4-74996C316AD8}"/>
              </a:ext>
            </a:extLst>
          </p:cNvPr>
          <p:cNvSpPr/>
          <p:nvPr/>
        </p:nvSpPr>
        <p:spPr>
          <a:xfrm>
            <a:off x="1182914" y="4987324"/>
            <a:ext cx="1824446" cy="3771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0C4DFA-08F2-2CDA-521D-4AB775300072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3007360" y="5175902"/>
            <a:ext cx="1060269" cy="1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6422CE-114D-6E55-5F19-61B28CB81817}"/>
              </a:ext>
            </a:extLst>
          </p:cNvPr>
          <p:cNvSpPr txBox="1"/>
          <p:nvPr/>
        </p:nvSpPr>
        <p:spPr>
          <a:xfrm>
            <a:off x="6792686" y="4376050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 index j to i+1 =4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5A53D-207E-AD72-5FA7-E2095AC93E45}"/>
              </a:ext>
            </a:extLst>
          </p:cNvPr>
          <p:cNvSpPr txBox="1"/>
          <p:nvPr/>
        </p:nvSpPr>
        <p:spPr>
          <a:xfrm>
            <a:off x="10195945" y="4822950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9C5935-0E3B-4828-F912-20481EB2573C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213341-85AB-A1DD-C413-AFA7E36F6BE3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8B654-1077-804A-C55D-CD9AE89E362C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2836525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9253-8DC0-DFC4-AAB6-ABB5D26BC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BA09-4F9A-86E4-C4BC-8BB9A40C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BB2224-2277-5D04-4C73-593F998613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2C4E922E-37C3-ABFC-8375-824602E174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7258924"/>
              </p:ext>
            </p:extLst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A7B90F7-17FA-C076-C09B-BE7FE3E32902}"/>
              </a:ext>
            </a:extLst>
          </p:cNvPr>
          <p:cNvSpPr/>
          <p:nvPr/>
        </p:nvSpPr>
        <p:spPr>
          <a:xfrm>
            <a:off x="1558834" y="5342924"/>
            <a:ext cx="411044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232FC6-6D17-EC53-9A56-93E062BAD1D2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669280" y="5521342"/>
            <a:ext cx="325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BA1C89A-481D-F2C3-A40D-571F81434EC5}"/>
              </a:ext>
            </a:extLst>
          </p:cNvPr>
          <p:cNvSpPr txBox="1"/>
          <p:nvPr/>
        </p:nvSpPr>
        <p:spPr>
          <a:xfrm>
            <a:off x="6625136" y="4264712"/>
            <a:ext cx="4992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the distance between pi and </a:t>
            </a:r>
            <a:r>
              <a:rPr lang="en-US" dirty="0" err="1"/>
              <a:t>pj</a:t>
            </a:r>
            <a:r>
              <a:rPr lang="en-US" dirty="0"/>
              <a:t> or p3 and p4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between the Calculated distance (2) and d (4) and set the min as the new d=2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33CD01-971E-676A-8DA8-3A3BB36411A2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B96DE6-D177-F001-732C-59D16BF46771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7090C3-E172-AFEC-B8B8-9F9820B5DBC8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D21A4F-55CF-730D-1F64-CB119B21598A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0CDD1D-406B-4396-FF3E-2E868039F467}"/>
              </a:ext>
            </a:extLst>
          </p:cNvPr>
          <p:cNvCxnSpPr>
            <a:cxnSpLocks/>
          </p:cNvCxnSpPr>
          <p:nvPr/>
        </p:nvCxnSpPr>
        <p:spPr>
          <a:xfrm>
            <a:off x="7518400" y="2306320"/>
            <a:ext cx="751840" cy="487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142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8D14C-802C-0219-D98E-20BD96EC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D1F9-748C-8A54-E5E6-B4F5D073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CCD040-DA05-3208-48FC-7648C5B1AE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8DEC026-A44D-ABE7-DC1F-DABB11EF527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8E24F37-DACE-2EA0-64F5-8A0E86432504}"/>
              </a:ext>
            </a:extLst>
          </p:cNvPr>
          <p:cNvSpPr/>
          <p:nvPr/>
        </p:nvSpPr>
        <p:spPr>
          <a:xfrm>
            <a:off x="1233714" y="5027964"/>
            <a:ext cx="1600926" cy="35683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5AD67C-625E-F62C-FCB9-EB3C38DB0DB1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834640" y="5206382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D97BB9-9EDD-773A-2D09-3BF2A68AE118}"/>
              </a:ext>
            </a:extLst>
          </p:cNvPr>
          <p:cNvSpPr txBox="1"/>
          <p:nvPr/>
        </p:nvSpPr>
        <p:spPr>
          <a:xfrm>
            <a:off x="6625136" y="4264712"/>
            <a:ext cx="499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j by 1 which exceed the value of n(4), then exit the inner loop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73216-B82A-B3A4-08AA-139FDE47FD2B}"/>
              </a:ext>
            </a:extLst>
          </p:cNvPr>
          <p:cNvSpPr txBox="1"/>
          <p:nvPr/>
        </p:nvSpPr>
        <p:spPr>
          <a:xfrm>
            <a:off x="10398760" y="5551822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54F24-491F-A5F2-98A6-1A885DECAC24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CF6EDD-3938-A579-2E38-BC6C0F15B05B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DA615-0B34-0DCD-91D0-6A860E77814A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24DDAB-3802-0422-D29C-0E29A69B225A}"/>
              </a:ext>
            </a:extLst>
          </p:cNvPr>
          <p:cNvCxnSpPr>
            <a:cxnSpLocks/>
          </p:cNvCxnSpPr>
          <p:nvPr/>
        </p:nvCxnSpPr>
        <p:spPr>
          <a:xfrm>
            <a:off x="7538720" y="2306320"/>
            <a:ext cx="731520" cy="487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350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D01D-1B46-C7D1-DAE2-D347E263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CEC6-461D-42D1-CC01-1A0C74382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8C93DD-5CB7-7D57-2528-CBD87E367E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BDE57EA-6CBC-EF82-F8A9-A14D7BC43DB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F04A4C-6613-8A33-7ED8-8704C68C6AC3}"/>
              </a:ext>
            </a:extLst>
          </p:cNvPr>
          <p:cNvSpPr/>
          <p:nvPr/>
        </p:nvSpPr>
        <p:spPr>
          <a:xfrm>
            <a:off x="959394" y="463172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F0B159-DB06-A514-7FEC-A76F54DD58EB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114766" y="483311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368E78-33AA-FA0E-BD0E-FD51447252DE}"/>
              </a:ext>
            </a:extLst>
          </p:cNvPr>
          <p:cNvSpPr txBox="1"/>
          <p:nvPr/>
        </p:nvSpPr>
        <p:spPr>
          <a:xfrm>
            <a:off x="6792686" y="4376050"/>
            <a:ext cx="443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 </a:t>
            </a:r>
            <a:r>
              <a:rPr lang="en-US" dirty="0" err="1"/>
              <a:t>i</a:t>
            </a:r>
            <a:r>
              <a:rPr lang="en-US" dirty="0"/>
              <a:t>=4 which exceed the value of n-1 (3), then we exit the outer loop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44774-52EA-0F38-D3AC-0DC7AA979BD5}"/>
              </a:ext>
            </a:extLst>
          </p:cNvPr>
          <p:cNvSpPr txBox="1"/>
          <p:nvPr/>
        </p:nvSpPr>
        <p:spPr>
          <a:xfrm>
            <a:off x="10204270" y="5312078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02E9F8-13D8-BD62-E179-FD725B282033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3D3DD-24BD-347A-827A-BDF9EE5A8BF8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FC9D87-DA04-39E2-14DB-1A995A0EDD1F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4123529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8D86-6EA1-555C-C29B-28D140D8A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BB7F-DD40-0EF5-835F-55BD7303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79688C-B503-F82B-B59F-965365326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CD02800-EBA6-969F-BFF6-82B11456300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405971" y="699187"/>
          <a:ext cx="5213350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2C52C26-7C53-4642-776B-DFF7C1174E2B}"/>
              </a:ext>
            </a:extLst>
          </p:cNvPr>
          <p:cNvSpPr/>
          <p:nvPr/>
        </p:nvSpPr>
        <p:spPr>
          <a:xfrm>
            <a:off x="959394" y="5698524"/>
            <a:ext cx="838926" cy="38731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FBFE6D-4F23-FE9E-E923-C67C251953D9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798320" y="5892182"/>
            <a:ext cx="319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AE863C3-2D84-2343-C760-5EB83246EDA3}"/>
              </a:ext>
            </a:extLst>
          </p:cNvPr>
          <p:cNvSpPr txBox="1"/>
          <p:nvPr/>
        </p:nvSpPr>
        <p:spPr>
          <a:xfrm>
            <a:off x="6792686" y="4376050"/>
            <a:ext cx="443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closest pair distance value is equal to 2 and is returned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4A7934-93B9-4564-801E-88CAB31B6CF5}"/>
              </a:ext>
            </a:extLst>
          </p:cNvPr>
          <p:cNvSpPr txBox="1"/>
          <p:nvPr/>
        </p:nvSpPr>
        <p:spPr>
          <a:xfrm>
            <a:off x="10204270" y="5312078"/>
            <a:ext cx="16002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d=2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99A6C1-66C7-F000-05DC-D78F1A7B3EEF}"/>
              </a:ext>
            </a:extLst>
          </p:cNvPr>
          <p:cNvSpPr txBox="1"/>
          <p:nvPr/>
        </p:nvSpPr>
        <p:spPr>
          <a:xfrm>
            <a:off x="7081520" y="1075597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11EB3-D151-5ADF-1780-E9F814E212CA}"/>
              </a:ext>
            </a:extLst>
          </p:cNvPr>
          <p:cNvSpPr txBox="1"/>
          <p:nvPr/>
        </p:nvSpPr>
        <p:spPr>
          <a:xfrm>
            <a:off x="10706485" y="1039615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70802D-69E7-5C16-53EF-C4454E8855CD}"/>
              </a:ext>
            </a:extLst>
          </p:cNvPr>
          <p:cNvSpPr txBox="1"/>
          <p:nvPr/>
        </p:nvSpPr>
        <p:spPr>
          <a:xfrm>
            <a:off x="8107680" y="2794002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3992750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AF63-BE49-5675-3122-C6BC7AF3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B225-1CED-3CA7-70E2-E8DEAF5A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Closest-pair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CD590C-062C-0ADD-4DE9-9B2A899863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212079" cy="3566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830CF9-669C-F2E3-3DEF-74F0A3330546}"/>
              </a:ext>
            </a:extLst>
          </p:cNvPr>
          <p:cNvSpPr/>
          <p:nvPr/>
        </p:nvSpPr>
        <p:spPr>
          <a:xfrm>
            <a:off x="1508034" y="5373404"/>
            <a:ext cx="4090126" cy="36699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CD60A18-7748-2E9A-104B-761543C9CC8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52158" y="1859280"/>
                <a:ext cx="6197602" cy="404103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in there two power calculation which count for 2 multiplications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/>
                                <m:aln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−1+1</m:t>
                        </m:r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First=n-1, last=n-(n-1)=1 and size=n-1-1+1=n-1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−1+1)(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           </a:t>
                </a:r>
                <a:r>
                  <a:rPr lang="el-GR" dirty="0"/>
                  <a:t>θ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CD60A18-7748-2E9A-104B-761543C9CC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52158" y="1859280"/>
                <a:ext cx="6197602" cy="4041030"/>
              </a:xfrm>
              <a:blipFill>
                <a:blip r:embed="rId3"/>
                <a:stretch>
                  <a:fillRect l="-590" t="-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4EFB13A-A649-EE56-84BE-E476B83BAECD}"/>
              </a:ext>
            </a:extLst>
          </p:cNvPr>
          <p:cNvCxnSpPr>
            <a:cxnSpLocks/>
          </p:cNvCxnSpPr>
          <p:nvPr/>
        </p:nvCxnSpPr>
        <p:spPr>
          <a:xfrm rot="5400000">
            <a:off x="5145333" y="5654747"/>
            <a:ext cx="580534" cy="325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07817F7-D53A-31FD-2589-D88D3E612BC4}"/>
              </a:ext>
            </a:extLst>
          </p:cNvPr>
          <p:cNvSpPr txBox="1"/>
          <p:nvPr/>
        </p:nvSpPr>
        <p:spPr>
          <a:xfrm>
            <a:off x="3967480" y="6139468"/>
            <a:ext cx="1884678" cy="36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789239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1273B-B708-D26E-C54F-717B439E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BD6E4-3E1A-7C05-83F8-B4973C28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Exhaustive search</a:t>
            </a:r>
            <a:b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07CCADBD-2099-74EF-20A2-07155BC5BD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3" r="17669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6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4EC6-B54A-0246-2B69-4E2BED1E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Exhaustive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F3684-7F2C-9DA6-A14D-9074A58B3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Tries every possible solution</a:t>
            </a:r>
            <a:r>
              <a:rPr lang="en-US" dirty="0"/>
              <a:t> in the search space. </a:t>
            </a:r>
          </a:p>
          <a:p>
            <a:r>
              <a:rPr lang="en-US" b="1" dirty="0"/>
              <a:t>Guaranteed to find an optimal solution</a:t>
            </a:r>
            <a:r>
              <a:rPr lang="en-US" dirty="0"/>
              <a:t> (if one exists). </a:t>
            </a:r>
          </a:p>
          <a:p>
            <a:r>
              <a:rPr lang="en-US" b="1" dirty="0"/>
              <a:t>Very simple to implement</a:t>
            </a:r>
            <a:r>
              <a:rPr lang="en-US" dirty="0"/>
              <a:t>, but usually extremely slow.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784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07A9-38C3-B26E-72AE-E5DC4638F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 Salesman 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FFE262-866F-0B2D-5480-62D7303D0B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5680" y="2633472"/>
            <a:ext cx="4877393" cy="3310127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132532E-E190-5E0B-0A80-517C32D8ED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31280" y="2633472"/>
            <a:ext cx="4877393" cy="34930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9F4A5D-E45E-3D6D-386B-EBB59DF1E83A}"/>
              </a:ext>
            </a:extLst>
          </p:cNvPr>
          <p:cNvSpPr txBox="1"/>
          <p:nvPr/>
        </p:nvSpPr>
        <p:spPr>
          <a:xfrm>
            <a:off x="1337279" y="6126479"/>
            <a:ext cx="4814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Book: Introduction to the Design and Analysis of Algorithms </a:t>
            </a:r>
          </a:p>
        </p:txBody>
      </p:sp>
    </p:spTree>
    <p:extLst>
      <p:ext uri="{BB962C8B-B14F-4D97-AF65-F5344CB8AC3E}">
        <p14:creationId xmlns:p14="http://schemas.microsoft.com/office/powerpoint/2010/main" val="2618926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50EA-4E17-A9FE-5EA6-01D65BAB8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06626B-75AA-EA44-AAD9-5C66FE1AEF0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455921" cy="356615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5B52F8-E6B3-0C81-5F99-1BEA4B8AC6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2468880"/>
            <a:ext cx="5627913" cy="4236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B341F5-A640-00EF-253E-CF1D8853FE8F}"/>
              </a:ext>
            </a:extLst>
          </p:cNvPr>
          <p:cNvSpPr txBox="1"/>
          <p:nvPr/>
        </p:nvSpPr>
        <p:spPr>
          <a:xfrm>
            <a:off x="1151161" y="6298726"/>
            <a:ext cx="4814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Book: Introduction to the Design and Analysis of Algorithms </a:t>
            </a:r>
          </a:p>
        </p:txBody>
      </p:sp>
    </p:spTree>
    <p:extLst>
      <p:ext uri="{BB962C8B-B14F-4D97-AF65-F5344CB8AC3E}">
        <p14:creationId xmlns:p14="http://schemas.microsoft.com/office/powerpoint/2010/main" val="2953718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EB87-14EC-B377-D0C0-08D12320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Assigning Problem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CBE87-31E1-880C-C7AC-F10314DF4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6400" y="2633472"/>
            <a:ext cx="3708400" cy="35661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&lt;1,2,3&gt;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1+4+6=11</a:t>
            </a:r>
          </a:p>
          <a:p>
            <a:pPr marL="0" indent="0">
              <a:buNone/>
            </a:pPr>
            <a:r>
              <a:rPr lang="en-US" dirty="0"/>
              <a:t>&lt;1,3,2&gt;</a:t>
            </a:r>
            <a:r>
              <a:rPr lang="en-US" dirty="0">
                <a:sym typeface="Wingdings" panose="05000000000000000000" pitchFamily="2" charset="2"/>
              </a:rPr>
              <a:t>1+2+5=8   best case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&lt;2,1,3&gt;</a:t>
            </a:r>
            <a:r>
              <a:rPr lang="en-US" dirty="0">
                <a:sym typeface="Wingdings" panose="05000000000000000000" pitchFamily="2" charset="2"/>
              </a:rPr>
              <a:t>2+8+6=16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&lt;2,3,1&gt;</a:t>
            </a:r>
            <a:r>
              <a:rPr lang="en-US" dirty="0">
                <a:sym typeface="Wingdings" panose="05000000000000000000" pitchFamily="2" charset="2"/>
              </a:rPr>
              <a:t>2+2+4=8 best case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&lt;3,1,2&gt;</a:t>
            </a:r>
            <a:r>
              <a:rPr lang="en-US" dirty="0">
                <a:sym typeface="Wingdings" panose="05000000000000000000" pitchFamily="2" charset="2"/>
              </a:rPr>
              <a:t>10+8+5=23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&lt;3,2,1&gt;</a:t>
            </a:r>
            <a:r>
              <a:rPr lang="en-US" dirty="0">
                <a:sym typeface="Wingdings" panose="05000000000000000000" pitchFamily="2" charset="2"/>
              </a:rPr>
              <a:t>10+4+4=18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105115C-C4D6-B0CD-742C-0C5959B5941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1756777"/>
              </p:ext>
            </p:extLst>
          </p:nvPr>
        </p:nvGraphicFramePr>
        <p:xfrm>
          <a:off x="639762" y="2633662"/>
          <a:ext cx="4430080" cy="242601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07520">
                  <a:extLst>
                    <a:ext uri="{9D8B030D-6E8A-4147-A177-3AD203B41FA5}">
                      <a16:colId xmlns:a16="http://schemas.microsoft.com/office/drawing/2014/main" val="161447967"/>
                    </a:ext>
                  </a:extLst>
                </a:gridCol>
                <a:gridCol w="1107520">
                  <a:extLst>
                    <a:ext uri="{9D8B030D-6E8A-4147-A177-3AD203B41FA5}">
                      <a16:colId xmlns:a16="http://schemas.microsoft.com/office/drawing/2014/main" val="2569500357"/>
                    </a:ext>
                  </a:extLst>
                </a:gridCol>
                <a:gridCol w="1107520">
                  <a:extLst>
                    <a:ext uri="{9D8B030D-6E8A-4147-A177-3AD203B41FA5}">
                      <a16:colId xmlns:a16="http://schemas.microsoft.com/office/drawing/2014/main" val="3933772399"/>
                    </a:ext>
                  </a:extLst>
                </a:gridCol>
                <a:gridCol w="1107520">
                  <a:extLst>
                    <a:ext uri="{9D8B030D-6E8A-4147-A177-3AD203B41FA5}">
                      <a16:colId xmlns:a16="http://schemas.microsoft.com/office/drawing/2014/main" val="4150292744"/>
                    </a:ext>
                  </a:extLst>
                </a:gridCol>
              </a:tblGrid>
              <a:tr h="3926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Job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269698"/>
                  </a:ext>
                </a:extLst>
              </a:tr>
              <a:tr h="6777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Person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543712"/>
                  </a:ext>
                </a:extLst>
              </a:tr>
              <a:tr h="6777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Person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034433"/>
                  </a:ext>
                </a:extLst>
              </a:tr>
              <a:tr h="6777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Person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79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997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B56C-F91E-C007-E28E-3E526C95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55A50-3DBF-5DB6-929E-FA07B9A20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pervious problems are considered , exhaustive search leads to algorithms that are extremely inefficient on every input.</a:t>
            </a:r>
          </a:p>
          <a:p>
            <a:r>
              <a:rPr lang="en-US" dirty="0"/>
              <a:t>In fact, these three problems are the best-known examples of so-called NP-hard problems. No polynomial-time algorithm is known for any NP hard problem.</a:t>
            </a:r>
          </a:p>
          <a:p>
            <a:r>
              <a:rPr lang="en-US" dirty="0"/>
              <a:t>A </a:t>
            </a:r>
            <a:r>
              <a:rPr lang="en-US" b="1" dirty="0"/>
              <a:t>polynomial-time algorithm</a:t>
            </a:r>
            <a:r>
              <a:rPr lang="en-US" dirty="0"/>
              <a:t> is one whose runtime grows reasonably with input size (like n², n³, etc.).</a:t>
            </a:r>
          </a:p>
          <a:p>
            <a:endParaRPr lang="en-US" dirty="0">
              <a:latin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33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BC225-698C-1BD8-F14F-25343161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B585-52CE-797D-EBA3-12B94ED8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2F1D9-F826-3BEA-CD8F-DCB69B9C7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the </a:t>
            </a:r>
            <a:r>
              <a:rPr lang="en-US" b="1" dirty="0"/>
              <a:t>Traveling Salesman Problem (TSP)</a:t>
            </a:r>
            <a:r>
              <a:rPr lang="en-US" dirty="0"/>
              <a:t>: You would try all possible routes between cities.</a:t>
            </a:r>
            <a:br>
              <a:rPr lang="en-US" dirty="0"/>
            </a:br>
            <a:r>
              <a:rPr lang="en-US" dirty="0"/>
              <a:t>Number of possible routes O(n!), which becomes huge extremely fast.</a:t>
            </a:r>
          </a:p>
          <a:p>
            <a:r>
              <a:rPr lang="en-US" dirty="0"/>
              <a:t>For the </a:t>
            </a:r>
            <a:r>
              <a:rPr lang="en-US" b="1" dirty="0"/>
              <a:t>Knapsack Problem</a:t>
            </a:r>
            <a:r>
              <a:rPr lang="en-US" dirty="0"/>
              <a:t>: You try all subsets of items. Number of subsets = </a:t>
            </a:r>
            <a:r>
              <a:rPr lang="en-US" i="1" dirty="0"/>
              <a:t>2ⁿ</a:t>
            </a:r>
            <a:r>
              <a:rPr lang="en-US" dirty="0"/>
              <a:t>, which also grows exponentially</a:t>
            </a:r>
          </a:p>
          <a:p>
            <a:r>
              <a:rPr lang="en-US" dirty="0"/>
              <a:t>For the </a:t>
            </a:r>
            <a:r>
              <a:rPr lang="en-US" b="1" dirty="0"/>
              <a:t>Assignment Problem</a:t>
            </a:r>
            <a:r>
              <a:rPr lang="en-US" dirty="0"/>
              <a:t>: You try all possible n agents and n tasks, and you need to pair them up to minimize the total cost which is equal to O(n!)</a:t>
            </a:r>
          </a:p>
          <a:p>
            <a:r>
              <a:rPr lang="en-US" dirty="0"/>
              <a:t>If you try to calculate every possible permutation. For example, in assignment problem just 20 agents and 20 tasks, there are over 2 quintillion possibilities. Your computer would likely give up before you do.</a:t>
            </a:r>
          </a:p>
          <a:p>
            <a:endParaRPr lang="en-US" dirty="0">
              <a:latin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94298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13214</TotalTime>
  <Words>1084</Words>
  <Application>Microsoft Office PowerPoint</Application>
  <PresentationFormat>Widescreen</PresentationFormat>
  <Paragraphs>269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Cambria Math</vt:lpstr>
      <vt:lpstr>Grandview Display</vt:lpstr>
      <vt:lpstr>Segoe UI</vt:lpstr>
      <vt:lpstr>Wingdings</vt:lpstr>
      <vt:lpstr>DashVTI</vt:lpstr>
      <vt:lpstr>Computing Algorithms Lecture 5: Brute force part 2</vt:lpstr>
      <vt:lpstr>Agenda</vt:lpstr>
      <vt:lpstr>Closest-pair problem   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Closest-pair Problem</vt:lpstr>
      <vt:lpstr>Exhaustive search    </vt:lpstr>
      <vt:lpstr>Exhaustive search</vt:lpstr>
      <vt:lpstr>Traveling Salesman Problem</vt:lpstr>
      <vt:lpstr>Knapsack problem</vt:lpstr>
      <vt:lpstr>Assigning Problem</vt:lpstr>
      <vt:lpstr>NP-problems</vt:lpstr>
      <vt:lpstr>NP-problems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Moheeb</dc:creator>
  <cp:lastModifiedBy>Mohamed Moheeb</cp:lastModifiedBy>
  <cp:revision>71</cp:revision>
  <dcterms:created xsi:type="dcterms:W3CDTF">2026-01-25T09:41:58Z</dcterms:created>
  <dcterms:modified xsi:type="dcterms:W3CDTF">2026-03-10T10:20:32Z</dcterms:modified>
</cp:coreProperties>
</file>